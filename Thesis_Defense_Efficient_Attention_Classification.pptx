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distinguished members of the committee. My name is Moul Hengborann, student ID M080309, and I am presenting the defense of my Master's thesis titled "Efficient Attention Classification — A Lightweight XGBoost Approach to Facial Feature Extraction in E-Learning." This work was carried out in the Research and Data Analytics Lab under the supervision of Dr. HAS Sothea and co-supervised by Asst. Prof. Dr. PHAUK Sokhey, and I would like to thank them both for their guidance throughout the project. Today I will walk you through the motivation, methodology, results, and conclusions of this research. The defense is scheduled here in Phnom Penh on July twenty-first, twenty twenty-six, and I am ready to take your questions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the four sections of today's defense. We will begin with the Introduction, where I will cover the motivation, prior work on the DAiSEE benchmark, our explicit research objectives, and the three research questions this thesis answers. The Methodology section that follows will be the most detailed part of the talk, walking through the DAiSEE dataset, the MediaPipe feature extraction pipeline, our hand-crafted feature engineering, and the XGBoost model design. After that, Results and Discussion will present numerical performance, per-class breakdown, SHAP-based interpretability, and an ablation study. Finally, the Conclusion will cover limitations, contributions, and future work. The full presentation runs about ten minutes, with Q&amp;A afterward. Please feel free to interrupt at any time with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agenda in mind, let me now turn to the first section — the Introduction. Over the next seven slides I will lay out the motivation for this work, beginning with the disruption Cambodian education faced during the pandemic. I will then introduce the four affective states that frame the attention-classification problem, summarize a decade of prior work on the DAiSEE benchmark, justify our choice of facial modality and the MediaPipe feature extractor, and finally state the three research questions and the three concrete objectives this thesis commits to answering. The Introduction exists to make the rest of the defense legible — every methodological choice and every empirical result traces back to one of the questions or objectives introduced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for this thesis is rooted in a concrete Cambodian event. On March sixteenth, twenty twenty, the Ministry of Education ordered the closure of approximately thirteen thousand three hundred schools nationwide in response to the COVID-19 pandemic. Almost overnight, every learner moved from a physical classroom to a laptop screen, and every teacher lost the most basic feedback channel they had always relied on — the ability to read a student's face and sense whether the material was landing. Without that signal, just-in-time pedagogical support collapsed. This thesis attacks exactly that loss: it asks whether we can rebuild the feedback loop computationally by detecting boredom, engagement, confusion, and frustration from a webcam feed, and crucially whether we can do it in near real time — meaning minutes, not hours, after the affective state occurs.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DAiSEE benchmark labels every video snippet with one of four affective states — boredom, engagement, confusion, and frustration. These four labels are not arbitrary; they come out of D'Mello and Graesser's affective-transition theory, which argues that learning effectiveness is shaped by recurring cycles between engaged, confused, and frustrated states, with boredom acting as the terminal disengaged state. Each state calls for a different intervention. Boredom requires renewed stimulation; engagement should be sustained; confusion signals that the explanation needs to change; frustration warns the system to step back before the learner quits. Detecting these four states in near real time lets an adaptive learning platform trigger the right pedagogical response at the right moment, which is the operational goal that motivates this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nine representative studies on the DAiSEE benchmark between twenty sixteen and twenty twenty-four. The headline observation is that almost every published approach reports accuracy somewhere between sixty-three and sixty-eight percent on the four-class task, regardless of how sophisticated the deep architecture is — ResNet plus temporal networks, three-dimensional DenseNet with self-attention, EfficientNet plus L-S-T-M, all land in that band. The one outlier is Santoni and colleagues in twenty twenty-three, who reached seventy-eight percent by combining OpenFace features with S-M-O-T-E oversampling; that is the closest in spirit to our approach. The gap our thesis targets is therefore not raw accuracy but computational cost and interpretability — every entry in this table requires a deep network trained end-to-end on video frames. We ask the inverse question: how far can a lightweight gradient-boosted tree take us, given the right hand-crafted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the face as our modality for three reasons. First, it is non-invasive and passive — there are no wearables, no electrodes, and no consent friction, which matters in a classroom setting. Second, facial expressions are universal across cultures, so a model trained on the international DAiSEE benchmark transfers more cleanly to Cambodian learners than culturally bound audio or posture cues would. Third, the MediaPipe Face Mesh library runs at thirty-plus frames per second on a commodity C-P-U, which is critical for low-resource deployment in schools that cannot afford G-P-U hardware. MediaPipe extracts four hundred sixty-eight facial landmarks per frame, and from those landmarks we engineer a seventy-eight-dimensional per-frame feature vector — blendshapes, head pose, eye gaze, composite, and temporal dynamics. The methodology section will detail exactly how each of those seventy-eight features is constructed.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commits to answering three research questions, and they are mutually reinforcing. The first question, R-Q-one, is a performance baseline: can an X-G-Boost classifier reach competitive accuracy against deep-learning baselines on the four-class DAiSEE task. The second question, R-Q-two, is an interpretability layer: which facial features are most discriminative, and crucially how do their importances shift across the four affective states — because the features that signal boredom are not necessarily the features that signal frustration. The third question, R-Q-three, is a robustness check: how well does the framework handle the dataset's three structural challenges — class imbalance, inter-subject variability, and the temporal dimension. Each R-Q maps to specific slides in the deck, and we have flagged those slide numbers on each card so the committee can navigate quickly during Q-and-A.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note on this slide: the original thesis-defense template did not include an explicit objectives slide, and I added it deliberately so that the spine of the work is visible to the committee up front. The three objectives are sequential. Objective one is to design a comprehensive facial feature extraction pipeline that captures geometric, statistical, and temporal characteristics from the DAiSEE dataset — eye aspect ratios, head pose angles, mouth opening degrees, eyebrow positions, and their temporal derivatives. Objective two builds on that pipeline and develops an X-G-Boost classifier tuned with regularization for the three-level engagement annotation schema of DAiSEE. Objective three takes the trained model and provides an interpretable analysis using X-G-Boost native feature importance and S-H-A-P values. The mapping card at the bottom shows exactly where each objective is delivered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contributions of this thesis span three dimensions. On the theoretical side, the work tests whether deep learning is truly necessary for attention recognition — it identifies the conditions under which a lightweight model matches or beats deep networks — and the S-H-A-P analysis reveals which facial features actually drive each attention state, advancing the theoretical understanding of affective computing. On the methodological side, we contribute a reproducible facial-feature pipeline for DAiSEE that combines geometric, temporal, and statistical features, and we evaluate accuracy, compute cost, and interpretability together rather than separately. On the practical side, the framework cuts computational cost by orders of magnitude relative to deep learning, which enables real-time monitoring on budget laptops and mobile devices, and the interpretable output guides timely and targeted teaching interventions. This practical contribution is what makes the thesis deployable today in Cambodian classrooms. The work also aligns with U-N Sustainable Development Goals four and nine, providing a policy hook for future funding.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move to the methodology — the heart of the thesis. I will walk through the dataset, the research flow, frame extraction, facial feature extraction, feature engineering, and the per-state feature contribution that drives classification. The next seven slides take you from raw DAiSEE video all the way to a trained classifier, and they end with the SHAP-motivated feature-to-state map that links each engineered feature back to one of the four affective states we are predicting.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DAiSEE is the first multi-label affective video benchmark for e-learning — 9,068 short clips from 112 participants, crowd-annotated against a gold standard created by expert psychologists. Each clip is labelled across four states: Boredom, Confusion, Engagement and Frustration, with four intensity levels each. The headline challenge is imbalance. Look at the Frustration row: 6,986 Very Low clips versus only 87 Very High, an 80-to-1 ratio. Engagement is the inverse — heavily skewed toward High. This is why we collapse the four intensity levels into three actionable classes in the next slide, and why imbalance handling via SMOTE, class weighting and Focal Loss is non-negotiable throughout the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twelve stages. We start with raw DAiSEE video at stage one, collapse the four intensity labels to three actionable classes at stage two, extract 78 dimensions per frame with MediaPipe at stage three, build a uniform 150-by-78 matrix at stage four, normalize with five type-specific strategies at stage five, and engineer roughly 2,152 features in five categories at stage six. Stages three, four and five are the topic of slides 14 and 15, and stage six is slide 16. Stage seven then selects the top 500 features via XGBoost plus LASSO; stages nine, ten and eleven — SMOTE, XGBoost training, and isotonic calibration — are slide 18. The pipeline is fully modular: each stage can be swapped independently without rewriting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extraction begins with a deliberate 30-to-15 fps downsample — we skip every other frame. This halves the compute budget without losing meaningful expression dynamics, because most facial actions live below 5 Hz. We then standardize every clip to 150 frames, roughly 10 seconds at 15 fps. For longer clips we sample at uniform intervals to preserve temporal structure; for shorter clips we repeat the final frame. The 150-frame choice is not arbitrary — it is the elbow point in the ablation on slide 28, after which performance plateaus and transition noise creeps in. Finally, quality control drops clips with zero face detections, which removes roughly 5 percent of the corpus. The output tensor X lives in R to the N by 150 by 78, where N is the number of clips, 150 is the sequence length, and 78 is the per-frame feature dimensionality.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MediaPipe Face Landmarker gives us 468 landmarks and 52 blendshape coefficients per frame. We compose these into a 78-dimensional vector organized into five semantic groups. The first group is the 52 raw blendshapes, the per-action-unit facial muscle activations across eyebrow, eye, jaw, mouth, nose and cheek. The second is 6-D head pose — pitch, yaw, roll plus 3-D position. The third is 6-D eye gaze, computed from blendshapes. The fourth is a 10-D composite group that we engineer ourselves: regional activity levels, symmetry, and state-specific indicators — this is not raw MediaPipe output. The fifth is a 4-D dynamics group: animation level, expression intensity, active region count, and facial tension. The state-specific sub-groups encode our prior about which features should matter per state — the SHAP analysis on slides 22 to 25 will validate this empirically. Throughput is 30-plus frames per second on a single CPU, roughly 3 milliseconds per frame including MediaPipe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MediaPipe matrix is 150 frames by 78 dimensions. Per-frame spatial information alone cannot separate boredom from confusion — temporal dynamics must be encoded explicitly. The five-category pipeline does exactly that. Statistical features — 780 dimensions — give us the distribution: mean, standard deviation, extrema, quartiles, IQR, skewness and kurtosis for every one of the 78 streams. Temporal dynamics — 624 dimensions — capture velocity, acceleration, zero-crossing rate and slope. Frequency domain features — 546 dimensions — use the FFT to expose periodicity: dominant frequency, spectral centroid, spread, entropy and energy in low, mid and high bands. Interaction features — 111 dimensions — encode cross-group correlations and six state-specific ratios such as boredom ratio equals eyeBlink over eyeWide. Finally, domain-specific features — 13 dimensions — encode attention, arousal, valence, cognitive load, fatigue and four state scores. Concatenated, this gives 2,152 dimensions, which XGBoost plus LASSO then reduce to the top 500 on the next pipeline stage. The 150-frame window is what makes the temporal and frequency branches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Walking left to right: boredom is sustained disengagement — we expect eyeBlink, eyeLookDown, jawOpen, and the engineered boredom indicator at index 72 to dominate, with reduced facial animation, downward gaze drift and a flat expression distribution. Engagement is active attention — eyeWide, browInnerUp, mouthSmile and the engagement indicator at index 73. Confusion is cognitive overload — browDown, eyeSquint, mouthFrown and the confusion indicator at index 70. Frustration is an affective barrier — browInnerUp, mouthPress, jawForward and the frustration indicator at index 71. These sub-groups are pre-defined from the FACS literature and encode our prior about which features should matter. The SHAP analysis will validate most of these expectations and reveal two surprises: mouthSmileRight_median dominates boredom — that is social masking — and noseSneerLeft_max is unique to frustration, the lateralization of negative affect. The cross-state bridge at the bottom is the most theoretically interesting result: boredom indicator velocity standard deviation appears in the top-five SHAP for both confusion and frustration, confirming D'Mello and Graesser's affective-transition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 four independent XGBoost classifiers, one per affective state — boredom, engagement, confusion and frustration. The justification for four independent models rather than a shared-weight multi-task head is that the per-state feature dependencies differ enough that shared weights hurt minority states. Each model uses max_depth 8, learning_rate 0.05, 500 estimators, subsample 0.8, colsample_bytree 0.8, min_child_weight 3, gamma 0.1, reg_alpha 0.1, reg_lambda 1.0, multi:softprob objective, and 50-round early stopping — all tuned via 5-fold cross-validation on the training fold. Imbalance is attacked at three levels: data via SMOTE with k=5 neighbors applied to the training split only; algorithmic via inverse-frequency class weights w_c equals N over K times N_c; and loss via Focal Loss with alpha 0.25 and gamma 2.0, originally proposed for object detection and adapted here as a custom XGBoost objective with explicit gradient and Hessian. Finally, isotonic regression calibrates the tree-ensemble probabilities, and a threshold search in 0.2 to 0.8 maximizes Macro 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the results. I will answer RQ1 first — does our lightweight XGBoost model compete with deep-learning baselines on DAiSEE? Then RQ2 — which engineered features matter per affective state, validated by SHAP. And finally RQ3 — how robust is the framework to imbalance, ablation of feature categories, and choice of frame window. The next nine slides take you through the bar-chart comparison, per-state confusion matrices, top features per state, the cross-state bridge, and ablation studies on frame count and feature category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RQ1 — does our lightweight XGBoost model compete with deep-learning baselines on DAiSEE? The bar chart shows sixteen methods sorted ascending by 4-class accuracy. The proposed model, highlighted in teal, lands at 65.26 percent — above the deep-learning median of 63.9 percent, a 1.36 percentage-point margin, with a model that fits in under one megabyte versus 100-plus megabytes for the deep models. I want to acknowledge Santoni et al. at 77.97 percent as the current SOTA — but note that it uses SMOTE on OpenFace features, which is essentially our recipe with deep features instead of MediaPipe blendshapes. The takeaway: a lightweight gradient-boosted classifier matches or exceeds the median deep-learning baseline on the same DAiSEE 4-class task, at a fraction of the compute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Walking through the per-class table on the held-out ten-percent test set: Boredom reaches 0.548 accuracy with precision and recall both around 0.54; Engagement improves to 0.609 with the best F1 among raw states at 0.589; Confusion shows the inverse pattern, with high recall 0.676 but low F1 0.566 because the model defaults to Low; Frustration leads at 0.786 accuracy. The two edge cases are essential: Frustration looks easy but is inflated by Low-class dominance — its Medium and High recall collapses to zero. Confusion is genuinely hard because its discriminative signal is distributed across many weak features. The SHAP slides that follow explain WHY each state behaves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Boredom, the SHAP analysis reveals a striking finding: mouthSmileRight_median is the single most important feature with a SHAP value of 0.17 — by far the strongest of any feature across all four states. This captures the social-masking smile that bored learners often maintain to appear attentive. The top five is dominated by blendshapes — browInnerUp_range and mouthPressRight_mean reinforce the muscle-suppression signature. Head pose contributes the dynamic head_roll_vel_max_abs, capturing slow disengaged drift. The engineered composite combined_gaze_vertical_iqr rounds out the top five, validating the cross-group feature engineering. Crucially, Boredom relies on a small number of strong features — top SHAP 0.17 is more than twice Confusion's 0.07.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Engagement is the only state where composite features beat blendshapes at the top of the SHAP ranking. eye_activity_max carries a SHAP value of 0.19 — the single highest value across all four states. This validates the feature engineering pipeline: raw MediaPipe output alone would have missed this signal. eye_activity_p75 reinforces the eye-activity story, while corr_boredom_related_jaw and corr_composite_mouth show that cross-group correlation features matter. The boredom_indicator_std composite appears with negative SHAP, pushing predictions away from engagement when boredom-like jaw dynamics are present. Theoretically, this means engagement is not about facial muscle activation per se — it is about coordinated, active visual exploration.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Confusion is the hardest state to classify, and SHAP explains why: the top SHAP value is only 0.07 — five times weaker than Boredom's 0.17. The discriminative signal is distributed across many weak features rather than concentrated in one. The top feature, boredom_indicator_vel_std, is a cross-emotion composite, theoretically linking Confusion to Boredom via D'Mello and Graesser's attentional-control theory — both states involve attentional disruption. The eye-gaze feature eyeLookDownLeft_kurtosis captures rare intense downward glances that signal information-seeking. Because no single feature dominates, the classifier defaults to predicting Low for ninety-eight percent of confusion samples. This is precisely why Confusion may benefit most from multimodal features — mouse, scroll, response time — in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Frustration is written in the jaw, the sneer, and the bursting patterns. The top feature, mouthPucker_iqr (AU 18), captures fluctuating lip compression — a muscular tension signature that gives XGBoost clean separability. boredom_indicator_vel_std reappears in the top five, also seen for Confusion, which validates D'Mello and Graesser's confusion-to-frustration-to-boredom transition chain. The most striking finding is noseSneerLeft_max (AU 9), which appears EXCLUSIVELY in Frustration's top five — it is the single most state-specific feature in the entire analysis. The left-side lateralization reflects right-hemisphere dominance for negative emotion in the neuroscience literature. This is the most actionable signature for targeted e-learning intervention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convergence table is the heart of the interpretability story. Three patterns emerge. First, mouthSmileRight_median is transdiagnostic — it appears in the top five for Boredom, Confusion, and Frustration, but with different SHAP directions: a high smile pushes the prediction toward Boredom and away from Confusion. Second, boredom_indicator_vel_std is a cross-state bridge — it tops Confusion and ranks second for Frustration, validating D'Mello and Graesser's affective-transition theory that these emotions share attentional mechanisms. Third, three features are unambiguously state-specific: eye_activity_max is unique to Engagement, noseSneerLeft_max is unique to Frustration, and head_roll_vel_max_abs is unique to Boredom. These state-specific signatures are the most actionable findings for e-learning intervention design — they support dimensional models of affect and let us target interventions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Permutation importance is a model-agnostic validation of the SHAP rankings — it measures how much accuracy drops when each feature group is randomly shuffled. The matrix tells a clear per-state story. Engagement is the only column where Eye Gaze hits the strong three-dot rating, confirming the active-visual-exploration signature. Frustration is the only column where blendshapes hit strong alongside dynamics, capturing muscular tension and bursting patterns. Confusion leans on composite plus head orientation. Boredom is blendshape-dominant. The single most important takeaway from RQ2 is the punchline: no single feature group carries all four emotions. Each state has its own fingerprint. The multi-group feature engineering pipeline was necessary — no single group would have sufficed.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ablation table confirms the 150-frame design choice. Performance rises sharply from 30 to 75 frames, continues to improve modestly up to 150, then plateaus or slightly decreases at 200 and 300 frames — additional context adds transition noise. 150 frames, or 10 seconds, is the elbow that balances performance against computational cost. The deployment panel on the right is the proof-of-concept: 2.1 milliseconds per-sample inference time and 15 megabytes combined model size — both negligible compared to deep-learning baselines that weigh hundreds of megabytes. The FaceAura app is a working proof, not just a benchmark — it runs end-to-end at 15 frames per second on commodity CPU, no GPU, no cloud. That is what makes real-time classroom deployment feasible on budget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section — what we proved, what we acknowledge as limitations, and where the work goes from here. Over the next three slides I will walk through four open challenges we acknowledge, the three contributions the empirical evidence supports, and five concrete future directions. Each limitation points to a follow-up direction. This is the honest closing chapter of the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Walking through the four limitations in order. First, DAiSEE has only 112 subjects, all Indian university students, with inter-annotator agreement of just 0.581 — generalization to other educational contexts is unproven. Second, we use face only — no body, no screen interaction, no physiology — and the weakest state, Confusion, may benefit most from interaction-based signals. Third, collapsing four intensity levels to three was necessary but loses granularity educators may need. Fourth, MediaPipe assumes a frontal face, but real classrooms introduce occlusions, side profiles, and varying angles. These are not excuses — they are honest constraints that bound the claims. The next slide addresses each limitation with a concrete future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claims the empirical evidence supports. First, small models compete — the lightweight XGBoost at 65.26 percent accuracy outperforms the median deep-learning baseline at 63.9 percent on DAiSEE, at a fraction of the compute cost, running in 2.1 milliseconds per sample. Second, each affective state has its own feature fingerprint — Boredom is blendshapes, Engagement is composite plus gaze, Confusion is composite plus head orientation, Frustration is mouth and jaw blendshapes plus bursting dynamics. No single feature group carries all four states. Third, imbalance is the bottleneck — Frustration Medium and High recall collapses to zero, showing that SMOTE plus class weighting plus Focal Loss is insufficient for the most extreme imbalance. The one-sentence summary captures the whole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concrete future directions, each tied to a specific limitation. Direction one — multimodal fusion — is the most impactful for Confusion, the weakest state, because interaction logs, audio prosody, and physiology carry signal the webcam cannot see. Direction two — real-time deployment optimization — is what brings the work to actual classrooms through model distillation and browser-based deployment. Direction three — cross-dataset evaluation on EngageWild, EMI-Cap, and a new demographically balanced dataset — is what would unlock generalization claims. Direction four — temporal modeling with change-point detection and HMM features — captures sequential patterns lost in statistical aggregation. Direction five — personalized few-shot calibration — accounts for individual differences in facial expressivity. The work aligns with UN SDGs 4, 9, and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references anchor the thesis. The full bibliography is in the thesis document. Reference 2, the DAiSEE paper by Gupta and colleagues, is the dataset we built on. References 4 by D'Mello and Graesser provides the affective-transition theory that explains our cross-state SHAP findings. Reference 5 by Chen and Guestrin is the XGBoost paper, and reference 6 by Lundberg and Lee is the SHAP paper that grounds our interpretability analysis. Reference 8 by Takefuji is a recent critique of feature-importance methods that contextualizes our use of permutation importance alongside SHAP. I am happy to discuss any of them in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distinguished members of the committee, for your attention throughout this defense. I would like to extend my sincere gratitude to my advisor Dr. HAS Sothea and my co-advisor Asst. Prof. Dr. PHAUK Sokkhey for their guidance throughout this work. I also thank the Institute of Technology of Cambodia and the M-DAS program for the opportunity. I welcome your questions and feedback — I am ready to discuss any aspect of the methodology, the empirical results, the interpretability findings, or the future directions. ありがとうございます — thank you very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5164931" cy="5143500"/>
          </a:xfrm>
          <a:prstGeom prst="rect">
            <a:avLst/>
          </a:prstGeom>
          <a:solidFill>
            <a:srgbClr val="0F1F3D"/>
          </a:solidFill>
          <a:ln/>
        </p:spPr>
        <p:txBody>
          <a:bodyPr wrap="square" rtlCol="0" anchor="ctr"/>
          <a:lstStyle/>
          <a:p>
            <a:pPr indent="0" marL="0">
              <a:buNone/>
            </a:pPr>
            <a:endParaRPr lang="en-US" dirty="0"/>
          </a:p>
        </p:txBody>
      </p:sp>
      <p:sp>
        <p:nvSpPr>
          <p:cNvPr id="3" name="Shape 1"/>
          <p:cNvSpPr/>
          <p:nvPr/>
        </p:nvSpPr>
        <p:spPr>
          <a:xfrm>
            <a:off x="4307681" y="3572"/>
            <a:ext cx="857250" cy="0"/>
          </a:xfrm>
          <a:prstGeom prst="line">
            <a:avLst/>
          </a:prstGeom>
          <a:noFill/>
          <a:ln w="7144">
            <a:solidFill>
              <a:srgbClr val="FFFFFF"/>
            </a:solidFill>
            <a:prstDash val="solid"/>
          </a:ln>
        </p:spPr>
      </p:sp>
      <p:sp>
        <p:nvSpPr>
          <p:cNvPr id="4" name="Shape 2"/>
          <p:cNvSpPr/>
          <p:nvPr/>
        </p:nvSpPr>
        <p:spPr>
          <a:xfrm>
            <a:off x="5161359" y="0"/>
            <a:ext cx="0" cy="857250"/>
          </a:xfrm>
          <a:prstGeom prst="line">
            <a:avLst/>
          </a:prstGeom>
          <a:noFill/>
          <a:ln w="7144">
            <a:solidFill>
              <a:srgbClr val="FFFFFF"/>
            </a:solidFill>
            <a:prstDash val="solid"/>
          </a:ln>
        </p:spPr>
      </p:sp>
      <p:sp>
        <p:nvSpPr>
          <p:cNvPr id="5" name="Text 3"/>
          <p:cNvSpPr/>
          <p:nvPr/>
        </p:nvSpPr>
        <p:spPr>
          <a:xfrm>
            <a:off x="434340" y="444398"/>
            <a:ext cx="1304136" cy="254203"/>
          </a:xfrm>
          <a:prstGeom prst="roundRect">
            <a:avLst>
              <a:gd name="adj" fmla="val 3743258"/>
            </a:avLst>
          </a:prstGeom>
          <a:solidFill>
            <a:srgbClr val="14B8A6">
              <a:alpha val="16000"/>
            </a:srgbClr>
          </a:solidFill>
          <a:ln w="7144">
            <a:solidFill>
              <a:srgbClr val="14B8A6"/>
            </a:solidFill>
            <a:prstDash val="solid"/>
          </a:ln>
        </p:spPr>
        <p:txBody>
          <a:bodyPr wrap="square" rtlCol="0" anchor="ctr"/>
          <a:lstStyle/>
          <a:p>
            <a:pPr indent="0" marL="0">
              <a:buNone/>
            </a:pPr>
            <a:endParaRPr lang="en-US" dirty="0"/>
          </a:p>
        </p:txBody>
      </p:sp>
      <p:sp>
        <p:nvSpPr>
          <p:cNvPr id="6" name="Text 4"/>
          <p:cNvSpPr/>
          <p:nvPr/>
        </p:nvSpPr>
        <p:spPr>
          <a:xfrm>
            <a:off x="457200" y="457200"/>
            <a:ext cx="1258416" cy="228600"/>
          </a:xfrm>
          <a:prstGeom prst="rect">
            <a:avLst/>
          </a:prstGeom>
          <a:noFill/>
          <a:ln/>
        </p:spPr>
        <p:txBody>
          <a:bodyPr wrap="none" lIns="0" tIns="0" rIns="0" bIns="0" rtlCol="0" anchor="ctr"/>
          <a:lstStyle/>
          <a:p>
            <a:pPr algn="ctr" indent="0" marL="0">
              <a:lnSpc>
                <a:spcPts val="1013"/>
              </a:lnSpc>
              <a:buNone/>
            </a:pPr>
            <a:r>
              <a:rPr lang="en-US" sz="800" spc="122" kern="0" dirty="0">
                <a:solidFill>
                  <a:srgbClr val="14B8A6"/>
                </a:solidFill>
                <a:latin typeface="Liberation Sans Narrow" pitchFamily="34" charset="0"/>
                <a:ea typeface="Liberation Sans Narrow" pitchFamily="34" charset="-122"/>
                <a:cs typeface="Liberation Sans Narrow" pitchFamily="34" charset="-120"/>
              </a:rPr>
              <a:t>M-DAS · ITC 2026</a:t>
            </a:r>
            <a:endParaRPr lang="en-US" sz="800" dirty="0"/>
          </a:p>
        </p:txBody>
      </p:sp>
      <p:sp>
        <p:nvSpPr>
          <p:cNvPr id="7" name="Text 5"/>
          <p:cNvSpPr/>
          <p:nvPr/>
        </p:nvSpPr>
        <p:spPr>
          <a:xfrm>
            <a:off x="457200" y="771525"/>
            <a:ext cx="4307681" cy="164592"/>
          </a:xfrm>
          <a:prstGeom prst="rect">
            <a:avLst/>
          </a:prstGeom>
          <a:noFill/>
          <a:ln/>
        </p:spPr>
        <p:txBody>
          <a:bodyPr wrap="square" lIns="0" tIns="0" rIns="0" bIns="0" rtlCol="0" anchor="t"/>
          <a:lstStyle/>
          <a:p>
            <a:pPr algn="l" indent="0" marL="0">
              <a:lnSpc>
                <a:spcPts val="928"/>
              </a:lnSpc>
              <a:buNone/>
            </a:pPr>
            <a:r>
              <a:rPr lang="en-US" sz="800" spc="198" kern="0" dirty="0">
                <a:solidFill>
                  <a:srgbClr val="FFFFFF">
                    <a:alpha val="78000"/>
                  </a:srgbClr>
                </a:solidFill>
                <a:latin typeface="Carlito" pitchFamily="34" charset="0"/>
                <a:ea typeface="Carlito" pitchFamily="34" charset="-122"/>
                <a:cs typeface="Carlito" pitchFamily="34" charset="-120"/>
              </a:rPr>
              <a:t>THESIS DEFENSE · MASTER OF ENGINEERING IN DATA SCIENCE</a:t>
            </a:r>
            <a:endParaRPr lang="en-US" sz="800" dirty="0"/>
          </a:p>
        </p:txBody>
      </p:sp>
      <p:sp>
        <p:nvSpPr>
          <p:cNvPr id="8" name="Text 6"/>
          <p:cNvSpPr/>
          <p:nvPr/>
        </p:nvSpPr>
        <p:spPr>
          <a:xfrm>
            <a:off x="457200" y="1605669"/>
            <a:ext cx="4307681" cy="1088574"/>
          </a:xfrm>
          <a:prstGeom prst="rect">
            <a:avLst/>
          </a:prstGeom>
          <a:noFill/>
          <a:ln/>
        </p:spPr>
        <p:txBody>
          <a:bodyPr wrap="square" lIns="0" tIns="0" rIns="0" bIns="0" rtlCol="0" anchor="t"/>
          <a:lstStyle/>
          <a:p>
            <a:pPr algn="l" indent="0" marL="0">
              <a:lnSpc>
                <a:spcPts val="3969"/>
              </a:lnSpc>
              <a:buNone/>
            </a:pPr>
            <a:r>
              <a:rPr lang="en-US" sz="4050" b="1" spc="-101" kern="0" dirty="0">
                <a:solidFill>
                  <a:srgbClr val="FFFFFF"/>
                </a:solidFill>
                <a:latin typeface="Tinos" pitchFamily="34" charset="0"/>
                <a:ea typeface="Tinos" pitchFamily="34" charset="-122"/>
                <a:cs typeface="Tinos" pitchFamily="34" charset="-120"/>
              </a:rPr>
              <a:t>Efficient Attention</a:t>
            </a:r>
            <a:endParaRPr lang="en-US" sz="4050" dirty="0"/>
          </a:p>
          <a:p>
            <a:pPr algn="l" indent="0" marL="0">
              <a:lnSpc>
                <a:spcPts val="3969"/>
              </a:lnSpc>
              <a:buNone/>
            </a:pPr>
            <a:r>
              <a:rPr lang="en-US" sz="4050" b="1" spc="-101" kern="0" dirty="0">
                <a:solidFill>
                  <a:srgbClr val="FFFFFF"/>
                </a:solidFill>
                <a:latin typeface="Tinos" pitchFamily="34" charset="0"/>
                <a:ea typeface="Tinos" pitchFamily="34" charset="-122"/>
                <a:cs typeface="Tinos" pitchFamily="34" charset="-120"/>
              </a:rPr>
              <a:t>Classification</a:t>
            </a:r>
            <a:endParaRPr lang="en-US" sz="4050" dirty="0"/>
          </a:p>
        </p:txBody>
      </p:sp>
      <p:sp>
        <p:nvSpPr>
          <p:cNvPr id="9" name="Text 7"/>
          <p:cNvSpPr/>
          <p:nvPr/>
        </p:nvSpPr>
        <p:spPr>
          <a:xfrm>
            <a:off x="457200" y="2785058"/>
            <a:ext cx="3429000" cy="416624"/>
          </a:xfrm>
          <a:prstGeom prst="rect">
            <a:avLst/>
          </a:prstGeom>
          <a:noFill/>
          <a:ln/>
        </p:spPr>
        <p:txBody>
          <a:bodyPr wrap="square" lIns="0" tIns="0" rIns="0" bIns="0" rtlCol="0" anchor="t"/>
          <a:lstStyle/>
          <a:p>
            <a:pPr algn="l" indent="0" marL="0">
              <a:lnSpc>
                <a:spcPts val="1519"/>
              </a:lnSpc>
              <a:buNone/>
            </a:pPr>
            <a:r>
              <a:rPr lang="en-US" sz="1013" dirty="0">
                <a:solidFill>
                  <a:srgbClr val="FFFFFF">
                    <a:alpha val="80000"/>
                  </a:srgbClr>
                </a:solidFill>
                <a:latin typeface="Carlito" pitchFamily="34" charset="0"/>
                <a:ea typeface="Carlito" pitchFamily="34" charset="-122"/>
                <a:cs typeface="Carlito" pitchFamily="34" charset="-120"/>
              </a:rPr>
              <a:t>A Lightweight XGBoost Approach to Facial Feature Extraction in E-Learning</a:t>
            </a:r>
            <a:endParaRPr lang="en-US" sz="1013" dirty="0"/>
          </a:p>
        </p:txBody>
      </p:sp>
      <p:sp>
        <p:nvSpPr>
          <p:cNvPr id="10" name="Text 8"/>
          <p:cNvSpPr/>
          <p:nvPr/>
        </p:nvSpPr>
        <p:spPr>
          <a:xfrm>
            <a:off x="457200" y="3886981"/>
            <a:ext cx="4307681" cy="108299"/>
          </a:xfrm>
          <a:prstGeom prst="rect">
            <a:avLst/>
          </a:prstGeom>
          <a:noFill/>
          <a:ln/>
        </p:spPr>
        <p:txBody>
          <a:bodyPr wrap="none" lIns="0" tIns="0" rIns="0" bIns="0" rtlCol="0" anchor="t">
            <a:normAutofit/>
          </a:bodyPr>
          <a:lstStyle/>
          <a:p>
            <a:pPr algn="l" indent="0" marL="0">
              <a:lnSpc>
                <a:spcPts val="844"/>
              </a:lnSpc>
              <a:buNone/>
            </a:pPr>
            <a:r>
              <a:rPr lang="en-US" sz="800" b="1" spc="124" kern="0" dirty="0">
                <a:solidFill>
                  <a:srgbClr val="FFFFFF">
                    <a:alpha val="50000"/>
                  </a:srgbClr>
                </a:solidFill>
                <a:latin typeface="Carlito" pitchFamily="34" charset="0"/>
                <a:ea typeface="Carlito" pitchFamily="34" charset="-122"/>
                <a:cs typeface="Carlito" pitchFamily="34" charset="-120"/>
              </a:rPr>
              <a:t>PRESENTER</a:t>
            </a:r>
            <a:endParaRPr lang="en-US" sz="800" dirty="0"/>
          </a:p>
        </p:txBody>
      </p:sp>
      <p:sp>
        <p:nvSpPr>
          <p:cNvPr id="11" name="Text 9"/>
          <p:cNvSpPr/>
          <p:nvPr/>
        </p:nvSpPr>
        <p:spPr>
          <a:xfrm>
            <a:off x="457200" y="4022713"/>
            <a:ext cx="4307681" cy="203610"/>
          </a:xfrm>
          <a:prstGeom prst="rect">
            <a:avLst/>
          </a:prstGeom>
          <a:noFill/>
          <a:ln/>
        </p:spPr>
        <p:txBody>
          <a:bodyPr wrap="none" lIns="0" tIns="0" rIns="0" bIns="0" rtlCol="0" anchor="t"/>
          <a:lstStyle/>
          <a:p>
            <a:pPr algn="l" indent="0" marL="0">
              <a:lnSpc>
                <a:spcPts val="1485"/>
              </a:lnSpc>
              <a:buNone/>
            </a:pPr>
            <a:r>
              <a:rPr lang="en-US" sz="1350" b="1" dirty="0">
                <a:solidFill>
                  <a:srgbClr val="FFFFFF"/>
                </a:solidFill>
                <a:latin typeface="Carlito" pitchFamily="34" charset="0"/>
                <a:ea typeface="Carlito" pitchFamily="34" charset="-122"/>
                <a:cs typeface="Carlito" pitchFamily="34" charset="-120"/>
              </a:rPr>
              <a:t>Moul Hengborann</a:t>
            </a:r>
            <a:endParaRPr lang="en-US" sz="1350" dirty="0"/>
          </a:p>
        </p:txBody>
      </p:sp>
      <p:sp>
        <p:nvSpPr>
          <p:cNvPr id="12" name="Text 10"/>
          <p:cNvSpPr/>
          <p:nvPr/>
        </p:nvSpPr>
        <p:spPr>
          <a:xfrm>
            <a:off x="457200" y="4254103"/>
            <a:ext cx="4307681"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FFFFFF">
                    <a:alpha val="55000"/>
                  </a:srgbClr>
                </a:solidFill>
                <a:latin typeface="Liberation Sans Narrow" pitchFamily="34" charset="0"/>
                <a:ea typeface="Liberation Sans Narrow" pitchFamily="34" charset="-122"/>
                <a:cs typeface="Liberation Sans Narrow" pitchFamily="34" charset="-120"/>
              </a:rPr>
              <a:t>STUDENT ID · M080309</a:t>
            </a:r>
            <a:endParaRPr lang="en-US" sz="800" dirty="0"/>
          </a:p>
        </p:txBody>
      </p:sp>
      <p:sp>
        <p:nvSpPr>
          <p:cNvPr id="13" name="Text 11"/>
          <p:cNvSpPr/>
          <p:nvPr/>
        </p:nvSpPr>
        <p:spPr>
          <a:xfrm>
            <a:off x="457200" y="4514850"/>
            <a:ext cx="4307681" cy="108299"/>
          </a:xfrm>
          <a:prstGeom prst="rect">
            <a:avLst/>
          </a:prstGeom>
          <a:noFill/>
          <a:ln/>
        </p:spPr>
        <p:txBody>
          <a:bodyPr wrap="none" lIns="0" tIns="0" rIns="0" bIns="0" rtlCol="0" anchor="t">
            <a:normAutofit/>
          </a:bodyPr>
          <a:lstStyle/>
          <a:p>
            <a:pPr algn="l" indent="0" marL="0">
              <a:lnSpc>
                <a:spcPts val="844"/>
              </a:lnSpc>
              <a:buNone/>
            </a:pPr>
            <a:r>
              <a:rPr lang="en-US" sz="800" b="1" spc="124" kern="0" dirty="0">
                <a:solidFill>
                  <a:srgbClr val="FFFFFF">
                    <a:alpha val="50000"/>
                  </a:srgbClr>
                </a:solidFill>
                <a:latin typeface="Carlito" pitchFamily="34" charset="0"/>
                <a:ea typeface="Carlito" pitchFamily="34" charset="-122"/>
                <a:cs typeface="Carlito" pitchFamily="34" charset="-120"/>
              </a:rPr>
              <a:t>LABORATORY</a:t>
            </a:r>
            <a:endParaRPr lang="en-US" sz="800" dirty="0"/>
          </a:p>
        </p:txBody>
      </p:sp>
      <p:sp>
        <p:nvSpPr>
          <p:cNvPr id="14" name="Text 12"/>
          <p:cNvSpPr/>
          <p:nvPr/>
        </p:nvSpPr>
        <p:spPr>
          <a:xfrm>
            <a:off x="457200" y="4650581"/>
            <a:ext cx="4417409" cy="150019"/>
          </a:xfrm>
          <a:prstGeom prst="rect">
            <a:avLst/>
          </a:prstGeom>
          <a:noFill/>
          <a:ln/>
        </p:spPr>
        <p:txBody>
          <a:bodyPr wrap="square" lIns="0" tIns="0" rIns="0" bIns="0" rtlCol="0" anchor="t"/>
          <a:lstStyle/>
          <a:p>
            <a:pPr algn="l" indent="0" marL="0">
              <a:lnSpc>
                <a:spcPts val="1181"/>
              </a:lnSpc>
              <a:buNone/>
            </a:pPr>
            <a:r>
              <a:rPr lang="en-US" sz="800" dirty="0">
                <a:solidFill>
                  <a:srgbClr val="FFFFFF">
                    <a:alpha val="85000"/>
                  </a:srgbClr>
                </a:solidFill>
                <a:latin typeface="Carlito" pitchFamily="34" charset="0"/>
                <a:ea typeface="Carlito" pitchFamily="34" charset="-122"/>
                <a:cs typeface="Carlito" pitchFamily="34" charset="-120"/>
              </a:rPr>
              <a:t>Research and Data Analytics Lab</a:t>
            </a:r>
            <a:endParaRPr lang="en-US" sz="800" dirty="0"/>
          </a:p>
        </p:txBody>
      </p:sp>
      <p:sp>
        <p:nvSpPr>
          <p:cNvPr id="15" name="Text 13"/>
          <p:cNvSpPr/>
          <p:nvPr/>
        </p:nvSpPr>
        <p:spPr>
          <a:xfrm>
            <a:off x="5164931" y="0"/>
            <a:ext cx="3979069" cy="5143500"/>
          </a:xfrm>
          <a:prstGeom prst="rect">
            <a:avLst/>
          </a:prstGeom>
          <a:solidFill>
            <a:srgbClr val="F6F8FB"/>
          </a:solidFill>
          <a:ln/>
        </p:spPr>
        <p:txBody>
          <a:bodyPr wrap="square" rtlCol="0" anchor="ctr"/>
          <a:lstStyle/>
          <a:p>
            <a:pPr indent="0" marL="0">
              <a:buNone/>
            </a:pPr>
            <a:endParaRPr lang="en-US" dirty="0"/>
          </a:p>
        </p:txBody>
      </p:sp>
      <p:sp>
        <p:nvSpPr>
          <p:cNvPr id="16" name="Text 14"/>
          <p:cNvSpPr/>
          <p:nvPr/>
        </p:nvSpPr>
        <p:spPr>
          <a:xfrm>
            <a:off x="5507831" y="3168110"/>
            <a:ext cx="3236119" cy="136874"/>
          </a:xfrm>
          <a:prstGeom prst="rect">
            <a:avLst/>
          </a:prstGeom>
          <a:noFill/>
          <a:ln/>
        </p:spPr>
        <p:txBody>
          <a:bodyPr wrap="none" lIns="0" tIns="0" rIns="0" bIns="0" rtlCol="0" anchor="t">
            <a:normAutofit/>
          </a:bodyPr>
          <a:lstStyle/>
          <a:p>
            <a:pPr algn="l" indent="0" marL="0">
              <a:lnSpc>
                <a:spcPts val="844"/>
              </a:lnSpc>
              <a:buNone/>
            </a:pPr>
            <a:r>
              <a:rPr lang="en-US" sz="800" b="1" spc="124" kern="0" dirty="0">
                <a:solidFill>
                  <a:srgbClr val="5B6B82"/>
                </a:solidFill>
                <a:latin typeface="Carlito" pitchFamily="34" charset="0"/>
                <a:ea typeface="Carlito" pitchFamily="34" charset="-122"/>
                <a:cs typeface="Carlito" pitchFamily="34" charset="-120"/>
              </a:rPr>
              <a:t>ADVISORS</a:t>
            </a:r>
            <a:endParaRPr lang="en-US" sz="800" dirty="0"/>
          </a:p>
        </p:txBody>
      </p:sp>
      <p:sp>
        <p:nvSpPr>
          <p:cNvPr id="17" name="Text 15"/>
          <p:cNvSpPr/>
          <p:nvPr/>
        </p:nvSpPr>
        <p:spPr>
          <a:xfrm>
            <a:off x="5507831" y="3332417"/>
            <a:ext cx="3236119" cy="166789"/>
          </a:xfrm>
          <a:prstGeom prst="rect">
            <a:avLst/>
          </a:prstGeom>
          <a:noFill/>
          <a:ln/>
        </p:spPr>
        <p:txBody>
          <a:bodyPr wrap="none" lIns="0" tIns="0" rIns="0" bIns="0" rtlCol="0" anchor="t">
            <a:normAutofit/>
          </a:bodyPr>
          <a:lstStyle/>
          <a:p>
            <a:pPr algn="l" indent="0" marL="0">
              <a:lnSpc>
                <a:spcPts val="1305"/>
              </a:lnSpc>
              <a:buNone/>
            </a:pPr>
            <a:r>
              <a:rPr lang="en-US" sz="900" dirty="0">
                <a:solidFill>
                  <a:srgbClr val="0F1F3D"/>
                </a:solidFill>
                <a:latin typeface="Carlito" pitchFamily="34" charset="0"/>
                <a:ea typeface="Carlito" pitchFamily="34" charset="-122"/>
                <a:cs typeface="Carlito" pitchFamily="34" charset="-120"/>
              </a:rPr>
              <a:t>Dr. HAS Sothea</a:t>
            </a:r>
            <a:endParaRPr lang="en-US" sz="900" dirty="0"/>
          </a:p>
        </p:txBody>
      </p:sp>
      <p:sp>
        <p:nvSpPr>
          <p:cNvPr id="18" name="Text 16"/>
          <p:cNvSpPr/>
          <p:nvPr/>
        </p:nvSpPr>
        <p:spPr>
          <a:xfrm>
            <a:off x="5507831" y="3526637"/>
            <a:ext cx="3345847" cy="178897"/>
          </a:xfrm>
          <a:prstGeom prst="rect">
            <a:avLst/>
          </a:prstGeom>
          <a:noFill/>
          <a:ln/>
        </p:spPr>
        <p:txBody>
          <a:bodyPr wrap="square" lIns="0" tIns="0" rIns="0" bIns="0" rtlCol="0" anchor="t"/>
          <a:lstStyle/>
          <a:p>
            <a:pPr algn="l" indent="0" marL="0">
              <a:lnSpc>
                <a:spcPts val="1305"/>
              </a:lnSpc>
              <a:buNone/>
            </a:pPr>
            <a:r>
              <a:rPr lang="en-US" sz="900" dirty="0">
                <a:solidFill>
                  <a:srgbClr val="0F1F3D"/>
                </a:solidFill>
                <a:latin typeface="Carlito" pitchFamily="34" charset="0"/>
                <a:ea typeface="Carlito" pitchFamily="34" charset="-122"/>
                <a:cs typeface="Carlito" pitchFamily="34" charset="-120"/>
              </a:rPr>
              <a:t>Asst. Prof. Dr. PHAUK Sokhey </a:t>
            </a:r>
            <a:pPr algn="l" indent="0" marL="0">
              <a:lnSpc>
                <a:spcPts val="1305"/>
              </a:lnSpc>
              <a:buNone/>
            </a:pPr>
            <a:r>
              <a:rPr lang="en-US" sz="800" dirty="0">
                <a:solidFill>
                  <a:srgbClr val="5B6B82"/>
                </a:solidFill>
                <a:latin typeface="Carlito" pitchFamily="34" charset="0"/>
                <a:ea typeface="Carlito" pitchFamily="34" charset="-122"/>
                <a:cs typeface="Carlito" pitchFamily="34" charset="-120"/>
              </a:rPr>
              <a:t>· Co-Advisor</a:t>
            </a:r>
            <a:endParaRPr lang="en-US" sz="900" dirty="0"/>
          </a:p>
        </p:txBody>
      </p:sp>
      <p:sp>
        <p:nvSpPr>
          <p:cNvPr id="19" name="Text 17"/>
          <p:cNvSpPr/>
          <p:nvPr/>
        </p:nvSpPr>
        <p:spPr>
          <a:xfrm>
            <a:off x="5507831" y="3835158"/>
            <a:ext cx="3236119" cy="136874"/>
          </a:xfrm>
          <a:prstGeom prst="rect">
            <a:avLst/>
          </a:prstGeom>
          <a:noFill/>
          <a:ln/>
        </p:spPr>
        <p:txBody>
          <a:bodyPr wrap="none" lIns="0" tIns="0" rIns="0" bIns="0" rtlCol="0" anchor="t">
            <a:normAutofit/>
          </a:bodyPr>
          <a:lstStyle/>
          <a:p>
            <a:pPr algn="l" indent="0" marL="0">
              <a:lnSpc>
                <a:spcPts val="844"/>
              </a:lnSpc>
              <a:buNone/>
            </a:pPr>
            <a:r>
              <a:rPr lang="en-US" sz="800" b="1" spc="124" kern="0" dirty="0">
                <a:solidFill>
                  <a:srgbClr val="5B6B82"/>
                </a:solidFill>
                <a:latin typeface="Carlito" pitchFamily="34" charset="0"/>
                <a:ea typeface="Carlito" pitchFamily="34" charset="-122"/>
                <a:cs typeface="Carlito" pitchFamily="34" charset="-120"/>
              </a:rPr>
              <a:t>COMMITTEE</a:t>
            </a:r>
            <a:endParaRPr lang="en-US" sz="800" dirty="0"/>
          </a:p>
        </p:txBody>
      </p:sp>
      <p:sp>
        <p:nvSpPr>
          <p:cNvPr id="20" name="Text 18"/>
          <p:cNvSpPr/>
          <p:nvPr/>
        </p:nvSpPr>
        <p:spPr>
          <a:xfrm>
            <a:off x="5507831" y="3999464"/>
            <a:ext cx="3236119" cy="146139"/>
          </a:xfrm>
          <a:prstGeom prst="rect">
            <a:avLst/>
          </a:prstGeom>
          <a:noFill/>
          <a:ln/>
        </p:spPr>
        <p:txBody>
          <a:bodyPr wrap="none" lIns="0" tIns="0" rIns="0" bIns="0" rtlCol="0" anchor="t">
            <a:normAutofit/>
          </a:bodyPr>
          <a:lstStyle/>
          <a:p>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Asst. Prof. Dr. VALY Dona</a:t>
            </a:r>
            <a:endParaRPr lang="en-US" sz="800" dirty="0"/>
          </a:p>
        </p:txBody>
      </p:sp>
      <p:sp>
        <p:nvSpPr>
          <p:cNvPr id="21" name="Text 19"/>
          <p:cNvSpPr/>
          <p:nvPr/>
        </p:nvSpPr>
        <p:spPr>
          <a:xfrm>
            <a:off x="5507831" y="4173035"/>
            <a:ext cx="3236119" cy="146139"/>
          </a:xfrm>
          <a:prstGeom prst="rect">
            <a:avLst/>
          </a:prstGeom>
          <a:noFill/>
          <a:ln/>
        </p:spPr>
        <p:txBody>
          <a:bodyPr wrap="none" lIns="0" tIns="0" rIns="0" bIns="0" rtlCol="0" anchor="t">
            <a:normAutofit/>
          </a:bodyPr>
          <a:lstStyle/>
          <a:p>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Mr. NGIN Kimlong</a:t>
            </a:r>
            <a:endParaRPr lang="en-US" sz="800" dirty="0"/>
          </a:p>
        </p:txBody>
      </p:sp>
      <p:sp>
        <p:nvSpPr>
          <p:cNvPr id="22" name="Text 20"/>
          <p:cNvSpPr/>
          <p:nvPr/>
        </p:nvSpPr>
        <p:spPr>
          <a:xfrm>
            <a:off x="5507831" y="4346606"/>
            <a:ext cx="3236119" cy="146139"/>
          </a:xfrm>
          <a:prstGeom prst="rect">
            <a:avLst/>
          </a:prstGeom>
          <a:noFill/>
          <a:ln/>
        </p:spPr>
        <p:txBody>
          <a:bodyPr wrap="none" lIns="0" tIns="0" rIns="0" bIns="0" rtlCol="0" anchor="t">
            <a:normAutofit/>
          </a:bodyPr>
          <a:lstStyle/>
          <a:p>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Dr. NEANG Pheak</a:t>
            </a:r>
            <a:endParaRPr lang="en-US" sz="800" dirty="0"/>
          </a:p>
        </p:txBody>
      </p:sp>
      <p:sp>
        <p:nvSpPr>
          <p:cNvPr id="23" name="Text 21"/>
          <p:cNvSpPr/>
          <p:nvPr/>
        </p:nvSpPr>
        <p:spPr>
          <a:xfrm>
            <a:off x="5507831" y="4520176"/>
            <a:ext cx="3236119" cy="159081"/>
          </a:xfrm>
          <a:prstGeom prst="rect">
            <a:avLst/>
          </a:prstGeom>
          <a:noFill/>
          <a:ln/>
        </p:spPr>
        <p:txBody>
          <a:bodyPr wrap="none" lIns="0" tIns="0" rIns="0" bIns="0" rtlCol="0" anchor="t"/>
          <a:lstStyle/>
          <a:p>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Mrs. TANN Chantara`</a:t>
            </a:r>
            <a:endParaRPr lang="en-US" sz="800" dirty="0"/>
          </a:p>
        </p:txBody>
      </p:sp>
      <p:sp>
        <p:nvSpPr>
          <p:cNvPr id="24" name="Text 22"/>
          <p:cNvSpPr/>
          <p:nvPr/>
        </p:nvSpPr>
        <p:spPr>
          <a:xfrm>
            <a:off x="6935130" y="4682728"/>
            <a:ext cx="1808820" cy="117872"/>
          </a:xfrm>
          <a:prstGeom prst="rect">
            <a:avLst/>
          </a:prstGeom>
          <a:noFill/>
          <a:ln/>
        </p:spPr>
        <p:txBody>
          <a:bodyPr wrap="none" lIns="0" tIns="0" rIns="0" bIns="0" rtlCol="0" anchor="t"/>
          <a:lstStyle/>
          <a:p>
            <a:pPr algn="l" indent="0" marL="0">
              <a:lnSpc>
                <a:spcPts val="928"/>
              </a:lnSpc>
              <a:buNone/>
            </a:pPr>
            <a:r>
              <a:rPr lang="en-US" sz="800" spc="136" kern="0" dirty="0">
                <a:solidFill>
                  <a:srgbClr val="0F1F3D"/>
                </a:solidFill>
                <a:latin typeface="Liberation Sans Narrow" pitchFamily="34" charset="0"/>
                <a:ea typeface="Liberation Sans Narrow" pitchFamily="34" charset="-122"/>
                <a:cs typeface="Liberation Sans Narrow" pitchFamily="34" charset="-120"/>
              </a:rPr>
              <a:t>▦ PHNOM PENH · JULY 21,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none" lIns="0" tIns="0" rIns="0" bIns="0" rtlCol="0" anchor="t"/>
          <a:lstStyle/>
          <a:p>
            <a:pPr algn="l" indent="0" marL="0">
              <a:lnSpc>
                <a:spcPts val="928"/>
              </a:lnSpc>
              <a:buNone/>
            </a:pPr>
            <a:r>
              <a:rPr lang="en-US" sz="800" b="1" spc="136" kern="0" dirty="0">
                <a:solidFill>
                  <a:srgbClr val="14B8A6"/>
                </a:solidFill>
                <a:latin typeface="Carlito" pitchFamily="34" charset="0"/>
                <a:ea typeface="Carlito" pitchFamily="34" charset="-122"/>
                <a:cs typeface="Carlito" pitchFamily="34" charset="-120"/>
              </a:rPr>
              <a:t>AGENDA</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311021"/>
          </a:xfrm>
          <a:prstGeom prst="rect">
            <a:avLst/>
          </a:prstGeom>
          <a:noFill/>
          <a:ln/>
        </p:spPr>
        <p:txBody>
          <a:bodyPr wrap="none" lIns="0" tIns="0" rIns="0" bIns="0" rtlCol="0" anchor="t"/>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Outline of the Defense</a:t>
            </a:r>
            <a:endParaRPr lang="en-US" sz="2025" dirty="0"/>
          </a:p>
        </p:txBody>
      </p:sp>
      <p:sp>
        <p:nvSpPr>
          <p:cNvPr id="5" name="Text 3"/>
          <p:cNvSpPr/>
          <p:nvPr/>
        </p:nvSpPr>
        <p:spPr>
          <a:xfrm>
            <a:off x="457200" y="1027361"/>
            <a:ext cx="6572250" cy="191314"/>
          </a:xfrm>
          <a:prstGeom prst="rect">
            <a:avLst/>
          </a:prstGeom>
          <a:noFill/>
          <a:ln/>
        </p:spPr>
        <p:txBody>
          <a:bodyPr wrap="square" lIns="0" tIns="0" rIns="0" bIns="0" rtlCol="0" anchor="t"/>
          <a:lstStyle/>
          <a:p>
            <a:pPr algn="l" indent="0" marL="0">
              <a:lnSpc>
                <a:spcPts val="1395"/>
              </a:lnSpc>
              <a:buNone/>
            </a:pPr>
            <a:r>
              <a:rPr lang="en-US" sz="900" dirty="0">
                <a:solidFill>
                  <a:srgbClr val="5B6B82"/>
                </a:solidFill>
                <a:latin typeface="Carlito" pitchFamily="34" charset="0"/>
                <a:ea typeface="Carlito" pitchFamily="34" charset="-122"/>
                <a:cs typeface="Carlito" pitchFamily="34" charset="-120"/>
              </a:rPr>
              <a:t>Four sections, twenty-six content slides, ten minutes of presentation followed by Q&amp;A.</a:t>
            </a:r>
            <a:endParaRPr lang="en-US" sz="900" dirty="0"/>
          </a:p>
        </p:txBody>
      </p:sp>
      <p:sp>
        <p:nvSpPr>
          <p:cNvPr id="6" name="Text 4"/>
          <p:cNvSpPr/>
          <p:nvPr/>
        </p:nvSpPr>
        <p:spPr>
          <a:xfrm>
            <a:off x="460772" y="1336663"/>
            <a:ext cx="4036219" cy="1655118"/>
          </a:xfrm>
          <a:prstGeom prst="roundRect">
            <a:avLst>
              <a:gd name="adj" fmla="val 8057"/>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7" name="Text 5"/>
          <p:cNvSpPr/>
          <p:nvPr/>
        </p:nvSpPr>
        <p:spPr>
          <a:xfrm>
            <a:off x="650081" y="1340234"/>
            <a:ext cx="3657600" cy="21431"/>
          </a:xfrm>
          <a:prstGeom prst="rect">
            <a:avLst/>
          </a:prstGeom>
          <a:solidFill>
            <a:srgbClr val="14B8A6"/>
          </a:solidFill>
          <a:ln/>
        </p:spPr>
        <p:txBody>
          <a:bodyPr wrap="square" rtlCol="0" anchor="ctr"/>
          <a:lstStyle/>
          <a:p>
            <a:pPr indent="0" marL="0">
              <a:buNone/>
            </a:pPr>
            <a:endParaRPr lang="en-US" dirty="0"/>
          </a:p>
        </p:txBody>
      </p:sp>
      <p:sp>
        <p:nvSpPr>
          <p:cNvPr id="8" name="Text 6"/>
          <p:cNvSpPr/>
          <p:nvPr/>
        </p:nvSpPr>
        <p:spPr>
          <a:xfrm>
            <a:off x="650081" y="1511684"/>
            <a:ext cx="3657600" cy="416624"/>
          </a:xfrm>
          <a:prstGeom prst="rect">
            <a:avLst/>
          </a:prstGeom>
          <a:noFill/>
          <a:ln/>
        </p:spPr>
        <p:txBody>
          <a:bodyPr wrap="none" lIns="0" tIns="0" rIns="0" bIns="0" rtlCol="0" anchor="t"/>
          <a:lstStyle/>
          <a:p>
            <a:pPr algn="l" indent="0" marL="0">
              <a:lnSpc>
                <a:spcPts val="3038"/>
              </a:lnSpc>
              <a:buNone/>
            </a:pPr>
            <a:r>
              <a:rPr lang="en-US" sz="3038" b="1" spc="-122" kern="0" dirty="0">
                <a:solidFill>
                  <a:srgbClr val="14B8A6"/>
                </a:solidFill>
                <a:latin typeface="Liberation Sans Narrow" pitchFamily="34" charset="0"/>
                <a:ea typeface="Liberation Sans Narrow" pitchFamily="34" charset="-122"/>
                <a:cs typeface="Liberation Sans Narrow" pitchFamily="34" charset="-120"/>
              </a:rPr>
              <a:t>01</a:t>
            </a:r>
            <a:endParaRPr lang="en-US" sz="3038" dirty="0"/>
          </a:p>
        </p:txBody>
      </p:sp>
      <p:sp>
        <p:nvSpPr>
          <p:cNvPr id="9" name="Text 7"/>
          <p:cNvSpPr/>
          <p:nvPr/>
        </p:nvSpPr>
        <p:spPr>
          <a:xfrm>
            <a:off x="650081" y="1997459"/>
            <a:ext cx="3657600" cy="212553"/>
          </a:xfrm>
          <a:prstGeom prst="rect">
            <a:avLst/>
          </a:prstGeom>
          <a:noFill/>
          <a:ln/>
        </p:spPr>
        <p:txBody>
          <a:bodyPr wrap="none" lIns="0" tIns="0" rIns="0" bIns="0" rtlCol="0" anchor="t"/>
          <a:lstStyle/>
          <a:p>
            <a:pPr algn="l" indent="0" marL="0">
              <a:lnSpc>
                <a:spcPts val="1553"/>
              </a:lnSpc>
              <a:buNone/>
            </a:pPr>
            <a:r>
              <a:rPr lang="en-US" sz="1350" b="1" spc="-13" kern="0" dirty="0">
                <a:solidFill>
                  <a:srgbClr val="0F1F3D"/>
                </a:solidFill>
                <a:latin typeface="Carlito" pitchFamily="34" charset="0"/>
                <a:ea typeface="Carlito" pitchFamily="34" charset="-122"/>
                <a:cs typeface="Carlito" pitchFamily="34" charset="-120"/>
              </a:rPr>
              <a:t>Introduction</a:t>
            </a:r>
            <a:endParaRPr lang="en-US" sz="1350" dirty="0"/>
          </a:p>
        </p:txBody>
      </p:sp>
      <p:sp>
        <p:nvSpPr>
          <p:cNvPr id="10" name="Text 8"/>
          <p:cNvSpPr/>
          <p:nvPr/>
        </p:nvSpPr>
        <p:spPr>
          <a:xfrm>
            <a:off x="650081" y="2237445"/>
            <a:ext cx="2714625" cy="329184"/>
          </a:xfrm>
          <a:prstGeom prst="rect">
            <a:avLst/>
          </a:prstGeom>
          <a:noFill/>
          <a:ln/>
        </p:spPr>
        <p:txBody>
          <a:bodyPr wrap="square" lIns="0" tIns="0" rIns="0" bIns="0" rtlCol="0" anchor="t"/>
          <a:lstStyle/>
          <a:p>
            <a:pPr algn="l" indent="0" marL="0">
              <a:lnSpc>
                <a:spcPts val="1139"/>
              </a:lnSpc>
              <a:buNone/>
            </a:pPr>
            <a:r>
              <a:rPr lang="en-US" sz="800" dirty="0">
                <a:solidFill>
                  <a:srgbClr val="5B6B82"/>
                </a:solidFill>
                <a:latin typeface="Carlito" pitchFamily="34" charset="0"/>
                <a:ea typeface="Carlito" pitchFamily="34" charset="-122"/>
                <a:cs typeface="Carlito" pitchFamily="34" charset="-120"/>
              </a:rPr>
              <a:t>Motivation, prior work, objectives, and research questions.</a:t>
            </a:r>
            <a:endParaRPr lang="en-US" sz="800" dirty="0"/>
          </a:p>
        </p:txBody>
      </p:sp>
      <p:sp>
        <p:nvSpPr>
          <p:cNvPr id="11" name="Text 9"/>
          <p:cNvSpPr/>
          <p:nvPr/>
        </p:nvSpPr>
        <p:spPr>
          <a:xfrm>
            <a:off x="650081" y="2672097"/>
            <a:ext cx="128588" cy="128588"/>
          </a:xfrm>
          <a:prstGeom prst="rect">
            <a:avLst/>
          </a:prstGeom>
          <a:noFill/>
          <a:ln/>
        </p:spPr>
        <p:txBody>
          <a:bodyPr wrap="none" lIns="0" tIns="0" rIns="0" bIns="0" rtlCol="0" anchor="ctr"/>
          <a:lstStyle/>
          <a:p>
            <a:pPr algn="ctr" indent="0" marL="0">
              <a:buNone/>
            </a:pPr>
            <a:r>
              <a:rPr lang="en-US" sz="1266" dirty="0">
                <a:solidFill>
                  <a:srgbClr val="8A97AB"/>
                </a:solidFill>
                <a:latin typeface="Segoe UI Symbol" pitchFamily="34" charset="0"/>
                <a:ea typeface="Segoe UI Symbol" pitchFamily="34" charset="-122"/>
                <a:cs typeface="Segoe UI Symbol" pitchFamily="34" charset="-120"/>
              </a:rPr>
              <a:t>▤</a:t>
            </a:r>
            <a:endParaRPr lang="en-US" sz="1266" dirty="0"/>
          </a:p>
        </p:txBody>
      </p:sp>
      <p:sp>
        <p:nvSpPr>
          <p:cNvPr id="12" name="Text 10"/>
          <p:cNvSpPr/>
          <p:nvPr/>
        </p:nvSpPr>
        <p:spPr>
          <a:xfrm>
            <a:off x="3711424" y="2630378"/>
            <a:ext cx="619118" cy="212027"/>
          </a:xfrm>
          <a:prstGeom prst="roundRect">
            <a:avLst>
              <a:gd name="adj" fmla="val 4487860"/>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13" name="Text 11"/>
          <p:cNvSpPr/>
          <p:nvPr/>
        </p:nvSpPr>
        <p:spPr>
          <a:xfrm>
            <a:off x="3734284" y="2641736"/>
            <a:ext cx="573398" cy="189309"/>
          </a:xfrm>
          <a:prstGeom prst="rect">
            <a:avLst/>
          </a:prstGeom>
          <a:noFill/>
          <a:ln/>
        </p:spPr>
        <p:txBody>
          <a:bodyPr wrap="none" lIns="0" tIns="0" rIns="0" bIns="0" rtlCol="0" anchor="ctr"/>
          <a:lstStyle/>
          <a:p>
            <a:pPr algn="ctr" indent="0" marL="0">
              <a:lnSpc>
                <a:spcPts val="928"/>
              </a:lnSpc>
              <a:buNone/>
            </a:pPr>
            <a:r>
              <a:rPr lang="en-US" sz="800" spc="37" kern="0" dirty="0">
                <a:solidFill>
                  <a:srgbClr val="0F1F3D"/>
                </a:solidFill>
                <a:latin typeface="Liberation Sans Narrow" pitchFamily="34" charset="0"/>
                <a:ea typeface="Liberation Sans Narrow" pitchFamily="34" charset="-122"/>
                <a:cs typeface="Liberation Sans Narrow" pitchFamily="34" charset="-120"/>
              </a:rPr>
              <a:t>7 slides</a:t>
            </a:r>
            <a:endParaRPr lang="en-US" sz="800" dirty="0"/>
          </a:p>
        </p:txBody>
      </p:sp>
      <p:sp>
        <p:nvSpPr>
          <p:cNvPr id="14" name="Text 12"/>
          <p:cNvSpPr/>
          <p:nvPr/>
        </p:nvSpPr>
        <p:spPr>
          <a:xfrm>
            <a:off x="4647009" y="1336663"/>
            <a:ext cx="4036219" cy="1655118"/>
          </a:xfrm>
          <a:prstGeom prst="roundRect">
            <a:avLst>
              <a:gd name="adj" fmla="val 8057"/>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15" name="Text 13"/>
          <p:cNvSpPr/>
          <p:nvPr/>
        </p:nvSpPr>
        <p:spPr>
          <a:xfrm>
            <a:off x="4836319" y="1340234"/>
            <a:ext cx="3657600" cy="21431"/>
          </a:xfrm>
          <a:prstGeom prst="rect">
            <a:avLst/>
          </a:prstGeom>
          <a:solidFill>
            <a:srgbClr val="14B8A6"/>
          </a:solidFill>
          <a:ln/>
        </p:spPr>
        <p:txBody>
          <a:bodyPr wrap="square" rtlCol="0" anchor="ctr"/>
          <a:lstStyle/>
          <a:p>
            <a:pPr indent="0" marL="0">
              <a:buNone/>
            </a:pPr>
            <a:endParaRPr lang="en-US" dirty="0"/>
          </a:p>
        </p:txBody>
      </p:sp>
      <p:sp>
        <p:nvSpPr>
          <p:cNvPr id="16" name="Text 14"/>
          <p:cNvSpPr/>
          <p:nvPr/>
        </p:nvSpPr>
        <p:spPr>
          <a:xfrm>
            <a:off x="4836319" y="1511684"/>
            <a:ext cx="3657600" cy="416624"/>
          </a:xfrm>
          <a:prstGeom prst="rect">
            <a:avLst/>
          </a:prstGeom>
          <a:noFill/>
          <a:ln/>
        </p:spPr>
        <p:txBody>
          <a:bodyPr wrap="none" lIns="0" tIns="0" rIns="0" bIns="0" rtlCol="0" anchor="t"/>
          <a:lstStyle/>
          <a:p>
            <a:pPr algn="l" indent="0" marL="0">
              <a:lnSpc>
                <a:spcPts val="3038"/>
              </a:lnSpc>
              <a:buNone/>
            </a:pPr>
            <a:r>
              <a:rPr lang="en-US" sz="3038" b="1" spc="-122" kern="0" dirty="0">
                <a:solidFill>
                  <a:srgbClr val="14B8A6"/>
                </a:solidFill>
                <a:latin typeface="Liberation Sans Narrow" pitchFamily="34" charset="0"/>
                <a:ea typeface="Liberation Sans Narrow" pitchFamily="34" charset="-122"/>
                <a:cs typeface="Liberation Sans Narrow" pitchFamily="34" charset="-120"/>
              </a:rPr>
              <a:t>02</a:t>
            </a:r>
            <a:endParaRPr lang="en-US" sz="3038" dirty="0"/>
          </a:p>
        </p:txBody>
      </p:sp>
      <p:sp>
        <p:nvSpPr>
          <p:cNvPr id="17" name="Text 15"/>
          <p:cNvSpPr/>
          <p:nvPr/>
        </p:nvSpPr>
        <p:spPr>
          <a:xfrm>
            <a:off x="4836319" y="1997459"/>
            <a:ext cx="3657600" cy="212553"/>
          </a:xfrm>
          <a:prstGeom prst="rect">
            <a:avLst/>
          </a:prstGeom>
          <a:noFill/>
          <a:ln/>
        </p:spPr>
        <p:txBody>
          <a:bodyPr wrap="none" lIns="0" tIns="0" rIns="0" bIns="0" rtlCol="0" anchor="t"/>
          <a:lstStyle/>
          <a:p>
            <a:pPr algn="l" indent="0" marL="0">
              <a:lnSpc>
                <a:spcPts val="1553"/>
              </a:lnSpc>
              <a:buNone/>
            </a:pPr>
            <a:r>
              <a:rPr lang="en-US" sz="1350" b="1" spc="-13" kern="0" dirty="0">
                <a:solidFill>
                  <a:srgbClr val="0F1F3D"/>
                </a:solidFill>
                <a:latin typeface="Carlito" pitchFamily="34" charset="0"/>
                <a:ea typeface="Carlito" pitchFamily="34" charset="-122"/>
                <a:cs typeface="Carlito" pitchFamily="34" charset="-120"/>
              </a:rPr>
              <a:t>Methodology</a:t>
            </a:r>
            <a:endParaRPr lang="en-US" sz="1350" dirty="0"/>
          </a:p>
        </p:txBody>
      </p:sp>
      <p:sp>
        <p:nvSpPr>
          <p:cNvPr id="18" name="Text 16"/>
          <p:cNvSpPr/>
          <p:nvPr/>
        </p:nvSpPr>
        <p:spPr>
          <a:xfrm>
            <a:off x="4836319" y="2237445"/>
            <a:ext cx="2714625" cy="329184"/>
          </a:xfrm>
          <a:prstGeom prst="rect">
            <a:avLst/>
          </a:prstGeom>
          <a:noFill/>
          <a:ln/>
        </p:spPr>
        <p:txBody>
          <a:bodyPr wrap="square" lIns="0" tIns="0" rIns="0" bIns="0" rtlCol="0" anchor="t"/>
          <a:lstStyle/>
          <a:p>
            <a:pPr algn="l" indent="0" marL="0">
              <a:lnSpc>
                <a:spcPts val="1139"/>
              </a:lnSpc>
              <a:buNone/>
            </a:pPr>
            <a:r>
              <a:rPr lang="en-US" sz="800" dirty="0">
                <a:solidFill>
                  <a:srgbClr val="5B6B82"/>
                </a:solidFill>
                <a:latin typeface="Carlito" pitchFamily="34" charset="0"/>
                <a:ea typeface="Carlito" pitchFamily="34" charset="-122"/>
                <a:cs typeface="Carlito" pitchFamily="34" charset="-120"/>
              </a:rPr>
              <a:t>DAiSEE dataset, MediaPipe feature pipeline, feature engineering, XGBoost model.</a:t>
            </a:r>
            <a:endParaRPr lang="en-US" sz="800" dirty="0"/>
          </a:p>
        </p:txBody>
      </p:sp>
      <p:sp>
        <p:nvSpPr>
          <p:cNvPr id="19" name="Text 17"/>
          <p:cNvSpPr/>
          <p:nvPr/>
        </p:nvSpPr>
        <p:spPr>
          <a:xfrm>
            <a:off x="4836319" y="2672097"/>
            <a:ext cx="128588" cy="128588"/>
          </a:xfrm>
          <a:prstGeom prst="rect">
            <a:avLst/>
          </a:prstGeom>
          <a:noFill/>
          <a:ln/>
        </p:spPr>
        <p:txBody>
          <a:bodyPr wrap="none" lIns="0" tIns="0" rIns="0" bIns="0" rtlCol="0" anchor="ctr"/>
          <a:lstStyle/>
          <a:p>
            <a:pPr algn="ctr" indent="0" marL="0">
              <a:buNone/>
            </a:pPr>
            <a:r>
              <a:rPr lang="en-US" sz="1266" dirty="0">
                <a:solidFill>
                  <a:srgbClr val="8A97AB"/>
                </a:solidFill>
                <a:latin typeface="Segoe UI Symbol" pitchFamily="34" charset="0"/>
                <a:ea typeface="Segoe UI Symbol" pitchFamily="34" charset="-122"/>
                <a:cs typeface="Segoe UI Symbol" pitchFamily="34" charset="-120"/>
              </a:rPr>
              <a:t>◔</a:t>
            </a:r>
            <a:endParaRPr lang="en-US" sz="1266" dirty="0"/>
          </a:p>
        </p:txBody>
      </p:sp>
      <p:sp>
        <p:nvSpPr>
          <p:cNvPr id="20" name="Text 18"/>
          <p:cNvSpPr/>
          <p:nvPr/>
        </p:nvSpPr>
        <p:spPr>
          <a:xfrm>
            <a:off x="7897661" y="2630378"/>
            <a:ext cx="619118" cy="212027"/>
          </a:xfrm>
          <a:prstGeom prst="roundRect">
            <a:avLst>
              <a:gd name="adj" fmla="val 4487860"/>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21" name="Text 19"/>
          <p:cNvSpPr/>
          <p:nvPr/>
        </p:nvSpPr>
        <p:spPr>
          <a:xfrm>
            <a:off x="7920521" y="2641736"/>
            <a:ext cx="573398" cy="189309"/>
          </a:xfrm>
          <a:prstGeom prst="rect">
            <a:avLst/>
          </a:prstGeom>
          <a:noFill/>
          <a:ln/>
        </p:spPr>
        <p:txBody>
          <a:bodyPr wrap="none" lIns="0" tIns="0" rIns="0" bIns="0" rtlCol="0" anchor="ctr"/>
          <a:lstStyle/>
          <a:p>
            <a:pPr algn="ctr" indent="0" marL="0">
              <a:lnSpc>
                <a:spcPts val="928"/>
              </a:lnSpc>
              <a:buNone/>
            </a:pPr>
            <a:r>
              <a:rPr lang="en-US" sz="800" spc="37" kern="0" dirty="0">
                <a:solidFill>
                  <a:srgbClr val="0F1F3D"/>
                </a:solidFill>
                <a:latin typeface="Liberation Sans Narrow" pitchFamily="34" charset="0"/>
                <a:ea typeface="Liberation Sans Narrow" pitchFamily="34" charset="-122"/>
                <a:cs typeface="Liberation Sans Narrow" pitchFamily="34" charset="-120"/>
              </a:rPr>
              <a:t>7 slides</a:t>
            </a:r>
            <a:endParaRPr lang="en-US" sz="800" dirty="0"/>
          </a:p>
        </p:txBody>
      </p:sp>
      <p:sp>
        <p:nvSpPr>
          <p:cNvPr id="22" name="Text 20"/>
          <p:cNvSpPr/>
          <p:nvPr/>
        </p:nvSpPr>
        <p:spPr>
          <a:xfrm>
            <a:off x="460772" y="3141799"/>
            <a:ext cx="4036219" cy="1655229"/>
          </a:xfrm>
          <a:prstGeom prst="roundRect">
            <a:avLst>
              <a:gd name="adj" fmla="val 8056"/>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23" name="Text 21"/>
          <p:cNvSpPr/>
          <p:nvPr/>
        </p:nvSpPr>
        <p:spPr>
          <a:xfrm>
            <a:off x="650081" y="3145371"/>
            <a:ext cx="3657600" cy="21431"/>
          </a:xfrm>
          <a:prstGeom prst="rect">
            <a:avLst/>
          </a:prstGeom>
          <a:solidFill>
            <a:srgbClr val="14B8A6"/>
          </a:solidFill>
          <a:ln/>
        </p:spPr>
        <p:txBody>
          <a:bodyPr wrap="square" rtlCol="0" anchor="ctr"/>
          <a:lstStyle/>
          <a:p>
            <a:pPr indent="0" marL="0">
              <a:buNone/>
            </a:pPr>
            <a:endParaRPr lang="en-US" dirty="0"/>
          </a:p>
        </p:txBody>
      </p:sp>
      <p:sp>
        <p:nvSpPr>
          <p:cNvPr id="24" name="Text 22"/>
          <p:cNvSpPr/>
          <p:nvPr/>
        </p:nvSpPr>
        <p:spPr>
          <a:xfrm>
            <a:off x="650081" y="3316821"/>
            <a:ext cx="3657600" cy="416624"/>
          </a:xfrm>
          <a:prstGeom prst="rect">
            <a:avLst/>
          </a:prstGeom>
          <a:noFill/>
          <a:ln/>
        </p:spPr>
        <p:txBody>
          <a:bodyPr wrap="none" lIns="0" tIns="0" rIns="0" bIns="0" rtlCol="0" anchor="t"/>
          <a:lstStyle/>
          <a:p>
            <a:pPr algn="l" indent="0" marL="0">
              <a:lnSpc>
                <a:spcPts val="3038"/>
              </a:lnSpc>
              <a:buNone/>
            </a:pPr>
            <a:r>
              <a:rPr lang="en-US" sz="3038" b="1" spc="-122" kern="0" dirty="0">
                <a:solidFill>
                  <a:srgbClr val="14B8A6"/>
                </a:solidFill>
                <a:latin typeface="Liberation Sans Narrow" pitchFamily="34" charset="0"/>
                <a:ea typeface="Liberation Sans Narrow" pitchFamily="34" charset="-122"/>
                <a:cs typeface="Liberation Sans Narrow" pitchFamily="34" charset="-120"/>
              </a:rPr>
              <a:t>03</a:t>
            </a:r>
            <a:endParaRPr lang="en-US" sz="3038" dirty="0"/>
          </a:p>
        </p:txBody>
      </p:sp>
      <p:sp>
        <p:nvSpPr>
          <p:cNvPr id="25" name="Text 23"/>
          <p:cNvSpPr/>
          <p:nvPr/>
        </p:nvSpPr>
        <p:spPr>
          <a:xfrm>
            <a:off x="650081" y="3802596"/>
            <a:ext cx="3657600" cy="212553"/>
          </a:xfrm>
          <a:prstGeom prst="rect">
            <a:avLst/>
          </a:prstGeom>
          <a:noFill/>
          <a:ln/>
        </p:spPr>
        <p:txBody>
          <a:bodyPr wrap="none" lIns="0" tIns="0" rIns="0" bIns="0" rtlCol="0" anchor="t"/>
          <a:lstStyle/>
          <a:p>
            <a:pPr algn="l" indent="0" marL="0">
              <a:lnSpc>
                <a:spcPts val="1553"/>
              </a:lnSpc>
              <a:buNone/>
            </a:pPr>
            <a:r>
              <a:rPr lang="en-US" sz="1350" b="1" spc="-13" kern="0" dirty="0">
                <a:solidFill>
                  <a:srgbClr val="0F1F3D"/>
                </a:solidFill>
                <a:latin typeface="Carlito" pitchFamily="34" charset="0"/>
                <a:ea typeface="Carlito" pitchFamily="34" charset="-122"/>
                <a:cs typeface="Carlito" pitchFamily="34" charset="-120"/>
              </a:rPr>
              <a:t>Results &amp; Discussion</a:t>
            </a:r>
            <a:endParaRPr lang="en-US" sz="1350" dirty="0"/>
          </a:p>
        </p:txBody>
      </p:sp>
      <p:sp>
        <p:nvSpPr>
          <p:cNvPr id="26" name="Text 24"/>
          <p:cNvSpPr/>
          <p:nvPr/>
        </p:nvSpPr>
        <p:spPr>
          <a:xfrm>
            <a:off x="650081" y="4042581"/>
            <a:ext cx="2714625" cy="329184"/>
          </a:xfrm>
          <a:prstGeom prst="rect">
            <a:avLst/>
          </a:prstGeom>
          <a:noFill/>
          <a:ln/>
        </p:spPr>
        <p:txBody>
          <a:bodyPr wrap="square" lIns="0" tIns="0" rIns="0" bIns="0" rtlCol="0" anchor="t"/>
          <a:lstStyle/>
          <a:p>
            <a:pPr algn="l" indent="0" marL="0">
              <a:lnSpc>
                <a:spcPts val="1139"/>
              </a:lnSpc>
              <a:buNone/>
            </a:pPr>
            <a:r>
              <a:rPr lang="en-US" sz="800" dirty="0">
                <a:solidFill>
                  <a:srgbClr val="5B6B82"/>
                </a:solidFill>
                <a:latin typeface="Carlito" pitchFamily="34" charset="0"/>
                <a:ea typeface="Carlito" pitchFamily="34" charset="-122"/>
                <a:cs typeface="Carlito" pitchFamily="34" charset="-120"/>
              </a:rPr>
              <a:t>Numerical performance, per-class breakdown, SHAP analysis, ablation.</a:t>
            </a:r>
            <a:endParaRPr lang="en-US" sz="800" dirty="0"/>
          </a:p>
        </p:txBody>
      </p:sp>
      <p:sp>
        <p:nvSpPr>
          <p:cNvPr id="27" name="Text 25"/>
          <p:cNvSpPr/>
          <p:nvPr/>
        </p:nvSpPr>
        <p:spPr>
          <a:xfrm>
            <a:off x="650081" y="4477345"/>
            <a:ext cx="128588" cy="128588"/>
          </a:xfrm>
          <a:prstGeom prst="rect">
            <a:avLst/>
          </a:prstGeom>
          <a:noFill/>
          <a:ln/>
        </p:spPr>
        <p:txBody>
          <a:bodyPr wrap="none" lIns="0" tIns="0" rIns="0" bIns="0" rtlCol="0" anchor="ctr"/>
          <a:lstStyle/>
          <a:p>
            <a:pPr algn="ctr" indent="0" marL="0">
              <a:buNone/>
            </a:pPr>
            <a:r>
              <a:rPr lang="en-US" sz="1266" dirty="0">
                <a:solidFill>
                  <a:srgbClr val="8A97AB"/>
                </a:solidFill>
                <a:latin typeface="Segoe UI Symbol" pitchFamily="34" charset="0"/>
                <a:ea typeface="Segoe UI Symbol" pitchFamily="34" charset="-122"/>
                <a:cs typeface="Segoe UI Symbol" pitchFamily="34" charset="-120"/>
              </a:rPr>
              <a:t>◆</a:t>
            </a:r>
            <a:endParaRPr lang="en-US" sz="1266" dirty="0"/>
          </a:p>
        </p:txBody>
      </p:sp>
      <p:sp>
        <p:nvSpPr>
          <p:cNvPr id="28" name="Text 26"/>
          <p:cNvSpPr/>
          <p:nvPr/>
        </p:nvSpPr>
        <p:spPr>
          <a:xfrm>
            <a:off x="3711424" y="4435626"/>
            <a:ext cx="619118" cy="212027"/>
          </a:xfrm>
          <a:prstGeom prst="roundRect">
            <a:avLst>
              <a:gd name="adj" fmla="val 4487860"/>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29" name="Text 27"/>
          <p:cNvSpPr/>
          <p:nvPr/>
        </p:nvSpPr>
        <p:spPr>
          <a:xfrm>
            <a:off x="3734284" y="4446984"/>
            <a:ext cx="573398" cy="189309"/>
          </a:xfrm>
          <a:prstGeom prst="rect">
            <a:avLst/>
          </a:prstGeom>
          <a:noFill/>
          <a:ln/>
        </p:spPr>
        <p:txBody>
          <a:bodyPr wrap="none" lIns="0" tIns="0" rIns="0" bIns="0" rtlCol="0" anchor="ctr"/>
          <a:lstStyle/>
          <a:p>
            <a:pPr algn="ctr" indent="0" marL="0">
              <a:lnSpc>
                <a:spcPts val="928"/>
              </a:lnSpc>
              <a:buNone/>
            </a:pPr>
            <a:r>
              <a:rPr lang="en-US" sz="800" spc="37" kern="0" dirty="0">
                <a:solidFill>
                  <a:srgbClr val="0F1F3D"/>
                </a:solidFill>
                <a:latin typeface="Liberation Sans Narrow" pitchFamily="34" charset="0"/>
                <a:ea typeface="Liberation Sans Narrow" pitchFamily="34" charset="-122"/>
                <a:cs typeface="Liberation Sans Narrow" pitchFamily="34" charset="-120"/>
              </a:rPr>
              <a:t>9 slides</a:t>
            </a:r>
            <a:endParaRPr lang="en-US" sz="800" dirty="0"/>
          </a:p>
        </p:txBody>
      </p:sp>
      <p:sp>
        <p:nvSpPr>
          <p:cNvPr id="30" name="Text 28"/>
          <p:cNvSpPr/>
          <p:nvPr/>
        </p:nvSpPr>
        <p:spPr>
          <a:xfrm>
            <a:off x="4647009" y="3141799"/>
            <a:ext cx="4036219" cy="1655229"/>
          </a:xfrm>
          <a:prstGeom prst="roundRect">
            <a:avLst>
              <a:gd name="adj" fmla="val 8056"/>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31" name="Text 29"/>
          <p:cNvSpPr/>
          <p:nvPr/>
        </p:nvSpPr>
        <p:spPr>
          <a:xfrm>
            <a:off x="4836319" y="3145371"/>
            <a:ext cx="3657600" cy="21431"/>
          </a:xfrm>
          <a:prstGeom prst="rect">
            <a:avLst/>
          </a:prstGeom>
          <a:solidFill>
            <a:srgbClr val="C77B2C"/>
          </a:solidFill>
          <a:ln/>
        </p:spPr>
        <p:txBody>
          <a:bodyPr wrap="square" rtlCol="0" anchor="ctr"/>
          <a:lstStyle/>
          <a:p>
            <a:pPr indent="0" marL="0">
              <a:buNone/>
            </a:pPr>
            <a:endParaRPr lang="en-US" dirty="0"/>
          </a:p>
        </p:txBody>
      </p:sp>
      <p:sp>
        <p:nvSpPr>
          <p:cNvPr id="32" name="Text 30"/>
          <p:cNvSpPr/>
          <p:nvPr/>
        </p:nvSpPr>
        <p:spPr>
          <a:xfrm>
            <a:off x="4836319" y="3316821"/>
            <a:ext cx="3657600" cy="416624"/>
          </a:xfrm>
          <a:prstGeom prst="rect">
            <a:avLst/>
          </a:prstGeom>
          <a:noFill/>
          <a:ln/>
        </p:spPr>
        <p:txBody>
          <a:bodyPr wrap="none" lIns="0" tIns="0" rIns="0" bIns="0" rtlCol="0" anchor="t"/>
          <a:lstStyle/>
          <a:p>
            <a:pPr algn="l" indent="0" marL="0">
              <a:lnSpc>
                <a:spcPts val="3038"/>
              </a:lnSpc>
              <a:buNone/>
            </a:pPr>
            <a:r>
              <a:rPr lang="en-US" sz="3038" b="1" spc="-122" kern="0" dirty="0">
                <a:solidFill>
                  <a:srgbClr val="C77B2C"/>
                </a:solidFill>
                <a:latin typeface="Liberation Sans Narrow" pitchFamily="34" charset="0"/>
                <a:ea typeface="Liberation Sans Narrow" pitchFamily="34" charset="-122"/>
                <a:cs typeface="Liberation Sans Narrow" pitchFamily="34" charset="-120"/>
              </a:rPr>
              <a:t>04</a:t>
            </a:r>
            <a:endParaRPr lang="en-US" sz="3038" dirty="0"/>
          </a:p>
        </p:txBody>
      </p:sp>
      <p:sp>
        <p:nvSpPr>
          <p:cNvPr id="33" name="Text 31"/>
          <p:cNvSpPr/>
          <p:nvPr/>
        </p:nvSpPr>
        <p:spPr>
          <a:xfrm>
            <a:off x="4836319" y="3802596"/>
            <a:ext cx="3657600" cy="212553"/>
          </a:xfrm>
          <a:prstGeom prst="rect">
            <a:avLst/>
          </a:prstGeom>
          <a:noFill/>
          <a:ln/>
        </p:spPr>
        <p:txBody>
          <a:bodyPr wrap="none" lIns="0" tIns="0" rIns="0" bIns="0" rtlCol="0" anchor="t"/>
          <a:lstStyle/>
          <a:p>
            <a:pPr algn="l" indent="0" marL="0">
              <a:lnSpc>
                <a:spcPts val="1553"/>
              </a:lnSpc>
              <a:buNone/>
            </a:pPr>
            <a:r>
              <a:rPr lang="en-US" sz="1350" b="1" spc="-13" kern="0" dirty="0">
                <a:solidFill>
                  <a:srgbClr val="0F1F3D"/>
                </a:solidFill>
                <a:latin typeface="Carlito" pitchFamily="34" charset="0"/>
                <a:ea typeface="Carlito" pitchFamily="34" charset="-122"/>
                <a:cs typeface="Carlito" pitchFamily="34" charset="-120"/>
              </a:rPr>
              <a:t>Conclusion &amp; Future Work</a:t>
            </a:r>
            <a:endParaRPr lang="en-US" sz="1350" dirty="0"/>
          </a:p>
        </p:txBody>
      </p:sp>
      <p:sp>
        <p:nvSpPr>
          <p:cNvPr id="34" name="Text 32"/>
          <p:cNvSpPr/>
          <p:nvPr/>
        </p:nvSpPr>
        <p:spPr>
          <a:xfrm>
            <a:off x="4836319" y="4042581"/>
            <a:ext cx="2931795" cy="164592"/>
          </a:xfrm>
          <a:prstGeom prst="rect">
            <a:avLst/>
          </a:prstGeom>
          <a:noFill/>
          <a:ln/>
        </p:spPr>
        <p:txBody>
          <a:bodyPr wrap="square" lIns="0" tIns="0" rIns="0" bIns="0" rtlCol="0" anchor="t"/>
          <a:lstStyle/>
          <a:p>
            <a:pPr algn="l" indent="0" marL="0">
              <a:lnSpc>
                <a:spcPts val="1139"/>
              </a:lnSpc>
              <a:buNone/>
            </a:pPr>
            <a:r>
              <a:rPr lang="en-US" sz="800" dirty="0">
                <a:solidFill>
                  <a:srgbClr val="5B6B82"/>
                </a:solidFill>
                <a:latin typeface="Carlito" pitchFamily="34" charset="0"/>
                <a:ea typeface="Carlito" pitchFamily="34" charset="-122"/>
                <a:cs typeface="Carlito" pitchFamily="34" charset="-120"/>
              </a:rPr>
              <a:t>Limitations, contributions, and next steps.</a:t>
            </a:r>
            <a:endParaRPr lang="en-US" sz="800" dirty="0"/>
          </a:p>
        </p:txBody>
      </p:sp>
      <p:sp>
        <p:nvSpPr>
          <p:cNvPr id="35" name="Text 33"/>
          <p:cNvSpPr/>
          <p:nvPr/>
        </p:nvSpPr>
        <p:spPr>
          <a:xfrm>
            <a:off x="4836319" y="4470202"/>
            <a:ext cx="142875" cy="142875"/>
          </a:xfrm>
          <a:prstGeom prst="rect">
            <a:avLst/>
          </a:prstGeom>
          <a:noFill/>
          <a:ln/>
        </p:spPr>
        <p:txBody>
          <a:bodyPr wrap="none" lIns="0" tIns="0" rIns="0" bIns="0" rtlCol="0" anchor="ctr"/>
          <a:lstStyle/>
          <a:p>
            <a:pPr algn="ctr" indent="0" marL="0">
              <a:buNone/>
            </a:pPr>
            <a:r>
              <a:rPr lang="en-US" sz="1406" dirty="0">
                <a:solidFill>
                  <a:srgbClr val="C77B2C"/>
                </a:solidFill>
                <a:latin typeface="Segoe UI Symbol" pitchFamily="34" charset="0"/>
                <a:ea typeface="Segoe UI Symbol" pitchFamily="34" charset="-122"/>
                <a:cs typeface="Segoe UI Symbol" pitchFamily="34" charset="-120"/>
              </a:rPr>
              <a:t>⚑</a:t>
            </a:r>
            <a:endParaRPr lang="en-US" sz="1406" dirty="0"/>
          </a:p>
        </p:txBody>
      </p:sp>
      <p:sp>
        <p:nvSpPr>
          <p:cNvPr id="36" name="Text 34"/>
          <p:cNvSpPr/>
          <p:nvPr/>
        </p:nvSpPr>
        <p:spPr>
          <a:xfrm>
            <a:off x="7897661" y="4435626"/>
            <a:ext cx="619118" cy="212027"/>
          </a:xfrm>
          <a:prstGeom prst="roundRect">
            <a:avLst>
              <a:gd name="adj" fmla="val 4487860"/>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37" name="Text 35"/>
          <p:cNvSpPr/>
          <p:nvPr/>
        </p:nvSpPr>
        <p:spPr>
          <a:xfrm>
            <a:off x="7920521" y="4446984"/>
            <a:ext cx="573398" cy="189309"/>
          </a:xfrm>
          <a:prstGeom prst="rect">
            <a:avLst/>
          </a:prstGeom>
          <a:noFill/>
          <a:ln/>
        </p:spPr>
        <p:txBody>
          <a:bodyPr wrap="none" lIns="0" tIns="0" rIns="0" bIns="0" rtlCol="0" anchor="ctr"/>
          <a:lstStyle/>
          <a:p>
            <a:pPr algn="ctr" indent="0" marL="0">
              <a:lnSpc>
                <a:spcPts val="928"/>
              </a:lnSpc>
              <a:buNone/>
            </a:pPr>
            <a:r>
              <a:rPr lang="en-US" sz="800" spc="37" kern="0" dirty="0">
                <a:solidFill>
                  <a:srgbClr val="0F1F3D"/>
                </a:solidFill>
                <a:latin typeface="Liberation Sans Narrow" pitchFamily="34" charset="0"/>
                <a:ea typeface="Liberation Sans Narrow" pitchFamily="34" charset="-122"/>
                <a:cs typeface="Liberation Sans Narrow" pitchFamily="34" charset="-120"/>
              </a:rPr>
              <a:t>3 slides</a:t>
            </a:r>
            <a:endParaRPr lang="en-US" sz="800" dirty="0"/>
          </a:p>
        </p:txBody>
      </p:sp>
      <p:sp>
        <p:nvSpPr>
          <p:cNvPr id="38" name="Text 36"/>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a:t>
            </a:r>
            <a:endParaRPr lang="en-US" sz="800" dirty="0"/>
          </a:p>
        </p:txBody>
      </p:sp>
      <p:sp>
        <p:nvSpPr>
          <p:cNvPr id="39" name="Text 37"/>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02 / 34</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571500" y="457200"/>
            <a:ext cx="1010483" cy="164592"/>
          </a:xfrm>
          <a:prstGeom prst="rect">
            <a:avLst/>
          </a:prstGeom>
          <a:noFill/>
          <a:ln/>
        </p:spPr>
        <p:txBody>
          <a:bodyPr wrap="none" lIns="0" tIns="0" rIns="0" bIns="0" rtlCol="0" anchor="t"/>
          <a:lstStyle/>
          <a:p>
            <a:pPr algn="l" indent="0" marL="0">
              <a:lnSpc>
                <a:spcPts val="1181"/>
              </a:lnSpc>
              <a:buNone/>
            </a:pPr>
            <a:r>
              <a:rPr lang="en-US" sz="800" spc="236" kern="0" dirty="0">
                <a:solidFill>
                  <a:srgbClr val="14B8A6"/>
                </a:solidFill>
                <a:latin typeface="Liberation Sans Narrow" pitchFamily="34" charset="0"/>
                <a:ea typeface="Liberation Sans Narrow" pitchFamily="34" charset="-122"/>
                <a:cs typeface="Liberation Sans Narrow" pitchFamily="34" charset="-120"/>
              </a:rPr>
              <a:t>01 / 04</a:t>
            </a:r>
            <a:endParaRPr lang="en-US" sz="800" dirty="0"/>
          </a:p>
        </p:txBody>
      </p:sp>
      <p:sp>
        <p:nvSpPr>
          <p:cNvPr id="3" name="Text 1"/>
          <p:cNvSpPr/>
          <p:nvPr/>
        </p:nvSpPr>
        <p:spPr>
          <a:xfrm>
            <a:off x="1303065" y="467916"/>
            <a:ext cx="117091" cy="164592"/>
          </a:xfrm>
          <a:prstGeom prst="rect">
            <a:avLst/>
          </a:prstGeom>
          <a:noFill/>
          <a:ln/>
        </p:spPr>
        <p:txBody>
          <a:bodyPr wrap="none" lIns="0" tIns="0" rIns="0" bIns="0" rtlCol="0" anchor="t"/>
          <a:lstStyle/>
          <a:p>
            <a:pPr algn="l" indent="0" marL="0">
              <a:lnSpc>
                <a:spcPts val="1013"/>
              </a:lnSpc>
              <a:buNone/>
            </a:pPr>
            <a:r>
              <a:rPr lang="en-US" sz="800" spc="122" kern="0" dirty="0">
                <a:solidFill>
                  <a:srgbClr val="14B8A6"/>
                </a:solidFill>
                <a:latin typeface="Courier New" pitchFamily="34" charset="0"/>
                <a:ea typeface="Courier New" pitchFamily="34" charset="-122"/>
                <a:cs typeface="Courier New" pitchFamily="34" charset="-120"/>
              </a:rPr>
              <a:t>·</a:t>
            </a:r>
            <a:endParaRPr lang="en-US" sz="800" dirty="0"/>
          </a:p>
        </p:txBody>
      </p:sp>
      <p:sp>
        <p:nvSpPr>
          <p:cNvPr id="4" name="Text 2"/>
          <p:cNvSpPr/>
          <p:nvPr/>
        </p:nvSpPr>
        <p:spPr>
          <a:xfrm>
            <a:off x="1470161" y="467916"/>
            <a:ext cx="7102339" cy="164592"/>
          </a:xfrm>
          <a:prstGeom prst="rect">
            <a:avLst/>
          </a:prstGeom>
          <a:noFill/>
          <a:ln/>
        </p:spPr>
        <p:txBody>
          <a:bodyPr wrap="none" lIns="0" tIns="0" rIns="0" bIns="0" rtlCol="0" anchor="t"/>
          <a:lstStyle/>
          <a:p>
            <a:pPr algn="l" indent="0" marL="0">
              <a:lnSpc>
                <a:spcPts val="1013"/>
              </a:lnSpc>
              <a:buNone/>
            </a:pPr>
            <a:r>
              <a:rPr lang="en-US" sz="800" spc="122" kern="0" dirty="0">
                <a:solidFill>
                  <a:srgbClr val="FFFFFF">
                    <a:alpha val="50000"/>
                  </a:srgbClr>
                </a:solidFill>
                <a:latin typeface="Courier New" pitchFamily="34" charset="0"/>
                <a:ea typeface="Courier New" pitchFamily="34" charset="-122"/>
                <a:cs typeface="Courier New" pitchFamily="34" charset="-120"/>
              </a:rPr>
              <a:t>SECTION OPENER</a:t>
            </a:r>
            <a:endParaRPr lang="en-US" sz="800" dirty="0"/>
          </a:p>
        </p:txBody>
      </p:sp>
      <p:sp>
        <p:nvSpPr>
          <p:cNvPr id="5" name="Text 3"/>
          <p:cNvSpPr/>
          <p:nvPr/>
        </p:nvSpPr>
        <p:spPr>
          <a:xfrm>
            <a:off x="571500" y="1681014"/>
            <a:ext cx="8572500" cy="164592"/>
          </a:xfrm>
          <a:prstGeom prst="rect">
            <a:avLst/>
          </a:prstGeom>
          <a:noFill/>
          <a:ln/>
        </p:spPr>
        <p:txBody>
          <a:bodyPr wrap="none" lIns="0" tIns="0" rIns="0" bIns="0" rtlCol="0" anchor="t"/>
          <a:lstStyle/>
          <a:p>
            <a:pPr algn="l" indent="0" marL="0">
              <a:lnSpc>
                <a:spcPts val="1181"/>
              </a:lnSpc>
              <a:buNone/>
            </a:pPr>
            <a:r>
              <a:rPr lang="en-US" sz="800" spc="236" kern="0" dirty="0">
                <a:solidFill>
                  <a:srgbClr val="14B8A6"/>
                </a:solidFill>
                <a:latin typeface="Courier New" pitchFamily="34" charset="0"/>
                <a:ea typeface="Courier New" pitchFamily="34" charset="-122"/>
                <a:cs typeface="Courier New" pitchFamily="34" charset="-120"/>
              </a:rPr>
              <a:t>CHAPTER ONE</a:t>
            </a:r>
            <a:endParaRPr lang="en-US" sz="800" dirty="0"/>
          </a:p>
        </p:txBody>
      </p:sp>
      <p:sp>
        <p:nvSpPr>
          <p:cNvPr id="6" name="Text 4"/>
          <p:cNvSpPr/>
          <p:nvPr/>
        </p:nvSpPr>
        <p:spPr>
          <a:xfrm>
            <a:off x="571500" y="1931045"/>
            <a:ext cx="8572500" cy="583225"/>
          </a:xfrm>
          <a:prstGeom prst="rect">
            <a:avLst/>
          </a:prstGeom>
          <a:noFill/>
          <a:ln/>
        </p:spPr>
        <p:txBody>
          <a:bodyPr wrap="none" lIns="0" tIns="0" rIns="0" bIns="0" rtlCol="0" anchor="t"/>
          <a:lstStyle/>
          <a:p>
            <a:pPr algn="l" indent="0" marL="0">
              <a:lnSpc>
                <a:spcPts val="4253"/>
              </a:lnSpc>
              <a:buNone/>
            </a:pPr>
            <a:r>
              <a:rPr lang="en-US" sz="4050" b="1" spc="-81" kern="0" dirty="0">
                <a:solidFill>
                  <a:srgbClr val="FFFFFF"/>
                </a:solidFill>
                <a:latin typeface="Carlito" pitchFamily="34" charset="0"/>
                <a:ea typeface="Carlito" pitchFamily="34" charset="-122"/>
                <a:cs typeface="Carlito" pitchFamily="34" charset="-120"/>
              </a:rPr>
              <a:t>Introduction</a:t>
            </a:r>
            <a:endParaRPr lang="en-US" sz="4050" dirty="0"/>
          </a:p>
        </p:txBody>
      </p:sp>
      <p:sp>
        <p:nvSpPr>
          <p:cNvPr id="7" name="Text 5"/>
          <p:cNvSpPr/>
          <p:nvPr/>
        </p:nvSpPr>
        <p:spPr>
          <a:xfrm>
            <a:off x="571500" y="2599655"/>
            <a:ext cx="4572000" cy="430366"/>
          </a:xfrm>
          <a:prstGeom prst="rect">
            <a:avLst/>
          </a:prstGeom>
          <a:noFill/>
          <a:ln/>
        </p:spPr>
        <p:txBody>
          <a:bodyPr wrap="square" lIns="0" tIns="0" rIns="0" bIns="0" rtlCol="0" anchor="t"/>
          <a:lstStyle/>
          <a:p>
            <a:pPr algn="l" indent="0" marL="0">
              <a:lnSpc>
                <a:spcPts val="1569"/>
              </a:lnSpc>
              <a:buNone/>
            </a:pPr>
            <a:r>
              <a:rPr lang="en-US" sz="1013" dirty="0">
                <a:solidFill>
                  <a:srgbClr val="FFFFFF">
                    <a:alpha val="70000"/>
                  </a:srgbClr>
                </a:solidFill>
                <a:latin typeface="Carlito" pitchFamily="34" charset="0"/>
                <a:ea typeface="Carlito" pitchFamily="34" charset="-122"/>
                <a:cs typeface="Carlito" pitchFamily="34" charset="-120"/>
              </a:rPr>
              <a:t>Why attention classification matters for online class and e-learning — motivation, prior work, objectives, and research questions.</a:t>
            </a:r>
            <a:endParaRPr lang="en-US" sz="1013" dirty="0"/>
          </a:p>
        </p:txBody>
      </p:sp>
      <p:sp>
        <p:nvSpPr>
          <p:cNvPr id="8" name="Text 6"/>
          <p:cNvSpPr/>
          <p:nvPr/>
        </p:nvSpPr>
        <p:spPr>
          <a:xfrm>
            <a:off x="571500" y="3228228"/>
            <a:ext cx="944426" cy="268491"/>
          </a:xfrm>
          <a:prstGeom prst="roundRect">
            <a:avLst>
              <a:gd name="adj" fmla="val 3544057"/>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9" name="Text 7"/>
          <p:cNvSpPr/>
          <p:nvPr/>
        </p:nvSpPr>
        <p:spPr>
          <a:xfrm>
            <a:off x="821531" y="3312468"/>
            <a:ext cx="730114" cy="128016"/>
          </a:xfrm>
          <a:prstGeom prst="rect">
            <a:avLst/>
          </a:prstGeom>
          <a:noFill/>
          <a:ln/>
        </p:spPr>
        <p:txBody>
          <a:bodyPr wrap="none" lIns="0" tIns="0" rIns="0" bIns="0" rtlCol="0" anchor="t"/>
          <a:lstStyle/>
          <a:p>
            <a:pPr algn="l" indent="0" marL="0">
              <a:lnSpc>
                <a:spcPts val="1013"/>
              </a:lnSpc>
              <a:buNone/>
            </a:pPr>
            <a:r>
              <a:rPr lang="en-US" sz="800" spc="54" kern="0" dirty="0">
                <a:solidFill>
                  <a:srgbClr val="FFFFFF">
                    <a:alpha val="85000"/>
                  </a:srgbClr>
                </a:solidFill>
                <a:latin typeface="Carlito" pitchFamily="34" charset="0"/>
                <a:ea typeface="Carlito" pitchFamily="34" charset="-122"/>
                <a:cs typeface="Carlito" pitchFamily="34" charset="-120"/>
              </a:rPr>
              <a:t>Motivation</a:t>
            </a:r>
            <a:endParaRPr lang="en-US" sz="800" dirty="0"/>
          </a:p>
        </p:txBody>
      </p:sp>
      <p:sp>
        <p:nvSpPr>
          <p:cNvPr id="10" name="Text 8"/>
          <p:cNvSpPr/>
          <p:nvPr/>
        </p:nvSpPr>
        <p:spPr>
          <a:xfrm>
            <a:off x="678656" y="3312468"/>
            <a:ext cx="100013" cy="100013"/>
          </a:xfrm>
          <a:prstGeom prst="rect">
            <a:avLst/>
          </a:prstGeom>
          <a:noFill/>
          <a:ln/>
        </p:spPr>
        <p:txBody>
          <a:bodyPr wrap="none" lIns="0" tIns="0" rIns="0" bIns="0" rtlCol="0" anchor="ctr"/>
          <a:lstStyle/>
          <a:p>
            <a:pPr algn="ctr" indent="0" marL="0">
              <a:buNone/>
            </a:pPr>
            <a:r>
              <a:rPr lang="en-US" sz="984" dirty="0">
                <a:solidFill>
                  <a:srgbClr val="14B8A6"/>
                </a:solidFill>
                <a:latin typeface="Segoe UI Symbol" pitchFamily="34" charset="0"/>
                <a:ea typeface="Segoe UI Symbol" pitchFamily="34" charset="-122"/>
                <a:cs typeface="Segoe UI Symbol" pitchFamily="34" charset="-120"/>
              </a:rPr>
              <a:t>⚡</a:t>
            </a:r>
            <a:endParaRPr lang="en-US" sz="984" dirty="0"/>
          </a:p>
        </p:txBody>
      </p:sp>
      <p:sp>
        <p:nvSpPr>
          <p:cNvPr id="11" name="Text 9"/>
          <p:cNvSpPr/>
          <p:nvPr/>
        </p:nvSpPr>
        <p:spPr>
          <a:xfrm>
            <a:off x="1587364" y="3228228"/>
            <a:ext cx="1477975" cy="268491"/>
          </a:xfrm>
          <a:prstGeom prst="roundRect">
            <a:avLst>
              <a:gd name="adj" fmla="val 3544057"/>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12" name="Text 10"/>
          <p:cNvSpPr/>
          <p:nvPr/>
        </p:nvSpPr>
        <p:spPr>
          <a:xfrm>
            <a:off x="1837395" y="3312468"/>
            <a:ext cx="1263662" cy="128016"/>
          </a:xfrm>
          <a:prstGeom prst="rect">
            <a:avLst/>
          </a:prstGeom>
          <a:noFill/>
          <a:ln/>
        </p:spPr>
        <p:txBody>
          <a:bodyPr wrap="none" lIns="0" tIns="0" rIns="0" bIns="0" rtlCol="0" anchor="t"/>
          <a:lstStyle/>
          <a:p>
            <a:pPr algn="l" indent="0" marL="0">
              <a:lnSpc>
                <a:spcPts val="1013"/>
              </a:lnSpc>
              <a:buNone/>
            </a:pPr>
            <a:r>
              <a:rPr lang="en-US" sz="800" spc="54" kern="0" dirty="0">
                <a:solidFill>
                  <a:srgbClr val="FFFFFF">
                    <a:alpha val="85000"/>
                  </a:srgbClr>
                </a:solidFill>
                <a:latin typeface="Carlito" pitchFamily="34" charset="0"/>
                <a:ea typeface="Carlito" pitchFamily="34" charset="-122"/>
                <a:cs typeface="Carlito" pitchFamily="34" charset="-120"/>
              </a:rPr>
              <a:t>Affective Computing</a:t>
            </a:r>
            <a:endParaRPr lang="en-US" sz="800" dirty="0"/>
          </a:p>
        </p:txBody>
      </p:sp>
      <p:sp>
        <p:nvSpPr>
          <p:cNvPr id="13" name="Text 11"/>
          <p:cNvSpPr/>
          <p:nvPr/>
        </p:nvSpPr>
        <p:spPr>
          <a:xfrm>
            <a:off x="1694520" y="3312468"/>
            <a:ext cx="100013" cy="100013"/>
          </a:xfrm>
          <a:prstGeom prst="rect">
            <a:avLst/>
          </a:prstGeom>
          <a:noFill/>
          <a:ln/>
        </p:spPr>
        <p:txBody>
          <a:bodyPr wrap="none" lIns="0" tIns="0" rIns="0" bIns="0" rtlCol="0" anchor="ctr"/>
          <a:lstStyle/>
          <a:p>
            <a:pPr algn="ctr" indent="0" marL="0">
              <a:buNone/>
            </a:pPr>
            <a:r>
              <a:rPr lang="en-US" sz="984" dirty="0">
                <a:solidFill>
                  <a:srgbClr val="14B8A6"/>
                </a:solidFill>
                <a:latin typeface="Segoe UI Symbol" pitchFamily="34" charset="0"/>
                <a:ea typeface="Segoe UI Symbol" pitchFamily="34" charset="-122"/>
                <a:cs typeface="Segoe UI Symbol" pitchFamily="34" charset="-120"/>
              </a:rPr>
              <a:t>◯</a:t>
            </a:r>
            <a:endParaRPr lang="en-US" sz="984" dirty="0"/>
          </a:p>
        </p:txBody>
      </p:sp>
      <p:sp>
        <p:nvSpPr>
          <p:cNvPr id="14" name="Text 12"/>
          <p:cNvSpPr/>
          <p:nvPr/>
        </p:nvSpPr>
        <p:spPr>
          <a:xfrm>
            <a:off x="3136776" y="3228228"/>
            <a:ext cx="1336104" cy="268491"/>
          </a:xfrm>
          <a:prstGeom prst="roundRect">
            <a:avLst>
              <a:gd name="adj" fmla="val 3544057"/>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15" name="Text 13"/>
          <p:cNvSpPr/>
          <p:nvPr/>
        </p:nvSpPr>
        <p:spPr>
          <a:xfrm>
            <a:off x="3386807" y="3312468"/>
            <a:ext cx="1121792" cy="128016"/>
          </a:xfrm>
          <a:prstGeom prst="rect">
            <a:avLst/>
          </a:prstGeom>
          <a:noFill/>
          <a:ln/>
        </p:spPr>
        <p:txBody>
          <a:bodyPr wrap="none" lIns="0" tIns="0" rIns="0" bIns="0" rtlCol="0" anchor="t"/>
          <a:lstStyle/>
          <a:p>
            <a:pPr algn="l" indent="0" marL="0">
              <a:lnSpc>
                <a:spcPts val="1013"/>
              </a:lnSpc>
              <a:buNone/>
            </a:pPr>
            <a:r>
              <a:rPr lang="en-US" sz="800" spc="54" kern="0" dirty="0">
                <a:solidFill>
                  <a:srgbClr val="FFFFFF">
                    <a:alpha val="85000"/>
                  </a:srgbClr>
                </a:solidFill>
                <a:latin typeface="Carlito" pitchFamily="34" charset="0"/>
                <a:ea typeface="Carlito" pitchFamily="34" charset="-122"/>
                <a:cs typeface="Carlito" pitchFamily="34" charset="-120"/>
              </a:rPr>
              <a:t>Literature Review</a:t>
            </a:r>
            <a:endParaRPr lang="en-US" sz="800" dirty="0"/>
          </a:p>
        </p:txBody>
      </p:sp>
      <p:sp>
        <p:nvSpPr>
          <p:cNvPr id="16" name="Text 14"/>
          <p:cNvSpPr/>
          <p:nvPr/>
        </p:nvSpPr>
        <p:spPr>
          <a:xfrm>
            <a:off x="3243932" y="3312468"/>
            <a:ext cx="100013" cy="100013"/>
          </a:xfrm>
          <a:prstGeom prst="rect">
            <a:avLst/>
          </a:prstGeom>
          <a:noFill/>
          <a:ln/>
        </p:spPr>
        <p:txBody>
          <a:bodyPr wrap="none" lIns="0" tIns="0" rIns="0" bIns="0" rtlCol="0" anchor="ctr"/>
          <a:lstStyle/>
          <a:p>
            <a:pPr algn="ctr" indent="0" marL="0">
              <a:buNone/>
            </a:pPr>
            <a:r>
              <a:rPr lang="en-US" sz="984" dirty="0">
                <a:solidFill>
                  <a:srgbClr val="14B8A6"/>
                </a:solidFill>
                <a:latin typeface="Segoe UI Symbol" pitchFamily="34" charset="0"/>
                <a:ea typeface="Segoe UI Symbol" pitchFamily="34" charset="-122"/>
                <a:cs typeface="Segoe UI Symbol" pitchFamily="34" charset="-120"/>
              </a:rPr>
              <a:t>▤</a:t>
            </a:r>
            <a:endParaRPr lang="en-US" sz="984" dirty="0"/>
          </a:p>
        </p:txBody>
      </p:sp>
      <p:sp>
        <p:nvSpPr>
          <p:cNvPr id="17" name="Text 15"/>
          <p:cNvSpPr/>
          <p:nvPr/>
        </p:nvSpPr>
        <p:spPr>
          <a:xfrm>
            <a:off x="4544318" y="3228228"/>
            <a:ext cx="1440247" cy="268491"/>
          </a:xfrm>
          <a:prstGeom prst="roundRect">
            <a:avLst>
              <a:gd name="adj" fmla="val 3544057"/>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18" name="Text 16"/>
          <p:cNvSpPr/>
          <p:nvPr/>
        </p:nvSpPr>
        <p:spPr>
          <a:xfrm>
            <a:off x="4794349" y="3312468"/>
            <a:ext cx="1225934" cy="128016"/>
          </a:xfrm>
          <a:prstGeom prst="rect">
            <a:avLst/>
          </a:prstGeom>
          <a:noFill/>
          <a:ln/>
        </p:spPr>
        <p:txBody>
          <a:bodyPr wrap="none" lIns="0" tIns="0" rIns="0" bIns="0" rtlCol="0" anchor="t"/>
          <a:lstStyle/>
          <a:p>
            <a:pPr algn="l" indent="0" marL="0">
              <a:lnSpc>
                <a:spcPts val="1013"/>
              </a:lnSpc>
              <a:buNone/>
            </a:pPr>
            <a:r>
              <a:rPr lang="en-US" sz="800" spc="54" kern="0" dirty="0">
                <a:solidFill>
                  <a:srgbClr val="FFFFFF">
                    <a:alpha val="85000"/>
                  </a:srgbClr>
                </a:solidFill>
                <a:latin typeface="Carlito" pitchFamily="34" charset="0"/>
                <a:ea typeface="Carlito" pitchFamily="34" charset="-122"/>
                <a:cs typeface="Carlito" pitchFamily="34" charset="-120"/>
              </a:rPr>
              <a:t>Research Questions</a:t>
            </a:r>
            <a:endParaRPr lang="en-US" sz="800" dirty="0"/>
          </a:p>
        </p:txBody>
      </p:sp>
      <p:sp>
        <p:nvSpPr>
          <p:cNvPr id="19" name="Text 17"/>
          <p:cNvSpPr/>
          <p:nvPr/>
        </p:nvSpPr>
        <p:spPr>
          <a:xfrm>
            <a:off x="4651474" y="3312468"/>
            <a:ext cx="100013" cy="100013"/>
          </a:xfrm>
          <a:prstGeom prst="rect">
            <a:avLst/>
          </a:prstGeom>
          <a:noFill/>
          <a:ln/>
        </p:spPr>
        <p:txBody>
          <a:bodyPr wrap="none" lIns="0" tIns="0" rIns="0" bIns="0" rtlCol="0" anchor="ctr"/>
          <a:lstStyle/>
          <a:p>
            <a:pPr algn="ctr" indent="0" marL="0">
              <a:buNone/>
            </a:pPr>
            <a:r>
              <a:rPr lang="en-US" sz="984" dirty="0">
                <a:solidFill>
                  <a:srgbClr val="14B8A6"/>
                </a:solidFill>
                <a:latin typeface="Segoe UI Symbol" pitchFamily="34" charset="0"/>
                <a:ea typeface="Segoe UI Symbol" pitchFamily="34" charset="-122"/>
                <a:cs typeface="Segoe UI Symbol" pitchFamily="34" charset="-120"/>
              </a:rPr>
              <a:t>?</a:t>
            </a:r>
            <a:endParaRPr lang="en-US" sz="984" dirty="0"/>
          </a:p>
        </p:txBody>
      </p:sp>
      <p:sp>
        <p:nvSpPr>
          <p:cNvPr id="20" name="Text 18"/>
          <p:cNvSpPr/>
          <p:nvPr/>
        </p:nvSpPr>
        <p:spPr>
          <a:xfrm>
            <a:off x="6056002" y="3228228"/>
            <a:ext cx="933822" cy="268491"/>
          </a:xfrm>
          <a:prstGeom prst="roundRect">
            <a:avLst>
              <a:gd name="adj" fmla="val 3544057"/>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21" name="Text 19"/>
          <p:cNvSpPr/>
          <p:nvPr/>
        </p:nvSpPr>
        <p:spPr>
          <a:xfrm>
            <a:off x="6306034" y="3312468"/>
            <a:ext cx="2266466" cy="128016"/>
          </a:xfrm>
          <a:prstGeom prst="rect">
            <a:avLst/>
          </a:prstGeom>
          <a:noFill/>
          <a:ln/>
        </p:spPr>
        <p:txBody>
          <a:bodyPr wrap="none" lIns="0" tIns="0" rIns="0" bIns="0" rtlCol="0" anchor="t"/>
          <a:lstStyle/>
          <a:p>
            <a:pPr algn="l" indent="0" marL="0">
              <a:lnSpc>
                <a:spcPts val="1013"/>
              </a:lnSpc>
              <a:buNone/>
            </a:pPr>
            <a:r>
              <a:rPr lang="en-US" sz="800" spc="54" kern="0" dirty="0">
                <a:solidFill>
                  <a:srgbClr val="FFFFFF">
                    <a:alpha val="85000"/>
                  </a:srgbClr>
                </a:solidFill>
                <a:latin typeface="Carlito" pitchFamily="34" charset="0"/>
                <a:ea typeface="Carlito" pitchFamily="34" charset="-122"/>
                <a:cs typeface="Carlito" pitchFamily="34" charset="-120"/>
              </a:rPr>
              <a:t>Objectives</a:t>
            </a:r>
            <a:endParaRPr lang="en-US" sz="800" dirty="0"/>
          </a:p>
        </p:txBody>
      </p:sp>
      <p:sp>
        <p:nvSpPr>
          <p:cNvPr id="22" name="Text 20"/>
          <p:cNvSpPr/>
          <p:nvPr/>
        </p:nvSpPr>
        <p:spPr>
          <a:xfrm>
            <a:off x="6163159" y="3312468"/>
            <a:ext cx="100013" cy="100013"/>
          </a:xfrm>
          <a:prstGeom prst="rect">
            <a:avLst/>
          </a:prstGeom>
          <a:noFill/>
          <a:ln/>
        </p:spPr>
        <p:txBody>
          <a:bodyPr wrap="none" lIns="0" tIns="0" rIns="0" bIns="0" rtlCol="0" anchor="ctr"/>
          <a:lstStyle/>
          <a:p>
            <a:pPr algn="ctr" indent="0" marL="0">
              <a:buNone/>
            </a:pPr>
            <a:r>
              <a:rPr lang="en-US" sz="984" dirty="0">
                <a:solidFill>
                  <a:srgbClr val="14B8A6"/>
                </a:solidFill>
                <a:latin typeface="Segoe UI Symbol" pitchFamily="34" charset="0"/>
                <a:ea typeface="Segoe UI Symbol" pitchFamily="34" charset="-122"/>
                <a:cs typeface="Segoe UI Symbol" pitchFamily="34" charset="-120"/>
              </a:rPr>
              <a:t>⚑</a:t>
            </a:r>
            <a:endParaRPr lang="en-US" sz="984" dirty="0"/>
          </a:p>
        </p:txBody>
      </p:sp>
      <p:sp>
        <p:nvSpPr>
          <p:cNvPr id="23" name="Text 21"/>
          <p:cNvSpPr/>
          <p:nvPr/>
        </p:nvSpPr>
        <p:spPr>
          <a:xfrm>
            <a:off x="571500" y="4557713"/>
            <a:ext cx="7481627" cy="164592"/>
          </a:xfrm>
          <a:prstGeom prst="rect">
            <a:avLst/>
          </a:prstGeom>
          <a:noFill/>
          <a:ln/>
        </p:spPr>
        <p:txBody>
          <a:bodyPr wrap="none" lIns="0" tIns="0" rIns="0" bIns="0" rtlCol="0" anchor="t"/>
          <a:lstStyle/>
          <a:p>
            <a:pPr algn="l" indent="0" marL="0">
              <a:lnSpc>
                <a:spcPts val="1013"/>
              </a:lnSpc>
              <a:buNone/>
            </a:pPr>
            <a:r>
              <a:rPr lang="en-US" sz="800" spc="122" kern="0" dirty="0">
                <a:solidFill>
                  <a:srgbClr val="FFFFFF">
                    <a:alpha val="50000"/>
                  </a:srgbClr>
                </a:solidFill>
                <a:latin typeface="Courier New" pitchFamily="34" charset="0"/>
                <a:ea typeface="Courier New" pitchFamily="34" charset="-122"/>
                <a:cs typeface="Courier New" pitchFamily="34" charset="-120"/>
              </a:rPr>
              <a:t>Efficient Attention Classification · Moul Hengborann</a:t>
            </a:r>
            <a:endParaRPr lang="en-US" sz="800" dirty="0"/>
          </a:p>
        </p:txBody>
      </p:sp>
      <p:sp>
        <p:nvSpPr>
          <p:cNvPr id="24" name="Text 22"/>
          <p:cNvSpPr/>
          <p:nvPr/>
        </p:nvSpPr>
        <p:spPr>
          <a:xfrm>
            <a:off x="8103133" y="4557713"/>
            <a:ext cx="709624" cy="164592"/>
          </a:xfrm>
          <a:prstGeom prst="rect">
            <a:avLst/>
          </a:prstGeom>
          <a:noFill/>
          <a:ln/>
        </p:spPr>
        <p:txBody>
          <a:bodyPr wrap="none" lIns="0" tIns="0" rIns="0" bIns="0" rtlCol="0" anchor="t"/>
          <a:lstStyle/>
          <a:p>
            <a:pPr algn="l" indent="0" marL="0">
              <a:lnSpc>
                <a:spcPts val="1013"/>
              </a:lnSpc>
              <a:buNone/>
            </a:pPr>
            <a:r>
              <a:rPr lang="en-US" sz="800" spc="122" kern="0" dirty="0">
                <a:solidFill>
                  <a:srgbClr val="FFFFFF">
                    <a:alpha val="50000"/>
                  </a:srgbClr>
                </a:solidFill>
                <a:latin typeface="Liberation Sans Narrow" pitchFamily="34" charset="0"/>
                <a:ea typeface="Liberation Sans Narrow" pitchFamily="34" charset="-122"/>
                <a:cs typeface="Liberation Sans Narrow" pitchFamily="34" charset="-120"/>
              </a:rPr>
              <a:t>03 / 34</a:t>
            </a:r>
            <a:endParaRPr lang="en-US" sz="800" dirty="0"/>
          </a:p>
        </p:txBody>
      </p:sp>
      <p:sp>
        <p:nvSpPr>
          <p:cNvPr id="25" name="Text 23"/>
          <p:cNvSpPr/>
          <p:nvPr/>
        </p:nvSpPr>
        <p:spPr>
          <a:xfrm>
            <a:off x="6553391" y="3429000"/>
            <a:ext cx="2590610" cy="1388745"/>
          </a:xfrm>
          <a:prstGeom prst="rect">
            <a:avLst/>
          </a:prstGeom>
          <a:noFill/>
          <a:ln/>
        </p:spPr>
        <p:txBody>
          <a:bodyPr wrap="square" lIns="0" tIns="0" rIns="0" bIns="0" rtlCol="0" anchor="t"/>
          <a:lstStyle/>
          <a:p>
            <a:pPr algn="l" indent="0" marL="0">
              <a:lnSpc>
                <a:spcPts val="10125"/>
              </a:lnSpc>
              <a:buNone/>
            </a:pPr>
            <a:r>
              <a:rPr lang="en-US" sz="11250" b="1" dirty="0">
                <a:solidFill>
                  <a:srgbClr val="FFFFFF">
                    <a:alpha val="8000"/>
                  </a:srgbClr>
                </a:solidFill>
                <a:latin typeface="Liberation Sans Narrow" pitchFamily="34" charset="0"/>
                <a:ea typeface="Liberation Sans Narrow" pitchFamily="34" charset="-122"/>
                <a:cs typeface="Liberation Sans Narrow" pitchFamily="34" charset="-120"/>
              </a:rPr>
              <a:t>01</a:t>
            </a:r>
            <a:endParaRPr lang="en-US" sz="1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none" lIns="0" tIns="0" rIns="0" bIns="0" rtlCol="0" anchor="t"/>
          <a:lstStyle/>
          <a:p>
            <a:pPr algn="l" indent="0" marL="0">
              <a:lnSpc>
                <a:spcPts val="928"/>
              </a:lnSpc>
              <a:buNone/>
            </a:pPr>
            <a:r>
              <a:rPr lang="en-US" sz="800" b="1" spc="136" kern="0" dirty="0">
                <a:solidFill>
                  <a:srgbClr val="14B8A6"/>
                </a:solidFill>
                <a:latin typeface="Carlito" pitchFamily="34" charset="0"/>
                <a:ea typeface="Carlito" pitchFamily="34" charset="-122"/>
                <a:cs typeface="Carlito" pitchFamily="34" charset="-120"/>
              </a:rPr>
              <a:t>MOTIVATION</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276423"/>
          </a:xfrm>
          <a:prstGeom prst="rect">
            <a:avLst/>
          </a:prstGeom>
          <a:noFill/>
          <a:ln/>
        </p:spPr>
        <p:txBody>
          <a:bodyPr wrap="square" lIns="0" tIns="0" rIns="0" bIns="0" rtlCol="0" anchor="t"/>
          <a:lstStyle/>
          <a:p>
            <a:pPr algn="l" indent="0" marL="0">
              <a:lnSpc>
                <a:spcPts val="2016"/>
              </a:lnSpc>
              <a:buNone/>
            </a:pPr>
            <a:r>
              <a:rPr lang="en-US" sz="1800" b="1" spc="-27" kern="0" dirty="0">
                <a:solidFill>
                  <a:srgbClr val="0F1F3D"/>
                </a:solidFill>
                <a:latin typeface="Carlito" pitchFamily="34" charset="0"/>
                <a:ea typeface="Carlito" pitchFamily="34" charset="-122"/>
                <a:cs typeface="Carlito" pitchFamily="34" charset="-120"/>
              </a:rPr>
              <a:t>A Pandemic-Era Shock to Cambodian Education</a:t>
            </a:r>
            <a:endParaRPr lang="en-US" sz="1800" dirty="0"/>
          </a:p>
        </p:txBody>
      </p:sp>
      <p:sp>
        <p:nvSpPr>
          <p:cNvPr id="5" name="Text 3"/>
          <p:cNvSpPr/>
          <p:nvPr/>
        </p:nvSpPr>
        <p:spPr>
          <a:xfrm>
            <a:off x="457200" y="995325"/>
            <a:ext cx="6572250" cy="358759"/>
          </a:xfrm>
          <a:prstGeom prst="rect">
            <a:avLst/>
          </a:prstGeom>
          <a:noFill/>
          <a:ln/>
        </p:spPr>
        <p:txBody>
          <a:bodyPr wrap="square" lIns="0" tIns="0" rIns="0" bIns="0" rtlCol="0" anchor="t"/>
          <a:lstStyle/>
          <a:p>
            <a:pPr algn="l" indent="0" marL="0">
              <a:lnSpc>
                <a:spcPts val="1308"/>
              </a:lnSpc>
              <a:buNone/>
            </a:pPr>
            <a:r>
              <a:rPr lang="en-US" sz="844" dirty="0">
                <a:solidFill>
                  <a:srgbClr val="5B6B82"/>
                </a:solidFill>
                <a:latin typeface="Carlito" pitchFamily="34" charset="0"/>
                <a:ea typeface="Carlito" pitchFamily="34" charset="-122"/>
                <a:cs typeface="Carlito" pitchFamily="34" charset="-120"/>
              </a:rPr>
              <a:t>When classrooms closed overnight, teachers lost the most basic feedback channel they had always relied on — the ability to read a student's face.</a:t>
            </a:r>
            <a:endParaRPr lang="en-US" sz="844" dirty="0"/>
          </a:p>
        </p:txBody>
      </p:sp>
      <p:sp>
        <p:nvSpPr>
          <p:cNvPr id="6" name="Text 4"/>
          <p:cNvSpPr/>
          <p:nvPr/>
        </p:nvSpPr>
        <p:spPr>
          <a:xfrm>
            <a:off x="457200" y="1470385"/>
            <a:ext cx="5157445" cy="740664"/>
          </a:xfrm>
          <a:prstGeom prst="rect">
            <a:avLst/>
          </a:prstGeom>
          <a:noFill/>
          <a:ln/>
        </p:spPr>
        <p:txBody>
          <a:bodyPr wrap="none" lIns="0" tIns="0" rIns="0" bIns="0" rtlCol="0" anchor="t"/>
          <a:lstStyle/>
          <a:p>
            <a:pPr algn="l" indent="0" marL="0">
              <a:lnSpc>
                <a:spcPts val="5400"/>
              </a:lnSpc>
              <a:buNone/>
            </a:pPr>
            <a:r>
              <a:rPr lang="en-US" sz="5400" b="1" spc="-216" kern="0" dirty="0">
                <a:solidFill>
                  <a:srgbClr val="0F1F3D"/>
                </a:solidFill>
                <a:latin typeface="Liberation Sans Narrow" pitchFamily="34" charset="0"/>
                <a:ea typeface="Liberation Sans Narrow" pitchFamily="34" charset="-122"/>
                <a:cs typeface="Liberation Sans Narrow" pitchFamily="34" charset="-120"/>
              </a:rPr>
              <a:t>13,300</a:t>
            </a:r>
            <a:pPr algn="l" indent="0" marL="0">
              <a:lnSpc>
                <a:spcPts val="5400"/>
              </a:lnSpc>
              <a:buNone/>
            </a:pPr>
            <a:r>
              <a:rPr lang="en-US" sz="1350" b="1" spc="-216" kern="0" dirty="0">
                <a:solidFill>
                  <a:srgbClr val="5B6B82"/>
                </a:solidFill>
                <a:latin typeface="Courier New" pitchFamily="34" charset="0"/>
                <a:ea typeface="Courier New" pitchFamily="34" charset="-122"/>
                <a:cs typeface="Courier New" pitchFamily="34" charset="-120"/>
              </a:rPr>
              <a:t>schools</a:t>
            </a:r>
            <a:endParaRPr lang="en-US" sz="5400" dirty="0"/>
          </a:p>
        </p:txBody>
      </p:sp>
      <p:sp>
        <p:nvSpPr>
          <p:cNvPr id="7" name="Text 5"/>
          <p:cNvSpPr/>
          <p:nvPr/>
        </p:nvSpPr>
        <p:spPr>
          <a:xfrm>
            <a:off x="457200" y="2256197"/>
            <a:ext cx="3000375" cy="460541"/>
          </a:xfrm>
          <a:prstGeom prst="rect">
            <a:avLst/>
          </a:prstGeom>
          <a:noFill/>
          <a:ln/>
        </p:spPr>
        <p:txBody>
          <a:bodyPr wrap="square" lIns="0" tIns="0" rIns="0" bIns="0" rtlCol="0" anchor="t"/>
          <a:lstStyle/>
          <a:p>
            <a:pPr algn="l" indent="0" marL="0">
              <a:lnSpc>
                <a:spcPts val="1024"/>
              </a:lnSpc>
              <a:buNone/>
            </a:pPr>
            <a:r>
              <a:rPr lang="en-US" sz="800" spc="15" kern="0" dirty="0">
                <a:solidFill>
                  <a:srgbClr val="5B6B82"/>
                </a:solidFill>
                <a:latin typeface="Carlito" pitchFamily="34" charset="0"/>
                <a:ea typeface="Carlito" pitchFamily="34" charset="-122"/>
                <a:cs typeface="Carlito" pitchFamily="34" charset="-120"/>
              </a:rPr>
              <a:t>Cambodian schools closed on March 16, 2020 — affecting roughly 3.2 million students across all education levels.</a:t>
            </a:r>
            <a:endParaRPr lang="en-US" sz="800" dirty="0"/>
          </a:p>
        </p:txBody>
      </p:sp>
      <p:sp>
        <p:nvSpPr>
          <p:cNvPr id="8" name="Text 6"/>
          <p:cNvSpPr/>
          <p:nvPr/>
        </p:nvSpPr>
        <p:spPr>
          <a:xfrm>
            <a:off x="460772" y="2749562"/>
            <a:ext cx="2227064" cy="176808"/>
          </a:xfrm>
          <a:prstGeom prst="roundRect">
            <a:avLst>
              <a:gd name="adj" fmla="val 21549"/>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9" name="Text 7"/>
          <p:cNvSpPr/>
          <p:nvPr/>
        </p:nvSpPr>
        <p:spPr>
          <a:xfrm>
            <a:off x="664369" y="2788853"/>
            <a:ext cx="1948458" cy="125403"/>
          </a:xfrm>
          <a:prstGeom prst="rect">
            <a:avLst/>
          </a:prstGeom>
          <a:noFill/>
          <a:ln/>
        </p:spPr>
        <p:txBody>
          <a:bodyPr wrap="square" lIns="71438" tIns="28575" rIns="71438" bIns="28575" rtlCol="0" anchor="t"/>
          <a:lstStyle/>
          <a:p>
            <a:pPr algn="l" indent="0" marL="0">
              <a:lnSpc>
                <a:spcPts val="886"/>
              </a:lnSpc>
              <a:buNone/>
            </a:pPr>
            <a:r>
              <a:rPr lang="en-US" sz="600" spc="59" kern="0" dirty="0">
                <a:solidFill>
                  <a:srgbClr val="5B6B82"/>
                </a:solidFill>
                <a:latin typeface="Courier New" pitchFamily="34" charset="0"/>
                <a:ea typeface="Courier New" pitchFamily="34" charset="-122"/>
                <a:cs typeface="Courier New" pitchFamily="34" charset="-120"/>
              </a:rPr>
              <a:t>MOEYS · COVID-19 School Closure Order</a:t>
            </a:r>
            <a:endParaRPr lang="en-US" sz="600" dirty="0"/>
          </a:p>
        </p:txBody>
      </p:sp>
      <p:sp>
        <p:nvSpPr>
          <p:cNvPr id="10" name="Text 8"/>
          <p:cNvSpPr/>
          <p:nvPr/>
        </p:nvSpPr>
        <p:spPr>
          <a:xfrm>
            <a:off x="535781" y="2795104"/>
            <a:ext cx="91440" cy="91440"/>
          </a:xfrm>
          <a:prstGeom prst="rect">
            <a:avLst/>
          </a:prstGeom>
          <a:noFill/>
          <a:ln/>
        </p:spPr>
        <p:txBody>
          <a:bodyPr wrap="none" lIns="0" tIns="0" rIns="0" bIns="0" rtlCol="0" anchor="ctr"/>
          <a:lstStyle/>
          <a:p>
            <a:pPr algn="ctr" indent="0" marL="0">
              <a:buNone/>
            </a:pPr>
            <a:r>
              <a:rPr lang="en-US" sz="844" dirty="0">
                <a:solidFill>
                  <a:srgbClr val="5B6B82"/>
                </a:solidFill>
                <a:latin typeface="Segoe UI Symbol" pitchFamily="34" charset="0"/>
                <a:ea typeface="Segoe UI Symbol" pitchFamily="34" charset="-122"/>
                <a:cs typeface="Segoe UI Symbol" pitchFamily="34" charset="-120"/>
              </a:rPr>
              <a:t>✓</a:t>
            </a:r>
            <a:endParaRPr lang="en-US" sz="844" dirty="0"/>
          </a:p>
        </p:txBody>
      </p:sp>
      <p:sp>
        <p:nvSpPr>
          <p:cNvPr id="11" name="Text 9"/>
          <p:cNvSpPr/>
          <p:nvPr/>
        </p:nvSpPr>
        <p:spPr>
          <a:xfrm>
            <a:off x="457200" y="3087105"/>
            <a:ext cx="3714750" cy="922816"/>
          </a:xfrm>
          <a:prstGeom prst="rect">
            <a:avLst/>
          </a:prstGeom>
          <a:noFill/>
          <a:ln/>
        </p:spPr>
        <p:txBody>
          <a:bodyPr wrap="square" lIns="0" tIns="0" rIns="0" bIns="0" rtlCol="0" anchor="t"/>
          <a:lstStyle/>
          <a:p>
            <a:pPr algn="l" indent="0" marL="0">
              <a:lnSpc>
                <a:spcPts val="1346"/>
              </a:lnSpc>
              <a:buNone/>
            </a:pPr>
            <a:r>
              <a:rPr lang="en-US" sz="816" dirty="0">
                <a:solidFill>
                  <a:srgbClr val="0F1F3D"/>
                </a:solidFill>
                <a:latin typeface="Carlito" pitchFamily="34" charset="0"/>
                <a:ea typeface="Carlito" pitchFamily="34" charset="-122"/>
                <a:cs typeface="Carlito" pitchFamily="34" charset="-120"/>
              </a:rPr>
              <a:t>Overnight, learners moved from physical classrooms to laptop screens. Teachers lost the most basic feedback channel they had always relied on — the ability to read a student's face. </a:t>
            </a:r>
            <a:pPr algn="l" indent="0" marL="0">
              <a:lnSpc>
                <a:spcPts val="1346"/>
              </a:lnSpc>
              <a:buNone/>
            </a:pPr>
            <a:r>
              <a:rPr lang="en-US" sz="816" dirty="0">
                <a:solidFill>
                  <a:srgbClr val="0F766E"/>
                </a:solidFill>
                <a:latin typeface="Carlito" pitchFamily="34" charset="0"/>
                <a:ea typeface="Carlito" pitchFamily="34" charset="-122"/>
                <a:cs typeface="Carlito" pitchFamily="34" charset="-120"/>
              </a:rPr>
              <a:t>Without that signal, just-in-time pedagogical support collapsed.</a:t>
            </a:r>
            <a:pPr algn="l" indent="0" marL="0">
              <a:lnSpc>
                <a:spcPts val="1346"/>
              </a:lnSpc>
              <a:buNone/>
            </a:pPr>
            <a:r>
              <a:rPr lang="en-US" sz="816" dirty="0">
                <a:solidFill>
                  <a:srgbClr val="0F1F3D"/>
                </a:solidFill>
                <a:latin typeface="Carlito" pitchFamily="34" charset="0"/>
                <a:ea typeface="Carlito" pitchFamily="34" charset="-122"/>
                <a:cs typeface="Carlito" pitchFamily="34" charset="-120"/>
              </a:rPr>
              <a:t> Distance learning became the default almost overnight.</a:t>
            </a:r>
            <a:endParaRPr lang="en-US" sz="816" dirty="0"/>
          </a:p>
        </p:txBody>
      </p:sp>
      <p:sp>
        <p:nvSpPr>
          <p:cNvPr id="12" name="Text 10"/>
          <p:cNvSpPr/>
          <p:nvPr/>
        </p:nvSpPr>
        <p:spPr>
          <a:xfrm>
            <a:off x="5114925" y="1470385"/>
            <a:ext cx="3571875" cy="562124"/>
          </a:xfrm>
          <a:prstGeom prst="roundRect">
            <a:avLst>
              <a:gd name="adj" fmla="val 6778"/>
            </a:avLst>
          </a:prstGeom>
          <a:solidFill>
            <a:srgbClr val="FFFFFF"/>
          </a:solidFill>
          <a:ln/>
        </p:spPr>
        <p:txBody>
          <a:bodyPr wrap="square" rtlCol="0" anchor="ctr"/>
          <a:lstStyle/>
          <a:p>
            <a:pPr indent="0" marL="0">
              <a:buNone/>
            </a:pPr>
            <a:endParaRPr lang="en-US" dirty="0"/>
          </a:p>
        </p:txBody>
      </p:sp>
      <p:sp>
        <p:nvSpPr>
          <p:cNvPr id="13" name="Shape 11"/>
          <p:cNvSpPr/>
          <p:nvPr/>
        </p:nvSpPr>
        <p:spPr>
          <a:xfrm>
            <a:off x="5114925" y="1473957"/>
            <a:ext cx="3571875" cy="0"/>
          </a:xfrm>
          <a:prstGeom prst="line">
            <a:avLst/>
          </a:prstGeom>
          <a:noFill/>
          <a:ln w="7144">
            <a:solidFill>
              <a:srgbClr val="D9E1EC"/>
            </a:solidFill>
            <a:prstDash val="solid"/>
          </a:ln>
        </p:spPr>
      </p:sp>
      <p:sp>
        <p:nvSpPr>
          <p:cNvPr id="14" name="Shape 12"/>
          <p:cNvSpPr/>
          <p:nvPr/>
        </p:nvSpPr>
        <p:spPr>
          <a:xfrm>
            <a:off x="8683228" y="1470385"/>
            <a:ext cx="0" cy="562124"/>
          </a:xfrm>
          <a:prstGeom prst="line">
            <a:avLst/>
          </a:prstGeom>
          <a:noFill/>
          <a:ln w="7144">
            <a:solidFill>
              <a:srgbClr val="D9E1EC"/>
            </a:solidFill>
            <a:prstDash val="solid"/>
          </a:ln>
        </p:spPr>
      </p:sp>
      <p:sp>
        <p:nvSpPr>
          <p:cNvPr id="15" name="Shape 13"/>
          <p:cNvSpPr/>
          <p:nvPr/>
        </p:nvSpPr>
        <p:spPr>
          <a:xfrm>
            <a:off x="5114925" y="2028937"/>
            <a:ext cx="3571875" cy="0"/>
          </a:xfrm>
          <a:prstGeom prst="line">
            <a:avLst/>
          </a:prstGeom>
          <a:noFill/>
          <a:ln w="7144">
            <a:solidFill>
              <a:srgbClr val="D9E1EC"/>
            </a:solidFill>
            <a:prstDash val="solid"/>
          </a:ln>
        </p:spPr>
      </p:sp>
      <p:sp>
        <p:nvSpPr>
          <p:cNvPr id="16" name="Shape 14"/>
          <p:cNvSpPr/>
          <p:nvPr/>
        </p:nvSpPr>
        <p:spPr>
          <a:xfrm>
            <a:off x="5125641" y="1470385"/>
            <a:ext cx="0" cy="562124"/>
          </a:xfrm>
          <a:prstGeom prst="line">
            <a:avLst/>
          </a:prstGeom>
          <a:noFill/>
          <a:ln w="21431">
            <a:solidFill>
              <a:srgbClr val="14B8A6"/>
            </a:solidFill>
            <a:prstDash val="solid"/>
          </a:ln>
        </p:spPr>
      </p:sp>
      <p:sp>
        <p:nvSpPr>
          <p:cNvPr id="17" name="Text 15"/>
          <p:cNvSpPr/>
          <p:nvPr/>
        </p:nvSpPr>
        <p:spPr>
          <a:xfrm>
            <a:off x="5264944" y="1577541"/>
            <a:ext cx="271463" cy="271463"/>
          </a:xfrm>
          <a:prstGeom prst="roundRect">
            <a:avLst>
              <a:gd name="adj" fmla="val 28070"/>
            </a:avLst>
          </a:prstGeom>
          <a:solidFill>
            <a:srgbClr val="14B8A6">
              <a:alpha val="12000"/>
            </a:srgbClr>
          </a:solidFill>
          <a:ln/>
        </p:spPr>
        <p:txBody>
          <a:bodyPr wrap="square" rtlCol="0" anchor="ctr"/>
          <a:lstStyle/>
          <a:p>
            <a:pPr indent="0" marL="0">
              <a:buNone/>
            </a:pPr>
            <a:endParaRPr lang="en-US" dirty="0"/>
          </a:p>
        </p:txBody>
      </p:sp>
      <p:sp>
        <p:nvSpPr>
          <p:cNvPr id="18" name="Text 16"/>
          <p:cNvSpPr/>
          <p:nvPr/>
        </p:nvSpPr>
        <p:spPr>
          <a:xfrm>
            <a:off x="5286732" y="1599329"/>
            <a:ext cx="227886" cy="227886"/>
          </a:xfrm>
          <a:prstGeom prst="rect">
            <a:avLst/>
          </a:prstGeom>
          <a:noFill/>
          <a:ln/>
        </p:spPr>
        <p:txBody>
          <a:bodyPr wrap="none" lIns="0" tIns="0" rIns="0" bIns="0" rtlCol="0" anchor="ctr"/>
          <a:lstStyle/>
          <a:p>
            <a:pPr algn="ctr" indent="0" marL="0">
              <a:buNone/>
            </a:pPr>
            <a:r>
              <a:rPr lang="en-US" sz="1547" dirty="0">
                <a:solidFill>
                  <a:srgbClr val="0F766E"/>
                </a:solidFill>
                <a:latin typeface="Segoe UI Symbol" pitchFamily="34" charset="0"/>
                <a:ea typeface="Segoe UI Symbol" pitchFamily="34" charset="-122"/>
                <a:cs typeface="Segoe UI Symbol" pitchFamily="34" charset="-120"/>
              </a:rPr>
              <a:t>⊘</a:t>
            </a:r>
            <a:endParaRPr lang="en-US" sz="1547" dirty="0"/>
          </a:p>
        </p:txBody>
      </p:sp>
      <p:sp>
        <p:nvSpPr>
          <p:cNvPr id="19" name="Text 17"/>
          <p:cNvSpPr/>
          <p:nvPr/>
        </p:nvSpPr>
        <p:spPr>
          <a:xfrm>
            <a:off x="5636419" y="1577541"/>
            <a:ext cx="2653202" cy="154734"/>
          </a:xfrm>
          <a:prstGeom prst="rect">
            <a:avLst/>
          </a:prstGeom>
          <a:noFill/>
          <a:ln/>
        </p:spPr>
        <p:txBody>
          <a:bodyPr wrap="square" lIns="0" tIns="0" rIns="0" bIns="0" rtlCol="0" anchor="t">
            <a:normAutofit/>
          </a:bodyPr>
          <a:lstStyle/>
          <a:p>
            <a:pPr algn="l" indent="0" marL="0">
              <a:lnSpc>
                <a:spcPts val="1266"/>
              </a:lnSpc>
              <a:buNone/>
            </a:pPr>
            <a:r>
              <a:rPr lang="en-US" sz="1013" b="1" dirty="0">
                <a:solidFill>
                  <a:srgbClr val="0F1F3D"/>
                </a:solidFill>
                <a:latin typeface="Carlito" pitchFamily="34" charset="0"/>
                <a:ea typeface="Carlito" pitchFamily="34" charset="-122"/>
                <a:cs typeface="Carlito" pitchFamily="34" charset="-120"/>
              </a:rPr>
              <a:t>Lost non-verbal feedback channel</a:t>
            </a:r>
            <a:endParaRPr lang="en-US" sz="1013" dirty="0"/>
          </a:p>
        </p:txBody>
      </p:sp>
      <p:sp>
        <p:nvSpPr>
          <p:cNvPr id="20" name="Text 18"/>
          <p:cNvSpPr/>
          <p:nvPr/>
        </p:nvSpPr>
        <p:spPr>
          <a:xfrm>
            <a:off x="5636419" y="1759707"/>
            <a:ext cx="2653202" cy="165646"/>
          </a:xfrm>
          <a:prstGeom prst="rect">
            <a:avLst/>
          </a:prstGeom>
          <a:noFill/>
          <a:ln/>
        </p:spPr>
        <p:txBody>
          <a:bodyPr wrap="square" lIns="0" tIns="0" rIns="0" bIns="0" rtlCol="0" anchor="t"/>
          <a:lstStyle/>
          <a:p>
            <a:pPr algn="l" indent="0" marL="0">
              <a:lnSpc>
                <a:spcPts val="1305"/>
              </a:lnSpc>
              <a:buNone/>
            </a:pPr>
            <a:r>
              <a:rPr lang="en-US" sz="900" dirty="0">
                <a:solidFill>
                  <a:srgbClr val="5B6B82"/>
                </a:solidFill>
                <a:latin typeface="Carlito" pitchFamily="34" charset="0"/>
                <a:ea typeface="Carlito" pitchFamily="34" charset="-122"/>
                <a:cs typeface="Carlito" pitchFamily="34" charset="-120"/>
              </a:rPr>
              <a:t>Teachers can no longer read the room.</a:t>
            </a:r>
            <a:endParaRPr lang="en-US" sz="900" dirty="0"/>
          </a:p>
        </p:txBody>
      </p:sp>
      <p:sp>
        <p:nvSpPr>
          <p:cNvPr id="21" name="Text 19"/>
          <p:cNvSpPr/>
          <p:nvPr/>
        </p:nvSpPr>
        <p:spPr>
          <a:xfrm>
            <a:off x="5114925" y="2132521"/>
            <a:ext cx="3571875" cy="562124"/>
          </a:xfrm>
          <a:prstGeom prst="roundRect">
            <a:avLst>
              <a:gd name="adj" fmla="val 6778"/>
            </a:avLst>
          </a:prstGeom>
          <a:solidFill>
            <a:srgbClr val="FFFFFF"/>
          </a:solidFill>
          <a:ln/>
        </p:spPr>
        <p:txBody>
          <a:bodyPr wrap="square" rtlCol="0" anchor="ctr"/>
          <a:lstStyle/>
          <a:p>
            <a:pPr indent="0" marL="0">
              <a:buNone/>
            </a:pPr>
            <a:endParaRPr lang="en-US" dirty="0"/>
          </a:p>
        </p:txBody>
      </p:sp>
      <p:sp>
        <p:nvSpPr>
          <p:cNvPr id="22" name="Shape 20"/>
          <p:cNvSpPr/>
          <p:nvPr/>
        </p:nvSpPr>
        <p:spPr>
          <a:xfrm>
            <a:off x="5114925" y="2136093"/>
            <a:ext cx="3571875" cy="0"/>
          </a:xfrm>
          <a:prstGeom prst="line">
            <a:avLst/>
          </a:prstGeom>
          <a:noFill/>
          <a:ln w="7144">
            <a:solidFill>
              <a:srgbClr val="D9E1EC"/>
            </a:solidFill>
            <a:prstDash val="solid"/>
          </a:ln>
        </p:spPr>
      </p:sp>
      <p:sp>
        <p:nvSpPr>
          <p:cNvPr id="23" name="Shape 21"/>
          <p:cNvSpPr/>
          <p:nvPr/>
        </p:nvSpPr>
        <p:spPr>
          <a:xfrm>
            <a:off x="8683228" y="2132521"/>
            <a:ext cx="0" cy="562124"/>
          </a:xfrm>
          <a:prstGeom prst="line">
            <a:avLst/>
          </a:prstGeom>
          <a:noFill/>
          <a:ln w="7144">
            <a:solidFill>
              <a:srgbClr val="D9E1EC"/>
            </a:solidFill>
            <a:prstDash val="solid"/>
          </a:ln>
        </p:spPr>
      </p:sp>
      <p:sp>
        <p:nvSpPr>
          <p:cNvPr id="24" name="Shape 22"/>
          <p:cNvSpPr/>
          <p:nvPr/>
        </p:nvSpPr>
        <p:spPr>
          <a:xfrm>
            <a:off x="5114925" y="2691073"/>
            <a:ext cx="3571875" cy="0"/>
          </a:xfrm>
          <a:prstGeom prst="line">
            <a:avLst/>
          </a:prstGeom>
          <a:noFill/>
          <a:ln w="7144">
            <a:solidFill>
              <a:srgbClr val="D9E1EC"/>
            </a:solidFill>
            <a:prstDash val="solid"/>
          </a:ln>
        </p:spPr>
      </p:sp>
      <p:sp>
        <p:nvSpPr>
          <p:cNvPr id="25" name="Shape 23"/>
          <p:cNvSpPr/>
          <p:nvPr/>
        </p:nvSpPr>
        <p:spPr>
          <a:xfrm>
            <a:off x="5125641" y="2132521"/>
            <a:ext cx="0" cy="562124"/>
          </a:xfrm>
          <a:prstGeom prst="line">
            <a:avLst/>
          </a:prstGeom>
          <a:noFill/>
          <a:ln w="21431">
            <a:solidFill>
              <a:srgbClr val="14B8A6"/>
            </a:solidFill>
            <a:prstDash val="solid"/>
          </a:ln>
        </p:spPr>
      </p:sp>
      <p:sp>
        <p:nvSpPr>
          <p:cNvPr id="26" name="Text 24"/>
          <p:cNvSpPr/>
          <p:nvPr/>
        </p:nvSpPr>
        <p:spPr>
          <a:xfrm>
            <a:off x="5264944" y="2239677"/>
            <a:ext cx="271463" cy="271463"/>
          </a:xfrm>
          <a:prstGeom prst="roundRect">
            <a:avLst>
              <a:gd name="adj" fmla="val 28070"/>
            </a:avLst>
          </a:prstGeom>
          <a:solidFill>
            <a:srgbClr val="14B8A6">
              <a:alpha val="12000"/>
            </a:srgbClr>
          </a:solidFill>
          <a:ln/>
        </p:spPr>
        <p:txBody>
          <a:bodyPr wrap="square" rtlCol="0" anchor="ctr"/>
          <a:lstStyle/>
          <a:p>
            <a:pPr indent="0" marL="0">
              <a:buNone/>
            </a:pPr>
            <a:endParaRPr lang="en-US" dirty="0"/>
          </a:p>
        </p:txBody>
      </p:sp>
      <p:sp>
        <p:nvSpPr>
          <p:cNvPr id="27" name="Text 25"/>
          <p:cNvSpPr/>
          <p:nvPr/>
        </p:nvSpPr>
        <p:spPr>
          <a:xfrm>
            <a:off x="5286732" y="2261466"/>
            <a:ext cx="227886" cy="227886"/>
          </a:xfrm>
          <a:prstGeom prst="rect">
            <a:avLst/>
          </a:prstGeom>
          <a:noFill/>
          <a:ln/>
        </p:spPr>
        <p:txBody>
          <a:bodyPr wrap="none" lIns="0" tIns="0" rIns="0" bIns="0" rtlCol="0" anchor="ctr"/>
          <a:lstStyle/>
          <a:p>
            <a:pPr algn="ctr" indent="0" marL="0">
              <a:buNone/>
            </a:pPr>
            <a:r>
              <a:rPr lang="en-US" sz="1547" dirty="0">
                <a:solidFill>
                  <a:srgbClr val="0F766E"/>
                </a:solidFill>
                <a:latin typeface="Segoe UI Symbol" pitchFamily="34" charset="0"/>
                <a:ea typeface="Segoe UI Symbol" pitchFamily="34" charset="-122"/>
                <a:cs typeface="Segoe UI Symbol" pitchFamily="34" charset="-120"/>
              </a:rPr>
              <a:t>▢</a:t>
            </a:r>
            <a:endParaRPr lang="en-US" sz="1547" dirty="0"/>
          </a:p>
        </p:txBody>
      </p:sp>
      <p:sp>
        <p:nvSpPr>
          <p:cNvPr id="28" name="Text 26"/>
          <p:cNvSpPr/>
          <p:nvPr/>
        </p:nvSpPr>
        <p:spPr>
          <a:xfrm>
            <a:off x="5636419" y="2239677"/>
            <a:ext cx="2819683" cy="154734"/>
          </a:xfrm>
          <a:prstGeom prst="rect">
            <a:avLst/>
          </a:prstGeom>
          <a:noFill/>
          <a:ln/>
        </p:spPr>
        <p:txBody>
          <a:bodyPr wrap="square" lIns="0" tIns="0" rIns="0" bIns="0" rtlCol="0" anchor="t">
            <a:normAutofit/>
          </a:bodyPr>
          <a:lstStyle/>
          <a:p>
            <a:pPr algn="l" indent="0" marL="0">
              <a:lnSpc>
                <a:spcPts val="1266"/>
              </a:lnSpc>
              <a:buNone/>
            </a:pPr>
            <a:r>
              <a:rPr lang="en-US" sz="1013" b="1" dirty="0">
                <a:solidFill>
                  <a:srgbClr val="0F1F3D"/>
                </a:solidFill>
                <a:latin typeface="Carlito" pitchFamily="34" charset="0"/>
                <a:ea typeface="Carlito" pitchFamily="34" charset="-122"/>
                <a:cs typeface="Carlito" pitchFamily="34" charset="-120"/>
              </a:rPr>
              <a:t>Sudden shift to fully-online delivery</a:t>
            </a:r>
            <a:endParaRPr lang="en-US" sz="1013" dirty="0"/>
          </a:p>
        </p:txBody>
      </p:sp>
      <p:sp>
        <p:nvSpPr>
          <p:cNvPr id="29" name="Text 27"/>
          <p:cNvSpPr/>
          <p:nvPr/>
        </p:nvSpPr>
        <p:spPr>
          <a:xfrm>
            <a:off x="5636419" y="2421843"/>
            <a:ext cx="2819683" cy="165646"/>
          </a:xfrm>
          <a:prstGeom prst="rect">
            <a:avLst/>
          </a:prstGeom>
          <a:noFill/>
          <a:ln/>
        </p:spPr>
        <p:txBody>
          <a:bodyPr wrap="square" lIns="0" tIns="0" rIns="0" bIns="0" rtlCol="0" anchor="t"/>
          <a:lstStyle/>
          <a:p>
            <a:pPr algn="l" indent="0" marL="0">
              <a:lnSpc>
                <a:spcPts val="1305"/>
              </a:lnSpc>
              <a:buNone/>
            </a:pPr>
            <a:r>
              <a:rPr lang="en-US" sz="900" dirty="0">
                <a:solidFill>
                  <a:srgbClr val="5B6B82"/>
                </a:solidFill>
                <a:latin typeface="Carlito" pitchFamily="34" charset="0"/>
                <a:ea typeface="Carlito" pitchFamily="34" charset="-122"/>
                <a:cs typeface="Carlito" pitchFamily="34" charset="-120"/>
              </a:rPr>
              <a:t>Pedagogy had no time to adapt.</a:t>
            </a:r>
            <a:endParaRPr lang="en-US" sz="900" dirty="0"/>
          </a:p>
        </p:txBody>
      </p:sp>
      <p:sp>
        <p:nvSpPr>
          <p:cNvPr id="30" name="Text 28"/>
          <p:cNvSpPr/>
          <p:nvPr/>
        </p:nvSpPr>
        <p:spPr>
          <a:xfrm>
            <a:off x="5114925" y="2794657"/>
            <a:ext cx="3571875" cy="1054150"/>
          </a:xfrm>
          <a:prstGeom prst="roundRect">
            <a:avLst>
              <a:gd name="adj" fmla="val 3614"/>
            </a:avLst>
          </a:prstGeom>
          <a:solidFill>
            <a:srgbClr val="FFFFFF"/>
          </a:solidFill>
          <a:ln/>
        </p:spPr>
        <p:txBody>
          <a:bodyPr wrap="square" rtlCol="0" anchor="ctr"/>
          <a:lstStyle/>
          <a:p>
            <a:pPr indent="0" marL="0">
              <a:buNone/>
            </a:pPr>
            <a:endParaRPr lang="en-US" dirty="0"/>
          </a:p>
        </p:txBody>
      </p:sp>
      <p:sp>
        <p:nvSpPr>
          <p:cNvPr id="31" name="Shape 29"/>
          <p:cNvSpPr/>
          <p:nvPr/>
        </p:nvSpPr>
        <p:spPr>
          <a:xfrm>
            <a:off x="5114925" y="2798229"/>
            <a:ext cx="3571875" cy="0"/>
          </a:xfrm>
          <a:prstGeom prst="line">
            <a:avLst/>
          </a:prstGeom>
          <a:noFill/>
          <a:ln w="7144">
            <a:solidFill>
              <a:srgbClr val="D9E1EC"/>
            </a:solidFill>
            <a:prstDash val="solid"/>
          </a:ln>
        </p:spPr>
      </p:sp>
      <p:sp>
        <p:nvSpPr>
          <p:cNvPr id="32" name="Shape 30"/>
          <p:cNvSpPr/>
          <p:nvPr/>
        </p:nvSpPr>
        <p:spPr>
          <a:xfrm>
            <a:off x="8683228" y="2794657"/>
            <a:ext cx="0" cy="1054150"/>
          </a:xfrm>
          <a:prstGeom prst="line">
            <a:avLst/>
          </a:prstGeom>
          <a:noFill/>
          <a:ln w="7144">
            <a:solidFill>
              <a:srgbClr val="D9E1EC"/>
            </a:solidFill>
            <a:prstDash val="solid"/>
          </a:ln>
        </p:spPr>
      </p:sp>
      <p:sp>
        <p:nvSpPr>
          <p:cNvPr id="33" name="Shape 31"/>
          <p:cNvSpPr/>
          <p:nvPr/>
        </p:nvSpPr>
        <p:spPr>
          <a:xfrm>
            <a:off x="5114925" y="3845235"/>
            <a:ext cx="3571875" cy="0"/>
          </a:xfrm>
          <a:prstGeom prst="line">
            <a:avLst/>
          </a:prstGeom>
          <a:noFill/>
          <a:ln w="7144">
            <a:solidFill>
              <a:srgbClr val="D9E1EC"/>
            </a:solidFill>
            <a:prstDash val="solid"/>
          </a:ln>
        </p:spPr>
      </p:sp>
      <p:sp>
        <p:nvSpPr>
          <p:cNvPr id="34" name="Shape 32"/>
          <p:cNvSpPr/>
          <p:nvPr/>
        </p:nvSpPr>
        <p:spPr>
          <a:xfrm>
            <a:off x="5125641" y="2794657"/>
            <a:ext cx="0" cy="1054150"/>
          </a:xfrm>
          <a:prstGeom prst="line">
            <a:avLst/>
          </a:prstGeom>
          <a:noFill/>
          <a:ln w="21431">
            <a:solidFill>
              <a:srgbClr val="14B8A6"/>
            </a:solidFill>
            <a:prstDash val="solid"/>
          </a:ln>
        </p:spPr>
      </p:sp>
      <p:sp>
        <p:nvSpPr>
          <p:cNvPr id="35" name="Text 33"/>
          <p:cNvSpPr/>
          <p:nvPr/>
        </p:nvSpPr>
        <p:spPr>
          <a:xfrm>
            <a:off x="5264944" y="2901814"/>
            <a:ext cx="271463" cy="271463"/>
          </a:xfrm>
          <a:prstGeom prst="roundRect">
            <a:avLst>
              <a:gd name="adj" fmla="val 28070"/>
            </a:avLst>
          </a:prstGeom>
          <a:solidFill>
            <a:srgbClr val="14B8A6">
              <a:alpha val="12000"/>
            </a:srgbClr>
          </a:solidFill>
          <a:ln/>
        </p:spPr>
        <p:txBody>
          <a:bodyPr wrap="square" rtlCol="0" anchor="ctr"/>
          <a:lstStyle/>
          <a:p>
            <a:pPr indent="0" marL="0">
              <a:buNone/>
            </a:pPr>
            <a:endParaRPr lang="en-US" dirty="0"/>
          </a:p>
        </p:txBody>
      </p:sp>
      <p:sp>
        <p:nvSpPr>
          <p:cNvPr id="36" name="Text 34"/>
          <p:cNvSpPr/>
          <p:nvPr/>
        </p:nvSpPr>
        <p:spPr>
          <a:xfrm>
            <a:off x="5286732" y="2923602"/>
            <a:ext cx="227886" cy="227886"/>
          </a:xfrm>
          <a:prstGeom prst="rect">
            <a:avLst/>
          </a:prstGeom>
          <a:noFill/>
          <a:ln/>
        </p:spPr>
        <p:txBody>
          <a:bodyPr wrap="none" lIns="0" tIns="0" rIns="0" bIns="0" rtlCol="0" anchor="ctr"/>
          <a:lstStyle/>
          <a:p>
            <a:pPr algn="ctr" indent="0" marL="0">
              <a:buNone/>
            </a:pPr>
            <a:r>
              <a:rPr lang="en-US" sz="1547" dirty="0">
                <a:solidFill>
                  <a:srgbClr val="0F766E"/>
                </a:solidFill>
                <a:latin typeface="Segoe UI Symbol" pitchFamily="34" charset="0"/>
                <a:ea typeface="Segoe UI Symbol" pitchFamily="34" charset="-122"/>
                <a:cs typeface="Segoe UI Symbol" pitchFamily="34" charset="-120"/>
              </a:rPr>
              <a:t>⚡</a:t>
            </a:r>
            <a:endParaRPr lang="en-US" sz="1547" dirty="0"/>
          </a:p>
        </p:txBody>
      </p:sp>
      <p:sp>
        <p:nvSpPr>
          <p:cNvPr id="37" name="Text 35"/>
          <p:cNvSpPr/>
          <p:nvPr/>
        </p:nvSpPr>
        <p:spPr>
          <a:xfrm>
            <a:off x="5636419" y="2901814"/>
            <a:ext cx="2914650" cy="315468"/>
          </a:xfrm>
          <a:prstGeom prst="rect">
            <a:avLst/>
          </a:prstGeom>
          <a:noFill/>
          <a:ln/>
        </p:spPr>
        <p:txBody>
          <a:bodyPr wrap="square" lIns="0" tIns="0" rIns="0" bIns="0" rtlCol="0" anchor="t">
            <a:normAutofit/>
          </a:bodyPr>
          <a:lstStyle/>
          <a:p>
            <a:pPr algn="l" indent="0" marL="0">
              <a:lnSpc>
                <a:spcPts val="1266"/>
              </a:lnSpc>
              <a:buNone/>
            </a:pPr>
            <a:r>
              <a:rPr lang="en-US" sz="1013" b="1" dirty="0">
                <a:solidFill>
                  <a:srgbClr val="0F1F3D"/>
                </a:solidFill>
                <a:latin typeface="Carlito" pitchFamily="34" charset="0"/>
                <a:ea typeface="Carlito" pitchFamily="34" charset="-122"/>
                <a:cs typeface="Carlito" pitchFamily="34" charset="-120"/>
              </a:rPr>
              <a:t>Need for near real-time affective detection</a:t>
            </a:r>
            <a:endParaRPr lang="en-US" sz="1013" dirty="0"/>
          </a:p>
        </p:txBody>
      </p:sp>
      <p:sp>
        <p:nvSpPr>
          <p:cNvPr id="38" name="Text 36"/>
          <p:cNvSpPr/>
          <p:nvPr/>
        </p:nvSpPr>
        <p:spPr>
          <a:xfrm>
            <a:off x="5636419" y="3244714"/>
            <a:ext cx="2914650" cy="496937"/>
          </a:xfrm>
          <a:prstGeom prst="rect">
            <a:avLst/>
          </a:prstGeom>
          <a:noFill/>
          <a:ln/>
        </p:spPr>
        <p:txBody>
          <a:bodyPr wrap="square" lIns="0" tIns="0" rIns="0" bIns="0" rtlCol="0" anchor="t"/>
          <a:lstStyle/>
          <a:p>
            <a:pPr algn="l" indent="0" marL="0">
              <a:lnSpc>
                <a:spcPts val="1305"/>
              </a:lnSpc>
              <a:buNone/>
            </a:pPr>
            <a:r>
              <a:rPr lang="en-US" sz="900" dirty="0">
                <a:solidFill>
                  <a:srgbClr val="5B6B82"/>
                </a:solidFill>
                <a:latin typeface="Carlito" pitchFamily="34" charset="0"/>
                <a:ea typeface="Carlito" pitchFamily="34" charset="-122"/>
                <a:cs typeface="Carlito" pitchFamily="34" charset="-120"/>
              </a:rPr>
              <a:t>Rebuild that lost feedback loop computationally — detect boredom, engagement, confusion, and frustration from a webcam feed.</a:t>
            </a:r>
            <a:endParaRPr lang="en-US" sz="900" dirty="0"/>
          </a:p>
        </p:txBody>
      </p:sp>
      <p:sp>
        <p:nvSpPr>
          <p:cNvPr id="39" name="Text 37"/>
          <p:cNvSpPr/>
          <p:nvPr/>
        </p:nvSpPr>
        <p:spPr>
          <a:xfrm>
            <a:off x="457200" y="4841677"/>
            <a:ext cx="7689577"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a:t>
            </a:r>
            <a:endParaRPr lang="en-US" sz="800" dirty="0"/>
          </a:p>
        </p:txBody>
      </p:sp>
      <p:sp>
        <p:nvSpPr>
          <p:cNvPr id="40" name="Text 38"/>
          <p:cNvSpPr/>
          <p:nvPr/>
        </p:nvSpPr>
        <p:spPr>
          <a:xfrm>
            <a:off x="8161065" y="4814888"/>
            <a:ext cx="743916" cy="185166"/>
          </a:xfrm>
          <a:prstGeom prst="rect">
            <a:avLst/>
          </a:prstGeom>
          <a:noFill/>
          <a:ln/>
        </p:spPr>
        <p:txBody>
          <a:bodyPr wrap="none" lIns="0" tIns="0" rIns="0" bIns="0" rtlCol="0" anchor="t"/>
          <a:lstStyle/>
          <a:p>
            <a:pPr algn="l" indent="0" marL="0">
              <a:lnSpc>
                <a:spcPts val="1350"/>
              </a:lnSpc>
              <a:buNone/>
            </a:pPr>
            <a:r>
              <a:rPr lang="en-US" sz="900" spc="50" kern="0" dirty="0">
                <a:solidFill>
                  <a:srgbClr val="0F1F3D"/>
                </a:solidFill>
                <a:latin typeface="Liberation Sans Narrow" pitchFamily="34" charset="0"/>
                <a:ea typeface="Liberation Sans Narrow" pitchFamily="34" charset="-122"/>
                <a:cs typeface="Liberation Sans Narrow" pitchFamily="34" charset="-120"/>
              </a:rPr>
              <a:t>04 / 34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none" lIns="0" tIns="0" rIns="0" bIns="0" rtlCol="0" anchor="t"/>
          <a:lstStyle/>
          <a:p>
            <a:pPr algn="l" indent="0" marL="0">
              <a:lnSpc>
                <a:spcPts val="928"/>
              </a:lnSpc>
              <a:buNone/>
            </a:pPr>
            <a:r>
              <a:rPr lang="en-US" sz="800" b="1" spc="136" kern="0" dirty="0">
                <a:solidFill>
                  <a:srgbClr val="14B8A6"/>
                </a:solidFill>
                <a:latin typeface="Carlito" pitchFamily="34" charset="0"/>
                <a:ea typeface="Carlito" pitchFamily="34" charset="-122"/>
                <a:cs typeface="Carlito" pitchFamily="34" charset="-120"/>
              </a:rPr>
              <a:t>AFFECTIVE COMPUTING</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255416"/>
          </a:xfrm>
          <a:prstGeom prst="rect">
            <a:avLst/>
          </a:prstGeom>
          <a:noFill/>
          <a:ln/>
        </p:spPr>
        <p:txBody>
          <a:bodyPr wrap="square" lIns="0" tIns="0" rIns="0" bIns="0" rtlCol="0" anchor="t">
            <a:normAutofit/>
          </a:bodyPr>
          <a:lstStyle/>
          <a:p>
            <a:pPr algn="l" indent="0" marL="0">
              <a:lnSpc>
                <a:spcPts val="1890"/>
              </a:lnSpc>
              <a:buNone/>
            </a:pPr>
            <a:r>
              <a:rPr lang="en-US" sz="1688" b="1" spc="-25" kern="0" dirty="0">
                <a:solidFill>
                  <a:srgbClr val="0F1F3D"/>
                </a:solidFill>
                <a:latin typeface="Carlito" pitchFamily="34" charset="0"/>
                <a:ea typeface="Carlito" pitchFamily="34" charset="-122"/>
                <a:cs typeface="Carlito" pitchFamily="34" charset="-120"/>
              </a:rPr>
              <a:t>Reading the Learner Through Four Affective States</a:t>
            </a:r>
            <a:endParaRPr lang="en-US" sz="1688" dirty="0"/>
          </a:p>
        </p:txBody>
      </p:sp>
      <p:sp>
        <p:nvSpPr>
          <p:cNvPr id="5" name="Text 3"/>
          <p:cNvSpPr/>
          <p:nvPr/>
        </p:nvSpPr>
        <p:spPr>
          <a:xfrm>
            <a:off x="457200" y="965076"/>
            <a:ext cx="6572250" cy="339961"/>
          </a:xfrm>
          <a:prstGeom prst="rect">
            <a:avLst/>
          </a:prstGeom>
          <a:noFill/>
          <a:ln/>
        </p:spPr>
        <p:txBody>
          <a:bodyPr wrap="square" lIns="0" tIns="0" rIns="0" bIns="0" rtlCol="0" anchor="t"/>
          <a:lstStyle/>
          <a:p>
            <a:pPr algn="l" indent="0" marL="0">
              <a:lnSpc>
                <a:spcPts val="1221"/>
              </a:lnSpc>
              <a:buNone/>
            </a:pPr>
            <a:r>
              <a:rPr lang="en-US" sz="800" dirty="0">
                <a:solidFill>
                  <a:srgbClr val="5B6B82"/>
                </a:solidFill>
                <a:latin typeface="Carlito" pitchFamily="34" charset="0"/>
                <a:ea typeface="Carlito" pitchFamily="34" charset="-122"/>
                <a:cs typeface="Carlito" pitchFamily="34" charset="-120"/>
              </a:rPr>
              <a:t>Boredom, Engagement, Confusion, and Frustration are the four canonical indicators of learning effectiveness — each calls for a different pedagogical intervention.</a:t>
            </a:r>
            <a:endParaRPr lang="en-US" sz="800" dirty="0"/>
          </a:p>
        </p:txBody>
      </p:sp>
      <p:sp>
        <p:nvSpPr>
          <p:cNvPr id="6" name="Text 4"/>
          <p:cNvSpPr/>
          <p:nvPr/>
        </p:nvSpPr>
        <p:spPr>
          <a:xfrm>
            <a:off x="460772" y="1392808"/>
            <a:ext cx="4043363" cy="1050131"/>
          </a:xfrm>
          <a:prstGeom prst="roundRect">
            <a:avLst>
              <a:gd name="adj" fmla="val 907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7" name="Text 5"/>
          <p:cNvSpPr/>
          <p:nvPr/>
        </p:nvSpPr>
        <p:spPr>
          <a:xfrm>
            <a:off x="621506" y="1396380"/>
            <a:ext cx="342900" cy="21431"/>
          </a:xfrm>
          <a:prstGeom prst="rect">
            <a:avLst/>
          </a:prstGeom>
          <a:solidFill>
            <a:srgbClr val="14B8A6"/>
          </a:solidFill>
          <a:ln/>
        </p:spPr>
        <p:txBody>
          <a:bodyPr wrap="square" rtlCol="0" anchor="ctr"/>
          <a:lstStyle/>
          <a:p>
            <a:pPr indent="0" marL="0">
              <a:buNone/>
            </a:pPr>
            <a:endParaRPr lang="en-US" dirty="0"/>
          </a:p>
        </p:txBody>
      </p:sp>
      <p:sp>
        <p:nvSpPr>
          <p:cNvPr id="8" name="Text 6"/>
          <p:cNvSpPr/>
          <p:nvPr/>
        </p:nvSpPr>
        <p:spPr>
          <a:xfrm>
            <a:off x="621506" y="1524967"/>
            <a:ext cx="3152068" cy="259184"/>
          </a:xfrm>
          <a:prstGeom prst="rect">
            <a:avLst/>
          </a:prstGeom>
          <a:noFill/>
          <a:ln/>
        </p:spPr>
        <p:txBody>
          <a:bodyPr wrap="none" lIns="0" tIns="0" rIns="0" bIns="0" rtlCol="0" anchor="t"/>
          <a:lstStyle/>
          <a:p>
            <a:pPr algn="l" indent="0" marL="0">
              <a:lnSpc>
                <a:spcPts val="1890"/>
              </a:lnSpc>
              <a:buNone/>
            </a:pPr>
            <a:r>
              <a:rPr lang="en-US" sz="1800" b="1" spc="-27" kern="0" dirty="0">
                <a:solidFill>
                  <a:srgbClr val="0F1F3D"/>
                </a:solidFill>
                <a:latin typeface="Tinos" pitchFamily="34" charset="0"/>
                <a:ea typeface="Tinos" pitchFamily="34" charset="-122"/>
                <a:cs typeface="Tinos" pitchFamily="34" charset="-120"/>
              </a:rPr>
              <a:t>Boredom</a:t>
            </a:r>
            <a:endParaRPr lang="en-US" sz="1800" dirty="0"/>
          </a:p>
        </p:txBody>
      </p:sp>
      <p:sp>
        <p:nvSpPr>
          <p:cNvPr id="9" name="Text 7"/>
          <p:cNvSpPr/>
          <p:nvPr/>
        </p:nvSpPr>
        <p:spPr>
          <a:xfrm>
            <a:off x="3765640" y="1515109"/>
            <a:ext cx="599981" cy="184023"/>
          </a:xfrm>
          <a:prstGeom prst="roundRect">
            <a:avLst>
              <a:gd name="adj" fmla="val 5170807"/>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10" name="Text 8"/>
          <p:cNvSpPr/>
          <p:nvPr/>
        </p:nvSpPr>
        <p:spPr>
          <a:xfrm>
            <a:off x="3770910" y="1524967"/>
            <a:ext cx="589443" cy="164306"/>
          </a:xfrm>
          <a:prstGeom prst="rect">
            <a:avLst/>
          </a:prstGeom>
          <a:noFill/>
          <a:ln/>
        </p:spPr>
        <p:txBody>
          <a:bodyPr wrap="none" lIns="0" tIns="0" rIns="0" bIns="0" rtlCol="0" anchor="ctr"/>
          <a:lstStyle/>
          <a:p>
            <a:pPr algn="ctr" indent="0" marL="0">
              <a:lnSpc>
                <a:spcPts val="844"/>
              </a:lnSpc>
              <a:buNone/>
            </a:pPr>
            <a:r>
              <a:rPr lang="en-US" sz="800" spc="68" kern="0" dirty="0">
                <a:solidFill>
                  <a:srgbClr val="5B6B82"/>
                </a:solidFill>
                <a:latin typeface="Liberation Sans Narrow" pitchFamily="34" charset="0"/>
                <a:ea typeface="Liberation Sans Narrow" pitchFamily="34" charset="-122"/>
                <a:cs typeface="Liberation Sans Narrow" pitchFamily="34" charset="-120"/>
              </a:rPr>
              <a:t>STATE 01</a:t>
            </a:r>
            <a:endParaRPr lang="en-US" sz="800" dirty="0"/>
          </a:p>
        </p:txBody>
      </p:sp>
      <p:sp>
        <p:nvSpPr>
          <p:cNvPr id="11" name="Text 9"/>
          <p:cNvSpPr/>
          <p:nvPr/>
        </p:nvSpPr>
        <p:spPr>
          <a:xfrm>
            <a:off x="621506" y="1922673"/>
            <a:ext cx="3721894" cy="164592"/>
          </a:xfrm>
          <a:prstGeom prst="rect">
            <a:avLst/>
          </a:prstGeom>
          <a:noFill/>
          <a:ln/>
        </p:spPr>
        <p:txBody>
          <a:bodyPr wrap="square" lIns="0" tIns="0" rIns="0" bIns="0" rtlCol="0" anchor="t"/>
          <a:lstStyle/>
          <a:p>
            <a:pPr algn="l" indent="0" marL="0">
              <a:lnSpc>
                <a:spcPts val="1139"/>
              </a:lnSpc>
              <a:buNone/>
            </a:pPr>
            <a:r>
              <a:rPr lang="en-US" sz="800" dirty="0">
                <a:solidFill>
                  <a:srgbClr val="5B6B82"/>
                </a:solidFill>
                <a:latin typeface="Carlito" pitchFamily="34" charset="0"/>
                <a:ea typeface="Carlito" pitchFamily="34" charset="-122"/>
                <a:cs typeface="Carlito" pitchFamily="34" charset="-120"/>
              </a:rPr>
              <a:t>Sustained disengagement — the learner has mentally checked out.</a:t>
            </a:r>
            <a:endParaRPr lang="en-US" sz="800" dirty="0"/>
          </a:p>
        </p:txBody>
      </p:sp>
      <p:sp>
        <p:nvSpPr>
          <p:cNvPr id="12" name="Text 10"/>
          <p:cNvSpPr/>
          <p:nvPr/>
        </p:nvSpPr>
        <p:spPr>
          <a:xfrm>
            <a:off x="4171950" y="2153617"/>
            <a:ext cx="171450" cy="171450"/>
          </a:xfrm>
          <a:prstGeom prst="rect">
            <a:avLst/>
          </a:prstGeom>
          <a:noFill/>
          <a:ln/>
        </p:spPr>
        <p:txBody>
          <a:bodyPr wrap="none" lIns="0" tIns="0" rIns="0" bIns="0" rtlCol="0" anchor="ctr"/>
          <a:lstStyle/>
          <a:p>
            <a:pPr algn="ctr" indent="0" marL="0">
              <a:buNone/>
            </a:pPr>
            <a:r>
              <a:rPr lang="en-US" sz="1688" dirty="0">
                <a:solidFill>
                  <a:srgbClr val="0F766E"/>
                </a:solidFill>
                <a:latin typeface="Segoe UI Symbol" pitchFamily="34" charset="0"/>
                <a:ea typeface="Segoe UI Symbol" pitchFamily="34" charset="-122"/>
                <a:cs typeface="Segoe UI Symbol" pitchFamily="34" charset="-120"/>
              </a:rPr>
              <a:t>▥</a:t>
            </a:r>
            <a:endParaRPr lang="en-US" sz="1688" dirty="0"/>
          </a:p>
        </p:txBody>
      </p:sp>
      <p:sp>
        <p:nvSpPr>
          <p:cNvPr id="13" name="Text 11"/>
          <p:cNvSpPr/>
          <p:nvPr/>
        </p:nvSpPr>
        <p:spPr>
          <a:xfrm>
            <a:off x="4639866" y="1392808"/>
            <a:ext cx="4043363" cy="1050131"/>
          </a:xfrm>
          <a:prstGeom prst="roundRect">
            <a:avLst>
              <a:gd name="adj" fmla="val 907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14" name="Text 12"/>
          <p:cNvSpPr/>
          <p:nvPr/>
        </p:nvSpPr>
        <p:spPr>
          <a:xfrm>
            <a:off x="4800600" y="1396380"/>
            <a:ext cx="342900" cy="21431"/>
          </a:xfrm>
          <a:prstGeom prst="rect">
            <a:avLst/>
          </a:prstGeom>
          <a:solidFill>
            <a:srgbClr val="14B8A6"/>
          </a:solidFill>
          <a:ln/>
        </p:spPr>
        <p:txBody>
          <a:bodyPr wrap="square" rtlCol="0" anchor="ctr"/>
          <a:lstStyle/>
          <a:p>
            <a:pPr indent="0" marL="0">
              <a:buNone/>
            </a:pPr>
            <a:endParaRPr lang="en-US" dirty="0"/>
          </a:p>
        </p:txBody>
      </p:sp>
      <p:sp>
        <p:nvSpPr>
          <p:cNvPr id="15" name="Text 13"/>
          <p:cNvSpPr/>
          <p:nvPr/>
        </p:nvSpPr>
        <p:spPr>
          <a:xfrm>
            <a:off x="4800600" y="1524967"/>
            <a:ext cx="3152068" cy="259184"/>
          </a:xfrm>
          <a:prstGeom prst="rect">
            <a:avLst/>
          </a:prstGeom>
          <a:noFill/>
          <a:ln/>
        </p:spPr>
        <p:txBody>
          <a:bodyPr wrap="none" lIns="0" tIns="0" rIns="0" bIns="0" rtlCol="0" anchor="t"/>
          <a:lstStyle/>
          <a:p>
            <a:pPr algn="l" indent="0" marL="0">
              <a:lnSpc>
                <a:spcPts val="1890"/>
              </a:lnSpc>
              <a:buNone/>
            </a:pPr>
            <a:r>
              <a:rPr lang="en-US" sz="1800" b="1" spc="-27" kern="0" dirty="0">
                <a:solidFill>
                  <a:srgbClr val="0F1F3D"/>
                </a:solidFill>
                <a:latin typeface="Tinos" pitchFamily="34" charset="0"/>
                <a:ea typeface="Tinos" pitchFamily="34" charset="-122"/>
                <a:cs typeface="Tinos" pitchFamily="34" charset="-120"/>
              </a:rPr>
              <a:t>Engagement</a:t>
            </a:r>
            <a:endParaRPr lang="en-US" sz="1800" dirty="0"/>
          </a:p>
        </p:txBody>
      </p:sp>
      <p:sp>
        <p:nvSpPr>
          <p:cNvPr id="16" name="Text 14"/>
          <p:cNvSpPr/>
          <p:nvPr/>
        </p:nvSpPr>
        <p:spPr>
          <a:xfrm>
            <a:off x="7944734" y="1515109"/>
            <a:ext cx="599981" cy="184023"/>
          </a:xfrm>
          <a:prstGeom prst="roundRect">
            <a:avLst>
              <a:gd name="adj" fmla="val 5170807"/>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17" name="Text 15"/>
          <p:cNvSpPr/>
          <p:nvPr/>
        </p:nvSpPr>
        <p:spPr>
          <a:xfrm>
            <a:off x="7950003" y="1524967"/>
            <a:ext cx="589443" cy="164306"/>
          </a:xfrm>
          <a:prstGeom prst="rect">
            <a:avLst/>
          </a:prstGeom>
          <a:noFill/>
          <a:ln/>
        </p:spPr>
        <p:txBody>
          <a:bodyPr wrap="none" lIns="0" tIns="0" rIns="0" bIns="0" rtlCol="0" anchor="ctr"/>
          <a:lstStyle/>
          <a:p>
            <a:pPr algn="ctr" indent="0" marL="0">
              <a:lnSpc>
                <a:spcPts val="844"/>
              </a:lnSpc>
              <a:buNone/>
            </a:pPr>
            <a:r>
              <a:rPr lang="en-US" sz="800" spc="68" kern="0" dirty="0">
                <a:solidFill>
                  <a:srgbClr val="5B6B82"/>
                </a:solidFill>
                <a:latin typeface="Liberation Sans Narrow" pitchFamily="34" charset="0"/>
                <a:ea typeface="Liberation Sans Narrow" pitchFamily="34" charset="-122"/>
                <a:cs typeface="Liberation Sans Narrow" pitchFamily="34" charset="-120"/>
              </a:rPr>
              <a:t>STATE 02</a:t>
            </a:r>
            <a:endParaRPr lang="en-US" sz="800" dirty="0"/>
          </a:p>
        </p:txBody>
      </p:sp>
      <p:sp>
        <p:nvSpPr>
          <p:cNvPr id="18" name="Text 16"/>
          <p:cNvSpPr/>
          <p:nvPr/>
        </p:nvSpPr>
        <p:spPr>
          <a:xfrm>
            <a:off x="4800600" y="1922673"/>
            <a:ext cx="3721894" cy="164592"/>
          </a:xfrm>
          <a:prstGeom prst="rect">
            <a:avLst/>
          </a:prstGeom>
          <a:noFill/>
          <a:ln/>
        </p:spPr>
        <p:txBody>
          <a:bodyPr wrap="square" lIns="0" tIns="0" rIns="0" bIns="0" rtlCol="0" anchor="t"/>
          <a:lstStyle/>
          <a:p>
            <a:pPr algn="l" indent="0" marL="0">
              <a:lnSpc>
                <a:spcPts val="1139"/>
              </a:lnSpc>
              <a:buNone/>
            </a:pPr>
            <a:r>
              <a:rPr lang="en-US" sz="800" dirty="0">
                <a:solidFill>
                  <a:srgbClr val="5B6B82"/>
                </a:solidFill>
                <a:latin typeface="Carlito" pitchFamily="34" charset="0"/>
                <a:ea typeface="Carlito" pitchFamily="34" charset="-122"/>
                <a:cs typeface="Carlito" pitchFamily="34" charset="-120"/>
              </a:rPr>
              <a:t>Active attention — the learner is processing the material.</a:t>
            </a:r>
            <a:endParaRPr lang="en-US" sz="800" dirty="0"/>
          </a:p>
        </p:txBody>
      </p:sp>
      <p:sp>
        <p:nvSpPr>
          <p:cNvPr id="19" name="Text 17"/>
          <p:cNvSpPr/>
          <p:nvPr/>
        </p:nvSpPr>
        <p:spPr>
          <a:xfrm>
            <a:off x="8351044" y="2153617"/>
            <a:ext cx="171450" cy="171450"/>
          </a:xfrm>
          <a:prstGeom prst="rect">
            <a:avLst/>
          </a:prstGeom>
          <a:noFill/>
          <a:ln/>
        </p:spPr>
        <p:txBody>
          <a:bodyPr wrap="none" lIns="0" tIns="0" rIns="0" bIns="0" rtlCol="0" anchor="ctr"/>
          <a:lstStyle/>
          <a:p>
            <a:pPr algn="ctr" indent="0" marL="0">
              <a:buNone/>
            </a:pPr>
            <a:r>
              <a:rPr lang="en-US" sz="1688" dirty="0">
                <a:solidFill>
                  <a:srgbClr val="0F766E"/>
                </a:solidFill>
                <a:latin typeface="Segoe UI Symbol" pitchFamily="34" charset="0"/>
                <a:ea typeface="Segoe UI Symbol" pitchFamily="34" charset="-122"/>
                <a:cs typeface="Segoe UI Symbol" pitchFamily="34" charset="-120"/>
              </a:rPr>
              <a:t>⚡</a:t>
            </a:r>
            <a:endParaRPr lang="en-US" sz="1688" dirty="0"/>
          </a:p>
        </p:txBody>
      </p:sp>
      <p:sp>
        <p:nvSpPr>
          <p:cNvPr id="20" name="Text 18"/>
          <p:cNvSpPr/>
          <p:nvPr/>
        </p:nvSpPr>
        <p:spPr>
          <a:xfrm>
            <a:off x="460772" y="2578671"/>
            <a:ext cx="4043363" cy="1050131"/>
          </a:xfrm>
          <a:prstGeom prst="roundRect">
            <a:avLst>
              <a:gd name="adj" fmla="val 907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21" name="Text 19"/>
          <p:cNvSpPr/>
          <p:nvPr/>
        </p:nvSpPr>
        <p:spPr>
          <a:xfrm>
            <a:off x="621506" y="2582242"/>
            <a:ext cx="342900" cy="21431"/>
          </a:xfrm>
          <a:prstGeom prst="rect">
            <a:avLst/>
          </a:prstGeom>
          <a:solidFill>
            <a:srgbClr val="14B8A6"/>
          </a:solidFill>
          <a:ln/>
        </p:spPr>
        <p:txBody>
          <a:bodyPr wrap="square" rtlCol="0" anchor="ctr"/>
          <a:lstStyle/>
          <a:p>
            <a:pPr indent="0" marL="0">
              <a:buNone/>
            </a:pPr>
            <a:endParaRPr lang="en-US" dirty="0"/>
          </a:p>
        </p:txBody>
      </p:sp>
      <p:sp>
        <p:nvSpPr>
          <p:cNvPr id="22" name="Text 20"/>
          <p:cNvSpPr/>
          <p:nvPr/>
        </p:nvSpPr>
        <p:spPr>
          <a:xfrm>
            <a:off x="621506" y="2710830"/>
            <a:ext cx="3152068" cy="259184"/>
          </a:xfrm>
          <a:prstGeom prst="rect">
            <a:avLst/>
          </a:prstGeom>
          <a:noFill/>
          <a:ln/>
        </p:spPr>
        <p:txBody>
          <a:bodyPr wrap="none" lIns="0" tIns="0" rIns="0" bIns="0" rtlCol="0" anchor="t"/>
          <a:lstStyle/>
          <a:p>
            <a:pPr algn="l" indent="0" marL="0">
              <a:lnSpc>
                <a:spcPts val="1890"/>
              </a:lnSpc>
              <a:buNone/>
            </a:pPr>
            <a:r>
              <a:rPr lang="en-US" sz="1800" b="1" spc="-27" kern="0" dirty="0">
                <a:solidFill>
                  <a:srgbClr val="0F1F3D"/>
                </a:solidFill>
                <a:latin typeface="Tinos" pitchFamily="34" charset="0"/>
                <a:ea typeface="Tinos" pitchFamily="34" charset="-122"/>
                <a:cs typeface="Tinos" pitchFamily="34" charset="-120"/>
              </a:rPr>
              <a:t>Confusion</a:t>
            </a:r>
            <a:endParaRPr lang="en-US" sz="1800" dirty="0"/>
          </a:p>
        </p:txBody>
      </p:sp>
      <p:sp>
        <p:nvSpPr>
          <p:cNvPr id="23" name="Text 21"/>
          <p:cNvSpPr/>
          <p:nvPr/>
        </p:nvSpPr>
        <p:spPr>
          <a:xfrm>
            <a:off x="3765640" y="2700972"/>
            <a:ext cx="599981" cy="184023"/>
          </a:xfrm>
          <a:prstGeom prst="roundRect">
            <a:avLst>
              <a:gd name="adj" fmla="val 5170807"/>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24" name="Text 22"/>
          <p:cNvSpPr/>
          <p:nvPr/>
        </p:nvSpPr>
        <p:spPr>
          <a:xfrm>
            <a:off x="3770910" y="2710830"/>
            <a:ext cx="589443" cy="164306"/>
          </a:xfrm>
          <a:prstGeom prst="rect">
            <a:avLst/>
          </a:prstGeom>
          <a:noFill/>
          <a:ln/>
        </p:spPr>
        <p:txBody>
          <a:bodyPr wrap="none" lIns="0" tIns="0" rIns="0" bIns="0" rtlCol="0" anchor="ctr"/>
          <a:lstStyle/>
          <a:p>
            <a:pPr algn="ctr" indent="0" marL="0">
              <a:lnSpc>
                <a:spcPts val="844"/>
              </a:lnSpc>
              <a:buNone/>
            </a:pPr>
            <a:r>
              <a:rPr lang="en-US" sz="800" spc="68" kern="0" dirty="0">
                <a:solidFill>
                  <a:srgbClr val="5B6B82"/>
                </a:solidFill>
                <a:latin typeface="Liberation Sans Narrow" pitchFamily="34" charset="0"/>
                <a:ea typeface="Liberation Sans Narrow" pitchFamily="34" charset="-122"/>
                <a:cs typeface="Liberation Sans Narrow" pitchFamily="34" charset="-120"/>
              </a:rPr>
              <a:t>STATE 03</a:t>
            </a:r>
            <a:endParaRPr lang="en-US" sz="800" dirty="0"/>
          </a:p>
        </p:txBody>
      </p:sp>
      <p:sp>
        <p:nvSpPr>
          <p:cNvPr id="25" name="Text 23"/>
          <p:cNvSpPr/>
          <p:nvPr/>
        </p:nvSpPr>
        <p:spPr>
          <a:xfrm>
            <a:off x="621506" y="3108536"/>
            <a:ext cx="3721894" cy="164592"/>
          </a:xfrm>
          <a:prstGeom prst="rect">
            <a:avLst/>
          </a:prstGeom>
          <a:noFill/>
          <a:ln/>
        </p:spPr>
        <p:txBody>
          <a:bodyPr wrap="square" lIns="0" tIns="0" rIns="0" bIns="0" rtlCol="0" anchor="t"/>
          <a:lstStyle/>
          <a:p>
            <a:pPr algn="l" indent="0" marL="0">
              <a:lnSpc>
                <a:spcPts val="1139"/>
              </a:lnSpc>
              <a:buNone/>
            </a:pPr>
            <a:r>
              <a:rPr lang="en-US" sz="800" dirty="0">
                <a:solidFill>
                  <a:srgbClr val="5B6B82"/>
                </a:solidFill>
                <a:latin typeface="Carlito" pitchFamily="34" charset="0"/>
                <a:ea typeface="Carlito" pitchFamily="34" charset="-122"/>
                <a:cs typeface="Carlito" pitchFamily="34" charset="-120"/>
              </a:rPr>
              <a:t>Cognitive overload — the learner needs a different explanation.</a:t>
            </a:r>
            <a:endParaRPr lang="en-US" sz="800" dirty="0"/>
          </a:p>
        </p:txBody>
      </p:sp>
      <p:sp>
        <p:nvSpPr>
          <p:cNvPr id="26" name="Text 24"/>
          <p:cNvSpPr/>
          <p:nvPr/>
        </p:nvSpPr>
        <p:spPr>
          <a:xfrm>
            <a:off x="4171950" y="3339480"/>
            <a:ext cx="171450" cy="171450"/>
          </a:xfrm>
          <a:prstGeom prst="rect">
            <a:avLst/>
          </a:prstGeom>
          <a:noFill/>
          <a:ln/>
        </p:spPr>
        <p:txBody>
          <a:bodyPr wrap="none" lIns="0" tIns="0" rIns="0" bIns="0" rtlCol="0" anchor="ctr"/>
          <a:lstStyle/>
          <a:p>
            <a:pPr algn="ctr" indent="0" marL="0">
              <a:buNone/>
            </a:pPr>
            <a:r>
              <a:rPr lang="en-US" sz="1688" dirty="0">
                <a:solidFill>
                  <a:srgbClr val="0F766E"/>
                </a:solidFill>
                <a:latin typeface="Segoe UI Symbol" pitchFamily="34" charset="0"/>
                <a:ea typeface="Segoe UI Symbol" pitchFamily="34" charset="-122"/>
                <a:cs typeface="Segoe UI Symbol" pitchFamily="34" charset="-120"/>
              </a:rPr>
              <a:t>?</a:t>
            </a:r>
            <a:endParaRPr lang="en-US" sz="1688" dirty="0"/>
          </a:p>
        </p:txBody>
      </p:sp>
      <p:sp>
        <p:nvSpPr>
          <p:cNvPr id="27" name="Text 25"/>
          <p:cNvSpPr/>
          <p:nvPr/>
        </p:nvSpPr>
        <p:spPr>
          <a:xfrm>
            <a:off x="4639866" y="2578671"/>
            <a:ext cx="4043363" cy="1050131"/>
          </a:xfrm>
          <a:prstGeom prst="roundRect">
            <a:avLst>
              <a:gd name="adj" fmla="val 907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28" name="Text 26"/>
          <p:cNvSpPr/>
          <p:nvPr/>
        </p:nvSpPr>
        <p:spPr>
          <a:xfrm>
            <a:off x="4800600" y="2582242"/>
            <a:ext cx="342900" cy="21431"/>
          </a:xfrm>
          <a:prstGeom prst="rect">
            <a:avLst/>
          </a:prstGeom>
          <a:solidFill>
            <a:srgbClr val="14B8A6"/>
          </a:solidFill>
          <a:ln/>
        </p:spPr>
        <p:txBody>
          <a:bodyPr wrap="square" rtlCol="0" anchor="ctr"/>
          <a:lstStyle/>
          <a:p>
            <a:pPr indent="0" marL="0">
              <a:buNone/>
            </a:pPr>
            <a:endParaRPr lang="en-US" dirty="0"/>
          </a:p>
        </p:txBody>
      </p:sp>
      <p:sp>
        <p:nvSpPr>
          <p:cNvPr id="29" name="Text 27"/>
          <p:cNvSpPr/>
          <p:nvPr/>
        </p:nvSpPr>
        <p:spPr>
          <a:xfrm>
            <a:off x="4800600" y="2710830"/>
            <a:ext cx="3152068" cy="259184"/>
          </a:xfrm>
          <a:prstGeom prst="rect">
            <a:avLst/>
          </a:prstGeom>
          <a:noFill/>
          <a:ln/>
        </p:spPr>
        <p:txBody>
          <a:bodyPr wrap="none" lIns="0" tIns="0" rIns="0" bIns="0" rtlCol="0" anchor="t"/>
          <a:lstStyle/>
          <a:p>
            <a:pPr algn="l" indent="0" marL="0">
              <a:lnSpc>
                <a:spcPts val="1890"/>
              </a:lnSpc>
              <a:buNone/>
            </a:pPr>
            <a:r>
              <a:rPr lang="en-US" sz="1800" b="1" spc="-27" kern="0" dirty="0">
                <a:solidFill>
                  <a:srgbClr val="0F1F3D"/>
                </a:solidFill>
                <a:latin typeface="Tinos" pitchFamily="34" charset="0"/>
                <a:ea typeface="Tinos" pitchFamily="34" charset="-122"/>
                <a:cs typeface="Tinos" pitchFamily="34" charset="-120"/>
              </a:rPr>
              <a:t>Frustration</a:t>
            </a:r>
            <a:endParaRPr lang="en-US" sz="1800" dirty="0"/>
          </a:p>
        </p:txBody>
      </p:sp>
      <p:sp>
        <p:nvSpPr>
          <p:cNvPr id="30" name="Text 28"/>
          <p:cNvSpPr/>
          <p:nvPr/>
        </p:nvSpPr>
        <p:spPr>
          <a:xfrm>
            <a:off x="7944734" y="2700972"/>
            <a:ext cx="599981" cy="184023"/>
          </a:xfrm>
          <a:prstGeom prst="roundRect">
            <a:avLst>
              <a:gd name="adj" fmla="val 5170807"/>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31" name="Text 29"/>
          <p:cNvSpPr/>
          <p:nvPr/>
        </p:nvSpPr>
        <p:spPr>
          <a:xfrm>
            <a:off x="7950003" y="2710830"/>
            <a:ext cx="589443" cy="164306"/>
          </a:xfrm>
          <a:prstGeom prst="rect">
            <a:avLst/>
          </a:prstGeom>
          <a:noFill/>
          <a:ln/>
        </p:spPr>
        <p:txBody>
          <a:bodyPr wrap="none" lIns="0" tIns="0" rIns="0" bIns="0" rtlCol="0" anchor="ctr"/>
          <a:lstStyle/>
          <a:p>
            <a:pPr algn="ctr" indent="0" marL="0">
              <a:lnSpc>
                <a:spcPts val="844"/>
              </a:lnSpc>
              <a:buNone/>
            </a:pPr>
            <a:r>
              <a:rPr lang="en-US" sz="800" spc="68" kern="0" dirty="0">
                <a:solidFill>
                  <a:srgbClr val="5B6B82"/>
                </a:solidFill>
                <a:latin typeface="Liberation Sans Narrow" pitchFamily="34" charset="0"/>
                <a:ea typeface="Liberation Sans Narrow" pitchFamily="34" charset="-122"/>
                <a:cs typeface="Liberation Sans Narrow" pitchFamily="34" charset="-120"/>
              </a:rPr>
              <a:t>STATE 04</a:t>
            </a:r>
            <a:endParaRPr lang="en-US" sz="800" dirty="0"/>
          </a:p>
        </p:txBody>
      </p:sp>
      <p:sp>
        <p:nvSpPr>
          <p:cNvPr id="32" name="Text 30"/>
          <p:cNvSpPr/>
          <p:nvPr/>
        </p:nvSpPr>
        <p:spPr>
          <a:xfrm>
            <a:off x="4800600" y="3108536"/>
            <a:ext cx="3721894" cy="164592"/>
          </a:xfrm>
          <a:prstGeom prst="rect">
            <a:avLst/>
          </a:prstGeom>
          <a:noFill/>
          <a:ln/>
        </p:spPr>
        <p:txBody>
          <a:bodyPr wrap="square" lIns="0" tIns="0" rIns="0" bIns="0" rtlCol="0" anchor="t"/>
          <a:lstStyle/>
          <a:p>
            <a:pPr algn="l" indent="0" marL="0">
              <a:lnSpc>
                <a:spcPts val="1139"/>
              </a:lnSpc>
              <a:buNone/>
            </a:pPr>
            <a:r>
              <a:rPr lang="en-US" sz="800" dirty="0">
                <a:solidFill>
                  <a:srgbClr val="5B6B82"/>
                </a:solidFill>
                <a:latin typeface="Carlito" pitchFamily="34" charset="0"/>
                <a:ea typeface="Carlito" pitchFamily="34" charset="-122"/>
                <a:cs typeface="Carlito" pitchFamily="34" charset="-120"/>
              </a:rPr>
              <a:t>Affective barrier — the learner is about to give up.</a:t>
            </a:r>
            <a:endParaRPr lang="en-US" sz="800" dirty="0"/>
          </a:p>
        </p:txBody>
      </p:sp>
      <p:sp>
        <p:nvSpPr>
          <p:cNvPr id="33" name="Text 31"/>
          <p:cNvSpPr/>
          <p:nvPr/>
        </p:nvSpPr>
        <p:spPr>
          <a:xfrm>
            <a:off x="8351044" y="3339480"/>
            <a:ext cx="171450" cy="171450"/>
          </a:xfrm>
          <a:prstGeom prst="rect">
            <a:avLst/>
          </a:prstGeom>
          <a:noFill/>
          <a:ln/>
        </p:spPr>
        <p:txBody>
          <a:bodyPr wrap="none" lIns="0" tIns="0" rIns="0" bIns="0" rtlCol="0" anchor="ctr"/>
          <a:lstStyle/>
          <a:p>
            <a:pPr algn="ctr" indent="0" marL="0">
              <a:buNone/>
            </a:pPr>
            <a:r>
              <a:rPr lang="en-US" sz="1688" dirty="0">
                <a:solidFill>
                  <a:srgbClr val="0F766E"/>
                </a:solidFill>
                <a:latin typeface="Segoe UI Symbol" pitchFamily="34" charset="0"/>
                <a:ea typeface="Segoe UI Symbol" pitchFamily="34" charset="-122"/>
                <a:cs typeface="Segoe UI Symbol" pitchFamily="34" charset="-120"/>
              </a:rPr>
              <a:t>☹</a:t>
            </a:r>
            <a:endParaRPr lang="en-US" sz="1688" dirty="0"/>
          </a:p>
        </p:txBody>
      </p:sp>
      <p:sp>
        <p:nvSpPr>
          <p:cNvPr id="34" name="Text 32"/>
          <p:cNvSpPr/>
          <p:nvPr/>
        </p:nvSpPr>
        <p:spPr>
          <a:xfrm>
            <a:off x="457200" y="3732386"/>
            <a:ext cx="8229600" cy="665708"/>
          </a:xfrm>
          <a:prstGeom prst="roundRect">
            <a:avLst>
              <a:gd name="adj" fmla="val 14308"/>
            </a:avLst>
          </a:prstGeom>
          <a:solidFill>
            <a:srgbClr val="EEF3F8"/>
          </a:solidFill>
          <a:ln/>
        </p:spPr>
        <p:txBody>
          <a:bodyPr wrap="square" rtlCol="0" anchor="ctr"/>
          <a:lstStyle/>
          <a:p>
            <a:pPr indent="0" marL="0">
              <a:buNone/>
            </a:pPr>
            <a:endParaRPr lang="en-US" dirty="0"/>
          </a:p>
        </p:txBody>
      </p:sp>
      <p:sp>
        <p:nvSpPr>
          <p:cNvPr id="35" name="Shape 33"/>
          <p:cNvSpPr/>
          <p:nvPr/>
        </p:nvSpPr>
        <p:spPr>
          <a:xfrm>
            <a:off x="457200" y="3735958"/>
            <a:ext cx="8229600" cy="0"/>
          </a:xfrm>
          <a:prstGeom prst="line">
            <a:avLst/>
          </a:prstGeom>
          <a:noFill/>
          <a:ln w="7144">
            <a:solidFill>
              <a:srgbClr val="D9E1EC"/>
            </a:solidFill>
            <a:prstDash val="solid"/>
          </a:ln>
        </p:spPr>
      </p:sp>
      <p:sp>
        <p:nvSpPr>
          <p:cNvPr id="36" name="Shape 34"/>
          <p:cNvSpPr/>
          <p:nvPr/>
        </p:nvSpPr>
        <p:spPr>
          <a:xfrm>
            <a:off x="8683228" y="3732386"/>
            <a:ext cx="0" cy="665708"/>
          </a:xfrm>
          <a:prstGeom prst="line">
            <a:avLst/>
          </a:prstGeom>
          <a:noFill/>
          <a:ln w="7144">
            <a:solidFill>
              <a:srgbClr val="D9E1EC"/>
            </a:solidFill>
            <a:prstDash val="solid"/>
          </a:ln>
        </p:spPr>
      </p:sp>
      <p:sp>
        <p:nvSpPr>
          <p:cNvPr id="37" name="Shape 35"/>
          <p:cNvSpPr/>
          <p:nvPr/>
        </p:nvSpPr>
        <p:spPr>
          <a:xfrm>
            <a:off x="457200" y="4394522"/>
            <a:ext cx="8229600" cy="0"/>
          </a:xfrm>
          <a:prstGeom prst="line">
            <a:avLst/>
          </a:prstGeom>
          <a:noFill/>
          <a:ln w="7144">
            <a:solidFill>
              <a:srgbClr val="D9E1EC"/>
            </a:solidFill>
            <a:prstDash val="solid"/>
          </a:ln>
        </p:spPr>
      </p:sp>
      <p:sp>
        <p:nvSpPr>
          <p:cNvPr id="38" name="Shape 36"/>
          <p:cNvSpPr/>
          <p:nvPr/>
        </p:nvSpPr>
        <p:spPr>
          <a:xfrm>
            <a:off x="467916" y="3732386"/>
            <a:ext cx="0" cy="665708"/>
          </a:xfrm>
          <a:prstGeom prst="line">
            <a:avLst/>
          </a:prstGeom>
          <a:noFill/>
          <a:ln w="21431">
            <a:solidFill>
              <a:srgbClr val="14B8A6"/>
            </a:solidFill>
            <a:prstDash val="solid"/>
          </a:ln>
        </p:spPr>
      </p:sp>
      <p:sp>
        <p:nvSpPr>
          <p:cNvPr id="39" name="Text 37"/>
          <p:cNvSpPr/>
          <p:nvPr/>
        </p:nvSpPr>
        <p:spPr>
          <a:xfrm>
            <a:off x="635794" y="3936653"/>
            <a:ext cx="257175" cy="257175"/>
          </a:xfrm>
          <a:prstGeom prst="roundRect">
            <a:avLst>
              <a:gd name="adj" fmla="val 29630"/>
            </a:avLst>
          </a:prstGeom>
          <a:solidFill>
            <a:srgbClr val="14B8A6">
              <a:alpha val="18000"/>
            </a:srgbClr>
          </a:solidFill>
          <a:ln/>
        </p:spPr>
        <p:txBody>
          <a:bodyPr wrap="square" rtlCol="0" anchor="ctr"/>
          <a:lstStyle/>
          <a:p>
            <a:pPr indent="0" marL="0">
              <a:buNone/>
            </a:pPr>
            <a:endParaRPr lang="en-US" dirty="0"/>
          </a:p>
        </p:txBody>
      </p:sp>
      <p:sp>
        <p:nvSpPr>
          <p:cNvPr id="40" name="Text 38"/>
          <p:cNvSpPr/>
          <p:nvPr/>
        </p:nvSpPr>
        <p:spPr>
          <a:xfrm>
            <a:off x="686693" y="3987552"/>
            <a:ext cx="155377" cy="155377"/>
          </a:xfrm>
          <a:prstGeom prst="rect">
            <a:avLst/>
          </a:prstGeom>
          <a:noFill/>
          <a:ln/>
        </p:spPr>
        <p:txBody>
          <a:bodyPr wrap="none" lIns="0" tIns="0" rIns="0" bIns="0" rtlCol="0" anchor="ctr"/>
          <a:lstStyle/>
          <a:p>
            <a:pPr algn="ctr" indent="0" marL="0">
              <a:buNone/>
            </a:pPr>
            <a:r>
              <a:rPr lang="en-US" sz="1055" dirty="0">
                <a:solidFill>
                  <a:srgbClr val="0F766E"/>
                </a:solidFill>
                <a:latin typeface="Segoe UI Symbol" pitchFamily="34" charset="0"/>
                <a:ea typeface="Segoe UI Symbol" pitchFamily="34" charset="-122"/>
                <a:cs typeface="Segoe UI Symbol" pitchFamily="34" charset="-120"/>
              </a:rPr>
              <a:t>◆</a:t>
            </a:r>
            <a:endParaRPr lang="en-US" sz="1055" dirty="0"/>
          </a:p>
        </p:txBody>
      </p:sp>
      <p:sp>
        <p:nvSpPr>
          <p:cNvPr id="41" name="Text 39"/>
          <p:cNvSpPr/>
          <p:nvPr/>
        </p:nvSpPr>
        <p:spPr>
          <a:xfrm>
            <a:off x="1021556" y="3839542"/>
            <a:ext cx="7610665" cy="154734"/>
          </a:xfrm>
          <a:prstGeom prst="rect">
            <a:avLst/>
          </a:prstGeom>
          <a:noFill/>
          <a:ln/>
        </p:spPr>
        <p:txBody>
          <a:bodyPr wrap="square" lIns="0" tIns="0" rIns="0" bIns="0" rtlCol="0" anchor="t">
            <a:normAutofit/>
          </a:bodyPr>
          <a:lstStyle/>
          <a:p>
            <a:pPr algn="l" indent="0" marL="0">
              <a:lnSpc>
                <a:spcPts val="1266"/>
              </a:lnSpc>
              <a:buNone/>
            </a:pPr>
            <a:r>
              <a:rPr lang="en-US" sz="844" b="1" dirty="0">
                <a:solidFill>
                  <a:srgbClr val="0F1F3D"/>
                </a:solidFill>
                <a:latin typeface="Carlito" pitchFamily="34" charset="0"/>
                <a:ea typeface="Carlito" pitchFamily="34" charset="-122"/>
                <a:cs typeface="Carlito" pitchFamily="34" charset="-120"/>
              </a:rPr>
              <a:t>Why this matters for adaptive learning systems</a:t>
            </a:r>
            <a:endParaRPr lang="en-US" sz="844" dirty="0"/>
          </a:p>
        </p:txBody>
      </p:sp>
      <p:sp>
        <p:nvSpPr>
          <p:cNvPr id="42" name="Text 40"/>
          <p:cNvSpPr/>
          <p:nvPr/>
        </p:nvSpPr>
        <p:spPr>
          <a:xfrm>
            <a:off x="1021556" y="4021708"/>
            <a:ext cx="7500938" cy="269230"/>
          </a:xfrm>
          <a:prstGeom prst="rect">
            <a:avLst/>
          </a:prstGeom>
          <a:noFill/>
          <a:ln/>
        </p:spPr>
        <p:txBody>
          <a:bodyPr wrap="square" lIns="0" tIns="0" rIns="0" bIns="0" rtlCol="0" anchor="t"/>
          <a:lstStyle/>
          <a:p>
            <a:pPr algn="l" indent="0" marL="0">
              <a:lnSpc>
                <a:spcPts val="1060"/>
              </a:lnSpc>
              <a:buNone/>
            </a:pPr>
            <a:r>
              <a:rPr lang="en-US" sz="800" dirty="0">
                <a:solidFill>
                  <a:srgbClr val="5B6B82"/>
                </a:solidFill>
                <a:latin typeface="Carlito" pitchFamily="34" charset="0"/>
                <a:ea typeface="Carlito" pitchFamily="34" charset="-122"/>
                <a:cs typeface="Carlito" pitchFamily="34" charset="-120"/>
              </a:rPr>
              <a:t>Real-time or near real-time detection of these four states enables just-in-time pedagogical support — slowing down, offering hints, or adjusting difficulty before the learner disengages completely.</a:t>
            </a:r>
            <a:endParaRPr lang="en-US" sz="800" dirty="0"/>
          </a:p>
        </p:txBody>
      </p:sp>
      <p:sp>
        <p:nvSpPr>
          <p:cNvPr id="43" name="Text 41"/>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a:t>
            </a:r>
            <a:endParaRPr lang="en-US" sz="800" dirty="0"/>
          </a:p>
        </p:txBody>
      </p:sp>
      <p:sp>
        <p:nvSpPr>
          <p:cNvPr id="44" name="Text 42"/>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05 / 34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square" lIns="0" tIns="0" rIns="0" bIns="0" rtlCol="0" anchor="t"/>
          <a:lstStyle/>
          <a:p>
            <a:pPr algn="l" indent="0" marL="0">
              <a:lnSpc>
                <a:spcPts val="928"/>
              </a:lnSpc>
              <a:buNone/>
            </a:pPr>
            <a:r>
              <a:rPr lang="en-US" sz="800" b="1" spc="136" kern="0" dirty="0">
                <a:solidFill>
                  <a:srgbClr val="14B8A6"/>
                </a:solidFill>
                <a:latin typeface="Liberation Sans Narrow" pitchFamily="34" charset="0"/>
                <a:ea typeface="Liberation Sans Narrow" pitchFamily="34" charset="-122"/>
                <a:cs typeface="Liberation Sans Narrow" pitchFamily="34" charset="-120"/>
              </a:rPr>
              <a:t>LITERATURE REVIEW · 2016 – 2024</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255416"/>
          </a:xfrm>
          <a:prstGeom prst="rect">
            <a:avLst/>
          </a:prstGeom>
          <a:noFill/>
          <a:ln/>
        </p:spPr>
        <p:txBody>
          <a:bodyPr wrap="square" lIns="0" tIns="0" rIns="0" bIns="0" rtlCol="0" anchor="t">
            <a:normAutofit/>
          </a:bodyPr>
          <a:lstStyle/>
          <a:p>
            <a:pPr algn="l" indent="0" marL="0">
              <a:lnSpc>
                <a:spcPts val="1890"/>
              </a:lnSpc>
              <a:buNone/>
            </a:pPr>
            <a:r>
              <a:rPr lang="en-US" sz="1688" b="1" spc="-25" kern="0" dirty="0">
                <a:solidFill>
                  <a:srgbClr val="0F1F3D"/>
                </a:solidFill>
                <a:latin typeface="Carlito" pitchFamily="34" charset="0"/>
                <a:ea typeface="Carlito" pitchFamily="34" charset="-122"/>
                <a:cs typeface="Carlito" pitchFamily="34" charset="-120"/>
              </a:rPr>
              <a:t>How Prior Work Has Approached DAiSEE</a:t>
            </a:r>
            <a:endParaRPr lang="en-US" sz="1688" dirty="0"/>
          </a:p>
        </p:txBody>
      </p:sp>
      <p:sp>
        <p:nvSpPr>
          <p:cNvPr id="5" name="Text 3"/>
          <p:cNvSpPr/>
          <p:nvPr/>
        </p:nvSpPr>
        <p:spPr>
          <a:xfrm>
            <a:off x="457200" y="965076"/>
            <a:ext cx="6572250" cy="340106"/>
          </a:xfrm>
          <a:prstGeom prst="rect">
            <a:avLst/>
          </a:prstGeom>
          <a:noFill/>
          <a:ln/>
        </p:spPr>
        <p:txBody>
          <a:bodyPr wrap="square" lIns="0" tIns="0" rIns="0" bIns="0" rtlCol="0" anchor="t"/>
          <a:lstStyle/>
          <a:p>
            <a:pPr algn="l" indent="0" marL="0">
              <a:lnSpc>
                <a:spcPts val="1177"/>
              </a:lnSpc>
              <a:buNone/>
            </a:pPr>
            <a:r>
              <a:rPr lang="en-US" sz="800" dirty="0">
                <a:solidFill>
                  <a:srgbClr val="5B6B82"/>
                </a:solidFill>
                <a:latin typeface="Carlito" pitchFamily="34" charset="0"/>
                <a:ea typeface="Carlito" pitchFamily="34" charset="-122"/>
                <a:cs typeface="Carlito" pitchFamily="34" charset="-120"/>
              </a:rPr>
              <a:t>A decade of deep-learning approaches — most cluster between 63% and 68% accuracy on the 4-class task. We ask the inverse question.</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64010"/>
          <a:ext cx="5230676" cy="914400"/>
        </p:xfrm>
        <a:graphic>
          <a:graphicData uri="http://schemas.openxmlformats.org/drawingml/2006/table">
            <a:tbl>
              <a:tblPr/>
              <a:tblGrid>
                <a:gridCol w="417798"/>
                <a:gridCol w="1128266"/>
                <a:gridCol w="2143683"/>
                <a:gridCol w="1540929"/>
              </a:tblGrid>
              <a:tr h="0">
                <a:tc>
                  <a:txBody>
                    <a:bodyPr/>
                    <a:lstStyle/>
                    <a:p>
                      <a:pPr algn="l" indent="0" marL="0">
                        <a:buNone/>
                      </a:pPr>
                      <a:r>
                        <a:rPr lang="en-US" sz="800" b="1" dirty="0">
                          <a:solidFill>
                            <a:srgbClr val="5B6B82"/>
                          </a:solidFill>
                          <a:latin typeface="Carlito" pitchFamily="34" charset="0"/>
                          <a:ea typeface="Carlito" pitchFamily="34" charset="-122"/>
                          <a:cs typeface="Carlito" pitchFamily="34" charset="-120"/>
                        </a:rPr>
                        <a:t>Year</a:t>
                      </a:r>
                      <a:endParaRPr lang="en-US" sz="800" dirty="0">
                        <a:latin typeface="Carlito" charset="0"/>
                        <a:ea typeface="Carlito" charset="0"/>
                        <a:cs typeface="Carlito"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b="1" dirty="0">
                          <a:solidFill>
                            <a:srgbClr val="5B6B82"/>
                          </a:solidFill>
                          <a:latin typeface="Carlito" pitchFamily="34" charset="0"/>
                          <a:ea typeface="Carlito" pitchFamily="34" charset="-122"/>
                          <a:cs typeface="Carlito" pitchFamily="34" charset="-120"/>
                        </a:rPr>
                        <a:t>Authors</a:t>
                      </a:r>
                      <a:endParaRPr lang="en-US" sz="800" dirty="0">
                        <a:latin typeface="Carlito" charset="0"/>
                        <a:ea typeface="Carlito" charset="0"/>
                        <a:cs typeface="Carlito"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b="1" dirty="0">
                          <a:solidFill>
                            <a:srgbClr val="5B6B82"/>
                          </a:solidFill>
                          <a:latin typeface="Carlito" pitchFamily="34" charset="0"/>
                          <a:ea typeface="Carlito" pitchFamily="34" charset="-122"/>
                          <a:cs typeface="Carlito" pitchFamily="34" charset="-120"/>
                        </a:rPr>
                        <a:t>Method</a:t>
                      </a:r>
                      <a:endParaRPr lang="en-US" sz="800" dirty="0">
                        <a:latin typeface="Carlito" charset="0"/>
                        <a:ea typeface="Carlito" charset="0"/>
                        <a:cs typeface="Carlito"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b="1" dirty="0">
                          <a:solidFill>
                            <a:srgbClr val="5B6B82"/>
                          </a:solidFill>
                          <a:latin typeface="Carlito" pitchFamily="34" charset="0"/>
                          <a:ea typeface="Carlito" pitchFamily="34" charset="-122"/>
                          <a:cs typeface="Carlito" pitchFamily="34" charset="-120"/>
                        </a:rPr>
                        <a:t>Reported Metric</a:t>
                      </a:r>
                      <a:endParaRPr lang="en-US" sz="800" dirty="0">
                        <a:latin typeface="Carlito" charset="0"/>
                        <a:ea typeface="Carlito" charset="0"/>
                        <a:cs typeface="Carlito"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2024</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Singh et al.</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Multimodal fusion (facial + physiological cues)</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766E"/>
                          </a:solidFill>
                          <a:latin typeface="Courier New" pitchFamily="34" charset="0"/>
                          <a:ea typeface="Courier New" pitchFamily="34" charset="-122"/>
                          <a:cs typeface="Courier New" pitchFamily="34" charset="-120"/>
                        </a:rPr>
                        <a:t>63.09% (4-class)</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2024</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Tu et al.</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ResNet-50 + TCN + ECA attention (CutMix)</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766E"/>
                          </a:solidFill>
                          <a:latin typeface="Courier New" pitchFamily="34" charset="0"/>
                          <a:ea typeface="Courier New" pitchFamily="34" charset="-122"/>
                          <a:cs typeface="Courier New" pitchFamily="34" charset="-120"/>
                        </a:rPr>
                        <a:t>63.28% (4-class)</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2024</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Hasnine et al.</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Feature selection + KNN on CNN features</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766E"/>
                          </a:solidFill>
                          <a:latin typeface="Courier New" pitchFamily="34" charset="0"/>
                          <a:ea typeface="Courier New" pitchFamily="34" charset="-122"/>
                          <a:cs typeface="Courier New" pitchFamily="34" charset="-120"/>
                        </a:rPr>
                        <a:t>68.57% (binary)</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2023</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Santoni et al.</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CNN (OpenFace) + PCA/SVD + SMOTE</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b="1" dirty="0">
                          <a:solidFill>
                            <a:srgbClr val="0F766E"/>
                          </a:solidFill>
                          <a:latin typeface="Courier New" pitchFamily="34" charset="0"/>
                          <a:ea typeface="Courier New" pitchFamily="34" charset="-122"/>
                          <a:cs typeface="Courier New" pitchFamily="34" charset="-120"/>
                        </a:rPr>
                        <a:t>77.97% (SVD+CNN)</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2022</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Abdou et al.</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EfficientNetB7 + TCN/LSTM/BiLSTM</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766E"/>
                          </a:solidFill>
                          <a:latin typeface="Courier New" pitchFamily="34" charset="0"/>
                          <a:ea typeface="Courier New" pitchFamily="34" charset="-122"/>
                          <a:cs typeface="Courier New" pitchFamily="34" charset="-120"/>
                        </a:rPr>
                        <a:t>64.67% / 67.48% / 66.39%</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2022</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Mehta et al.</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3D DenseNet with self-attention</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766E"/>
                          </a:solidFill>
                          <a:latin typeface="Courier New" pitchFamily="34" charset="0"/>
                          <a:ea typeface="Courier New" pitchFamily="34" charset="-122"/>
                          <a:cs typeface="Courier New" pitchFamily="34" charset="-120"/>
                        </a:rPr>
                        <a:t>63.59% (4-class)</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2022</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Huang et al.</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Optimized ShuffleNet v2 (lightweight CNN + SE)</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766E"/>
                          </a:solidFill>
                          <a:latin typeface="Courier New" pitchFamily="34" charset="0"/>
                          <a:ea typeface="Courier New" pitchFamily="34" charset="-122"/>
                          <a:cs typeface="Courier New" pitchFamily="34" charset="-120"/>
                        </a:rPr>
                        <a:t>63.9% / F1 0.735</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2021</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Abedi &amp; Khan</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ResNet-50 + Temporal ConvNet</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766E"/>
                          </a:solidFill>
                          <a:latin typeface="Courier New" pitchFamily="34" charset="0"/>
                          <a:ea typeface="Courier New" pitchFamily="34" charset="-122"/>
                          <a:cs typeface="Courier New" pitchFamily="34" charset="-120"/>
                        </a:rPr>
                        <a:t>63.9% (4-class, 5-fold CV)</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2016</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Gupta et al.</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Baseline CNNs (InceptionV3, C3D, LRCN)</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766E"/>
                          </a:solidFill>
                          <a:latin typeface="Courier New" pitchFamily="34" charset="0"/>
                          <a:ea typeface="Courier New" pitchFamily="34" charset="-122"/>
                          <a:cs typeface="Courier New" pitchFamily="34" charset="-120"/>
                        </a:rPr>
                        <a:t>~46–59% per-class</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7" name="Text 4"/>
          <p:cNvSpPr/>
          <p:nvPr/>
        </p:nvSpPr>
        <p:spPr>
          <a:xfrm>
            <a:off x="457200" y="4130427"/>
            <a:ext cx="5230676" cy="332184"/>
          </a:xfrm>
          <a:prstGeom prst="roundRect">
            <a:avLst>
              <a:gd name="adj" fmla="val 17204"/>
            </a:avLst>
          </a:prstGeom>
          <a:solidFill>
            <a:srgbClr val="F6F8FB"/>
          </a:solidFill>
          <a:ln/>
        </p:spPr>
        <p:txBody>
          <a:bodyPr wrap="square" rtlCol="0" anchor="ctr"/>
          <a:lstStyle/>
          <a:p>
            <a:pPr indent="0" marL="0">
              <a:buNone/>
            </a:pPr>
            <a:endParaRPr lang="en-US" dirty="0"/>
          </a:p>
        </p:txBody>
      </p:sp>
      <p:sp>
        <p:nvSpPr>
          <p:cNvPr id="8" name="Text 5"/>
          <p:cNvSpPr/>
          <p:nvPr/>
        </p:nvSpPr>
        <p:spPr>
          <a:xfrm>
            <a:off x="542925" y="4190256"/>
            <a:ext cx="4619104" cy="164592"/>
          </a:xfrm>
          <a:prstGeom prst="rect">
            <a:avLst/>
          </a:prstGeom>
          <a:noFill/>
          <a:ln/>
        </p:spPr>
        <p:txBody>
          <a:bodyPr wrap="none" lIns="0" tIns="0" rIns="0" bIns="0" rtlCol="0" anchor="t"/>
          <a:lstStyle/>
          <a:p>
            <a:pPr algn="l" indent="0" marL="0">
              <a:lnSpc>
                <a:spcPts val="886"/>
              </a:lnSpc>
              <a:buNone/>
            </a:pPr>
            <a:r>
              <a:rPr lang="en-US" sz="800" b="1" spc="83" kern="0" dirty="0">
                <a:solidFill>
                  <a:srgbClr val="5B6B82"/>
                </a:solidFill>
                <a:latin typeface="Liberation Sans Narrow" pitchFamily="34" charset="0"/>
                <a:ea typeface="Liberation Sans Narrow" pitchFamily="34" charset="-122"/>
                <a:cs typeface="Liberation Sans Narrow" pitchFamily="34" charset="-120"/>
              </a:rPr>
              <a:t>4-CLASS ACCURACY CLUSTER</a:t>
            </a:r>
            <a:endParaRPr lang="en-US" sz="800" dirty="0"/>
          </a:p>
        </p:txBody>
      </p:sp>
      <p:sp>
        <p:nvSpPr>
          <p:cNvPr id="9" name="Text 6"/>
          <p:cNvSpPr/>
          <p:nvPr/>
        </p:nvSpPr>
        <p:spPr>
          <a:xfrm>
            <a:off x="5171949" y="4187577"/>
            <a:ext cx="434570" cy="164592"/>
          </a:xfrm>
          <a:prstGeom prst="rect">
            <a:avLst/>
          </a:prstGeom>
          <a:noFill/>
          <a:ln/>
        </p:spPr>
        <p:txBody>
          <a:bodyPr wrap="none" lIns="0" tIns="0" rIns="0" bIns="0" rtlCol="0" anchor="t"/>
          <a:lstStyle/>
          <a:p>
            <a:pPr algn="l" indent="0" marL="0">
              <a:lnSpc>
                <a:spcPts val="928"/>
              </a:lnSpc>
              <a:buNone/>
            </a:pPr>
            <a:r>
              <a:rPr lang="en-US" sz="619" dirty="0">
                <a:solidFill>
                  <a:srgbClr val="0F766E"/>
                </a:solidFill>
                <a:latin typeface="Liberation Sans Narrow" pitchFamily="34" charset="0"/>
                <a:ea typeface="Liberation Sans Narrow" pitchFamily="34" charset="-122"/>
                <a:cs typeface="Liberation Sans Narrow" pitchFamily="34" charset="-120"/>
              </a:rPr>
              <a:t>63% — 68%</a:t>
            </a:r>
            <a:endParaRPr lang="en-US" sz="619" dirty="0"/>
          </a:p>
        </p:txBody>
      </p:sp>
      <p:sp>
        <p:nvSpPr>
          <p:cNvPr id="10" name="Text 7"/>
          <p:cNvSpPr/>
          <p:nvPr/>
        </p:nvSpPr>
        <p:spPr>
          <a:xfrm>
            <a:off x="542925" y="4348311"/>
            <a:ext cx="5059226" cy="57150"/>
          </a:xfrm>
          <a:prstGeom prst="roundRect">
            <a:avLst>
              <a:gd name="adj" fmla="val 66667"/>
            </a:avLst>
          </a:prstGeom>
          <a:solidFill>
            <a:srgbClr val="EEF3F8"/>
          </a:solidFill>
          <a:ln/>
        </p:spPr>
        <p:txBody>
          <a:bodyPr wrap="square" rtlCol="0" anchor="ctr"/>
          <a:lstStyle/>
          <a:p>
            <a:pPr indent="0" marL="0">
              <a:buNone/>
            </a:pPr>
            <a:endParaRPr lang="en-US" dirty="0"/>
          </a:p>
        </p:txBody>
      </p:sp>
      <p:sp>
        <p:nvSpPr>
          <p:cNvPr id="11" name="Text 8"/>
          <p:cNvSpPr/>
          <p:nvPr/>
        </p:nvSpPr>
        <p:spPr>
          <a:xfrm>
            <a:off x="546162" y="4348311"/>
            <a:ext cx="4143375" cy="57150"/>
          </a:xfrm>
          <a:prstGeom prst="roundRect">
            <a:avLst>
              <a:gd name="adj" fmla="val 66667"/>
            </a:avLst>
          </a:prstGeom>
          <a:solidFill>
            <a:srgbClr val="14B8A6"/>
          </a:solidFill>
          <a:ln/>
        </p:spPr>
        <p:txBody>
          <a:bodyPr wrap="square" rtlCol="0" anchor="ctr"/>
          <a:lstStyle/>
          <a:p>
            <a:pPr indent="0" marL="0">
              <a:buNone/>
            </a:pPr>
            <a:endParaRPr lang="en-US" dirty="0"/>
          </a:p>
        </p:txBody>
      </p:sp>
      <p:sp>
        <p:nvSpPr>
          <p:cNvPr id="12" name="Text 9"/>
          <p:cNvSpPr/>
          <p:nvPr/>
        </p:nvSpPr>
        <p:spPr>
          <a:xfrm>
            <a:off x="4792675" y="4326880"/>
            <a:ext cx="14288" cy="100013"/>
          </a:xfrm>
          <a:prstGeom prst="rect">
            <a:avLst/>
          </a:prstGeom>
          <a:solidFill>
            <a:srgbClr val="C77B2C"/>
          </a:solidFill>
          <a:ln/>
        </p:spPr>
        <p:txBody>
          <a:bodyPr wrap="square" rtlCol="0" anchor="ctr"/>
          <a:lstStyle/>
          <a:p>
            <a:pPr indent="0" marL="0">
              <a:buNone/>
            </a:pPr>
            <a:endParaRPr lang="en-US" dirty="0"/>
          </a:p>
        </p:txBody>
      </p:sp>
      <p:sp>
        <p:nvSpPr>
          <p:cNvPr id="13" name="Text 10"/>
          <p:cNvSpPr/>
          <p:nvPr/>
        </p:nvSpPr>
        <p:spPr>
          <a:xfrm>
            <a:off x="4792675" y="4455468"/>
            <a:ext cx="91440" cy="91440"/>
          </a:xfrm>
          <a:prstGeom prst="rect">
            <a:avLst/>
          </a:prstGeom>
          <a:noFill/>
          <a:ln/>
        </p:spPr>
        <p:txBody>
          <a:bodyPr wrap="none" lIns="0" tIns="0" rIns="0" bIns="0" rtlCol="0" anchor="t"/>
          <a:lstStyle/>
          <a:p>
            <a:pPr algn="l" indent="0" marL="0">
              <a:lnSpc>
                <a:spcPts val="802"/>
              </a:lnSpc>
              <a:buNone/>
            </a:pPr>
            <a:r>
              <a:rPr lang="en-US" sz="600" dirty="0">
                <a:solidFill>
                  <a:srgbClr val="C77B2C"/>
                </a:solidFill>
                <a:latin typeface="Liberation Sans Narrow" pitchFamily="34" charset="0"/>
                <a:ea typeface="Liberation Sans Narrow" pitchFamily="34" charset="-122"/>
                <a:cs typeface="Liberation Sans Narrow" pitchFamily="34" charset="-120"/>
              </a:rPr>
              <a:t>Santoni 77.97%</a:t>
            </a:r>
            <a:endParaRPr lang="en-US" sz="600" dirty="0"/>
          </a:p>
        </p:txBody>
      </p:sp>
      <p:sp>
        <p:nvSpPr>
          <p:cNvPr id="14" name="Text 11"/>
          <p:cNvSpPr/>
          <p:nvPr/>
        </p:nvSpPr>
        <p:spPr>
          <a:xfrm>
            <a:off x="5859326" y="1364010"/>
            <a:ext cx="2827474" cy="2722662"/>
          </a:xfrm>
          <a:prstGeom prst="roundRect">
            <a:avLst>
              <a:gd name="adj" fmla="val 2099"/>
            </a:avLst>
          </a:prstGeom>
          <a:solidFill>
            <a:srgbClr val="FFFFFF"/>
          </a:solidFill>
          <a:ln/>
        </p:spPr>
        <p:txBody>
          <a:bodyPr wrap="square" rtlCol="0" anchor="ctr"/>
          <a:lstStyle/>
          <a:p>
            <a:pPr indent="0" marL="0">
              <a:buNone/>
            </a:pPr>
            <a:endParaRPr lang="en-US" dirty="0"/>
          </a:p>
        </p:txBody>
      </p:sp>
      <p:sp>
        <p:nvSpPr>
          <p:cNvPr id="15" name="Shape 12"/>
          <p:cNvSpPr/>
          <p:nvPr/>
        </p:nvSpPr>
        <p:spPr>
          <a:xfrm>
            <a:off x="5859326" y="1367582"/>
            <a:ext cx="2827474" cy="0"/>
          </a:xfrm>
          <a:prstGeom prst="line">
            <a:avLst/>
          </a:prstGeom>
          <a:noFill/>
          <a:ln w="7144">
            <a:solidFill>
              <a:srgbClr val="D9E1EC"/>
            </a:solidFill>
            <a:prstDash val="solid"/>
          </a:ln>
        </p:spPr>
      </p:sp>
      <p:sp>
        <p:nvSpPr>
          <p:cNvPr id="16" name="Shape 13"/>
          <p:cNvSpPr/>
          <p:nvPr/>
        </p:nvSpPr>
        <p:spPr>
          <a:xfrm>
            <a:off x="8683228" y="1364010"/>
            <a:ext cx="0" cy="2722662"/>
          </a:xfrm>
          <a:prstGeom prst="line">
            <a:avLst/>
          </a:prstGeom>
          <a:noFill/>
          <a:ln w="7144">
            <a:solidFill>
              <a:srgbClr val="D9E1EC"/>
            </a:solidFill>
            <a:prstDash val="solid"/>
          </a:ln>
        </p:spPr>
      </p:sp>
      <p:sp>
        <p:nvSpPr>
          <p:cNvPr id="17" name="Shape 14"/>
          <p:cNvSpPr/>
          <p:nvPr/>
        </p:nvSpPr>
        <p:spPr>
          <a:xfrm>
            <a:off x="5859326" y="4083100"/>
            <a:ext cx="2827474" cy="0"/>
          </a:xfrm>
          <a:prstGeom prst="line">
            <a:avLst/>
          </a:prstGeom>
          <a:noFill/>
          <a:ln w="7144">
            <a:solidFill>
              <a:srgbClr val="D9E1EC"/>
            </a:solidFill>
            <a:prstDash val="solid"/>
          </a:ln>
        </p:spPr>
      </p:sp>
      <p:sp>
        <p:nvSpPr>
          <p:cNvPr id="18" name="Shape 15"/>
          <p:cNvSpPr/>
          <p:nvPr/>
        </p:nvSpPr>
        <p:spPr>
          <a:xfrm>
            <a:off x="5870042" y="1364010"/>
            <a:ext cx="0" cy="2722662"/>
          </a:xfrm>
          <a:prstGeom prst="line">
            <a:avLst/>
          </a:prstGeom>
          <a:noFill/>
          <a:ln w="21431">
            <a:solidFill>
              <a:srgbClr val="14B8A6"/>
            </a:solidFill>
            <a:prstDash val="solid"/>
          </a:ln>
        </p:spPr>
      </p:sp>
      <p:sp>
        <p:nvSpPr>
          <p:cNvPr id="19" name="Text 16"/>
          <p:cNvSpPr/>
          <p:nvPr/>
        </p:nvSpPr>
        <p:spPr>
          <a:xfrm>
            <a:off x="6023632" y="1499741"/>
            <a:ext cx="2513149" cy="122587"/>
          </a:xfrm>
          <a:prstGeom prst="rect">
            <a:avLst/>
          </a:prstGeom>
          <a:noFill/>
          <a:ln/>
        </p:spPr>
        <p:txBody>
          <a:bodyPr wrap="none" lIns="0" tIns="0" rIns="0" bIns="0" rtlCol="0" anchor="t">
            <a:normAutofit/>
          </a:bodyPr>
          <a:lstStyle/>
          <a:p>
            <a:pPr algn="l" indent="0" marL="0">
              <a:lnSpc>
                <a:spcPts val="844"/>
              </a:lnSpc>
              <a:buNone/>
            </a:pPr>
            <a:r>
              <a:rPr lang="en-US" sz="800" b="1" spc="124" kern="0" dirty="0">
                <a:solidFill>
                  <a:srgbClr val="0F766E"/>
                </a:solidFill>
                <a:latin typeface="Carlito" pitchFamily="34" charset="0"/>
                <a:ea typeface="Carlito" pitchFamily="34" charset="-122"/>
                <a:cs typeface="Carlito" pitchFamily="34" charset="-120"/>
              </a:rPr>
              <a:t>THE GAP</a:t>
            </a:r>
            <a:endParaRPr lang="en-US" sz="800" dirty="0"/>
          </a:p>
        </p:txBody>
      </p:sp>
      <p:sp>
        <p:nvSpPr>
          <p:cNvPr id="20" name="Text 17"/>
          <p:cNvSpPr/>
          <p:nvPr/>
        </p:nvSpPr>
        <p:spPr>
          <a:xfrm>
            <a:off x="6023632" y="1649760"/>
            <a:ext cx="2513149" cy="144661"/>
          </a:xfrm>
          <a:prstGeom prst="rect">
            <a:avLst/>
          </a:prstGeom>
          <a:noFill/>
          <a:ln/>
        </p:spPr>
        <p:txBody>
          <a:bodyPr wrap="none" lIns="0" tIns="0" rIns="0" bIns="0" rtlCol="0" anchor="t"/>
          <a:lstStyle/>
          <a:p>
            <a:pPr algn="l" indent="0" marL="0">
              <a:lnSpc>
                <a:spcPts val="1055"/>
              </a:lnSpc>
              <a:buNone/>
            </a:pPr>
            <a:r>
              <a:rPr lang="en-US" sz="844" b="1" dirty="0">
                <a:solidFill>
                  <a:srgbClr val="0F1F3D"/>
                </a:solidFill>
                <a:latin typeface="Carlito" pitchFamily="34" charset="0"/>
                <a:ea typeface="Carlito" pitchFamily="34" charset="-122"/>
                <a:cs typeface="Carlito" pitchFamily="34" charset="-120"/>
              </a:rPr>
              <a:t>The gap our work targets</a:t>
            </a:r>
            <a:endParaRPr lang="en-US" sz="844" dirty="0"/>
          </a:p>
        </p:txBody>
      </p:sp>
      <p:sp>
        <p:nvSpPr>
          <p:cNvPr id="21" name="Text 18"/>
          <p:cNvSpPr/>
          <p:nvPr/>
        </p:nvSpPr>
        <p:spPr>
          <a:xfrm>
            <a:off x="6023632" y="1883718"/>
            <a:ext cx="2513149" cy="834841"/>
          </a:xfrm>
          <a:prstGeom prst="rect">
            <a:avLst/>
          </a:prstGeom>
          <a:noFill/>
          <a:ln/>
        </p:spPr>
        <p:txBody>
          <a:bodyPr wrap="square" lIns="0" tIns="0" rIns="0" bIns="0" rtlCol="0" anchor="t">
            <a:normAutofit/>
          </a:bodyPr>
          <a:lstStyle/>
          <a:p>
            <a:pPr algn="l" indent="0" marL="0">
              <a:lnSpc>
                <a:spcPts val="1133"/>
              </a:lnSpc>
              <a:buNone/>
            </a:pPr>
            <a:r>
              <a:rPr lang="en-US" sz="800" dirty="0">
                <a:solidFill>
                  <a:srgbClr val="5B6B82"/>
                </a:solidFill>
                <a:latin typeface="Carlito" pitchFamily="34" charset="0"/>
                <a:ea typeface="Carlito" pitchFamily="34" charset="-122"/>
                <a:cs typeface="Carlito" pitchFamily="34" charset="-120"/>
              </a:rPr>
              <a:t>Almost every entry above requires a deep network trained end-to-end on video frames. We ask the inverse question: how far can a lightweight gradient-boosted tree take us, given the right hand-crafted features?</a:t>
            </a:r>
            <a:endParaRPr lang="en-US" sz="800" dirty="0"/>
          </a:p>
        </p:txBody>
      </p:sp>
      <p:sp>
        <p:nvSpPr>
          <p:cNvPr id="22" name="Text 19"/>
          <p:cNvSpPr/>
          <p:nvPr/>
        </p:nvSpPr>
        <p:spPr>
          <a:xfrm>
            <a:off x="6023632" y="2745991"/>
            <a:ext cx="1206512" cy="450056"/>
          </a:xfrm>
          <a:prstGeom prst="roundRect">
            <a:avLst>
              <a:gd name="adj" fmla="val 12698"/>
            </a:avLst>
          </a:prstGeom>
          <a:solidFill>
            <a:srgbClr val="F6F8FB"/>
          </a:solidFill>
          <a:ln/>
        </p:spPr>
        <p:txBody>
          <a:bodyPr wrap="square" rtlCol="0" anchor="ctr"/>
          <a:lstStyle/>
          <a:p>
            <a:pPr indent="0" marL="0">
              <a:buNone/>
            </a:pPr>
            <a:endParaRPr lang="en-US" dirty="0"/>
          </a:p>
        </p:txBody>
      </p:sp>
      <p:sp>
        <p:nvSpPr>
          <p:cNvPr id="23" name="Text 20"/>
          <p:cNvSpPr/>
          <p:nvPr/>
        </p:nvSpPr>
        <p:spPr>
          <a:xfrm>
            <a:off x="6109357" y="2817428"/>
            <a:ext cx="1035062" cy="169736"/>
          </a:xfrm>
          <a:prstGeom prst="rect">
            <a:avLst/>
          </a:prstGeom>
          <a:noFill/>
          <a:ln/>
        </p:spPr>
        <p:txBody>
          <a:bodyPr wrap="none" lIns="0" tIns="0" rIns="0" bIns="0" rtlCol="0" anchor="t"/>
          <a:lstStyle/>
          <a:p>
            <a:pPr algn="l" indent="0" marL="0">
              <a:lnSpc>
                <a:spcPts val="1238"/>
              </a:lnSpc>
              <a:buNone/>
            </a:pPr>
            <a:r>
              <a:rPr lang="en-US" sz="1238" b="1" dirty="0">
                <a:solidFill>
                  <a:srgbClr val="0F1F3D"/>
                </a:solidFill>
                <a:latin typeface="Liberation Sans Narrow" pitchFamily="34" charset="0"/>
                <a:ea typeface="Liberation Sans Narrow" pitchFamily="34" charset="-122"/>
                <a:cs typeface="Liberation Sans Narrow" pitchFamily="34" charset="-120"/>
              </a:rPr>
              <a:t>9</a:t>
            </a:r>
            <a:endParaRPr lang="en-US" sz="1238" dirty="0"/>
          </a:p>
        </p:txBody>
      </p:sp>
      <p:sp>
        <p:nvSpPr>
          <p:cNvPr id="24" name="Text 21"/>
          <p:cNvSpPr/>
          <p:nvPr/>
        </p:nvSpPr>
        <p:spPr>
          <a:xfrm>
            <a:off x="6109357" y="3017453"/>
            <a:ext cx="1035062" cy="107156"/>
          </a:xfrm>
          <a:prstGeom prst="rect">
            <a:avLst/>
          </a:prstGeom>
          <a:noFill/>
          <a:ln/>
        </p:spPr>
        <p:txBody>
          <a:bodyPr wrap="none" lIns="0" tIns="0" rIns="0" bIns="0" rtlCol="0" anchor="t"/>
          <a:lstStyle/>
          <a:p>
            <a:pPr algn="l" indent="0" marL="0">
              <a:lnSpc>
                <a:spcPts val="844"/>
              </a:lnSpc>
              <a:buNone/>
            </a:pPr>
            <a:r>
              <a:rPr lang="en-US" sz="600" spc="68" kern="0" dirty="0">
                <a:solidFill>
                  <a:srgbClr val="5B6B82"/>
                </a:solidFill>
                <a:latin typeface="Carlito" pitchFamily="34" charset="0"/>
                <a:ea typeface="Carlito" pitchFamily="34" charset="-122"/>
                <a:cs typeface="Carlito" pitchFamily="34" charset="-120"/>
              </a:rPr>
              <a:t>STUDIES REVIEWED</a:t>
            </a:r>
            <a:endParaRPr lang="en-US" sz="600" dirty="0"/>
          </a:p>
        </p:txBody>
      </p:sp>
      <p:sp>
        <p:nvSpPr>
          <p:cNvPr id="25" name="Text 22"/>
          <p:cNvSpPr/>
          <p:nvPr/>
        </p:nvSpPr>
        <p:spPr>
          <a:xfrm>
            <a:off x="7330157" y="2745991"/>
            <a:ext cx="1206624" cy="450056"/>
          </a:xfrm>
          <a:prstGeom prst="roundRect">
            <a:avLst>
              <a:gd name="adj" fmla="val 12698"/>
            </a:avLst>
          </a:prstGeom>
          <a:solidFill>
            <a:srgbClr val="F6F8FB"/>
          </a:solidFill>
          <a:ln/>
        </p:spPr>
        <p:txBody>
          <a:bodyPr wrap="square" rtlCol="0" anchor="ctr"/>
          <a:lstStyle/>
          <a:p>
            <a:pPr indent="0" marL="0">
              <a:buNone/>
            </a:pPr>
            <a:endParaRPr lang="en-US" dirty="0"/>
          </a:p>
        </p:txBody>
      </p:sp>
      <p:sp>
        <p:nvSpPr>
          <p:cNvPr id="26" name="Text 23"/>
          <p:cNvSpPr/>
          <p:nvPr/>
        </p:nvSpPr>
        <p:spPr>
          <a:xfrm>
            <a:off x="7415882" y="2817428"/>
            <a:ext cx="1035174" cy="169736"/>
          </a:xfrm>
          <a:prstGeom prst="rect">
            <a:avLst/>
          </a:prstGeom>
          <a:noFill/>
          <a:ln/>
        </p:spPr>
        <p:txBody>
          <a:bodyPr wrap="none" lIns="0" tIns="0" rIns="0" bIns="0" rtlCol="0" anchor="t"/>
          <a:lstStyle/>
          <a:p>
            <a:pPr algn="l" indent="0" marL="0">
              <a:lnSpc>
                <a:spcPts val="1238"/>
              </a:lnSpc>
              <a:buNone/>
            </a:pPr>
            <a:r>
              <a:rPr lang="en-US" sz="1238" b="1" dirty="0">
                <a:solidFill>
                  <a:srgbClr val="0F1F3D"/>
                </a:solidFill>
                <a:latin typeface="Liberation Sans Narrow" pitchFamily="34" charset="0"/>
                <a:ea typeface="Liberation Sans Narrow" pitchFamily="34" charset="-122"/>
                <a:cs typeface="Liberation Sans Narrow" pitchFamily="34" charset="-120"/>
              </a:rPr>
              <a:t>2016–24</a:t>
            </a:r>
            <a:endParaRPr lang="en-US" sz="1238" dirty="0"/>
          </a:p>
        </p:txBody>
      </p:sp>
      <p:sp>
        <p:nvSpPr>
          <p:cNvPr id="27" name="Text 24"/>
          <p:cNvSpPr/>
          <p:nvPr/>
        </p:nvSpPr>
        <p:spPr>
          <a:xfrm>
            <a:off x="7415882" y="3017453"/>
            <a:ext cx="1035174"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5B6B82"/>
                </a:solidFill>
                <a:latin typeface="Carlito" pitchFamily="34" charset="0"/>
                <a:ea typeface="Carlito" pitchFamily="34" charset="-122"/>
                <a:cs typeface="Carlito" pitchFamily="34" charset="-120"/>
              </a:rPr>
              <a:t>COVERAGE WINDOW</a:t>
            </a:r>
            <a:endParaRPr lang="en-US" sz="800" dirty="0"/>
          </a:p>
        </p:txBody>
      </p:sp>
      <p:sp>
        <p:nvSpPr>
          <p:cNvPr id="28" name="Text 25"/>
          <p:cNvSpPr/>
          <p:nvPr/>
        </p:nvSpPr>
        <p:spPr>
          <a:xfrm>
            <a:off x="6023632" y="3296059"/>
            <a:ext cx="2513149" cy="654881"/>
          </a:xfrm>
          <a:prstGeom prst="roundRect">
            <a:avLst>
              <a:gd name="adj" fmla="val 8727"/>
            </a:avLst>
          </a:prstGeom>
          <a:solidFill>
            <a:srgbClr val="EEF3F8"/>
          </a:solidFill>
          <a:ln/>
        </p:spPr>
        <p:txBody>
          <a:bodyPr wrap="square" rtlCol="0" anchor="ctr"/>
          <a:lstStyle/>
          <a:p>
            <a:pPr indent="0" marL="0">
              <a:buNone/>
            </a:pPr>
            <a:endParaRPr lang="en-US" dirty="0"/>
          </a:p>
        </p:txBody>
      </p:sp>
      <p:sp>
        <p:nvSpPr>
          <p:cNvPr id="29" name="Text 26"/>
          <p:cNvSpPr/>
          <p:nvPr/>
        </p:nvSpPr>
        <p:spPr>
          <a:xfrm>
            <a:off x="6109357" y="3367497"/>
            <a:ext cx="2341699" cy="111871"/>
          </a:xfrm>
          <a:prstGeom prst="rect">
            <a:avLst/>
          </a:prstGeom>
          <a:noFill/>
          <a:ln/>
        </p:spPr>
        <p:txBody>
          <a:bodyPr wrap="none" lIns="0" tIns="0" rIns="0" bIns="0" rtlCol="0" anchor="t">
            <a:normAutofit/>
          </a:bodyPr>
          <a:lstStyle/>
          <a:p>
            <a:pPr algn="l" indent="0" marL="0">
              <a:lnSpc>
                <a:spcPts val="928"/>
              </a:lnSpc>
              <a:buNone/>
            </a:pPr>
            <a:r>
              <a:rPr lang="en-US" sz="800" b="1" spc="37" kern="0" dirty="0">
                <a:solidFill>
                  <a:srgbClr val="0F1F3D"/>
                </a:solidFill>
                <a:latin typeface="Carlito" pitchFamily="34" charset="0"/>
                <a:ea typeface="Carlito" pitchFamily="34" charset="-122"/>
                <a:cs typeface="Carlito" pitchFamily="34" charset="-120"/>
              </a:rPr>
              <a:t>Closest in spirit</a:t>
            </a:r>
            <a:endParaRPr lang="en-US" sz="800" dirty="0"/>
          </a:p>
        </p:txBody>
      </p:sp>
      <p:sp>
        <p:nvSpPr>
          <p:cNvPr id="30" name="Text 27"/>
          <p:cNvSpPr/>
          <p:nvPr/>
        </p:nvSpPr>
        <p:spPr>
          <a:xfrm>
            <a:off x="6109357" y="3506800"/>
            <a:ext cx="2341699" cy="372703"/>
          </a:xfrm>
          <a:prstGeom prst="rect">
            <a:avLst/>
          </a:prstGeom>
          <a:noFill/>
          <a:ln/>
        </p:spPr>
        <p:txBody>
          <a:bodyPr wrap="square" lIns="0" tIns="0" rIns="0" bIns="0" rtlCol="0" anchor="t"/>
          <a:lstStyle/>
          <a:p>
            <a:pPr algn="l" indent="0" marL="0">
              <a:lnSpc>
                <a:spcPts val="979"/>
              </a:lnSpc>
              <a:buNone/>
            </a:pPr>
            <a:r>
              <a:rPr lang="en-US" sz="800" dirty="0">
                <a:solidFill>
                  <a:srgbClr val="5B6B82"/>
                </a:solidFill>
                <a:latin typeface="Carlito" pitchFamily="34" charset="0"/>
                <a:ea typeface="Carlito" pitchFamily="34" charset="-122"/>
                <a:cs typeface="Carlito" pitchFamily="34" charset="-120"/>
              </a:rPr>
              <a:t>Santoni et al. (2023) — SMOTE on OpenFace features. Our work pushes this lighter path further with XGBoost + MediaPipe.</a:t>
            </a:r>
            <a:endParaRPr lang="en-US" sz="800" dirty="0"/>
          </a:p>
        </p:txBody>
      </p:sp>
      <p:sp>
        <p:nvSpPr>
          <p:cNvPr id="31" name="Text 28"/>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a:t>
            </a:r>
            <a:endParaRPr lang="en-US" sz="800" dirty="0"/>
          </a:p>
        </p:txBody>
      </p:sp>
      <p:sp>
        <p:nvSpPr>
          <p:cNvPr id="32" name="Text 29"/>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06 / 34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none" lIns="0" tIns="0" rIns="0" bIns="0" rtlCol="0" anchor="t"/>
          <a:lstStyle/>
          <a:p>
            <a:pPr algn="l" indent="0" marL="0">
              <a:lnSpc>
                <a:spcPts val="928"/>
              </a:lnSpc>
              <a:buNone/>
            </a:pPr>
            <a:r>
              <a:rPr lang="en-US" sz="800" b="1" spc="136" kern="0" dirty="0">
                <a:solidFill>
                  <a:srgbClr val="14B8A6"/>
                </a:solidFill>
                <a:latin typeface="Carlito" pitchFamily="34" charset="0"/>
                <a:ea typeface="Carlito" pitchFamily="34" charset="-122"/>
                <a:cs typeface="Carlito" pitchFamily="34" charset="-120"/>
              </a:rPr>
              <a:t>MODALITY CHOICE</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255416"/>
          </a:xfrm>
          <a:prstGeom prst="rect">
            <a:avLst/>
          </a:prstGeom>
          <a:noFill/>
          <a:ln/>
        </p:spPr>
        <p:txBody>
          <a:bodyPr wrap="square" lIns="0" tIns="0" rIns="0" bIns="0" rtlCol="0" anchor="t">
            <a:normAutofit/>
          </a:bodyPr>
          <a:lstStyle/>
          <a:p>
            <a:pPr algn="l" indent="0" marL="0">
              <a:lnSpc>
                <a:spcPts val="1890"/>
              </a:lnSpc>
              <a:buNone/>
            </a:pPr>
            <a:r>
              <a:rPr lang="en-US" sz="1688" b="1" spc="-25" kern="0" dirty="0">
                <a:solidFill>
                  <a:srgbClr val="0F1F3D"/>
                </a:solidFill>
                <a:latin typeface="Carlito" pitchFamily="34" charset="0"/>
                <a:ea typeface="Carlito" pitchFamily="34" charset="-122"/>
                <a:cs typeface="Carlito" pitchFamily="34" charset="-120"/>
              </a:rPr>
              <a:t>Why the Face, and Why MediaPipe?</a:t>
            </a:r>
            <a:endParaRPr lang="en-US" sz="1688" dirty="0"/>
          </a:p>
        </p:txBody>
      </p:sp>
      <p:sp>
        <p:nvSpPr>
          <p:cNvPr id="5" name="Text 3"/>
          <p:cNvSpPr/>
          <p:nvPr/>
        </p:nvSpPr>
        <p:spPr>
          <a:xfrm>
            <a:off x="457200" y="965076"/>
            <a:ext cx="6572250" cy="340106"/>
          </a:xfrm>
          <a:prstGeom prst="rect">
            <a:avLst/>
          </a:prstGeom>
          <a:noFill/>
          <a:ln/>
        </p:spPr>
        <p:txBody>
          <a:bodyPr wrap="square" lIns="0" tIns="0" rIns="0" bIns="0" rtlCol="0" anchor="t"/>
          <a:lstStyle/>
          <a:p>
            <a:pPr algn="l" indent="0" marL="0">
              <a:lnSpc>
                <a:spcPts val="1177"/>
              </a:lnSpc>
              <a:buNone/>
            </a:pPr>
            <a:r>
              <a:rPr lang="en-US" sz="800" dirty="0">
                <a:solidFill>
                  <a:srgbClr val="5B6B82"/>
                </a:solidFill>
                <a:latin typeface="Carlito" pitchFamily="34" charset="0"/>
                <a:ea typeface="Carlito" pitchFamily="34" charset="-122"/>
                <a:cs typeface="Carlito" pitchFamily="34" charset="-120"/>
              </a:rPr>
              <a:t>The face is the only universally available, non-invasive, passively observable signal of cognitive-affective state that every laptop already captures.</a:t>
            </a:r>
            <a:endParaRPr lang="en-US" sz="800" dirty="0"/>
          </a:p>
        </p:txBody>
      </p:sp>
      <p:sp>
        <p:nvSpPr>
          <p:cNvPr id="6" name="Text 4"/>
          <p:cNvSpPr/>
          <p:nvPr/>
        </p:nvSpPr>
        <p:spPr>
          <a:xfrm>
            <a:off x="457200" y="1364010"/>
            <a:ext cx="4428344" cy="385763"/>
          </a:xfrm>
          <a:prstGeom prst="roundRect">
            <a:avLst>
              <a:gd name="adj" fmla="val 19753"/>
            </a:avLst>
          </a:prstGeom>
          <a:solidFill>
            <a:srgbClr val="F6F8FB"/>
          </a:solidFill>
          <a:ln/>
        </p:spPr>
        <p:txBody>
          <a:bodyPr wrap="square" rtlCol="0" anchor="ctr"/>
          <a:lstStyle/>
          <a:p>
            <a:pPr indent="0" marL="0">
              <a:buNone/>
            </a:pPr>
            <a:endParaRPr lang="en-US" dirty="0"/>
          </a:p>
        </p:txBody>
      </p:sp>
      <p:sp>
        <p:nvSpPr>
          <p:cNvPr id="7" name="Text 5"/>
          <p:cNvSpPr/>
          <p:nvPr/>
        </p:nvSpPr>
        <p:spPr>
          <a:xfrm>
            <a:off x="546497" y="1439019"/>
            <a:ext cx="235744" cy="235744"/>
          </a:xfrm>
          <a:prstGeom prst="roundRect">
            <a:avLst>
              <a:gd name="adj" fmla="val 32323"/>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8" name="Text 6"/>
          <p:cNvSpPr/>
          <p:nvPr/>
        </p:nvSpPr>
        <p:spPr>
          <a:xfrm>
            <a:off x="560784" y="1453307"/>
            <a:ext cx="207169" cy="207169"/>
          </a:xfrm>
          <a:prstGeom prst="rect">
            <a:avLst/>
          </a:prstGeom>
          <a:noFill/>
          <a:ln/>
        </p:spPr>
        <p:txBody>
          <a:bodyPr wrap="none" lIns="0" tIns="0" rIns="0" bIns="0" rtlCol="0" anchor="ctr"/>
          <a:lstStyle/>
          <a:p>
            <a:pPr algn="ctr" indent="0" marL="0">
              <a:buNone/>
            </a:pPr>
            <a:r>
              <a:rPr lang="en-US" sz="1406" dirty="0">
                <a:solidFill>
                  <a:srgbClr val="0F766E"/>
                </a:solidFill>
                <a:latin typeface="Segoe UI Symbol" pitchFamily="34" charset="0"/>
                <a:ea typeface="Segoe UI Symbol" pitchFamily="34" charset="-122"/>
                <a:cs typeface="Segoe UI Symbol" pitchFamily="34" charset="-120"/>
              </a:rPr>
              <a:t>⛨</a:t>
            </a:r>
            <a:endParaRPr lang="en-US" sz="1406" dirty="0"/>
          </a:p>
        </p:txBody>
      </p:sp>
      <p:sp>
        <p:nvSpPr>
          <p:cNvPr id="9" name="Text 7"/>
          <p:cNvSpPr/>
          <p:nvPr/>
        </p:nvSpPr>
        <p:spPr>
          <a:xfrm>
            <a:off x="871538" y="1435447"/>
            <a:ext cx="3928281" cy="153514"/>
          </a:xfrm>
          <a:prstGeom prst="rect">
            <a:avLst/>
          </a:prstGeom>
          <a:noFill/>
          <a:ln/>
        </p:spPr>
        <p:txBody>
          <a:bodyPr wrap="square" lIns="0" tIns="0" rIns="0" bIns="0" rtlCol="0" anchor="t"/>
          <a:lstStyle/>
          <a:p>
            <a:pPr algn="l" indent="0" marL="0">
              <a:lnSpc>
                <a:spcPts val="1024"/>
              </a:lnSpc>
              <a:buNone/>
            </a:pPr>
            <a:r>
              <a:rPr lang="en-US" sz="731" dirty="0">
                <a:solidFill>
                  <a:srgbClr val="0F1F3D"/>
                </a:solidFill>
                <a:latin typeface="Carlito" pitchFamily="34" charset="0"/>
                <a:ea typeface="Carlito" pitchFamily="34" charset="-122"/>
                <a:cs typeface="Carlito" pitchFamily="34" charset="-120"/>
              </a:rPr>
              <a:t>Non-invasive and passive monitoring — no wearables, no consent friction.</a:t>
            </a:r>
            <a:endParaRPr lang="en-US" sz="731" dirty="0"/>
          </a:p>
        </p:txBody>
      </p:sp>
      <p:sp>
        <p:nvSpPr>
          <p:cNvPr id="10" name="Text 8"/>
          <p:cNvSpPr/>
          <p:nvPr/>
        </p:nvSpPr>
        <p:spPr>
          <a:xfrm>
            <a:off x="457200" y="1821210"/>
            <a:ext cx="4428344" cy="385763"/>
          </a:xfrm>
          <a:prstGeom prst="roundRect">
            <a:avLst>
              <a:gd name="adj" fmla="val 19753"/>
            </a:avLst>
          </a:prstGeom>
          <a:solidFill>
            <a:srgbClr val="F6F8FB"/>
          </a:solidFill>
          <a:ln/>
        </p:spPr>
        <p:txBody>
          <a:bodyPr wrap="square" rtlCol="0" anchor="ctr"/>
          <a:lstStyle/>
          <a:p>
            <a:pPr indent="0" marL="0">
              <a:buNone/>
            </a:pPr>
            <a:endParaRPr lang="en-US" dirty="0"/>
          </a:p>
        </p:txBody>
      </p:sp>
      <p:sp>
        <p:nvSpPr>
          <p:cNvPr id="11" name="Text 9"/>
          <p:cNvSpPr/>
          <p:nvPr/>
        </p:nvSpPr>
        <p:spPr>
          <a:xfrm>
            <a:off x="546497" y="1896219"/>
            <a:ext cx="235744" cy="235744"/>
          </a:xfrm>
          <a:prstGeom prst="roundRect">
            <a:avLst>
              <a:gd name="adj" fmla="val 32323"/>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12" name="Text 10"/>
          <p:cNvSpPr/>
          <p:nvPr/>
        </p:nvSpPr>
        <p:spPr>
          <a:xfrm>
            <a:off x="560784" y="1910507"/>
            <a:ext cx="207169" cy="207169"/>
          </a:xfrm>
          <a:prstGeom prst="rect">
            <a:avLst/>
          </a:prstGeom>
          <a:noFill/>
          <a:ln/>
        </p:spPr>
        <p:txBody>
          <a:bodyPr wrap="none" lIns="0" tIns="0" rIns="0" bIns="0" rtlCol="0" anchor="ctr"/>
          <a:lstStyle/>
          <a:p>
            <a:pPr algn="ctr" indent="0" marL="0">
              <a:buNone/>
            </a:pPr>
            <a:r>
              <a:rPr lang="en-US" sz="1406" dirty="0">
                <a:solidFill>
                  <a:srgbClr val="0F766E"/>
                </a:solidFill>
                <a:latin typeface="Segoe UI Symbol" pitchFamily="34" charset="0"/>
                <a:ea typeface="Segoe UI Symbol" pitchFamily="34" charset="-122"/>
                <a:cs typeface="Segoe UI Symbol" pitchFamily="34" charset="-120"/>
              </a:rPr>
              <a:t>◯</a:t>
            </a:r>
            <a:endParaRPr lang="en-US" sz="1406" dirty="0"/>
          </a:p>
        </p:txBody>
      </p:sp>
      <p:sp>
        <p:nvSpPr>
          <p:cNvPr id="13" name="Text 11"/>
          <p:cNvSpPr/>
          <p:nvPr/>
        </p:nvSpPr>
        <p:spPr>
          <a:xfrm>
            <a:off x="871538" y="1892647"/>
            <a:ext cx="3928281" cy="153514"/>
          </a:xfrm>
          <a:prstGeom prst="rect">
            <a:avLst/>
          </a:prstGeom>
          <a:noFill/>
          <a:ln/>
        </p:spPr>
        <p:txBody>
          <a:bodyPr wrap="none" lIns="0" tIns="0" rIns="0" bIns="0" rtlCol="0" anchor="t"/>
          <a:lstStyle/>
          <a:p>
            <a:pPr algn="l" indent="0" marL="0">
              <a:lnSpc>
                <a:spcPts val="1024"/>
              </a:lnSpc>
              <a:buNone/>
            </a:pPr>
            <a:r>
              <a:rPr lang="en-US" sz="800" dirty="0">
                <a:solidFill>
                  <a:srgbClr val="0F1F3D"/>
                </a:solidFill>
                <a:latin typeface="Carlito" pitchFamily="34" charset="0"/>
                <a:ea typeface="Carlito" pitchFamily="34" charset="-122"/>
                <a:cs typeface="Carlito" pitchFamily="34" charset="-120"/>
              </a:rPr>
              <a:t>Facial expressions are universal across cultures.</a:t>
            </a:r>
            <a:endParaRPr lang="en-US" sz="800" dirty="0"/>
          </a:p>
        </p:txBody>
      </p:sp>
      <p:sp>
        <p:nvSpPr>
          <p:cNvPr id="14" name="Text 12"/>
          <p:cNvSpPr/>
          <p:nvPr/>
        </p:nvSpPr>
        <p:spPr>
          <a:xfrm>
            <a:off x="457200" y="2278410"/>
            <a:ext cx="4428344" cy="385763"/>
          </a:xfrm>
          <a:prstGeom prst="roundRect">
            <a:avLst>
              <a:gd name="adj" fmla="val 19753"/>
            </a:avLst>
          </a:prstGeom>
          <a:solidFill>
            <a:srgbClr val="F6F8FB"/>
          </a:solidFill>
          <a:ln/>
        </p:spPr>
        <p:txBody>
          <a:bodyPr wrap="square" rtlCol="0" anchor="ctr"/>
          <a:lstStyle/>
          <a:p>
            <a:pPr indent="0" marL="0">
              <a:buNone/>
            </a:pPr>
            <a:endParaRPr lang="en-US" dirty="0"/>
          </a:p>
        </p:txBody>
      </p:sp>
      <p:sp>
        <p:nvSpPr>
          <p:cNvPr id="15" name="Text 13"/>
          <p:cNvSpPr/>
          <p:nvPr/>
        </p:nvSpPr>
        <p:spPr>
          <a:xfrm>
            <a:off x="546497" y="2353419"/>
            <a:ext cx="235744" cy="235744"/>
          </a:xfrm>
          <a:prstGeom prst="roundRect">
            <a:avLst>
              <a:gd name="adj" fmla="val 32323"/>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16" name="Text 14"/>
          <p:cNvSpPr/>
          <p:nvPr/>
        </p:nvSpPr>
        <p:spPr>
          <a:xfrm>
            <a:off x="560784" y="2367707"/>
            <a:ext cx="207169" cy="207169"/>
          </a:xfrm>
          <a:prstGeom prst="rect">
            <a:avLst/>
          </a:prstGeom>
          <a:noFill/>
          <a:ln/>
        </p:spPr>
        <p:txBody>
          <a:bodyPr wrap="none" lIns="0" tIns="0" rIns="0" bIns="0" rtlCol="0" anchor="ctr"/>
          <a:lstStyle/>
          <a:p>
            <a:pPr algn="ctr" indent="0" marL="0">
              <a:buNone/>
            </a:pPr>
            <a:r>
              <a:rPr lang="en-US" sz="1406" dirty="0">
                <a:solidFill>
                  <a:srgbClr val="0F766E"/>
                </a:solidFill>
                <a:latin typeface="Segoe UI Symbol" pitchFamily="34" charset="0"/>
                <a:ea typeface="Segoe UI Symbol" pitchFamily="34" charset="-122"/>
                <a:cs typeface="Segoe UI Symbol" pitchFamily="34" charset="-120"/>
              </a:rPr>
              <a:t>⚡</a:t>
            </a:r>
            <a:endParaRPr lang="en-US" sz="1406" dirty="0"/>
          </a:p>
        </p:txBody>
      </p:sp>
      <p:sp>
        <p:nvSpPr>
          <p:cNvPr id="17" name="Text 15"/>
          <p:cNvSpPr/>
          <p:nvPr/>
        </p:nvSpPr>
        <p:spPr>
          <a:xfrm>
            <a:off x="871538" y="2349847"/>
            <a:ext cx="3928281" cy="153514"/>
          </a:xfrm>
          <a:prstGeom prst="rect">
            <a:avLst/>
          </a:prstGeom>
          <a:noFill/>
          <a:ln/>
        </p:spPr>
        <p:txBody>
          <a:bodyPr wrap="square" lIns="0" tIns="0" rIns="0" bIns="0" rtlCol="0" anchor="t"/>
          <a:lstStyle/>
          <a:p>
            <a:pPr algn="l" indent="0" marL="0">
              <a:lnSpc>
                <a:spcPts val="1024"/>
              </a:lnSpc>
              <a:buNone/>
            </a:pPr>
            <a:r>
              <a:rPr lang="en-US" sz="800" dirty="0">
                <a:solidFill>
                  <a:srgbClr val="0F1F3D"/>
                </a:solidFill>
                <a:latin typeface="Carlito" pitchFamily="34" charset="0"/>
                <a:ea typeface="Carlito" pitchFamily="34" charset="-122"/>
                <a:cs typeface="Carlito" pitchFamily="34" charset="-120"/>
              </a:rPr>
              <a:t>MediaPipe enables real-time feature extraction on commodity CPUs.</a:t>
            </a:r>
            <a:endParaRPr lang="en-US" sz="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764185"/>
          <a:ext cx="4428344" cy="914400"/>
        </p:xfrm>
        <a:graphic>
          <a:graphicData uri="http://schemas.openxmlformats.org/drawingml/2006/table">
            <a:tbl>
              <a:tblPr/>
              <a:tblGrid>
                <a:gridCol w="1417030"/>
                <a:gridCol w="619944"/>
                <a:gridCol w="2391370"/>
              </a:tblGrid>
              <a:tr h="0">
                <a:tc>
                  <a:txBody>
                    <a:bodyPr/>
                    <a:lstStyle/>
                    <a:p>
                      <a:pPr algn="l" indent="0" marL="0">
                        <a:buNone/>
                      </a:pPr>
                      <a:r>
                        <a:rPr lang="en-US" sz="800" b="1" dirty="0">
                          <a:solidFill>
                            <a:srgbClr val="5B6B82"/>
                          </a:solidFill>
                          <a:latin typeface="Carlito" pitchFamily="34" charset="0"/>
                          <a:ea typeface="Carlito" pitchFamily="34" charset="-122"/>
                          <a:cs typeface="Carlito" pitchFamily="34" charset="-120"/>
                        </a:rPr>
                        <a:t>Feature Group</a:t>
                      </a:r>
                      <a:endParaRPr lang="en-US" sz="800" dirty="0">
                        <a:latin typeface="Carlito" charset="0"/>
                        <a:ea typeface="Carlito" charset="0"/>
                        <a:cs typeface="Carlito" charset="0"/>
                      </a:endParaRPr>
                    </a:p>
                  </a:txBody>
                  <a:tcPr marL="42863" marR="71438" marT="71438"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b="1" dirty="0">
                          <a:solidFill>
                            <a:srgbClr val="5B6B82"/>
                          </a:solidFill>
                          <a:latin typeface="Carlito" pitchFamily="34" charset="0"/>
                          <a:ea typeface="Carlito" pitchFamily="34" charset="-122"/>
                          <a:cs typeface="Carlito" pitchFamily="34" charset="-120"/>
                        </a:rPr>
                        <a:t>Dim</a:t>
                      </a:r>
                      <a:endParaRPr lang="en-US" sz="800" dirty="0">
                        <a:latin typeface="Carlito" charset="0"/>
                        <a:ea typeface="Carlito" charset="0"/>
                        <a:cs typeface="Carlito" charset="0"/>
                      </a:endParaRPr>
                    </a:p>
                  </a:txBody>
                  <a:tcPr marL="42863" marR="71438" marT="71438"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b="1" dirty="0">
                          <a:solidFill>
                            <a:srgbClr val="5B6B82"/>
                          </a:solidFill>
                          <a:latin typeface="Carlito" pitchFamily="34" charset="0"/>
                          <a:ea typeface="Carlito" pitchFamily="34" charset="-122"/>
                          <a:cs typeface="Carlito" pitchFamily="34" charset="-120"/>
                        </a:rPr>
                        <a:t>What it captures</a:t>
                      </a:r>
                      <a:endParaRPr lang="en-US" sz="800" dirty="0">
                        <a:latin typeface="Carlito" charset="0"/>
                        <a:ea typeface="Carlito" charset="0"/>
                        <a:cs typeface="Carlito" charset="0"/>
                      </a:endParaRPr>
                    </a:p>
                  </a:txBody>
                  <a:tcPr marL="42863" marR="71438" marT="71438"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Blendshape</a:t>
                      </a:r>
                      <a:endParaRPr lang="en-US" sz="800" dirty="0">
                        <a:latin typeface="Carlito" charset="0"/>
                        <a:ea typeface="Carlito" charset="0"/>
                        <a:cs typeface="Carlito" charset="0"/>
                      </a:endParaRPr>
                    </a:p>
                  </a:txBody>
                  <a:tcPr marL="50006" marR="71438" marT="71438" marB="5000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766E"/>
                          </a:solidFill>
                          <a:latin typeface="Courier New" pitchFamily="34" charset="0"/>
                          <a:ea typeface="Courier New" pitchFamily="34" charset="-122"/>
                          <a:cs typeface="Courier New" pitchFamily="34" charset="-120"/>
                        </a:rPr>
                        <a:t>52D</a:t>
                      </a:r>
                      <a:endParaRPr lang="en-US" sz="800" dirty="0">
                        <a:latin typeface="Courier New" charset="0"/>
                        <a:ea typeface="Courier New" charset="0"/>
                        <a:cs typeface="Courier New" charset="0"/>
                      </a:endParaRPr>
                    </a:p>
                  </a:txBody>
                  <a:tcPr marL="50006" marR="71438" marT="71438" marB="5000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Per-AU facial muscle activation</a:t>
                      </a:r>
                      <a:endParaRPr lang="en-US" sz="800" dirty="0">
                        <a:latin typeface="Carlito" charset="0"/>
                        <a:ea typeface="Carlito" charset="0"/>
                        <a:cs typeface="Carlito" charset="0"/>
                      </a:endParaRPr>
                    </a:p>
                  </a:txBody>
                  <a:tcPr marL="50006" marR="71438" marT="71438" marB="5000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Head Pose</a:t>
                      </a:r>
                      <a:endParaRPr lang="en-US" sz="800" dirty="0">
                        <a:latin typeface="Carlito" charset="0"/>
                        <a:ea typeface="Carlito" charset="0"/>
                        <a:cs typeface="Carlito" charset="0"/>
                      </a:endParaRPr>
                    </a:p>
                  </a:txBody>
                  <a:tcPr marL="50006" marR="71438" marT="71438" marB="5000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766E"/>
                          </a:solidFill>
                          <a:latin typeface="Courier New" pitchFamily="34" charset="0"/>
                          <a:ea typeface="Courier New" pitchFamily="34" charset="-122"/>
                          <a:cs typeface="Courier New" pitchFamily="34" charset="-120"/>
                        </a:rPr>
                        <a:t>6D</a:t>
                      </a:r>
                      <a:endParaRPr lang="en-US" sz="800" dirty="0">
                        <a:latin typeface="Courier New" charset="0"/>
                        <a:ea typeface="Courier New" charset="0"/>
                        <a:cs typeface="Courier New" charset="0"/>
                      </a:endParaRPr>
                    </a:p>
                  </a:txBody>
                  <a:tcPr marL="50006" marR="71438" marT="71438" marB="5000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Pitch, yaw, roll + 3D position</a:t>
                      </a:r>
                      <a:endParaRPr lang="en-US" sz="800" dirty="0">
                        <a:latin typeface="Carlito" charset="0"/>
                        <a:ea typeface="Carlito" charset="0"/>
                        <a:cs typeface="Carlito" charset="0"/>
                      </a:endParaRPr>
                    </a:p>
                  </a:txBody>
                  <a:tcPr marL="50006" marR="71438" marT="71438" marB="5000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Eye Gaze</a:t>
                      </a:r>
                      <a:endParaRPr lang="en-US" sz="800" dirty="0">
                        <a:latin typeface="Carlito" charset="0"/>
                        <a:ea typeface="Carlito" charset="0"/>
                        <a:cs typeface="Carlito" charset="0"/>
                      </a:endParaRPr>
                    </a:p>
                  </a:txBody>
                  <a:tcPr marL="50006" marR="71438" marT="71438" marB="5000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766E"/>
                          </a:solidFill>
                          <a:latin typeface="Courier New" pitchFamily="34" charset="0"/>
                          <a:ea typeface="Courier New" pitchFamily="34" charset="-122"/>
                          <a:cs typeface="Courier New" pitchFamily="34" charset="-120"/>
                        </a:rPr>
                        <a:t>6D</a:t>
                      </a:r>
                      <a:endParaRPr lang="en-US" sz="800" dirty="0">
                        <a:latin typeface="Courier New" charset="0"/>
                        <a:ea typeface="Courier New" charset="0"/>
                        <a:cs typeface="Courier New" charset="0"/>
                      </a:endParaRPr>
                    </a:p>
                  </a:txBody>
                  <a:tcPr marL="50006" marR="71438" marT="71438" marB="5000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Direction vectors for each eye</a:t>
                      </a:r>
                      <a:endParaRPr lang="en-US" sz="800" dirty="0">
                        <a:latin typeface="Carlito" charset="0"/>
                        <a:ea typeface="Carlito" charset="0"/>
                        <a:cs typeface="Carlito" charset="0"/>
                      </a:endParaRPr>
                    </a:p>
                  </a:txBody>
                  <a:tcPr marL="50006" marR="71438" marT="71438" marB="5000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Composite</a:t>
                      </a:r>
                      <a:endParaRPr lang="en-US" sz="800" dirty="0">
                        <a:latin typeface="Carlito" charset="0"/>
                        <a:ea typeface="Carlito" charset="0"/>
                        <a:cs typeface="Carlito" charset="0"/>
                      </a:endParaRPr>
                    </a:p>
                  </a:txBody>
                  <a:tcPr marL="50006" marR="71438" marT="71438" marB="5000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766E"/>
                          </a:solidFill>
                          <a:latin typeface="Courier New" pitchFamily="34" charset="0"/>
                          <a:ea typeface="Courier New" pitchFamily="34" charset="-122"/>
                          <a:cs typeface="Courier New" pitchFamily="34" charset="-120"/>
                        </a:rPr>
                        <a:t>10D</a:t>
                      </a:r>
                      <a:endParaRPr lang="en-US" sz="800" dirty="0">
                        <a:latin typeface="Courier New" charset="0"/>
                        <a:ea typeface="Courier New" charset="0"/>
                        <a:cs typeface="Courier New" charset="0"/>
                      </a:endParaRPr>
                    </a:p>
                  </a:txBody>
                  <a:tcPr marL="50006" marR="71438" marT="71438" marB="5000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Cross-group engineered signals</a:t>
                      </a:r>
                      <a:endParaRPr lang="en-US" sz="800" dirty="0">
                        <a:latin typeface="Carlito" charset="0"/>
                        <a:ea typeface="Carlito" charset="0"/>
                        <a:cs typeface="Carlito" charset="0"/>
                      </a:endParaRPr>
                    </a:p>
                  </a:txBody>
                  <a:tcPr marL="50006" marR="71438" marT="71438" marB="5000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Dynamics</a:t>
                      </a:r>
                      <a:endParaRPr lang="en-US" sz="800" dirty="0">
                        <a:latin typeface="Carlito" charset="0"/>
                        <a:ea typeface="Carlito" charset="0"/>
                        <a:cs typeface="Carlito" charset="0"/>
                      </a:endParaRPr>
                    </a:p>
                  </a:txBody>
                  <a:tcPr marL="50006" marR="71438" marT="71438" marB="5000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766E"/>
                          </a:solidFill>
                          <a:latin typeface="Courier New" pitchFamily="34" charset="0"/>
                          <a:ea typeface="Courier New" pitchFamily="34" charset="-122"/>
                          <a:cs typeface="Courier New" pitchFamily="34" charset="-120"/>
                        </a:rPr>
                        <a:t>4D</a:t>
                      </a:r>
                      <a:endParaRPr lang="en-US" sz="800" dirty="0">
                        <a:latin typeface="Courier New" charset="0"/>
                        <a:ea typeface="Courier New" charset="0"/>
                        <a:cs typeface="Courier New" charset="0"/>
                      </a:endParaRPr>
                    </a:p>
                  </a:txBody>
                  <a:tcPr marL="50006" marR="71438" marT="71438" marB="5000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Temporal expressiveness metrics</a:t>
                      </a:r>
                      <a:endParaRPr lang="en-US" sz="800" dirty="0">
                        <a:latin typeface="Carlito" charset="0"/>
                        <a:ea typeface="Carlito" charset="0"/>
                        <a:cs typeface="Carlito" charset="0"/>
                      </a:endParaRPr>
                    </a:p>
                  </a:txBody>
                  <a:tcPr marL="50006" marR="71438" marT="71438" marB="5000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b="1" dirty="0">
                          <a:solidFill>
                            <a:srgbClr val="0F1F3D"/>
                          </a:solidFill>
                          <a:latin typeface="Carlito" pitchFamily="34" charset="0"/>
                          <a:ea typeface="Carlito" pitchFamily="34" charset="-122"/>
                          <a:cs typeface="Carlito" pitchFamily="34" charset="-120"/>
                        </a:rPr>
                        <a:t>Total per-frame</a:t>
                      </a:r>
                      <a:endParaRPr lang="en-US" sz="800" dirty="0">
                        <a:latin typeface="Carlito" charset="0"/>
                        <a:ea typeface="Carlito" charset="0"/>
                        <a:cs typeface="Carlito" charset="0"/>
                      </a:endParaRPr>
                    </a:p>
                  </a:txBody>
                  <a:tcPr marL="50006" marR="71438" marT="71438" marB="5000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EF3F8"/>
                    </a:solidFill>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78D</a:t>
                      </a:r>
                      <a:endParaRPr lang="en-US" sz="800" dirty="0">
                        <a:latin typeface="Courier New" charset="0"/>
                        <a:ea typeface="Courier New" charset="0"/>
                        <a:cs typeface="Courier New" charset="0"/>
                      </a:endParaRPr>
                    </a:p>
                  </a:txBody>
                  <a:tcPr marL="50006" marR="71438" marT="71438" marB="5000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EF3F8"/>
                    </a:solidFill>
                  </a:tcPr>
                </a:tc>
                <a:tc>
                  <a:txBody>
                    <a:bodyPr/>
                    <a:lstStyle/>
                    <a:p>
                      <a:pPr algn="l" indent="0" marL="0">
                        <a:buNone/>
                      </a:pPr>
                      <a:r>
                        <a:rPr lang="en-US" sz="800" b="1" dirty="0">
                          <a:solidFill>
                            <a:srgbClr val="0F1F3D"/>
                          </a:solidFill>
                          <a:latin typeface="Carlito" pitchFamily="34" charset="0"/>
                          <a:ea typeface="Carlito" pitchFamily="34" charset="-122"/>
                          <a:cs typeface="Carlito" pitchFamily="34" charset="-120"/>
                        </a:rPr>
                        <a:t>One row per video frame</a:t>
                      </a:r>
                      <a:endParaRPr lang="en-US" sz="800" dirty="0">
                        <a:latin typeface="Carlito" charset="0"/>
                        <a:ea typeface="Carlito" charset="0"/>
                        <a:cs typeface="Carlito" charset="0"/>
                      </a:endParaRPr>
                    </a:p>
                  </a:txBody>
                  <a:tcPr marL="50006" marR="71438" marT="71438" marB="5000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EF3F8"/>
                    </a:solidFill>
                  </a:tcPr>
                </a:tc>
              </a:tr>
            </a:tbl>
          </a:graphicData>
        </a:graphic>
      </p:graphicFrame>
      <p:sp>
        <p:nvSpPr>
          <p:cNvPr id="19" name="Text 16"/>
          <p:cNvSpPr/>
          <p:nvPr/>
        </p:nvSpPr>
        <p:spPr>
          <a:xfrm>
            <a:off x="5056994" y="1364010"/>
            <a:ext cx="3629806" cy="3436590"/>
          </a:xfrm>
          <a:prstGeom prst="roundRect">
            <a:avLst>
              <a:gd name="adj" fmla="val 3326"/>
            </a:avLst>
          </a:prstGeom>
          <a:solidFill>
            <a:srgbClr val="EEF3F8"/>
          </a:solidFill>
          <a:ln/>
        </p:spPr>
        <p:txBody>
          <a:bodyPr wrap="square" rtlCol="0" anchor="ctr"/>
          <a:lstStyle/>
          <a:p>
            <a:pPr indent="0" marL="0">
              <a:buNone/>
            </a:pPr>
            <a:endParaRPr lang="en-US" dirty="0"/>
          </a:p>
        </p:txBody>
      </p:sp>
      <p:sp>
        <p:nvSpPr>
          <p:cNvPr id="20" name="Shape 17"/>
          <p:cNvSpPr/>
          <p:nvPr/>
        </p:nvSpPr>
        <p:spPr>
          <a:xfrm>
            <a:off x="5056994" y="1367582"/>
            <a:ext cx="3629806" cy="0"/>
          </a:xfrm>
          <a:prstGeom prst="line">
            <a:avLst/>
          </a:prstGeom>
          <a:noFill/>
          <a:ln w="7144">
            <a:solidFill>
              <a:srgbClr val="D9E1EC"/>
            </a:solidFill>
            <a:prstDash val="solid"/>
          </a:ln>
        </p:spPr>
      </p:sp>
      <p:sp>
        <p:nvSpPr>
          <p:cNvPr id="21" name="Shape 18"/>
          <p:cNvSpPr/>
          <p:nvPr/>
        </p:nvSpPr>
        <p:spPr>
          <a:xfrm>
            <a:off x="8683228" y="1364010"/>
            <a:ext cx="0" cy="3436590"/>
          </a:xfrm>
          <a:prstGeom prst="line">
            <a:avLst/>
          </a:prstGeom>
          <a:noFill/>
          <a:ln w="7144">
            <a:solidFill>
              <a:srgbClr val="D9E1EC"/>
            </a:solidFill>
            <a:prstDash val="solid"/>
          </a:ln>
        </p:spPr>
      </p:sp>
      <p:sp>
        <p:nvSpPr>
          <p:cNvPr id="22" name="Shape 19"/>
          <p:cNvSpPr/>
          <p:nvPr/>
        </p:nvSpPr>
        <p:spPr>
          <a:xfrm>
            <a:off x="5056994" y="4797028"/>
            <a:ext cx="3629806" cy="0"/>
          </a:xfrm>
          <a:prstGeom prst="line">
            <a:avLst/>
          </a:prstGeom>
          <a:noFill/>
          <a:ln w="7144">
            <a:solidFill>
              <a:srgbClr val="D9E1EC"/>
            </a:solidFill>
            <a:prstDash val="solid"/>
          </a:ln>
        </p:spPr>
      </p:sp>
      <p:sp>
        <p:nvSpPr>
          <p:cNvPr id="23" name="Shape 20"/>
          <p:cNvSpPr/>
          <p:nvPr/>
        </p:nvSpPr>
        <p:spPr>
          <a:xfrm>
            <a:off x="5067709" y="1364010"/>
            <a:ext cx="0" cy="3436590"/>
          </a:xfrm>
          <a:prstGeom prst="line">
            <a:avLst/>
          </a:prstGeom>
          <a:noFill/>
          <a:ln w="21431">
            <a:solidFill>
              <a:srgbClr val="14B8A6"/>
            </a:solidFill>
            <a:prstDash val="solid"/>
          </a:ln>
        </p:spPr>
      </p:sp>
      <p:pic>
        <p:nvPicPr>
          <p:cNvPr id="24" name="Image 0" descr="preencoded.png">    </p:cNvPr>
          <p:cNvPicPr>
            <a:picLocks noChangeAspect="1"/>
          </p:cNvPicPr>
          <p:nvPr/>
        </p:nvPicPr>
        <p:blipFill>
          <a:blip r:embed="rId1"/>
          <a:stretch>
            <a:fillRect/>
          </a:stretch>
        </p:blipFill>
        <p:spPr>
          <a:xfrm>
            <a:off x="7893844" y="1156841"/>
            <a:ext cx="1000125" cy="1000125"/>
          </a:xfrm>
          <a:prstGeom prst="rect">
            <a:avLst/>
          </a:prstGeom>
        </p:spPr>
      </p:pic>
      <p:sp>
        <p:nvSpPr>
          <p:cNvPr id="25" name="Text 21"/>
          <p:cNvSpPr/>
          <p:nvPr/>
        </p:nvSpPr>
        <p:spPr>
          <a:xfrm>
            <a:off x="7893844" y="1156841"/>
            <a:ext cx="1000125" cy="1000125"/>
          </a:xfrm>
          <a:prstGeom prst="rect">
            <a:avLst/>
          </a:prstGeom>
          <a:solidFill>
            <a:srgbClr val="FFFFFF">
              <a:alpha val="0"/>
            </a:srgbClr>
          </a:solidFill>
          <a:ln/>
        </p:spPr>
        <p:txBody>
          <a:bodyPr wrap="square" rtlCol="0" anchor="ctr"/>
          <a:lstStyle/>
          <a:p>
            <a:pPr indent="0" marL="0">
              <a:buNone/>
            </a:pPr>
            <a:endParaRPr lang="en-US" dirty="0"/>
          </a:p>
        </p:txBody>
      </p:sp>
      <p:sp>
        <p:nvSpPr>
          <p:cNvPr id="26" name="Text 22"/>
          <p:cNvSpPr/>
          <p:nvPr/>
        </p:nvSpPr>
        <p:spPr>
          <a:xfrm>
            <a:off x="5235587" y="1514029"/>
            <a:ext cx="3286906" cy="108299"/>
          </a:xfrm>
          <a:prstGeom prst="rect">
            <a:avLst/>
          </a:prstGeom>
          <a:noFill/>
          <a:ln/>
        </p:spPr>
        <p:txBody>
          <a:bodyPr wrap="none" lIns="0" tIns="0" rIns="0" bIns="0" rtlCol="0" anchor="t">
            <a:normAutofit/>
          </a:bodyPr>
          <a:lstStyle/>
          <a:p>
            <a:pPr algn="l" indent="0" marL="0">
              <a:lnSpc>
                <a:spcPts val="844"/>
              </a:lnSpc>
              <a:buNone/>
            </a:pPr>
            <a:r>
              <a:rPr lang="en-US" sz="800" b="1" spc="124" kern="0" dirty="0">
                <a:solidFill>
                  <a:srgbClr val="0F766E"/>
                </a:solidFill>
                <a:latin typeface="Liberation Sans Narrow" pitchFamily="34" charset="0"/>
                <a:ea typeface="Liberation Sans Narrow" pitchFamily="34" charset="-122"/>
                <a:cs typeface="Liberation Sans Narrow" pitchFamily="34" charset="-120"/>
              </a:rPr>
              <a:t>MEDIAPIPE · 468 LANDMARKS</a:t>
            </a:r>
            <a:endParaRPr lang="en-US" sz="800" dirty="0"/>
          </a:p>
        </p:txBody>
      </p:sp>
      <p:sp>
        <p:nvSpPr>
          <p:cNvPr id="27" name="Text 23"/>
          <p:cNvSpPr/>
          <p:nvPr/>
        </p:nvSpPr>
        <p:spPr>
          <a:xfrm>
            <a:off x="5235587" y="1649760"/>
            <a:ext cx="3286906" cy="173593"/>
          </a:xfrm>
          <a:prstGeom prst="rect">
            <a:avLst/>
          </a:prstGeom>
          <a:noFill/>
          <a:ln/>
        </p:spPr>
        <p:txBody>
          <a:bodyPr wrap="none" lIns="0" tIns="0" rIns="0" bIns="0" rtlCol="0" anchor="t"/>
          <a:lstStyle/>
          <a:p>
            <a:pPr algn="l" indent="0" marL="0">
              <a:lnSpc>
                <a:spcPts val="1266"/>
              </a:lnSpc>
              <a:buNone/>
            </a:pPr>
            <a:r>
              <a:rPr lang="en-US" sz="1013" b="1" dirty="0">
                <a:solidFill>
                  <a:srgbClr val="0F1F3D"/>
                </a:solidFill>
                <a:latin typeface="Carlito" pitchFamily="34" charset="0"/>
                <a:ea typeface="Carlito" pitchFamily="34" charset="-122"/>
                <a:cs typeface="Carlito" pitchFamily="34" charset="-120"/>
              </a:rPr>
              <a:t>MediaPipe Face Mesh</a:t>
            </a:r>
            <a:endParaRPr lang="en-US" sz="1013" dirty="0"/>
          </a:p>
        </p:txBody>
      </p:sp>
      <p:sp>
        <p:nvSpPr>
          <p:cNvPr id="28" name="Text 24"/>
          <p:cNvSpPr/>
          <p:nvPr/>
        </p:nvSpPr>
        <p:spPr>
          <a:xfrm>
            <a:off x="5235587" y="1853357"/>
            <a:ext cx="3286906" cy="159106"/>
          </a:xfrm>
          <a:prstGeom prst="rect">
            <a:avLst/>
          </a:prstGeom>
          <a:noFill/>
          <a:ln/>
        </p:spPr>
        <p:txBody>
          <a:bodyPr wrap="square" lIns="0" tIns="0" rIns="0" bIns="0" rtlCol="0" anchor="t"/>
          <a:lstStyle/>
          <a:p>
            <a:pPr algn="l" indent="0" marL="0">
              <a:lnSpc>
                <a:spcPts val="1020"/>
              </a:lnSpc>
              <a:buNone/>
            </a:pPr>
            <a:r>
              <a:rPr lang="en-US" sz="800" dirty="0">
                <a:solidFill>
                  <a:srgbClr val="5B6B82"/>
                </a:solidFill>
                <a:latin typeface="Carlito" pitchFamily="34" charset="0"/>
                <a:ea typeface="Carlito" pitchFamily="34" charset="-122"/>
                <a:cs typeface="Carlito" pitchFamily="34" charset="-120"/>
              </a:rPr>
              <a:t>MediaPipe Face Mesh — 468 landmarks, real-time on CPU.</a:t>
            </a:r>
            <a:endParaRPr lang="en-US" sz="800" dirty="0"/>
          </a:p>
        </p:txBody>
      </p:sp>
      <p:sp>
        <p:nvSpPr>
          <p:cNvPr id="29" name="Text 25"/>
          <p:cNvSpPr/>
          <p:nvPr/>
        </p:nvSpPr>
        <p:spPr>
          <a:xfrm>
            <a:off x="5239159" y="2114996"/>
            <a:ext cx="1600535" cy="500063"/>
          </a:xfrm>
          <a:prstGeom prst="roundRect">
            <a:avLst>
              <a:gd name="adj" fmla="val 15238"/>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30" name="Text 26"/>
          <p:cNvSpPr/>
          <p:nvPr/>
        </p:nvSpPr>
        <p:spPr>
          <a:xfrm>
            <a:off x="5328456" y="2190006"/>
            <a:ext cx="1421941" cy="229743"/>
          </a:xfrm>
          <a:prstGeom prst="rect">
            <a:avLst/>
          </a:prstGeom>
          <a:noFill/>
          <a:ln/>
        </p:spPr>
        <p:txBody>
          <a:bodyPr wrap="none" lIns="0" tIns="0" rIns="0" bIns="0" rtlCol="0" anchor="t">
            <a:normAutofit/>
          </a:bodyPr>
          <a:lstStyle/>
          <a:p>
            <a:pPr algn="l" indent="0" marL="0">
              <a:lnSpc>
                <a:spcPts val="1688"/>
              </a:lnSpc>
              <a:buNone/>
            </a:pPr>
            <a:r>
              <a:rPr lang="en-US" sz="1688" b="1" dirty="0">
                <a:solidFill>
                  <a:srgbClr val="0F766E"/>
                </a:solidFill>
                <a:latin typeface="Liberation Sans Narrow" pitchFamily="34" charset="0"/>
                <a:ea typeface="Liberation Sans Narrow" pitchFamily="34" charset="-122"/>
                <a:cs typeface="Liberation Sans Narrow" pitchFamily="34" charset="-120"/>
              </a:rPr>
              <a:t>30+</a:t>
            </a:r>
            <a:endParaRPr lang="en-US" sz="1688" dirty="0"/>
          </a:p>
        </p:txBody>
      </p:sp>
      <p:sp>
        <p:nvSpPr>
          <p:cNvPr id="31" name="Text 27"/>
          <p:cNvSpPr/>
          <p:nvPr/>
        </p:nvSpPr>
        <p:spPr>
          <a:xfrm>
            <a:off x="5328456" y="2447181"/>
            <a:ext cx="1421941" cy="92869"/>
          </a:xfrm>
          <a:prstGeom prst="rect">
            <a:avLst/>
          </a:prstGeom>
          <a:noFill/>
          <a:ln/>
        </p:spPr>
        <p:txBody>
          <a:bodyPr wrap="none" lIns="0" tIns="0" rIns="0" bIns="0" rtlCol="0" anchor="t"/>
          <a:lstStyle/>
          <a:p>
            <a:pPr algn="l" indent="0" marL="0">
              <a:lnSpc>
                <a:spcPts val="731"/>
              </a:lnSpc>
              <a:buNone/>
            </a:pPr>
            <a:r>
              <a:rPr lang="en-US" sz="800" spc="56" kern="0" dirty="0">
                <a:solidFill>
                  <a:srgbClr val="5B6B82"/>
                </a:solidFill>
                <a:latin typeface="Carlito" pitchFamily="34" charset="0"/>
                <a:ea typeface="Carlito" pitchFamily="34" charset="-122"/>
                <a:cs typeface="Carlito" pitchFamily="34" charset="-120"/>
              </a:rPr>
              <a:t>FPS ON A SINGLE CPU</a:t>
            </a:r>
            <a:endParaRPr lang="en-US" sz="800" dirty="0"/>
          </a:p>
        </p:txBody>
      </p:sp>
      <p:sp>
        <p:nvSpPr>
          <p:cNvPr id="32" name="Text 28"/>
          <p:cNvSpPr/>
          <p:nvPr/>
        </p:nvSpPr>
        <p:spPr>
          <a:xfrm>
            <a:off x="6918275" y="2114996"/>
            <a:ext cx="1600646" cy="500063"/>
          </a:xfrm>
          <a:prstGeom prst="roundRect">
            <a:avLst>
              <a:gd name="adj" fmla="val 15238"/>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33" name="Text 29"/>
          <p:cNvSpPr/>
          <p:nvPr/>
        </p:nvSpPr>
        <p:spPr>
          <a:xfrm>
            <a:off x="7007572" y="2190006"/>
            <a:ext cx="1422053" cy="229743"/>
          </a:xfrm>
          <a:prstGeom prst="rect">
            <a:avLst/>
          </a:prstGeom>
          <a:noFill/>
          <a:ln/>
        </p:spPr>
        <p:txBody>
          <a:bodyPr wrap="none" lIns="0" tIns="0" rIns="0" bIns="0" rtlCol="0" anchor="t">
            <a:normAutofit/>
          </a:bodyPr>
          <a:lstStyle/>
          <a:p>
            <a:pPr algn="l" indent="0" marL="0">
              <a:lnSpc>
                <a:spcPts val="1688"/>
              </a:lnSpc>
              <a:buNone/>
            </a:pPr>
            <a:r>
              <a:rPr lang="en-US" sz="1688" b="1" dirty="0">
                <a:solidFill>
                  <a:srgbClr val="0F766E"/>
                </a:solidFill>
                <a:latin typeface="Liberation Sans Narrow" pitchFamily="34" charset="0"/>
                <a:ea typeface="Liberation Sans Narrow" pitchFamily="34" charset="-122"/>
                <a:cs typeface="Liberation Sans Narrow" pitchFamily="34" charset="-120"/>
              </a:rPr>
              <a:t>78D</a:t>
            </a:r>
            <a:endParaRPr lang="en-US" sz="1688" dirty="0"/>
          </a:p>
        </p:txBody>
      </p:sp>
      <p:sp>
        <p:nvSpPr>
          <p:cNvPr id="34" name="Text 30"/>
          <p:cNvSpPr/>
          <p:nvPr/>
        </p:nvSpPr>
        <p:spPr>
          <a:xfrm>
            <a:off x="7007572" y="2447181"/>
            <a:ext cx="1422053" cy="92869"/>
          </a:xfrm>
          <a:prstGeom prst="rect">
            <a:avLst/>
          </a:prstGeom>
          <a:noFill/>
          <a:ln/>
        </p:spPr>
        <p:txBody>
          <a:bodyPr wrap="none" lIns="0" tIns="0" rIns="0" bIns="0" rtlCol="0" anchor="t"/>
          <a:lstStyle/>
          <a:p>
            <a:pPr algn="l" indent="0" marL="0">
              <a:lnSpc>
                <a:spcPts val="731"/>
              </a:lnSpc>
              <a:buNone/>
            </a:pPr>
            <a:r>
              <a:rPr lang="en-US" sz="600" spc="56" kern="0" dirty="0">
                <a:solidFill>
                  <a:srgbClr val="5B6B82"/>
                </a:solidFill>
                <a:latin typeface="Carlito" pitchFamily="34" charset="0"/>
                <a:ea typeface="Carlito" pitchFamily="34" charset="-122"/>
                <a:cs typeface="Carlito" pitchFamily="34" charset="-120"/>
              </a:rPr>
              <a:t>PER-FRAME FEATURE VECTOR</a:t>
            </a:r>
            <a:endParaRPr lang="en-US" sz="600" dirty="0"/>
          </a:p>
        </p:txBody>
      </p:sp>
      <p:pic>
        <p:nvPicPr>
          <p:cNvPr id="35" name="Image 1" descr="/tmp/h2p-fit-1783829117550-n73usm.png">    </p:cNvPr>
          <p:cNvPicPr>
            <a:picLocks noChangeAspect="1"/>
          </p:cNvPicPr>
          <p:nvPr/>
        </p:nvPicPr>
        <p:blipFill>
          <a:blip r:embed="rId2"/>
          <a:stretch>
            <a:fillRect/>
          </a:stretch>
        </p:blipFill>
        <p:spPr>
          <a:xfrm>
            <a:off x="5235587" y="2747218"/>
            <a:ext cx="3286906" cy="928688"/>
          </a:xfrm>
          <a:prstGeom prst="rect">
            <a:avLst/>
          </a:prstGeom>
        </p:spPr>
      </p:pic>
      <p:sp>
        <p:nvSpPr>
          <p:cNvPr id="36" name="Text 31"/>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a:t>
            </a:r>
            <a:endParaRPr lang="en-US" sz="800" dirty="0"/>
          </a:p>
        </p:txBody>
      </p:sp>
      <p:sp>
        <p:nvSpPr>
          <p:cNvPr id="37" name="Text 32"/>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07 / 34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none" lIns="0" tIns="0" rIns="0" bIns="0" rtlCol="0" anchor="t"/>
          <a:lstStyle/>
          <a:p>
            <a:pPr algn="l" indent="0" marL="0">
              <a:lnSpc>
                <a:spcPts val="928"/>
              </a:lnSpc>
              <a:buNone/>
            </a:pPr>
            <a:r>
              <a:rPr lang="en-US" sz="800" b="1" spc="136" kern="0" dirty="0">
                <a:solidFill>
                  <a:srgbClr val="14B8A6"/>
                </a:solidFill>
                <a:latin typeface="Carlito" pitchFamily="34" charset="0"/>
                <a:ea typeface="Carlito" pitchFamily="34" charset="-122"/>
                <a:cs typeface="Carlito" pitchFamily="34" charset="-120"/>
              </a:rPr>
              <a:t>RESEARCH QUESTIONS</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303413"/>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Three Questions This Thesis Answers</a:t>
            </a:r>
            <a:endParaRPr lang="en-US" sz="2025" dirty="0"/>
          </a:p>
        </p:txBody>
      </p:sp>
      <p:sp>
        <p:nvSpPr>
          <p:cNvPr id="5" name="Text 3"/>
          <p:cNvSpPr/>
          <p:nvPr/>
        </p:nvSpPr>
        <p:spPr>
          <a:xfrm>
            <a:off x="457200" y="1013073"/>
            <a:ext cx="6572250" cy="191314"/>
          </a:xfrm>
          <a:prstGeom prst="rect">
            <a:avLst/>
          </a:prstGeom>
          <a:noFill/>
          <a:ln/>
        </p:spPr>
        <p:txBody>
          <a:bodyPr wrap="square" lIns="0" tIns="0" rIns="0" bIns="0" rtlCol="0" anchor="t"/>
          <a:lstStyle/>
          <a:p>
            <a:pPr algn="l" indent="0" marL="0">
              <a:lnSpc>
                <a:spcPts val="1395"/>
              </a:lnSpc>
              <a:buNone/>
            </a:pPr>
            <a:r>
              <a:rPr lang="en-US" sz="900" dirty="0">
                <a:solidFill>
                  <a:srgbClr val="5B6B82"/>
                </a:solidFill>
                <a:latin typeface="Carlito" pitchFamily="34" charset="0"/>
                <a:ea typeface="Carlito" pitchFamily="34" charset="-122"/>
                <a:cs typeface="Carlito" pitchFamily="34" charset="-120"/>
              </a:rPr>
              <a:t>RQ1 asks if it competes. RQ2 asks why it works. RQ3 asks how effective it is.</a:t>
            </a:r>
            <a:endParaRPr lang="en-US" sz="900" dirty="0"/>
          </a:p>
        </p:txBody>
      </p:sp>
      <p:sp>
        <p:nvSpPr>
          <p:cNvPr id="6" name="Text 4"/>
          <p:cNvSpPr/>
          <p:nvPr/>
        </p:nvSpPr>
        <p:spPr>
          <a:xfrm>
            <a:off x="460772" y="1293800"/>
            <a:ext cx="2650331" cy="3503228"/>
          </a:xfrm>
          <a:prstGeom prst="roundRect">
            <a:avLst>
              <a:gd name="adj" fmla="val 4313"/>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7" name="Text 5"/>
          <p:cNvSpPr/>
          <p:nvPr/>
        </p:nvSpPr>
        <p:spPr>
          <a:xfrm>
            <a:off x="607219" y="1297372"/>
            <a:ext cx="314325" cy="21431"/>
          </a:xfrm>
          <a:prstGeom prst="rect">
            <a:avLst/>
          </a:prstGeom>
          <a:solidFill>
            <a:srgbClr val="14B8A6"/>
          </a:solidFill>
          <a:ln/>
        </p:spPr>
        <p:txBody>
          <a:bodyPr wrap="square" rtlCol="0" anchor="ctr"/>
          <a:lstStyle/>
          <a:p>
            <a:pPr indent="0" marL="0">
              <a:buNone/>
            </a:pPr>
            <a:endParaRPr lang="en-US" dirty="0"/>
          </a:p>
        </p:txBody>
      </p:sp>
      <p:sp>
        <p:nvSpPr>
          <p:cNvPr id="8" name="Text 6"/>
          <p:cNvSpPr/>
          <p:nvPr/>
        </p:nvSpPr>
        <p:spPr>
          <a:xfrm>
            <a:off x="607219" y="1440247"/>
            <a:ext cx="2357438" cy="277749"/>
          </a:xfrm>
          <a:prstGeom prst="rect">
            <a:avLst/>
          </a:prstGeom>
          <a:noFill/>
          <a:ln/>
        </p:spPr>
        <p:txBody>
          <a:bodyPr wrap="none" lIns="0" tIns="0" rIns="0" bIns="0" rtlCol="0" anchor="t"/>
          <a:lstStyle/>
          <a:p>
            <a:pPr algn="l" indent="0" marL="0">
              <a:lnSpc>
                <a:spcPts val="2025"/>
              </a:lnSpc>
              <a:buNone/>
            </a:pPr>
            <a:r>
              <a:rPr lang="en-US" sz="2025" b="1" spc="-61" kern="0" dirty="0">
                <a:solidFill>
                  <a:srgbClr val="14B8A6"/>
                </a:solidFill>
                <a:latin typeface="Liberation Sans Narrow" pitchFamily="34" charset="0"/>
                <a:ea typeface="Liberation Sans Narrow" pitchFamily="34" charset="-122"/>
                <a:cs typeface="Liberation Sans Narrow" pitchFamily="34" charset="-120"/>
              </a:rPr>
              <a:t>01</a:t>
            </a:r>
            <a:endParaRPr lang="en-US" sz="2025" dirty="0"/>
          </a:p>
        </p:txBody>
      </p:sp>
      <p:sp>
        <p:nvSpPr>
          <p:cNvPr id="9" name="Text 7"/>
          <p:cNvSpPr/>
          <p:nvPr/>
        </p:nvSpPr>
        <p:spPr>
          <a:xfrm>
            <a:off x="607219" y="1768859"/>
            <a:ext cx="2357437" cy="164592"/>
          </a:xfrm>
          <a:prstGeom prst="rect">
            <a:avLst/>
          </a:prstGeom>
          <a:noFill/>
          <a:ln/>
        </p:spPr>
        <p:txBody>
          <a:bodyPr wrap="none" lIns="0" tIns="0" rIns="0" bIns="0" rtlCol="0" anchor="t"/>
          <a:lstStyle/>
          <a:p>
            <a:pPr algn="l" indent="0" marL="0">
              <a:lnSpc>
                <a:spcPts val="1013"/>
              </a:lnSpc>
              <a:buNone/>
            </a:pPr>
            <a:r>
              <a:rPr lang="en-US" sz="800" b="1" spc="122" kern="0" dirty="0">
                <a:solidFill>
                  <a:srgbClr val="5B6B82"/>
                </a:solidFill>
                <a:latin typeface="Liberation Sans Narrow" pitchFamily="34" charset="0"/>
                <a:ea typeface="Liberation Sans Narrow" pitchFamily="34" charset="-122"/>
                <a:cs typeface="Liberation Sans Narrow" pitchFamily="34" charset="-120"/>
              </a:rPr>
              <a:t>RQ1 </a:t>
            </a:r>
            <a:pPr algn="l" indent="0" marL="0">
              <a:lnSpc>
                <a:spcPts val="1013"/>
              </a:lnSpc>
              <a:buNone/>
            </a:pPr>
            <a:r>
              <a:rPr lang="en-US" sz="800" b="1" spc="122" kern="0" dirty="0">
                <a:solidFill>
                  <a:srgbClr val="8A97AB"/>
                </a:solidFill>
                <a:latin typeface="Carlito" pitchFamily="34" charset="0"/>
                <a:ea typeface="Carlito" pitchFamily="34" charset="-122"/>
                <a:cs typeface="Carlito" pitchFamily="34" charset="-120"/>
              </a:rPr>
              <a:t>·</a:t>
            </a:r>
            <a:pPr algn="l" indent="0" marL="0">
              <a:lnSpc>
                <a:spcPts val="1013"/>
              </a:lnSpc>
              <a:buNone/>
            </a:pPr>
            <a:r>
              <a:rPr lang="en-US" sz="800" b="1" spc="122" kern="0" dirty="0">
                <a:solidFill>
                  <a:srgbClr val="5B6B82"/>
                </a:solidFill>
                <a:latin typeface="Carlito" pitchFamily="34" charset="0"/>
                <a:ea typeface="Carlito" pitchFamily="34" charset="-122"/>
                <a:cs typeface="Carlito" pitchFamily="34" charset="-120"/>
              </a:rPr>
              <a:t> </a:t>
            </a:r>
            <a:pPr algn="l" indent="0" marL="0">
              <a:lnSpc>
                <a:spcPts val="1013"/>
              </a:lnSpc>
              <a:buNone/>
            </a:pPr>
            <a:r>
              <a:rPr lang="en-US" sz="800" b="1" spc="122" kern="0" dirty="0">
                <a:solidFill>
                  <a:srgbClr val="0F766E"/>
                </a:solidFill>
                <a:latin typeface="Carlito" pitchFamily="34" charset="0"/>
                <a:ea typeface="Carlito" pitchFamily="34" charset="-122"/>
                <a:cs typeface="Carlito" pitchFamily="34" charset="-120"/>
              </a:rPr>
              <a:t>PERFORMANCE</a:t>
            </a:r>
            <a:endParaRPr lang="en-US" sz="800" dirty="0"/>
          </a:p>
        </p:txBody>
      </p:sp>
      <p:sp>
        <p:nvSpPr>
          <p:cNvPr id="10" name="Text 8"/>
          <p:cNvSpPr/>
          <p:nvPr/>
        </p:nvSpPr>
        <p:spPr>
          <a:xfrm>
            <a:off x="607219" y="1968884"/>
            <a:ext cx="2357438" cy="1296162"/>
          </a:xfrm>
          <a:prstGeom prst="rect">
            <a:avLst/>
          </a:prstGeom>
          <a:noFill/>
          <a:ln/>
        </p:spPr>
        <p:txBody>
          <a:bodyPr wrap="square" lIns="0" tIns="0" rIns="0" bIns="0" rtlCol="0" anchor="t"/>
          <a:lstStyle/>
          <a:p>
            <a:pPr algn="l" indent="0" marL="0">
              <a:lnSpc>
                <a:spcPts val="1350"/>
              </a:lnSpc>
              <a:buNone/>
            </a:pPr>
            <a:r>
              <a:rPr lang="en-US" sz="900" dirty="0">
                <a:solidFill>
                  <a:srgbClr val="0F1F3D"/>
                </a:solidFill>
                <a:latin typeface="Carlito" pitchFamily="34" charset="0"/>
                <a:ea typeface="Carlito" pitchFamily="34" charset="-122"/>
                <a:cs typeface="Carlito" pitchFamily="34" charset="-120"/>
              </a:rPr>
              <a:t>To what extent can an </a:t>
            </a:r>
            <a:pPr algn="l" indent="0" marL="0">
              <a:lnSpc>
                <a:spcPts val="1350"/>
              </a:lnSpc>
              <a:buNone/>
            </a:pPr>
            <a:r>
              <a:rPr lang="en-US" sz="900" b="1" dirty="0">
                <a:solidFill>
                  <a:srgbClr val="0F766E"/>
                </a:solidFill>
                <a:latin typeface="Carlito" pitchFamily="34" charset="0"/>
                <a:ea typeface="Carlito" pitchFamily="34" charset="-122"/>
                <a:cs typeface="Carlito" pitchFamily="34" charset="-120"/>
              </a:rPr>
              <a:t>XGBoost-based classification model</a:t>
            </a:r>
            <a:pPr algn="l" indent="0" marL="0">
              <a:lnSpc>
                <a:spcPts val="1350"/>
              </a:lnSpc>
              <a:buNone/>
            </a:pPr>
            <a:r>
              <a:rPr lang="en-US" sz="900" dirty="0">
                <a:solidFill>
                  <a:srgbClr val="0F1F3D"/>
                </a:solidFill>
                <a:latin typeface="Carlito" pitchFamily="34" charset="0"/>
                <a:ea typeface="Carlito" pitchFamily="34" charset="-122"/>
                <a:cs typeface="Carlito" pitchFamily="34" charset="-120"/>
              </a:rPr>
              <a:t> achieve competitive accuracy compared to deep-learning baselines on the DAiSEE dataset for attention classification (boredom, engagement, confusion, frustration)?</a:t>
            </a:r>
            <a:endParaRPr lang="en-US" sz="900" dirty="0"/>
          </a:p>
        </p:txBody>
      </p:sp>
      <p:sp>
        <p:nvSpPr>
          <p:cNvPr id="11" name="Text 9"/>
          <p:cNvSpPr/>
          <p:nvPr/>
        </p:nvSpPr>
        <p:spPr>
          <a:xfrm>
            <a:off x="607219" y="3656261"/>
            <a:ext cx="2357438" cy="7144"/>
          </a:xfrm>
          <a:prstGeom prst="rect">
            <a:avLst/>
          </a:prstGeom>
          <a:solidFill>
            <a:srgbClr val="E8EDF4"/>
          </a:solidFill>
          <a:ln/>
        </p:spPr>
        <p:txBody>
          <a:bodyPr wrap="square" rtlCol="0" anchor="ctr"/>
          <a:lstStyle/>
          <a:p>
            <a:pPr indent="0" marL="0">
              <a:buNone/>
            </a:pPr>
            <a:endParaRPr lang="en-US" dirty="0"/>
          </a:p>
        </p:txBody>
      </p:sp>
      <p:sp>
        <p:nvSpPr>
          <p:cNvPr id="12" name="Text 10"/>
          <p:cNvSpPr/>
          <p:nvPr/>
        </p:nvSpPr>
        <p:spPr>
          <a:xfrm>
            <a:off x="584359" y="3737342"/>
            <a:ext cx="1550261" cy="220028"/>
          </a:xfrm>
          <a:prstGeom prst="roundRect">
            <a:avLst>
              <a:gd name="adj" fmla="val 17316"/>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13" name="Text 11"/>
          <p:cNvSpPr/>
          <p:nvPr/>
        </p:nvSpPr>
        <p:spPr>
          <a:xfrm>
            <a:off x="607219" y="3749129"/>
            <a:ext cx="1504541" cy="196453"/>
          </a:xfrm>
          <a:prstGeom prst="rect">
            <a:avLst/>
          </a:prstGeom>
          <a:noFill/>
          <a:ln/>
        </p:spPr>
        <p:txBody>
          <a:bodyPr wrap="none" lIns="0" tIns="0" rIns="0" bIns="0" rtlCol="0" anchor="ctr"/>
          <a:lstStyle/>
          <a:p>
            <a:pPr algn="ctr" indent="0" marL="0">
              <a:lnSpc>
                <a:spcPts val="1097"/>
              </a:lnSpc>
              <a:buNone/>
            </a:pPr>
            <a:r>
              <a:rPr lang="en-US" sz="800" spc="29" kern="0" dirty="0">
                <a:solidFill>
                  <a:srgbClr val="0F1F3D"/>
                </a:solidFill>
                <a:latin typeface="Carlito" pitchFamily="34" charset="0"/>
                <a:ea typeface="Carlito" pitchFamily="34" charset="-122"/>
                <a:cs typeface="Carlito" pitchFamily="34" charset="-120"/>
              </a:rPr>
              <a:t>XGBoost vs DL baselines</a:t>
            </a:r>
            <a:endParaRPr lang="en-US" sz="800" dirty="0"/>
          </a:p>
        </p:txBody>
      </p:sp>
      <p:sp>
        <p:nvSpPr>
          <p:cNvPr id="14" name="Text 12"/>
          <p:cNvSpPr/>
          <p:nvPr/>
        </p:nvSpPr>
        <p:spPr>
          <a:xfrm>
            <a:off x="584359" y="3976658"/>
            <a:ext cx="1071518" cy="220028"/>
          </a:xfrm>
          <a:prstGeom prst="roundRect">
            <a:avLst>
              <a:gd name="adj" fmla="val 17316"/>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15" name="Text 13"/>
          <p:cNvSpPr/>
          <p:nvPr/>
        </p:nvSpPr>
        <p:spPr>
          <a:xfrm>
            <a:off x="607219" y="3988445"/>
            <a:ext cx="1025798" cy="196453"/>
          </a:xfrm>
          <a:prstGeom prst="rect">
            <a:avLst/>
          </a:prstGeom>
          <a:noFill/>
          <a:ln/>
        </p:spPr>
        <p:txBody>
          <a:bodyPr wrap="none" lIns="0" tIns="0" rIns="0" bIns="0" rtlCol="0" anchor="ctr"/>
          <a:lstStyle/>
          <a:p>
            <a:pPr algn="ctr" indent="0" marL="0">
              <a:lnSpc>
                <a:spcPts val="1097"/>
              </a:lnSpc>
              <a:buNone/>
            </a:pPr>
            <a:r>
              <a:rPr lang="en-US" sz="800" spc="29" kern="0" dirty="0">
                <a:solidFill>
                  <a:srgbClr val="0F1F3D"/>
                </a:solidFill>
                <a:latin typeface="Liberation Sans Narrow" pitchFamily="34" charset="0"/>
                <a:ea typeface="Liberation Sans Narrow" pitchFamily="34" charset="-122"/>
                <a:cs typeface="Liberation Sans Narrow" pitchFamily="34" charset="-120"/>
              </a:rPr>
              <a:t>DAiSEE · 4-class</a:t>
            </a:r>
            <a:endParaRPr lang="en-US" sz="800" dirty="0"/>
          </a:p>
        </p:txBody>
      </p:sp>
      <p:sp>
        <p:nvSpPr>
          <p:cNvPr id="16" name="Text 14"/>
          <p:cNvSpPr/>
          <p:nvPr/>
        </p:nvSpPr>
        <p:spPr>
          <a:xfrm>
            <a:off x="607219" y="4270623"/>
            <a:ext cx="2357438" cy="394246"/>
          </a:xfrm>
          <a:prstGeom prst="roundRect">
            <a:avLst>
              <a:gd name="adj" fmla="val 14496"/>
            </a:avLst>
          </a:prstGeom>
          <a:solidFill>
            <a:srgbClr val="14B8A6">
              <a:alpha val="8000"/>
            </a:srgbClr>
          </a:solidFill>
          <a:ln/>
        </p:spPr>
        <p:txBody>
          <a:bodyPr wrap="square" rtlCol="0" anchor="ctr"/>
          <a:lstStyle/>
          <a:p>
            <a:pPr indent="0" marL="0">
              <a:buNone/>
            </a:pPr>
            <a:endParaRPr lang="en-US" dirty="0"/>
          </a:p>
        </p:txBody>
      </p:sp>
      <p:sp>
        <p:nvSpPr>
          <p:cNvPr id="17" name="Shape 15"/>
          <p:cNvSpPr/>
          <p:nvPr/>
        </p:nvSpPr>
        <p:spPr>
          <a:xfrm>
            <a:off x="614363" y="4270623"/>
            <a:ext cx="0" cy="394246"/>
          </a:xfrm>
          <a:prstGeom prst="line">
            <a:avLst/>
          </a:prstGeom>
          <a:noFill/>
          <a:ln w="14288">
            <a:solidFill>
              <a:srgbClr val="14B8A6"/>
            </a:solidFill>
            <a:prstDash val="solid"/>
          </a:ln>
        </p:spPr>
      </p:sp>
      <p:sp>
        <p:nvSpPr>
          <p:cNvPr id="18" name="Text 16"/>
          <p:cNvSpPr/>
          <p:nvPr/>
        </p:nvSpPr>
        <p:spPr>
          <a:xfrm>
            <a:off x="607219" y="4270623"/>
            <a:ext cx="2357438" cy="394246"/>
          </a:xfrm>
          <a:prstGeom prst="rect">
            <a:avLst/>
          </a:prstGeom>
          <a:noFill/>
          <a:ln/>
        </p:spPr>
        <p:txBody>
          <a:bodyPr wrap="square" lIns="71438" tIns="57150" rIns="71438" bIns="57150" rtlCol="0" anchor="t"/>
          <a:lstStyle/>
          <a:p>
            <a:pPr algn="l" indent="0" marL="0">
              <a:lnSpc>
                <a:spcPts val="1103"/>
              </a:lnSpc>
              <a:buNone/>
            </a:pPr>
            <a:r>
              <a:rPr lang="en-US" sz="800" dirty="0">
                <a:solidFill>
                  <a:srgbClr val="0F766E"/>
                </a:solidFill>
                <a:latin typeface="Segoe UI Symbol" pitchFamily="34" charset="0"/>
                <a:ea typeface="Segoe UI Symbol" pitchFamily="34" charset="-122"/>
                <a:cs typeface="Segoe UI Symbol" pitchFamily="34" charset="-120"/>
              </a:rPr>
              <a:t>→</a:t>
            </a:r>
            <a:pPr algn="l" indent="0" marL="0">
              <a:lnSpc>
                <a:spcPts val="1103"/>
              </a:lnSpc>
              <a:buNone/>
            </a:pPr>
            <a:r>
              <a:rPr lang="en-US" sz="800" dirty="0">
                <a:solidFill>
                  <a:srgbClr val="0F766E"/>
                </a:solidFill>
                <a:latin typeface="Carlito" pitchFamily="34" charset="0"/>
                <a:ea typeface="Carlito" pitchFamily="34" charset="-122"/>
                <a:cs typeface="Carlito" pitchFamily="34" charset="-120"/>
              </a:rPr>
              <a:t>Answered on Slide 20 — numerical performance comparison.</a:t>
            </a:r>
            <a:endParaRPr lang="en-US" sz="800" dirty="0"/>
          </a:p>
        </p:txBody>
      </p:sp>
      <p:sp>
        <p:nvSpPr>
          <p:cNvPr id="19" name="Text 17"/>
          <p:cNvSpPr/>
          <p:nvPr/>
        </p:nvSpPr>
        <p:spPr>
          <a:xfrm>
            <a:off x="3246834" y="1293800"/>
            <a:ext cx="2650331" cy="3503228"/>
          </a:xfrm>
          <a:prstGeom prst="roundRect">
            <a:avLst>
              <a:gd name="adj" fmla="val 4313"/>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20" name="Text 18"/>
          <p:cNvSpPr/>
          <p:nvPr/>
        </p:nvSpPr>
        <p:spPr>
          <a:xfrm>
            <a:off x="3393281" y="1297372"/>
            <a:ext cx="314325" cy="21431"/>
          </a:xfrm>
          <a:prstGeom prst="rect">
            <a:avLst/>
          </a:prstGeom>
          <a:solidFill>
            <a:srgbClr val="14B8A6"/>
          </a:solidFill>
          <a:ln/>
        </p:spPr>
        <p:txBody>
          <a:bodyPr wrap="square" rtlCol="0" anchor="ctr"/>
          <a:lstStyle/>
          <a:p>
            <a:pPr indent="0" marL="0">
              <a:buNone/>
            </a:pPr>
            <a:endParaRPr lang="en-US" dirty="0"/>
          </a:p>
        </p:txBody>
      </p:sp>
      <p:sp>
        <p:nvSpPr>
          <p:cNvPr id="21" name="Text 19"/>
          <p:cNvSpPr/>
          <p:nvPr/>
        </p:nvSpPr>
        <p:spPr>
          <a:xfrm>
            <a:off x="3393281" y="1440247"/>
            <a:ext cx="2357438" cy="277749"/>
          </a:xfrm>
          <a:prstGeom prst="rect">
            <a:avLst/>
          </a:prstGeom>
          <a:noFill/>
          <a:ln/>
        </p:spPr>
        <p:txBody>
          <a:bodyPr wrap="none" lIns="0" tIns="0" rIns="0" bIns="0" rtlCol="0" anchor="t"/>
          <a:lstStyle/>
          <a:p>
            <a:pPr algn="l" indent="0" marL="0">
              <a:lnSpc>
                <a:spcPts val="2025"/>
              </a:lnSpc>
              <a:buNone/>
            </a:pPr>
            <a:r>
              <a:rPr lang="en-US" sz="2025" b="1" spc="-61" kern="0" dirty="0">
                <a:solidFill>
                  <a:srgbClr val="14B8A6"/>
                </a:solidFill>
                <a:latin typeface="Liberation Sans Narrow" pitchFamily="34" charset="0"/>
                <a:ea typeface="Liberation Sans Narrow" pitchFamily="34" charset="-122"/>
                <a:cs typeface="Liberation Sans Narrow" pitchFamily="34" charset="-120"/>
              </a:rPr>
              <a:t>02</a:t>
            </a:r>
            <a:endParaRPr lang="en-US" sz="2025" dirty="0"/>
          </a:p>
        </p:txBody>
      </p:sp>
      <p:sp>
        <p:nvSpPr>
          <p:cNvPr id="22" name="Text 20"/>
          <p:cNvSpPr/>
          <p:nvPr/>
        </p:nvSpPr>
        <p:spPr>
          <a:xfrm>
            <a:off x="3393281" y="1768859"/>
            <a:ext cx="2357438" cy="164592"/>
          </a:xfrm>
          <a:prstGeom prst="rect">
            <a:avLst/>
          </a:prstGeom>
          <a:noFill/>
          <a:ln/>
        </p:spPr>
        <p:txBody>
          <a:bodyPr wrap="none" lIns="0" tIns="0" rIns="0" bIns="0" rtlCol="0" anchor="t"/>
          <a:lstStyle/>
          <a:p>
            <a:pPr algn="l" indent="0" marL="0">
              <a:lnSpc>
                <a:spcPts val="1097"/>
              </a:lnSpc>
              <a:buNone/>
            </a:pPr>
            <a:r>
              <a:rPr lang="en-US" sz="800" b="1" spc="132" kern="0" dirty="0">
                <a:solidFill>
                  <a:srgbClr val="5B6B82"/>
                </a:solidFill>
                <a:latin typeface="Liberation Sans Narrow" pitchFamily="34" charset="0"/>
                <a:ea typeface="Liberation Sans Narrow" pitchFamily="34" charset="-122"/>
                <a:cs typeface="Liberation Sans Narrow" pitchFamily="34" charset="-120"/>
              </a:rPr>
              <a:t>RQ2 </a:t>
            </a:r>
            <a:pPr algn="l" indent="0" marL="0">
              <a:lnSpc>
                <a:spcPts val="1097"/>
              </a:lnSpc>
              <a:buNone/>
            </a:pPr>
            <a:r>
              <a:rPr lang="en-US" sz="800" b="1" spc="132" kern="0" dirty="0">
                <a:solidFill>
                  <a:srgbClr val="8A97AB"/>
                </a:solidFill>
                <a:latin typeface="Carlito" pitchFamily="34" charset="0"/>
                <a:ea typeface="Carlito" pitchFamily="34" charset="-122"/>
                <a:cs typeface="Carlito" pitchFamily="34" charset="-120"/>
              </a:rPr>
              <a:t>·</a:t>
            </a:r>
            <a:pPr algn="l" indent="0" marL="0">
              <a:lnSpc>
                <a:spcPts val="1097"/>
              </a:lnSpc>
              <a:buNone/>
            </a:pPr>
            <a:r>
              <a:rPr lang="en-US" sz="800" b="1" spc="132" kern="0" dirty="0">
                <a:solidFill>
                  <a:srgbClr val="5B6B82"/>
                </a:solidFill>
                <a:latin typeface="Carlito" pitchFamily="34" charset="0"/>
                <a:ea typeface="Carlito" pitchFamily="34" charset="-122"/>
                <a:cs typeface="Carlito" pitchFamily="34" charset="-120"/>
              </a:rPr>
              <a:t> </a:t>
            </a:r>
            <a:pPr algn="l" indent="0" marL="0">
              <a:lnSpc>
                <a:spcPts val="1097"/>
              </a:lnSpc>
              <a:buNone/>
            </a:pPr>
            <a:r>
              <a:rPr lang="en-US" sz="800" b="1" spc="132" kern="0" dirty="0">
                <a:solidFill>
                  <a:srgbClr val="0F766E"/>
                </a:solidFill>
                <a:latin typeface="Carlito" pitchFamily="34" charset="0"/>
                <a:ea typeface="Carlito" pitchFamily="34" charset="-122"/>
                <a:cs typeface="Carlito" pitchFamily="34" charset="-120"/>
              </a:rPr>
              <a:t>INTERPRETABILITY</a:t>
            </a:r>
            <a:endParaRPr lang="en-US" sz="800" dirty="0"/>
          </a:p>
        </p:txBody>
      </p:sp>
      <p:sp>
        <p:nvSpPr>
          <p:cNvPr id="23" name="Text 21"/>
          <p:cNvSpPr/>
          <p:nvPr/>
        </p:nvSpPr>
        <p:spPr>
          <a:xfrm>
            <a:off x="3393281" y="1979600"/>
            <a:ext cx="2357438" cy="1296162"/>
          </a:xfrm>
          <a:prstGeom prst="rect">
            <a:avLst/>
          </a:prstGeom>
          <a:noFill/>
          <a:ln/>
        </p:spPr>
        <p:txBody>
          <a:bodyPr wrap="square" lIns="0" tIns="0" rIns="0" bIns="0" rtlCol="0" anchor="t"/>
          <a:lstStyle/>
          <a:p>
            <a:pPr algn="l" indent="0" marL="0">
              <a:lnSpc>
                <a:spcPts val="1350"/>
              </a:lnSpc>
              <a:buNone/>
            </a:pPr>
            <a:r>
              <a:rPr lang="en-US" sz="900" dirty="0">
                <a:solidFill>
                  <a:srgbClr val="0F1F3D"/>
                </a:solidFill>
                <a:latin typeface="Carlito" pitchFamily="34" charset="0"/>
                <a:ea typeface="Carlito" pitchFamily="34" charset="-122"/>
                <a:cs typeface="Carlito" pitchFamily="34" charset="-120"/>
              </a:rPr>
              <a:t>Which extracted facial features — geometric landmarks, temporal dynamics, statistical descriptors — are most discriminative for classifying learner attention levels, and </a:t>
            </a:r>
            <a:pPr algn="l" indent="0" marL="0">
              <a:lnSpc>
                <a:spcPts val="1350"/>
              </a:lnSpc>
              <a:buNone/>
            </a:pPr>
            <a:r>
              <a:rPr lang="en-US" sz="900" b="1" dirty="0">
                <a:solidFill>
                  <a:srgbClr val="0F766E"/>
                </a:solidFill>
                <a:latin typeface="Carlito" pitchFamily="34" charset="0"/>
                <a:ea typeface="Carlito" pitchFamily="34" charset="-122"/>
                <a:cs typeface="Carlito" pitchFamily="34" charset="-120"/>
              </a:rPr>
              <a:t>how do their relative importances vary across the four affective states</a:t>
            </a:r>
            <a:pPr algn="l" indent="0" marL="0">
              <a:lnSpc>
                <a:spcPts val="1350"/>
              </a:lnSpc>
              <a:buNone/>
            </a:pPr>
            <a:r>
              <a:rPr lang="en-US" sz="900" dirty="0">
                <a:solidFill>
                  <a:srgbClr val="0F1F3D"/>
                </a:solidFill>
                <a:latin typeface="Carlito" pitchFamily="34" charset="0"/>
                <a:ea typeface="Carlito" pitchFamily="34" charset="-122"/>
                <a:cs typeface="Carlito" pitchFamily="34" charset="-120"/>
              </a:rPr>
              <a:t>?</a:t>
            </a:r>
            <a:endParaRPr lang="en-US" sz="900" dirty="0"/>
          </a:p>
        </p:txBody>
      </p:sp>
      <p:sp>
        <p:nvSpPr>
          <p:cNvPr id="24" name="Text 22"/>
          <p:cNvSpPr/>
          <p:nvPr/>
        </p:nvSpPr>
        <p:spPr>
          <a:xfrm>
            <a:off x="3393281" y="3666976"/>
            <a:ext cx="2357438" cy="7144"/>
          </a:xfrm>
          <a:prstGeom prst="rect">
            <a:avLst/>
          </a:prstGeom>
          <a:solidFill>
            <a:srgbClr val="E8EDF4"/>
          </a:solidFill>
          <a:ln/>
        </p:spPr>
        <p:txBody>
          <a:bodyPr wrap="square" rtlCol="0" anchor="ctr"/>
          <a:lstStyle/>
          <a:p>
            <a:pPr indent="0" marL="0">
              <a:buNone/>
            </a:pPr>
            <a:endParaRPr lang="en-US" dirty="0"/>
          </a:p>
        </p:txBody>
      </p:sp>
      <p:sp>
        <p:nvSpPr>
          <p:cNvPr id="25" name="Text 23"/>
          <p:cNvSpPr/>
          <p:nvPr/>
        </p:nvSpPr>
        <p:spPr>
          <a:xfrm>
            <a:off x="3370421" y="3748058"/>
            <a:ext cx="1321214" cy="220028"/>
          </a:xfrm>
          <a:prstGeom prst="roundRect">
            <a:avLst>
              <a:gd name="adj" fmla="val 17316"/>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26" name="Text 24"/>
          <p:cNvSpPr/>
          <p:nvPr/>
        </p:nvSpPr>
        <p:spPr>
          <a:xfrm>
            <a:off x="3393281" y="3759845"/>
            <a:ext cx="1275494" cy="196453"/>
          </a:xfrm>
          <a:prstGeom prst="rect">
            <a:avLst/>
          </a:prstGeom>
          <a:noFill/>
          <a:ln/>
        </p:spPr>
        <p:txBody>
          <a:bodyPr wrap="none" lIns="0" tIns="0" rIns="0" bIns="0" rtlCol="0" anchor="ctr"/>
          <a:lstStyle/>
          <a:p>
            <a:pPr algn="ctr" indent="0" marL="0">
              <a:lnSpc>
                <a:spcPts val="1097"/>
              </a:lnSpc>
              <a:buNone/>
            </a:pPr>
            <a:r>
              <a:rPr lang="en-US" sz="800" spc="29" kern="0" dirty="0">
                <a:solidFill>
                  <a:srgbClr val="0F1F3D"/>
                </a:solidFill>
                <a:latin typeface="Carlito" pitchFamily="34" charset="0"/>
                <a:ea typeface="Carlito" pitchFamily="34" charset="-122"/>
                <a:cs typeface="Carlito" pitchFamily="34" charset="-120"/>
              </a:rPr>
              <a:t>SHAP + Permutation</a:t>
            </a:r>
            <a:endParaRPr lang="en-US" sz="800" dirty="0"/>
          </a:p>
        </p:txBody>
      </p:sp>
      <p:sp>
        <p:nvSpPr>
          <p:cNvPr id="27" name="Text 25"/>
          <p:cNvSpPr/>
          <p:nvPr/>
        </p:nvSpPr>
        <p:spPr>
          <a:xfrm>
            <a:off x="3370421" y="3988016"/>
            <a:ext cx="1385620" cy="208026"/>
          </a:xfrm>
          <a:prstGeom prst="roundRect">
            <a:avLst>
              <a:gd name="adj" fmla="val 18315"/>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28" name="Text 26"/>
          <p:cNvSpPr/>
          <p:nvPr/>
        </p:nvSpPr>
        <p:spPr>
          <a:xfrm>
            <a:off x="3393281" y="3999161"/>
            <a:ext cx="1339900" cy="185738"/>
          </a:xfrm>
          <a:prstGeom prst="rect">
            <a:avLst/>
          </a:prstGeom>
          <a:noFill/>
          <a:ln/>
        </p:spPr>
        <p:txBody>
          <a:bodyPr wrap="none" lIns="0" tIns="0" rIns="0" bIns="0" rtlCol="0" anchor="ctr"/>
          <a:lstStyle/>
          <a:p>
            <a:pPr algn="ctr" indent="0" marL="0">
              <a:lnSpc>
                <a:spcPts val="1013"/>
              </a:lnSpc>
              <a:buNone/>
            </a:pPr>
            <a:r>
              <a:rPr lang="en-US" sz="800" spc="27" kern="0" dirty="0">
                <a:solidFill>
                  <a:srgbClr val="0F1F3D"/>
                </a:solidFill>
                <a:latin typeface="Carlito" pitchFamily="34" charset="0"/>
                <a:ea typeface="Carlito" pitchFamily="34" charset="-122"/>
                <a:cs typeface="Carlito" pitchFamily="34" charset="-120"/>
              </a:rPr>
              <a:t>Per-state feature ranks</a:t>
            </a:r>
            <a:endParaRPr lang="en-US" sz="800" dirty="0"/>
          </a:p>
        </p:txBody>
      </p:sp>
      <p:sp>
        <p:nvSpPr>
          <p:cNvPr id="29" name="Text 27"/>
          <p:cNvSpPr/>
          <p:nvPr/>
        </p:nvSpPr>
        <p:spPr>
          <a:xfrm>
            <a:off x="3393281" y="4270623"/>
            <a:ext cx="2357438" cy="394246"/>
          </a:xfrm>
          <a:prstGeom prst="roundRect">
            <a:avLst>
              <a:gd name="adj" fmla="val 14496"/>
            </a:avLst>
          </a:prstGeom>
          <a:solidFill>
            <a:srgbClr val="14B8A6">
              <a:alpha val="8000"/>
            </a:srgbClr>
          </a:solidFill>
          <a:ln/>
        </p:spPr>
        <p:txBody>
          <a:bodyPr wrap="square" rtlCol="0" anchor="ctr"/>
          <a:lstStyle/>
          <a:p>
            <a:pPr indent="0" marL="0">
              <a:buNone/>
            </a:pPr>
            <a:endParaRPr lang="en-US" dirty="0"/>
          </a:p>
        </p:txBody>
      </p:sp>
      <p:sp>
        <p:nvSpPr>
          <p:cNvPr id="30" name="Shape 28"/>
          <p:cNvSpPr/>
          <p:nvPr/>
        </p:nvSpPr>
        <p:spPr>
          <a:xfrm>
            <a:off x="3400425" y="4270623"/>
            <a:ext cx="0" cy="394246"/>
          </a:xfrm>
          <a:prstGeom prst="line">
            <a:avLst/>
          </a:prstGeom>
          <a:noFill/>
          <a:ln w="14288">
            <a:solidFill>
              <a:srgbClr val="14B8A6"/>
            </a:solidFill>
            <a:prstDash val="solid"/>
          </a:ln>
        </p:spPr>
      </p:sp>
      <p:sp>
        <p:nvSpPr>
          <p:cNvPr id="31" name="Text 29"/>
          <p:cNvSpPr/>
          <p:nvPr/>
        </p:nvSpPr>
        <p:spPr>
          <a:xfrm>
            <a:off x="3393281" y="4270623"/>
            <a:ext cx="2357438" cy="394246"/>
          </a:xfrm>
          <a:prstGeom prst="rect">
            <a:avLst/>
          </a:prstGeom>
          <a:noFill/>
          <a:ln/>
        </p:spPr>
        <p:txBody>
          <a:bodyPr wrap="square" lIns="71438" tIns="57150" rIns="71438" bIns="57150" rtlCol="0" anchor="t"/>
          <a:lstStyle/>
          <a:p>
            <a:pPr algn="l" indent="0" marL="0">
              <a:lnSpc>
                <a:spcPts val="1103"/>
              </a:lnSpc>
              <a:buNone/>
            </a:pPr>
            <a:r>
              <a:rPr lang="en-US" sz="800" dirty="0">
                <a:solidFill>
                  <a:srgbClr val="0F766E"/>
                </a:solidFill>
                <a:latin typeface="Segoe UI Symbol" pitchFamily="34" charset="0"/>
                <a:ea typeface="Segoe UI Symbol" pitchFamily="34" charset="-122"/>
                <a:cs typeface="Segoe UI Symbol" pitchFamily="34" charset="-120"/>
              </a:rPr>
              <a:t>→</a:t>
            </a:r>
            <a:pPr algn="l" indent="0" marL="0">
              <a:lnSpc>
                <a:spcPts val="1103"/>
              </a:lnSpc>
              <a:buNone/>
            </a:pPr>
            <a:r>
              <a:rPr lang="en-US" sz="800" dirty="0">
                <a:solidFill>
                  <a:srgbClr val="0F766E"/>
                </a:solidFill>
                <a:latin typeface="Carlito" pitchFamily="34" charset="0"/>
                <a:ea typeface="Carlito" pitchFamily="34" charset="-122"/>
                <a:cs typeface="Carlito" pitchFamily="34" charset="-120"/>
              </a:rPr>
              <a:t>Answered on Slides 22–27 — SHAP and permutation importance per state.</a:t>
            </a:r>
            <a:endParaRPr lang="en-US" sz="800" dirty="0"/>
          </a:p>
        </p:txBody>
      </p:sp>
      <p:sp>
        <p:nvSpPr>
          <p:cNvPr id="32" name="Text 30"/>
          <p:cNvSpPr/>
          <p:nvPr/>
        </p:nvSpPr>
        <p:spPr>
          <a:xfrm>
            <a:off x="6032897" y="1293800"/>
            <a:ext cx="2650331" cy="3503228"/>
          </a:xfrm>
          <a:prstGeom prst="roundRect">
            <a:avLst>
              <a:gd name="adj" fmla="val 4313"/>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33" name="Text 31"/>
          <p:cNvSpPr/>
          <p:nvPr/>
        </p:nvSpPr>
        <p:spPr>
          <a:xfrm>
            <a:off x="6179344" y="1297372"/>
            <a:ext cx="314325" cy="21431"/>
          </a:xfrm>
          <a:prstGeom prst="rect">
            <a:avLst/>
          </a:prstGeom>
          <a:solidFill>
            <a:srgbClr val="14B8A6"/>
          </a:solidFill>
          <a:ln/>
        </p:spPr>
        <p:txBody>
          <a:bodyPr wrap="square" rtlCol="0" anchor="ctr"/>
          <a:lstStyle/>
          <a:p>
            <a:pPr indent="0" marL="0">
              <a:buNone/>
            </a:pPr>
            <a:endParaRPr lang="en-US" dirty="0"/>
          </a:p>
        </p:txBody>
      </p:sp>
      <p:sp>
        <p:nvSpPr>
          <p:cNvPr id="34" name="Text 32"/>
          <p:cNvSpPr/>
          <p:nvPr/>
        </p:nvSpPr>
        <p:spPr>
          <a:xfrm>
            <a:off x="6179344" y="1440247"/>
            <a:ext cx="2357438" cy="277749"/>
          </a:xfrm>
          <a:prstGeom prst="rect">
            <a:avLst/>
          </a:prstGeom>
          <a:noFill/>
          <a:ln/>
        </p:spPr>
        <p:txBody>
          <a:bodyPr wrap="none" lIns="0" tIns="0" rIns="0" bIns="0" rtlCol="0" anchor="t"/>
          <a:lstStyle/>
          <a:p>
            <a:pPr algn="l" indent="0" marL="0">
              <a:lnSpc>
                <a:spcPts val="2025"/>
              </a:lnSpc>
              <a:buNone/>
            </a:pPr>
            <a:r>
              <a:rPr lang="en-US" sz="2025" b="1" spc="-61" kern="0" dirty="0">
                <a:solidFill>
                  <a:srgbClr val="14B8A6"/>
                </a:solidFill>
                <a:latin typeface="Liberation Sans Narrow" pitchFamily="34" charset="0"/>
                <a:ea typeface="Liberation Sans Narrow" pitchFamily="34" charset="-122"/>
                <a:cs typeface="Liberation Sans Narrow" pitchFamily="34" charset="-120"/>
              </a:rPr>
              <a:t>03</a:t>
            </a:r>
            <a:endParaRPr lang="en-US" sz="2025" dirty="0"/>
          </a:p>
        </p:txBody>
      </p:sp>
      <p:sp>
        <p:nvSpPr>
          <p:cNvPr id="35" name="Text 33"/>
          <p:cNvSpPr/>
          <p:nvPr/>
        </p:nvSpPr>
        <p:spPr>
          <a:xfrm>
            <a:off x="6179344" y="1768859"/>
            <a:ext cx="2357437" cy="164592"/>
          </a:xfrm>
          <a:prstGeom prst="rect">
            <a:avLst/>
          </a:prstGeom>
          <a:noFill/>
          <a:ln/>
        </p:spPr>
        <p:txBody>
          <a:bodyPr wrap="none" lIns="0" tIns="0" rIns="0" bIns="0" rtlCol="0" anchor="t"/>
          <a:lstStyle/>
          <a:p>
            <a:pPr algn="l" indent="0" marL="0">
              <a:lnSpc>
                <a:spcPts val="1097"/>
              </a:lnSpc>
              <a:buNone/>
            </a:pPr>
            <a:r>
              <a:rPr lang="en-US" sz="800" b="1" spc="132" kern="0" dirty="0">
                <a:solidFill>
                  <a:srgbClr val="5B6B82"/>
                </a:solidFill>
                <a:latin typeface="Liberation Sans Narrow" pitchFamily="34" charset="0"/>
                <a:ea typeface="Liberation Sans Narrow" pitchFamily="34" charset="-122"/>
                <a:cs typeface="Liberation Sans Narrow" pitchFamily="34" charset="-120"/>
              </a:rPr>
              <a:t>RQ3 </a:t>
            </a:r>
            <a:pPr algn="l" indent="0" marL="0">
              <a:lnSpc>
                <a:spcPts val="1097"/>
              </a:lnSpc>
              <a:buNone/>
            </a:pPr>
            <a:r>
              <a:rPr lang="en-US" sz="800" b="1" spc="132" kern="0" dirty="0">
                <a:solidFill>
                  <a:srgbClr val="8A97AB"/>
                </a:solidFill>
                <a:latin typeface="Carlito" pitchFamily="34" charset="0"/>
                <a:ea typeface="Carlito" pitchFamily="34" charset="-122"/>
                <a:cs typeface="Carlito" pitchFamily="34" charset="-120"/>
              </a:rPr>
              <a:t>·</a:t>
            </a:r>
            <a:pPr algn="l" indent="0" marL="0">
              <a:lnSpc>
                <a:spcPts val="1097"/>
              </a:lnSpc>
              <a:buNone/>
            </a:pPr>
            <a:r>
              <a:rPr lang="en-US" sz="800" b="1" spc="132" kern="0" dirty="0">
                <a:solidFill>
                  <a:srgbClr val="5B6B82"/>
                </a:solidFill>
                <a:latin typeface="Carlito" pitchFamily="34" charset="0"/>
                <a:ea typeface="Carlito" pitchFamily="34" charset="-122"/>
                <a:cs typeface="Carlito" pitchFamily="34" charset="-120"/>
              </a:rPr>
              <a:t> </a:t>
            </a:r>
            <a:pPr algn="l" indent="0" marL="0">
              <a:lnSpc>
                <a:spcPts val="1097"/>
              </a:lnSpc>
              <a:buNone/>
            </a:pPr>
            <a:r>
              <a:rPr lang="en-US" sz="800" b="1" spc="132" kern="0" dirty="0">
                <a:solidFill>
                  <a:srgbClr val="0F766E"/>
                </a:solidFill>
                <a:latin typeface="Carlito" pitchFamily="34" charset="0"/>
                <a:ea typeface="Carlito" pitchFamily="34" charset="-122"/>
                <a:cs typeface="Carlito" pitchFamily="34" charset="-120"/>
              </a:rPr>
              <a:t>ROBUSTNESS</a:t>
            </a:r>
            <a:endParaRPr lang="en-US" sz="800" dirty="0"/>
          </a:p>
        </p:txBody>
      </p:sp>
      <p:sp>
        <p:nvSpPr>
          <p:cNvPr id="36" name="Text 34"/>
          <p:cNvSpPr/>
          <p:nvPr/>
        </p:nvSpPr>
        <p:spPr>
          <a:xfrm>
            <a:off x="6179344" y="1979600"/>
            <a:ext cx="2357438" cy="1296162"/>
          </a:xfrm>
          <a:prstGeom prst="rect">
            <a:avLst/>
          </a:prstGeom>
          <a:noFill/>
          <a:ln/>
        </p:spPr>
        <p:txBody>
          <a:bodyPr wrap="square" lIns="0" tIns="0" rIns="0" bIns="0" rtlCol="0" anchor="t"/>
          <a:lstStyle/>
          <a:p>
            <a:pPr algn="l" indent="0" marL="0">
              <a:lnSpc>
                <a:spcPts val="1350"/>
              </a:lnSpc>
              <a:buNone/>
            </a:pPr>
            <a:r>
              <a:rPr lang="en-US" sz="900" dirty="0">
                <a:solidFill>
                  <a:srgbClr val="0F1F3D"/>
                </a:solidFill>
                <a:latin typeface="Carlito" pitchFamily="34" charset="0"/>
                <a:ea typeface="Carlito" pitchFamily="34" charset="-122"/>
                <a:cs typeface="Carlito" pitchFamily="34" charset="-120"/>
              </a:rPr>
              <a:t>How effectively does the proposed framework handle the inherent challenges of the DAiSEE dataset, including </a:t>
            </a:r>
            <a:pPr algn="l" indent="0" marL="0">
              <a:lnSpc>
                <a:spcPts val="1350"/>
              </a:lnSpc>
              <a:buNone/>
            </a:pPr>
            <a:r>
              <a:rPr lang="en-US" sz="900" b="1" dirty="0">
                <a:solidFill>
                  <a:srgbClr val="0F766E"/>
                </a:solidFill>
                <a:latin typeface="Carlito" pitchFamily="34" charset="0"/>
                <a:ea typeface="Carlito" pitchFamily="34" charset="-122"/>
                <a:cs typeface="Carlito" pitchFamily="34" charset="-120"/>
              </a:rPr>
              <a:t>class imbalance across attention levels, inter-subject variability, and the temporal dimension</a:t>
            </a:r>
            <a:pPr algn="l" indent="0" marL="0">
              <a:lnSpc>
                <a:spcPts val="1350"/>
              </a:lnSpc>
              <a:buNone/>
            </a:pPr>
            <a:r>
              <a:rPr lang="en-US" sz="900" dirty="0">
                <a:solidFill>
                  <a:srgbClr val="0F1F3D"/>
                </a:solidFill>
                <a:latin typeface="Carlito" pitchFamily="34" charset="0"/>
                <a:ea typeface="Carlito" pitchFamily="34" charset="-122"/>
                <a:cs typeface="Carlito" pitchFamily="34" charset="-120"/>
              </a:rPr>
              <a:t> of video-based annotations?</a:t>
            </a:r>
            <a:endParaRPr lang="en-US" sz="900" dirty="0"/>
          </a:p>
        </p:txBody>
      </p:sp>
      <p:sp>
        <p:nvSpPr>
          <p:cNvPr id="37" name="Text 35"/>
          <p:cNvSpPr/>
          <p:nvPr/>
        </p:nvSpPr>
        <p:spPr>
          <a:xfrm>
            <a:off x="6179344" y="3677692"/>
            <a:ext cx="2357438" cy="7144"/>
          </a:xfrm>
          <a:prstGeom prst="rect">
            <a:avLst/>
          </a:prstGeom>
          <a:solidFill>
            <a:srgbClr val="E8EDF4"/>
          </a:solidFill>
          <a:ln/>
        </p:spPr>
        <p:txBody>
          <a:bodyPr wrap="square" rtlCol="0" anchor="ctr"/>
          <a:lstStyle/>
          <a:p>
            <a:pPr indent="0" marL="0">
              <a:buNone/>
            </a:pPr>
            <a:endParaRPr lang="en-US" dirty="0"/>
          </a:p>
        </p:txBody>
      </p:sp>
      <p:sp>
        <p:nvSpPr>
          <p:cNvPr id="38" name="Text 36"/>
          <p:cNvSpPr/>
          <p:nvPr/>
        </p:nvSpPr>
        <p:spPr>
          <a:xfrm>
            <a:off x="6182916" y="3774132"/>
            <a:ext cx="1859942" cy="178594"/>
          </a:xfrm>
          <a:prstGeom prst="roundRect">
            <a:avLst>
              <a:gd name="adj" fmla="val 21333"/>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39" name="Text 37"/>
          <p:cNvSpPr/>
          <p:nvPr/>
        </p:nvSpPr>
        <p:spPr>
          <a:xfrm>
            <a:off x="6179344" y="3770561"/>
            <a:ext cx="2357438" cy="237744"/>
          </a:xfrm>
          <a:prstGeom prst="rect">
            <a:avLst/>
          </a:prstGeom>
          <a:noFill/>
          <a:ln/>
        </p:spPr>
        <p:txBody>
          <a:bodyPr wrap="none" lIns="57150" tIns="21431" rIns="57150" bIns="21431" rtlCol="0" anchor="t"/>
          <a:lstStyle/>
          <a:p>
            <a:pPr algn="l" indent="0" marL="0">
              <a:lnSpc>
                <a:spcPts val="1013"/>
              </a:lnSpc>
              <a:buNone/>
            </a:pPr>
            <a:r>
              <a:rPr lang="en-US" sz="800" spc="27" kern="0" dirty="0">
                <a:solidFill>
                  <a:srgbClr val="0F1F3D"/>
                </a:solidFill>
                <a:latin typeface="Carlito" pitchFamily="34" charset="0"/>
                <a:ea typeface="Carlito" pitchFamily="34" charset="-122"/>
                <a:cs typeface="Carlito" pitchFamily="34" charset="-120"/>
              </a:rPr>
              <a:t>Imbalance · Variability · Temporal</a:t>
            </a:r>
            <a:endParaRPr lang="en-US" sz="800" dirty="0"/>
          </a:p>
        </p:txBody>
      </p:sp>
      <p:sp>
        <p:nvSpPr>
          <p:cNvPr id="40" name="Text 38"/>
          <p:cNvSpPr/>
          <p:nvPr/>
        </p:nvSpPr>
        <p:spPr>
          <a:xfrm>
            <a:off x="6182916" y="4002732"/>
            <a:ext cx="1512801" cy="178594"/>
          </a:xfrm>
          <a:prstGeom prst="roundRect">
            <a:avLst>
              <a:gd name="adj" fmla="val 21333"/>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41" name="Text 39"/>
          <p:cNvSpPr/>
          <p:nvPr/>
        </p:nvSpPr>
        <p:spPr>
          <a:xfrm>
            <a:off x="6179344" y="3999161"/>
            <a:ext cx="2357438" cy="237744"/>
          </a:xfrm>
          <a:prstGeom prst="rect">
            <a:avLst/>
          </a:prstGeom>
          <a:noFill/>
          <a:ln/>
        </p:spPr>
        <p:txBody>
          <a:bodyPr wrap="none" lIns="57150" tIns="21431" rIns="57150" bIns="21431" rtlCol="0" anchor="t"/>
          <a:lstStyle/>
          <a:p>
            <a:pPr algn="l" indent="0" marL="0">
              <a:lnSpc>
                <a:spcPts val="1013"/>
              </a:lnSpc>
              <a:buNone/>
            </a:pPr>
            <a:r>
              <a:rPr lang="en-US" sz="800" spc="27" kern="0" dirty="0">
                <a:solidFill>
                  <a:srgbClr val="0F1F3D"/>
                </a:solidFill>
                <a:latin typeface="Carlito" pitchFamily="34" charset="0"/>
                <a:ea typeface="Carlito" pitchFamily="34" charset="-122"/>
                <a:cs typeface="Carlito" pitchFamily="34" charset="-120"/>
              </a:rPr>
              <a:t>End-to-end framework test</a:t>
            </a:r>
            <a:endParaRPr lang="en-US" sz="800" dirty="0"/>
          </a:p>
        </p:txBody>
      </p:sp>
      <p:sp>
        <p:nvSpPr>
          <p:cNvPr id="42" name="Text 40"/>
          <p:cNvSpPr/>
          <p:nvPr/>
        </p:nvSpPr>
        <p:spPr>
          <a:xfrm>
            <a:off x="6179344" y="4270623"/>
            <a:ext cx="2357438" cy="394246"/>
          </a:xfrm>
          <a:prstGeom prst="roundRect">
            <a:avLst>
              <a:gd name="adj" fmla="val 14496"/>
            </a:avLst>
          </a:prstGeom>
          <a:solidFill>
            <a:srgbClr val="14B8A6">
              <a:alpha val="8000"/>
            </a:srgbClr>
          </a:solidFill>
          <a:ln/>
        </p:spPr>
        <p:txBody>
          <a:bodyPr wrap="square" rtlCol="0" anchor="ctr"/>
          <a:lstStyle/>
          <a:p>
            <a:pPr indent="0" marL="0">
              <a:buNone/>
            </a:pPr>
            <a:endParaRPr lang="en-US" dirty="0"/>
          </a:p>
        </p:txBody>
      </p:sp>
      <p:sp>
        <p:nvSpPr>
          <p:cNvPr id="43" name="Shape 41"/>
          <p:cNvSpPr/>
          <p:nvPr/>
        </p:nvSpPr>
        <p:spPr>
          <a:xfrm>
            <a:off x="6186488" y="4270623"/>
            <a:ext cx="0" cy="394246"/>
          </a:xfrm>
          <a:prstGeom prst="line">
            <a:avLst/>
          </a:prstGeom>
          <a:noFill/>
          <a:ln w="14288">
            <a:solidFill>
              <a:srgbClr val="14B8A6"/>
            </a:solidFill>
            <a:prstDash val="solid"/>
          </a:ln>
        </p:spPr>
      </p:sp>
      <p:sp>
        <p:nvSpPr>
          <p:cNvPr id="44" name="Text 42"/>
          <p:cNvSpPr/>
          <p:nvPr/>
        </p:nvSpPr>
        <p:spPr>
          <a:xfrm>
            <a:off x="6179344" y="4270623"/>
            <a:ext cx="2357438" cy="394246"/>
          </a:xfrm>
          <a:prstGeom prst="rect">
            <a:avLst/>
          </a:prstGeom>
          <a:noFill/>
          <a:ln/>
        </p:spPr>
        <p:txBody>
          <a:bodyPr wrap="square" lIns="71438" tIns="57150" rIns="71438" bIns="57150" rtlCol="0" anchor="t"/>
          <a:lstStyle/>
          <a:p>
            <a:pPr algn="l" indent="0" marL="0">
              <a:lnSpc>
                <a:spcPts val="1103"/>
              </a:lnSpc>
              <a:buNone/>
            </a:pPr>
            <a:r>
              <a:rPr lang="en-US" sz="800" dirty="0">
                <a:solidFill>
                  <a:srgbClr val="0F766E"/>
                </a:solidFill>
                <a:latin typeface="Segoe UI Symbol" pitchFamily="34" charset="0"/>
                <a:ea typeface="Segoe UI Symbol" pitchFamily="34" charset="-122"/>
                <a:cs typeface="Segoe UI Symbol" pitchFamily="34" charset="-120"/>
              </a:rPr>
              <a:t>→</a:t>
            </a:r>
            <a:pPr algn="l" indent="0" marL="0">
              <a:lnSpc>
                <a:spcPts val="1103"/>
              </a:lnSpc>
              <a:buNone/>
            </a:pPr>
            <a:r>
              <a:rPr lang="en-US" sz="800" dirty="0">
                <a:solidFill>
                  <a:srgbClr val="0F766E"/>
                </a:solidFill>
                <a:latin typeface="Carlito" pitchFamily="34" charset="0"/>
                <a:ea typeface="Carlito" pitchFamily="34" charset="-122"/>
                <a:cs typeface="Carlito" pitchFamily="34" charset="-120"/>
              </a:rPr>
              <a:t>Answered across Slides 12, 21, and 30 — imbalance, per-class recall, and limitations.</a:t>
            </a:r>
            <a:endParaRPr lang="en-US" sz="800" dirty="0"/>
          </a:p>
        </p:txBody>
      </p:sp>
      <p:sp>
        <p:nvSpPr>
          <p:cNvPr id="45" name="Text 43"/>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a:t>
            </a:r>
            <a:endParaRPr lang="en-US" sz="800" dirty="0"/>
          </a:p>
        </p:txBody>
      </p:sp>
      <p:sp>
        <p:nvSpPr>
          <p:cNvPr id="46" name="Text 44"/>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08 / 34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none" lIns="0" tIns="0" rIns="0" bIns="0" rtlCol="0" anchor="t"/>
          <a:lstStyle/>
          <a:p>
            <a:pPr algn="l" indent="0" marL="0">
              <a:lnSpc>
                <a:spcPts val="928"/>
              </a:lnSpc>
              <a:buNone/>
            </a:pPr>
            <a:r>
              <a:rPr lang="en-US" sz="800" b="1" spc="136" kern="0" dirty="0">
                <a:solidFill>
                  <a:srgbClr val="14B8A6"/>
                </a:solidFill>
                <a:latin typeface="Carlito" pitchFamily="34" charset="0"/>
                <a:ea typeface="Carlito" pitchFamily="34" charset="-122"/>
                <a:cs typeface="Carlito" pitchFamily="34" charset="-120"/>
              </a:rPr>
              <a:t>RESEARCH OBJECTIVES</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303413"/>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Three Concrete Objectives That Anchor the Thesis</a:t>
            </a:r>
            <a:endParaRPr lang="en-US" sz="2025" dirty="0"/>
          </a:p>
        </p:txBody>
      </p:sp>
      <p:sp>
        <p:nvSpPr>
          <p:cNvPr id="5" name="Text 3"/>
          <p:cNvSpPr/>
          <p:nvPr/>
        </p:nvSpPr>
        <p:spPr>
          <a:xfrm>
            <a:off x="457200" y="1013073"/>
            <a:ext cx="6572250" cy="382628"/>
          </a:xfrm>
          <a:prstGeom prst="rect">
            <a:avLst/>
          </a:prstGeom>
          <a:noFill/>
          <a:ln/>
        </p:spPr>
        <p:txBody>
          <a:bodyPr wrap="square" lIns="0" tIns="0" rIns="0" bIns="0" rtlCol="0" anchor="t"/>
          <a:lstStyle/>
          <a:p>
            <a:pPr algn="l" indent="0" marL="0">
              <a:lnSpc>
                <a:spcPts val="1395"/>
              </a:lnSpc>
              <a:buNone/>
            </a:pPr>
            <a:r>
              <a:rPr lang="en-US" sz="900" dirty="0">
                <a:solidFill>
                  <a:srgbClr val="5B6B82"/>
                </a:solidFill>
                <a:latin typeface="Carlito" pitchFamily="34" charset="0"/>
                <a:ea typeface="Carlito" pitchFamily="34" charset="-122"/>
                <a:cs typeface="Carlito" pitchFamily="34" charset="-120"/>
              </a:rPr>
              <a:t>Each objective maps to a methodological contribution in Chapter 3 and an empirical finding in Chapter 4 — together they form the spine of this defense.</a:t>
            </a:r>
            <a:endParaRPr lang="en-US" sz="900" dirty="0"/>
          </a:p>
        </p:txBody>
      </p:sp>
      <p:sp>
        <p:nvSpPr>
          <p:cNvPr id="6" name="Text 4"/>
          <p:cNvSpPr/>
          <p:nvPr/>
        </p:nvSpPr>
        <p:spPr>
          <a:xfrm>
            <a:off x="460772" y="1470943"/>
            <a:ext cx="8222456" cy="884039"/>
          </a:xfrm>
          <a:prstGeom prst="roundRect">
            <a:avLst>
              <a:gd name="adj" fmla="val 10774"/>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7" name="Text 5"/>
          <p:cNvSpPr/>
          <p:nvPr/>
        </p:nvSpPr>
        <p:spPr>
          <a:xfrm>
            <a:off x="621506" y="1741512"/>
            <a:ext cx="835819" cy="370332"/>
          </a:xfrm>
          <a:prstGeom prst="rect">
            <a:avLst/>
          </a:prstGeom>
          <a:noFill/>
          <a:ln/>
        </p:spPr>
        <p:txBody>
          <a:bodyPr wrap="none" lIns="0" tIns="0" rIns="0" bIns="0" rtlCol="0" anchor="t"/>
          <a:lstStyle/>
          <a:p>
            <a:pPr algn="ctr" indent="0" marL="0">
              <a:lnSpc>
                <a:spcPts val="2700"/>
              </a:lnSpc>
              <a:buNone/>
            </a:pPr>
            <a:r>
              <a:rPr lang="en-US" sz="2700" b="1" spc="-108" kern="0" dirty="0">
                <a:solidFill>
                  <a:srgbClr val="14B8A6"/>
                </a:solidFill>
                <a:latin typeface="Liberation Sans Narrow" pitchFamily="34" charset="0"/>
                <a:ea typeface="Liberation Sans Narrow" pitchFamily="34" charset="-122"/>
                <a:cs typeface="Liberation Sans Narrow" pitchFamily="34" charset="-120"/>
              </a:rPr>
              <a:t>01</a:t>
            </a:r>
            <a:endParaRPr lang="en-US" sz="2700" dirty="0"/>
          </a:p>
        </p:txBody>
      </p:sp>
      <p:sp>
        <p:nvSpPr>
          <p:cNvPr id="8" name="Text 6"/>
          <p:cNvSpPr/>
          <p:nvPr/>
        </p:nvSpPr>
        <p:spPr>
          <a:xfrm>
            <a:off x="1393031" y="1665052"/>
            <a:ext cx="42863" cy="495709"/>
          </a:xfrm>
          <a:prstGeom prst="roundRect">
            <a:avLst>
              <a:gd name="adj" fmla="val 66666"/>
            </a:avLst>
          </a:prstGeom>
          <a:solidFill>
            <a:srgbClr val="14B8A6"/>
          </a:solidFill>
          <a:ln/>
        </p:spPr>
        <p:txBody>
          <a:bodyPr wrap="square" rtlCol="0" anchor="ctr"/>
          <a:lstStyle/>
          <a:p>
            <a:pPr indent="0" marL="0">
              <a:buNone/>
            </a:pPr>
            <a:endParaRPr lang="en-US" dirty="0"/>
          </a:p>
        </p:txBody>
      </p:sp>
      <p:sp>
        <p:nvSpPr>
          <p:cNvPr id="9" name="Text 7"/>
          <p:cNvSpPr/>
          <p:nvPr/>
        </p:nvSpPr>
        <p:spPr>
          <a:xfrm>
            <a:off x="1564481" y="1603102"/>
            <a:ext cx="5400675" cy="619720"/>
          </a:xfrm>
          <a:prstGeom prst="rect">
            <a:avLst/>
          </a:prstGeom>
          <a:noFill/>
          <a:ln/>
        </p:spPr>
        <p:txBody>
          <a:bodyPr wrap="square" lIns="0" tIns="0" rIns="0" bIns="0" rtlCol="0" anchor="t"/>
          <a:lstStyle/>
          <a:p>
            <a:pPr algn="l" indent="0" marL="0">
              <a:lnSpc>
                <a:spcPts val="1221"/>
              </a:lnSpc>
              <a:buNone/>
            </a:pPr>
            <a:r>
              <a:rPr lang="en-US" sz="800" dirty="0">
                <a:solidFill>
                  <a:srgbClr val="0F1F3D"/>
                </a:solidFill>
                <a:latin typeface="Carlito" pitchFamily="34" charset="0"/>
                <a:ea typeface="Carlito" pitchFamily="34" charset="-122"/>
                <a:cs typeface="Carlito" pitchFamily="34" charset="-120"/>
              </a:rPr>
              <a:t>Design a </a:t>
            </a:r>
            <a:pPr algn="l" indent="0" marL="0">
              <a:lnSpc>
                <a:spcPts val="1221"/>
              </a:lnSpc>
              <a:buNone/>
            </a:pPr>
            <a:r>
              <a:rPr lang="en-US" sz="800" b="1" dirty="0">
                <a:solidFill>
                  <a:srgbClr val="0F766E"/>
                </a:solidFill>
                <a:latin typeface="Carlito" pitchFamily="34" charset="0"/>
                <a:ea typeface="Carlito" pitchFamily="34" charset="-122"/>
                <a:cs typeface="Carlito" pitchFamily="34" charset="-120"/>
              </a:rPr>
              <a:t>comprehensive facial feature extraction pipeline</a:t>
            </a:r>
            <a:pPr algn="l" indent="0" marL="0">
              <a:lnSpc>
                <a:spcPts val="1221"/>
              </a:lnSpc>
              <a:buNone/>
            </a:pPr>
            <a:r>
              <a:rPr lang="en-US" sz="800" dirty="0">
                <a:solidFill>
                  <a:srgbClr val="0F1F3D"/>
                </a:solidFill>
                <a:latin typeface="Carlito" pitchFamily="34" charset="0"/>
                <a:ea typeface="Carlito" pitchFamily="34" charset="-122"/>
                <a:cs typeface="Carlito" pitchFamily="34" charset="-120"/>
              </a:rPr>
              <a:t> that captures geometric, statistical, and temporal characteristics from the DAiSEE dataset — including eye aspect ratios, head pose angles, mouth opening degrees, eyebrow positions, and their temporal derivatives — as input features for attention level classification.</a:t>
            </a:r>
            <a:endParaRPr lang="en-US" sz="800" dirty="0"/>
          </a:p>
        </p:txBody>
      </p:sp>
      <p:sp>
        <p:nvSpPr>
          <p:cNvPr id="10" name="Text 8"/>
          <p:cNvSpPr/>
          <p:nvPr/>
        </p:nvSpPr>
        <p:spPr>
          <a:xfrm>
            <a:off x="7070884" y="1791219"/>
            <a:ext cx="1474470" cy="243488"/>
          </a:xfrm>
          <a:prstGeom prst="roundRect">
            <a:avLst>
              <a:gd name="adj" fmla="val 23471"/>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11" name="Text 9"/>
          <p:cNvSpPr/>
          <p:nvPr/>
        </p:nvSpPr>
        <p:spPr>
          <a:xfrm>
            <a:off x="7322344" y="1861170"/>
            <a:ext cx="1110072" cy="129679"/>
          </a:xfrm>
          <a:prstGeom prst="rect">
            <a:avLst/>
          </a:prstGeom>
          <a:noFill/>
          <a:ln/>
        </p:spPr>
        <p:txBody>
          <a:bodyPr wrap="none" lIns="0" tIns="0" rIns="0" bIns="0" rtlCol="0" anchor="t"/>
          <a:lstStyle/>
          <a:p>
            <a:pPr algn="l" indent="0" marL="0">
              <a:lnSpc>
                <a:spcPts val="928"/>
              </a:lnSpc>
              <a:buNone/>
            </a:pPr>
            <a:r>
              <a:rPr lang="en-US" sz="619" spc="25" kern="0" dirty="0">
                <a:solidFill>
                  <a:srgbClr val="0F1F3D"/>
                </a:solidFill>
                <a:latin typeface="Liberation Sans Narrow" pitchFamily="34" charset="0"/>
                <a:ea typeface="Liberation Sans Narrow" pitchFamily="34" charset="-122"/>
                <a:cs typeface="Liberation Sans Narrow" pitchFamily="34" charset="-120"/>
              </a:rPr>
              <a:t>Methodology §3.3 – 3.4</a:t>
            </a:r>
            <a:endParaRPr lang="en-US" sz="619" dirty="0"/>
          </a:p>
        </p:txBody>
      </p:sp>
      <p:sp>
        <p:nvSpPr>
          <p:cNvPr id="12" name="Text 10"/>
          <p:cNvSpPr/>
          <p:nvPr/>
        </p:nvSpPr>
        <p:spPr>
          <a:xfrm>
            <a:off x="7186613" y="1866528"/>
            <a:ext cx="92869" cy="92869"/>
          </a:xfrm>
          <a:prstGeom prst="rect">
            <a:avLst/>
          </a:prstGeom>
          <a:noFill/>
          <a:ln/>
        </p:spPr>
        <p:txBody>
          <a:bodyPr wrap="none" lIns="0" tIns="0" rIns="0" bIns="0" rtlCol="0" anchor="ctr"/>
          <a:lstStyle/>
          <a:p>
            <a:pPr algn="ctr" indent="0" marL="0">
              <a:buNone/>
            </a:pPr>
            <a:r>
              <a:rPr lang="en-US" sz="914" dirty="0">
                <a:solidFill>
                  <a:srgbClr val="0F766E"/>
                </a:solidFill>
                <a:latin typeface="Segoe UI Symbol" pitchFamily="34" charset="0"/>
                <a:ea typeface="Segoe UI Symbol" pitchFamily="34" charset="-122"/>
                <a:cs typeface="Segoe UI Symbol" pitchFamily="34" charset="-120"/>
              </a:rPr>
              <a:t>→</a:t>
            </a:r>
            <a:endParaRPr lang="en-US" sz="914" dirty="0"/>
          </a:p>
        </p:txBody>
      </p:sp>
      <p:sp>
        <p:nvSpPr>
          <p:cNvPr id="13" name="Text 11"/>
          <p:cNvSpPr/>
          <p:nvPr/>
        </p:nvSpPr>
        <p:spPr>
          <a:xfrm>
            <a:off x="460772" y="2462138"/>
            <a:ext cx="8222456" cy="729109"/>
          </a:xfrm>
          <a:prstGeom prst="roundRect">
            <a:avLst>
              <a:gd name="adj" fmla="val 13064"/>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14" name="Text 12"/>
          <p:cNvSpPr/>
          <p:nvPr/>
        </p:nvSpPr>
        <p:spPr>
          <a:xfrm>
            <a:off x="621506" y="2655243"/>
            <a:ext cx="835819" cy="370332"/>
          </a:xfrm>
          <a:prstGeom prst="rect">
            <a:avLst/>
          </a:prstGeom>
          <a:noFill/>
          <a:ln/>
        </p:spPr>
        <p:txBody>
          <a:bodyPr wrap="none" lIns="0" tIns="0" rIns="0" bIns="0" rtlCol="0" anchor="t"/>
          <a:lstStyle/>
          <a:p>
            <a:pPr algn="ctr" indent="0" marL="0">
              <a:lnSpc>
                <a:spcPts val="2700"/>
              </a:lnSpc>
              <a:buNone/>
            </a:pPr>
            <a:r>
              <a:rPr lang="en-US" sz="2700" b="1" spc="-108" kern="0" dirty="0">
                <a:solidFill>
                  <a:srgbClr val="14B8A6"/>
                </a:solidFill>
                <a:latin typeface="Liberation Sans Narrow" pitchFamily="34" charset="0"/>
                <a:ea typeface="Liberation Sans Narrow" pitchFamily="34" charset="-122"/>
                <a:cs typeface="Liberation Sans Narrow" pitchFamily="34" charset="-120"/>
              </a:rPr>
              <a:t>02</a:t>
            </a:r>
            <a:endParaRPr lang="en-US" sz="2700" dirty="0"/>
          </a:p>
        </p:txBody>
      </p:sp>
      <p:sp>
        <p:nvSpPr>
          <p:cNvPr id="15" name="Text 13"/>
          <p:cNvSpPr/>
          <p:nvPr/>
        </p:nvSpPr>
        <p:spPr>
          <a:xfrm>
            <a:off x="1393031" y="2640732"/>
            <a:ext cx="42863" cy="371810"/>
          </a:xfrm>
          <a:prstGeom prst="roundRect">
            <a:avLst>
              <a:gd name="adj" fmla="val 66666"/>
            </a:avLst>
          </a:prstGeom>
          <a:solidFill>
            <a:srgbClr val="14B8A6"/>
          </a:solidFill>
          <a:ln/>
        </p:spPr>
        <p:txBody>
          <a:bodyPr wrap="square" rtlCol="0" anchor="ctr"/>
          <a:lstStyle/>
          <a:p>
            <a:pPr indent="0" marL="0">
              <a:buNone/>
            </a:pPr>
            <a:endParaRPr lang="en-US" dirty="0"/>
          </a:p>
        </p:txBody>
      </p:sp>
      <p:sp>
        <p:nvSpPr>
          <p:cNvPr id="16" name="Text 14"/>
          <p:cNvSpPr/>
          <p:nvPr/>
        </p:nvSpPr>
        <p:spPr>
          <a:xfrm>
            <a:off x="1564481" y="2594297"/>
            <a:ext cx="5400675" cy="464790"/>
          </a:xfrm>
          <a:prstGeom prst="rect">
            <a:avLst/>
          </a:prstGeom>
          <a:noFill/>
          <a:ln/>
        </p:spPr>
        <p:txBody>
          <a:bodyPr wrap="square" lIns="0" tIns="0" rIns="0" bIns="0" rtlCol="0" anchor="t"/>
          <a:lstStyle/>
          <a:p>
            <a:pPr algn="l" indent="0" marL="0">
              <a:lnSpc>
                <a:spcPts val="1221"/>
              </a:lnSpc>
              <a:buNone/>
            </a:pPr>
            <a:r>
              <a:rPr lang="en-US" sz="800" dirty="0">
                <a:solidFill>
                  <a:srgbClr val="0F1F3D"/>
                </a:solidFill>
                <a:latin typeface="Carlito" pitchFamily="34" charset="0"/>
                <a:ea typeface="Carlito" pitchFamily="34" charset="-122"/>
                <a:cs typeface="Carlito" pitchFamily="34" charset="-120"/>
              </a:rPr>
              <a:t>Develop an </a:t>
            </a:r>
            <a:pPr algn="l" indent="0" marL="0">
              <a:lnSpc>
                <a:spcPts val="1221"/>
              </a:lnSpc>
              <a:buNone/>
            </a:pPr>
            <a:r>
              <a:rPr lang="en-US" sz="800" b="1" dirty="0">
                <a:solidFill>
                  <a:srgbClr val="0F766E"/>
                </a:solidFill>
                <a:latin typeface="Carlito" pitchFamily="34" charset="0"/>
                <a:ea typeface="Carlito" pitchFamily="34" charset="-122"/>
                <a:cs typeface="Carlito" pitchFamily="34" charset="-120"/>
              </a:rPr>
              <a:t>XGBoost-based classification model</a:t>
            </a:r>
            <a:pPr algn="l" indent="0" marL="0">
              <a:lnSpc>
                <a:spcPts val="1221"/>
              </a:lnSpc>
              <a:buNone/>
            </a:pPr>
            <a:r>
              <a:rPr lang="en-US" sz="800" dirty="0">
                <a:solidFill>
                  <a:srgbClr val="0F1F3D"/>
                </a:solidFill>
                <a:latin typeface="Carlito" pitchFamily="34" charset="0"/>
                <a:ea typeface="Carlito" pitchFamily="34" charset="-122"/>
                <a:cs typeface="Carlito" pitchFamily="34" charset="-120"/>
              </a:rPr>
              <a:t> optimized for the three-level engagement annotation schema of the DAiSEE dataset, employing hyperparameter tuning and regularization to maximize accuracy while maintaining computational efficiency.</a:t>
            </a:r>
            <a:endParaRPr lang="en-US" sz="800" dirty="0"/>
          </a:p>
        </p:txBody>
      </p:sp>
      <p:sp>
        <p:nvSpPr>
          <p:cNvPr id="17" name="Text 15"/>
          <p:cNvSpPr/>
          <p:nvPr/>
        </p:nvSpPr>
        <p:spPr>
          <a:xfrm>
            <a:off x="7070884" y="2704949"/>
            <a:ext cx="1474470" cy="243488"/>
          </a:xfrm>
          <a:prstGeom prst="roundRect">
            <a:avLst>
              <a:gd name="adj" fmla="val 23471"/>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18" name="Text 16"/>
          <p:cNvSpPr/>
          <p:nvPr/>
        </p:nvSpPr>
        <p:spPr>
          <a:xfrm>
            <a:off x="7322344" y="2774900"/>
            <a:ext cx="807355" cy="129679"/>
          </a:xfrm>
          <a:prstGeom prst="rect">
            <a:avLst/>
          </a:prstGeom>
          <a:noFill/>
          <a:ln/>
        </p:spPr>
        <p:txBody>
          <a:bodyPr wrap="none" lIns="0" tIns="0" rIns="0" bIns="0" rtlCol="0" anchor="t"/>
          <a:lstStyle/>
          <a:p>
            <a:pPr algn="l" indent="0" marL="0">
              <a:lnSpc>
                <a:spcPts val="928"/>
              </a:lnSpc>
              <a:buNone/>
            </a:pPr>
            <a:r>
              <a:rPr lang="en-US" sz="619" spc="25" kern="0" dirty="0">
                <a:solidFill>
                  <a:srgbClr val="0F1F3D"/>
                </a:solidFill>
                <a:latin typeface="Liberation Sans Narrow" pitchFamily="34" charset="0"/>
                <a:ea typeface="Liberation Sans Narrow" pitchFamily="34" charset="-122"/>
                <a:cs typeface="Liberation Sans Narrow" pitchFamily="34" charset="-120"/>
              </a:rPr>
              <a:t>Methodology §3.6</a:t>
            </a:r>
            <a:endParaRPr lang="en-US" sz="619" dirty="0"/>
          </a:p>
        </p:txBody>
      </p:sp>
      <p:sp>
        <p:nvSpPr>
          <p:cNvPr id="19" name="Text 17"/>
          <p:cNvSpPr/>
          <p:nvPr/>
        </p:nvSpPr>
        <p:spPr>
          <a:xfrm>
            <a:off x="7186613" y="2780258"/>
            <a:ext cx="92869" cy="92869"/>
          </a:xfrm>
          <a:prstGeom prst="rect">
            <a:avLst/>
          </a:prstGeom>
          <a:noFill/>
          <a:ln/>
        </p:spPr>
        <p:txBody>
          <a:bodyPr wrap="none" lIns="0" tIns="0" rIns="0" bIns="0" rtlCol="0" anchor="ctr"/>
          <a:lstStyle/>
          <a:p>
            <a:pPr algn="ctr" indent="0" marL="0">
              <a:buNone/>
            </a:pPr>
            <a:r>
              <a:rPr lang="en-US" sz="914" dirty="0">
                <a:solidFill>
                  <a:srgbClr val="0F766E"/>
                </a:solidFill>
                <a:latin typeface="Segoe UI Symbol" pitchFamily="34" charset="0"/>
                <a:ea typeface="Segoe UI Symbol" pitchFamily="34" charset="-122"/>
                <a:cs typeface="Segoe UI Symbol" pitchFamily="34" charset="-120"/>
              </a:rPr>
              <a:t>→</a:t>
            </a:r>
            <a:endParaRPr lang="en-US" sz="914" dirty="0"/>
          </a:p>
        </p:txBody>
      </p:sp>
      <p:sp>
        <p:nvSpPr>
          <p:cNvPr id="20" name="Text 18"/>
          <p:cNvSpPr/>
          <p:nvPr/>
        </p:nvSpPr>
        <p:spPr>
          <a:xfrm>
            <a:off x="460772" y="3298403"/>
            <a:ext cx="8222456" cy="729109"/>
          </a:xfrm>
          <a:prstGeom prst="roundRect">
            <a:avLst>
              <a:gd name="adj" fmla="val 13064"/>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21" name="Text 19"/>
          <p:cNvSpPr/>
          <p:nvPr/>
        </p:nvSpPr>
        <p:spPr>
          <a:xfrm>
            <a:off x="621506" y="3491508"/>
            <a:ext cx="835819" cy="370332"/>
          </a:xfrm>
          <a:prstGeom prst="rect">
            <a:avLst/>
          </a:prstGeom>
          <a:noFill/>
          <a:ln/>
        </p:spPr>
        <p:txBody>
          <a:bodyPr wrap="none" lIns="0" tIns="0" rIns="0" bIns="0" rtlCol="0" anchor="t"/>
          <a:lstStyle/>
          <a:p>
            <a:pPr algn="ctr" indent="0" marL="0">
              <a:lnSpc>
                <a:spcPts val="2700"/>
              </a:lnSpc>
              <a:buNone/>
            </a:pPr>
            <a:r>
              <a:rPr lang="en-US" sz="2700" b="1" spc="-108" kern="0" dirty="0">
                <a:solidFill>
                  <a:srgbClr val="14B8A6"/>
                </a:solidFill>
                <a:latin typeface="Liberation Sans Narrow" pitchFamily="34" charset="0"/>
                <a:ea typeface="Liberation Sans Narrow" pitchFamily="34" charset="-122"/>
                <a:cs typeface="Liberation Sans Narrow" pitchFamily="34" charset="-120"/>
              </a:rPr>
              <a:t>03</a:t>
            </a:r>
            <a:endParaRPr lang="en-US" sz="2700" dirty="0"/>
          </a:p>
        </p:txBody>
      </p:sp>
      <p:sp>
        <p:nvSpPr>
          <p:cNvPr id="22" name="Text 20"/>
          <p:cNvSpPr/>
          <p:nvPr/>
        </p:nvSpPr>
        <p:spPr>
          <a:xfrm>
            <a:off x="1393031" y="3476997"/>
            <a:ext cx="42863" cy="371810"/>
          </a:xfrm>
          <a:prstGeom prst="roundRect">
            <a:avLst>
              <a:gd name="adj" fmla="val 66666"/>
            </a:avLst>
          </a:prstGeom>
          <a:solidFill>
            <a:srgbClr val="14B8A6"/>
          </a:solidFill>
          <a:ln/>
        </p:spPr>
        <p:txBody>
          <a:bodyPr wrap="square" rtlCol="0" anchor="ctr"/>
          <a:lstStyle/>
          <a:p>
            <a:pPr indent="0" marL="0">
              <a:buNone/>
            </a:pPr>
            <a:endParaRPr lang="en-US" dirty="0"/>
          </a:p>
        </p:txBody>
      </p:sp>
      <p:sp>
        <p:nvSpPr>
          <p:cNvPr id="23" name="Text 21"/>
          <p:cNvSpPr/>
          <p:nvPr/>
        </p:nvSpPr>
        <p:spPr>
          <a:xfrm>
            <a:off x="1564481" y="3430563"/>
            <a:ext cx="5400675" cy="464790"/>
          </a:xfrm>
          <a:prstGeom prst="rect">
            <a:avLst/>
          </a:prstGeom>
          <a:noFill/>
          <a:ln/>
        </p:spPr>
        <p:txBody>
          <a:bodyPr wrap="square" lIns="0" tIns="0" rIns="0" bIns="0" rtlCol="0" anchor="t"/>
          <a:lstStyle/>
          <a:p>
            <a:pPr algn="l" indent="0" marL="0">
              <a:lnSpc>
                <a:spcPts val="1221"/>
              </a:lnSpc>
              <a:buNone/>
            </a:pPr>
            <a:r>
              <a:rPr lang="en-US" sz="800" dirty="0">
                <a:solidFill>
                  <a:srgbClr val="0F1F3D"/>
                </a:solidFill>
                <a:latin typeface="Carlito" pitchFamily="34" charset="0"/>
                <a:ea typeface="Carlito" pitchFamily="34" charset="-122"/>
                <a:cs typeface="Carlito" pitchFamily="34" charset="-120"/>
              </a:rPr>
              <a:t>Provide an </a:t>
            </a:r>
            <a:pPr algn="l" indent="0" marL="0">
              <a:lnSpc>
                <a:spcPts val="1221"/>
              </a:lnSpc>
              <a:buNone/>
            </a:pPr>
            <a:r>
              <a:rPr lang="en-US" sz="800" b="1" dirty="0">
                <a:solidFill>
                  <a:srgbClr val="0F766E"/>
                </a:solidFill>
                <a:latin typeface="Carlito" pitchFamily="34" charset="0"/>
                <a:ea typeface="Carlito" pitchFamily="34" charset="-122"/>
                <a:cs typeface="Carlito" pitchFamily="34" charset="-120"/>
              </a:rPr>
              <a:t>interpretable analysis</a:t>
            </a:r>
            <a:pPr algn="l" indent="0" marL="0">
              <a:lnSpc>
                <a:spcPts val="1221"/>
              </a:lnSpc>
              <a:buNone/>
            </a:pPr>
            <a:r>
              <a:rPr lang="en-US" sz="800" dirty="0">
                <a:solidFill>
                  <a:srgbClr val="0F1F3D"/>
                </a:solidFill>
                <a:latin typeface="Carlito" pitchFamily="34" charset="0"/>
                <a:ea typeface="Carlito" pitchFamily="34" charset="-122"/>
                <a:cs typeface="Carlito" pitchFamily="34" charset="-120"/>
              </a:rPr>
              <a:t> of the most discriminative facial features for attention classification through XGBoost's native feature importance rankings and SHAP (SHapley Additive exPlanations) values, offering actionable insights for pedagogical intervention design in e-learning systems.</a:t>
            </a:r>
            <a:endParaRPr lang="en-US" sz="800" dirty="0"/>
          </a:p>
        </p:txBody>
      </p:sp>
      <p:sp>
        <p:nvSpPr>
          <p:cNvPr id="24" name="Text 22"/>
          <p:cNvSpPr/>
          <p:nvPr/>
        </p:nvSpPr>
        <p:spPr>
          <a:xfrm>
            <a:off x="7070884" y="3541214"/>
            <a:ext cx="1474470" cy="243488"/>
          </a:xfrm>
          <a:prstGeom prst="roundRect">
            <a:avLst>
              <a:gd name="adj" fmla="val 23471"/>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25" name="Text 23"/>
          <p:cNvSpPr/>
          <p:nvPr/>
        </p:nvSpPr>
        <p:spPr>
          <a:xfrm>
            <a:off x="7322344" y="3611166"/>
            <a:ext cx="605544" cy="129679"/>
          </a:xfrm>
          <a:prstGeom prst="rect">
            <a:avLst/>
          </a:prstGeom>
          <a:noFill/>
          <a:ln/>
        </p:spPr>
        <p:txBody>
          <a:bodyPr wrap="none" lIns="0" tIns="0" rIns="0" bIns="0" rtlCol="0" anchor="t"/>
          <a:lstStyle/>
          <a:p>
            <a:pPr algn="l" indent="0" marL="0">
              <a:lnSpc>
                <a:spcPts val="928"/>
              </a:lnSpc>
              <a:buNone/>
            </a:pPr>
            <a:r>
              <a:rPr lang="en-US" sz="619" spc="25" kern="0" dirty="0">
                <a:solidFill>
                  <a:srgbClr val="0F1F3D"/>
                </a:solidFill>
                <a:latin typeface="Liberation Sans Narrow" pitchFamily="34" charset="0"/>
                <a:ea typeface="Liberation Sans Narrow" pitchFamily="34" charset="-122"/>
                <a:cs typeface="Liberation Sans Narrow" pitchFamily="34" charset="-120"/>
              </a:rPr>
              <a:t>Results §4.5</a:t>
            </a:r>
            <a:endParaRPr lang="en-US" sz="619" dirty="0"/>
          </a:p>
        </p:txBody>
      </p:sp>
      <p:sp>
        <p:nvSpPr>
          <p:cNvPr id="26" name="Text 24"/>
          <p:cNvSpPr/>
          <p:nvPr/>
        </p:nvSpPr>
        <p:spPr>
          <a:xfrm>
            <a:off x="7186613" y="3616523"/>
            <a:ext cx="92869" cy="92869"/>
          </a:xfrm>
          <a:prstGeom prst="rect">
            <a:avLst/>
          </a:prstGeom>
          <a:noFill/>
          <a:ln/>
        </p:spPr>
        <p:txBody>
          <a:bodyPr wrap="none" lIns="0" tIns="0" rIns="0" bIns="0" rtlCol="0" anchor="ctr"/>
          <a:lstStyle/>
          <a:p>
            <a:pPr algn="ctr" indent="0" marL="0">
              <a:buNone/>
            </a:pPr>
            <a:r>
              <a:rPr lang="en-US" sz="914" dirty="0">
                <a:solidFill>
                  <a:srgbClr val="0F766E"/>
                </a:solidFill>
                <a:latin typeface="Segoe UI Symbol" pitchFamily="34" charset="0"/>
                <a:ea typeface="Segoe UI Symbol" pitchFamily="34" charset="-122"/>
                <a:cs typeface="Segoe UI Symbol" pitchFamily="34" charset="-120"/>
              </a:rPr>
              <a:t>→</a:t>
            </a:r>
            <a:endParaRPr lang="en-US" sz="914" dirty="0"/>
          </a:p>
        </p:txBody>
      </p:sp>
      <p:sp>
        <p:nvSpPr>
          <p:cNvPr id="27" name="Text 25"/>
          <p:cNvSpPr/>
          <p:nvPr/>
        </p:nvSpPr>
        <p:spPr>
          <a:xfrm>
            <a:off x="457200" y="4500563"/>
            <a:ext cx="8229600" cy="300038"/>
          </a:xfrm>
          <a:prstGeom prst="roundRect">
            <a:avLst>
              <a:gd name="adj" fmla="val 25397"/>
            </a:avLst>
          </a:prstGeom>
          <a:solidFill>
            <a:srgbClr val="F6F8FB"/>
          </a:solidFill>
          <a:ln/>
        </p:spPr>
        <p:txBody>
          <a:bodyPr wrap="square" rtlCol="0" anchor="ctr"/>
          <a:lstStyle/>
          <a:p>
            <a:pPr indent="0" marL="0">
              <a:buNone/>
            </a:pPr>
            <a:endParaRPr lang="en-US" dirty="0"/>
          </a:p>
        </p:txBody>
      </p:sp>
      <p:sp>
        <p:nvSpPr>
          <p:cNvPr id="28" name="Text 26"/>
          <p:cNvSpPr/>
          <p:nvPr/>
        </p:nvSpPr>
        <p:spPr>
          <a:xfrm>
            <a:off x="585788" y="4586288"/>
            <a:ext cx="721564" cy="128588"/>
          </a:xfrm>
          <a:prstGeom prst="rect">
            <a:avLst/>
          </a:prstGeom>
          <a:noFill/>
          <a:ln/>
        </p:spPr>
        <p:txBody>
          <a:bodyPr wrap="none" lIns="0" tIns="0" rIns="0" bIns="0" rtlCol="0" anchor="t"/>
          <a:lstStyle/>
          <a:p>
            <a:pPr algn="l" indent="0" marL="0">
              <a:lnSpc>
                <a:spcPts val="1013"/>
              </a:lnSpc>
              <a:buNone/>
            </a:pPr>
            <a:r>
              <a:rPr lang="en-US" sz="800" b="1" spc="41" kern="0" dirty="0">
                <a:solidFill>
                  <a:srgbClr val="0F766E"/>
                </a:solidFill>
                <a:latin typeface="Carlito" pitchFamily="34" charset="0"/>
                <a:ea typeface="Carlito" pitchFamily="34" charset="-122"/>
                <a:cs typeface="Carlito" pitchFamily="34" charset="-120"/>
              </a:rPr>
              <a:t>MAPPING</a:t>
            </a:r>
            <a:endParaRPr lang="en-US" sz="800" dirty="0"/>
          </a:p>
        </p:txBody>
      </p:sp>
      <p:sp>
        <p:nvSpPr>
          <p:cNvPr id="29" name="Text 27"/>
          <p:cNvSpPr/>
          <p:nvPr/>
        </p:nvSpPr>
        <p:spPr>
          <a:xfrm>
            <a:off x="1201713" y="4588408"/>
            <a:ext cx="7356500" cy="126467"/>
          </a:xfrm>
          <a:prstGeom prst="rect">
            <a:avLst/>
          </a:prstGeom>
          <a:noFill/>
          <a:ln/>
        </p:spPr>
        <p:txBody>
          <a:bodyPr wrap="square" lIns="0" tIns="0" rIns="0" bIns="0" rtlCol="0" anchor="t"/>
          <a:lstStyle/>
          <a:p>
            <a:pPr algn="l" indent="0" marL="0">
              <a:lnSpc>
                <a:spcPts val="979"/>
              </a:lnSpc>
              <a:buNone/>
            </a:pPr>
            <a:r>
              <a:rPr lang="en-US" sz="675" dirty="0">
                <a:solidFill>
                  <a:srgbClr val="5B6B82"/>
                </a:solidFill>
                <a:latin typeface="Liberation Sans Narrow" pitchFamily="34" charset="0"/>
                <a:ea typeface="Liberation Sans Narrow" pitchFamily="34" charset="-122"/>
                <a:cs typeface="Liberation Sans Narrow" pitchFamily="34" charset="-120"/>
              </a:rPr>
              <a:t>Objective 1 </a:t>
            </a:r>
            <a:pPr algn="l" indent="0" marL="0">
              <a:lnSpc>
                <a:spcPts val="979"/>
              </a:lnSpc>
              <a:buNone/>
            </a:pPr>
            <a:r>
              <a:rPr lang="en-US" sz="675" b="1" dirty="0">
                <a:solidFill>
                  <a:srgbClr val="0F766E"/>
                </a:solidFill>
                <a:latin typeface="Carlito" pitchFamily="34" charset="0"/>
                <a:ea typeface="Carlito" pitchFamily="34" charset="-122"/>
                <a:cs typeface="Carlito" pitchFamily="34" charset="-120"/>
              </a:rPr>
              <a:t>→</a:t>
            </a:r>
            <a:pPr algn="l" indent="0" marL="0">
              <a:lnSpc>
                <a:spcPts val="979"/>
              </a:lnSpc>
              <a:buNone/>
            </a:pPr>
            <a:r>
              <a:rPr lang="en-US" sz="675" dirty="0">
                <a:solidFill>
                  <a:srgbClr val="5B6B82"/>
                </a:solidFill>
                <a:latin typeface="Carlito" pitchFamily="34" charset="0"/>
                <a:ea typeface="Carlito" pitchFamily="34" charset="-122"/>
                <a:cs typeface="Carlito" pitchFamily="34" charset="-120"/>
              </a:rPr>
              <a:t> Methodology slides 14–17. Objective 2 </a:t>
            </a:r>
            <a:pPr algn="l" indent="0" marL="0">
              <a:lnSpc>
                <a:spcPts val="979"/>
              </a:lnSpc>
              <a:buNone/>
            </a:pPr>
            <a:r>
              <a:rPr lang="en-US" sz="675" b="1" dirty="0">
                <a:solidFill>
                  <a:srgbClr val="0F766E"/>
                </a:solidFill>
                <a:latin typeface="Carlito" pitchFamily="34" charset="0"/>
                <a:ea typeface="Carlito" pitchFamily="34" charset="-122"/>
                <a:cs typeface="Carlito" pitchFamily="34" charset="-120"/>
              </a:rPr>
              <a:t>→</a:t>
            </a:r>
            <a:pPr algn="l" indent="0" marL="0">
              <a:lnSpc>
                <a:spcPts val="979"/>
              </a:lnSpc>
              <a:buNone/>
            </a:pPr>
            <a:r>
              <a:rPr lang="en-US" sz="675" dirty="0">
                <a:solidFill>
                  <a:srgbClr val="5B6B82"/>
                </a:solidFill>
                <a:latin typeface="Carlito" pitchFamily="34" charset="0"/>
                <a:ea typeface="Carlito" pitchFamily="34" charset="-122"/>
                <a:cs typeface="Carlito" pitchFamily="34" charset="-120"/>
              </a:rPr>
              <a:t> Methodology slide 18 + Results slides 20–21. Objective 3 </a:t>
            </a:r>
            <a:pPr algn="l" indent="0" marL="0">
              <a:lnSpc>
                <a:spcPts val="979"/>
              </a:lnSpc>
              <a:buNone/>
            </a:pPr>
            <a:r>
              <a:rPr lang="en-US" sz="675" b="1" dirty="0">
                <a:solidFill>
                  <a:srgbClr val="0F766E"/>
                </a:solidFill>
                <a:latin typeface="Carlito" pitchFamily="34" charset="0"/>
                <a:ea typeface="Carlito" pitchFamily="34" charset="-122"/>
                <a:cs typeface="Carlito" pitchFamily="34" charset="-120"/>
              </a:rPr>
              <a:t>→</a:t>
            </a:r>
            <a:pPr algn="l" indent="0" marL="0">
              <a:lnSpc>
                <a:spcPts val="979"/>
              </a:lnSpc>
              <a:buNone/>
            </a:pPr>
            <a:r>
              <a:rPr lang="en-US" sz="675" dirty="0">
                <a:solidFill>
                  <a:srgbClr val="5B6B82"/>
                </a:solidFill>
                <a:latin typeface="Liberation Sans Narrow" pitchFamily="34" charset="0"/>
                <a:ea typeface="Liberation Sans Narrow" pitchFamily="34" charset="-122"/>
                <a:cs typeface="Liberation Sans Narrow" pitchFamily="34" charset="-120"/>
              </a:rPr>
              <a:t> Results slides 22–27.</a:t>
            </a:r>
            <a:endParaRPr lang="en-US" sz="675" dirty="0"/>
          </a:p>
        </p:txBody>
      </p:sp>
      <p:sp>
        <p:nvSpPr>
          <p:cNvPr id="30" name="Text 28"/>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a:t>
            </a:r>
            <a:endParaRPr lang="en-US" sz="800" dirty="0"/>
          </a:p>
        </p:txBody>
      </p:sp>
      <p:sp>
        <p:nvSpPr>
          <p:cNvPr id="31" name="Text 29"/>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09 / 34</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none" lIns="0" tIns="0" rIns="0" bIns="0" rtlCol="0" anchor="t"/>
          <a:lstStyle/>
          <a:p>
            <a:pPr algn="l" indent="0" marL="0">
              <a:lnSpc>
                <a:spcPts val="928"/>
              </a:lnSpc>
              <a:buNone/>
            </a:pPr>
            <a:r>
              <a:rPr lang="en-US" sz="800" b="1" spc="136" kern="0" dirty="0">
                <a:solidFill>
                  <a:srgbClr val="14B8A6"/>
                </a:solidFill>
                <a:latin typeface="Carlito" pitchFamily="34" charset="0"/>
                <a:ea typeface="Carlito" pitchFamily="34" charset="-122"/>
                <a:cs typeface="Carlito" pitchFamily="34" charset="-120"/>
              </a:rPr>
              <a:t>CONTRIBUTION</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255416"/>
          </a:xfrm>
          <a:prstGeom prst="rect">
            <a:avLst/>
          </a:prstGeom>
          <a:noFill/>
          <a:ln/>
        </p:spPr>
        <p:txBody>
          <a:bodyPr wrap="none" lIns="0" tIns="0" rIns="0" bIns="0" rtlCol="0" anchor="t">
            <a:normAutofit/>
          </a:bodyPr>
          <a:lstStyle/>
          <a:p>
            <a:pPr algn="l" indent="0" marL="0">
              <a:lnSpc>
                <a:spcPts val="1890"/>
              </a:lnSpc>
              <a:buNone/>
            </a:pPr>
            <a:r>
              <a:rPr lang="en-US" sz="1688" b="1" spc="-25" kern="0" dirty="0">
                <a:solidFill>
                  <a:srgbClr val="0F1F3D"/>
                </a:solidFill>
                <a:latin typeface="Carlito" pitchFamily="34" charset="0"/>
                <a:ea typeface="Carlito" pitchFamily="34" charset="-122"/>
                <a:cs typeface="Carlito" pitchFamily="34" charset="-120"/>
              </a:rPr>
              <a:t>Significance of the Study</a:t>
            </a:r>
            <a:endParaRPr lang="en-US" sz="1688" dirty="0"/>
          </a:p>
        </p:txBody>
      </p:sp>
      <p:sp>
        <p:nvSpPr>
          <p:cNvPr id="5" name="Text 3"/>
          <p:cNvSpPr/>
          <p:nvPr/>
        </p:nvSpPr>
        <p:spPr>
          <a:xfrm>
            <a:off x="457200" y="965076"/>
            <a:ext cx="6572250" cy="340106"/>
          </a:xfrm>
          <a:prstGeom prst="rect">
            <a:avLst/>
          </a:prstGeom>
          <a:noFill/>
          <a:ln/>
        </p:spPr>
        <p:txBody>
          <a:bodyPr wrap="square" lIns="0" tIns="0" rIns="0" bIns="0" rtlCol="0" anchor="t"/>
          <a:lstStyle/>
          <a:p>
            <a:pPr algn="l" indent="0" marL="0">
              <a:lnSpc>
                <a:spcPts val="1177"/>
              </a:lnSpc>
              <a:buNone/>
            </a:pPr>
            <a:r>
              <a:rPr lang="en-US" sz="800" dirty="0">
                <a:solidFill>
                  <a:srgbClr val="5B6B82"/>
                </a:solidFill>
                <a:latin typeface="Carlito" pitchFamily="34" charset="0"/>
                <a:ea typeface="Carlito" pitchFamily="34" charset="-122"/>
                <a:cs typeface="Carlito" pitchFamily="34" charset="-120"/>
              </a:rPr>
              <a:t>A lightweight XGBoost framework for attention classification on the DAiSEE benchmark — contributions span theoretical, methodological, and practical dimensions.</a:t>
            </a:r>
            <a:endParaRPr lang="en-US" sz="800" dirty="0"/>
          </a:p>
        </p:txBody>
      </p:sp>
      <p:sp>
        <p:nvSpPr>
          <p:cNvPr id="6" name="Text 4"/>
          <p:cNvSpPr/>
          <p:nvPr/>
        </p:nvSpPr>
        <p:spPr>
          <a:xfrm>
            <a:off x="460772" y="1367582"/>
            <a:ext cx="2659819" cy="2974032"/>
          </a:xfrm>
          <a:prstGeom prst="roundRect">
            <a:avLst>
              <a:gd name="adj" fmla="val 3581"/>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7" name="Text 5"/>
          <p:cNvSpPr/>
          <p:nvPr/>
        </p:nvSpPr>
        <p:spPr>
          <a:xfrm>
            <a:off x="570071" y="1486939"/>
            <a:ext cx="972733" cy="261347"/>
          </a:xfrm>
          <a:prstGeom prst="roundRect">
            <a:avLst>
              <a:gd name="adj" fmla="val 21867"/>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8" name="Text 6"/>
          <p:cNvSpPr/>
          <p:nvPr/>
        </p:nvSpPr>
        <p:spPr>
          <a:xfrm>
            <a:off x="790673" y="1565821"/>
            <a:ext cx="659894" cy="129679"/>
          </a:xfrm>
          <a:prstGeom prst="rect">
            <a:avLst/>
          </a:prstGeom>
          <a:noFill/>
          <a:ln/>
        </p:spPr>
        <p:txBody>
          <a:bodyPr wrap="none" lIns="0" tIns="0" rIns="0" bIns="0" rtlCol="0" anchor="t"/>
          <a:lstStyle/>
          <a:p>
            <a:pPr algn="l" indent="0" marL="0">
              <a:lnSpc>
                <a:spcPts val="928"/>
              </a:lnSpc>
              <a:buNone/>
            </a:pPr>
            <a:r>
              <a:rPr lang="en-US" sz="619" b="1" spc="87" kern="0" dirty="0">
                <a:solidFill>
                  <a:srgbClr val="0F1F3D"/>
                </a:solidFill>
                <a:latin typeface="Courier New" pitchFamily="34" charset="0"/>
                <a:ea typeface="Courier New" pitchFamily="34" charset="-122"/>
                <a:cs typeface="Courier New" pitchFamily="34" charset="-120"/>
              </a:rPr>
              <a:t>THEORETICAL</a:t>
            </a:r>
            <a:endParaRPr lang="en-US" sz="619" dirty="0"/>
          </a:p>
        </p:txBody>
      </p:sp>
      <p:sp>
        <p:nvSpPr>
          <p:cNvPr id="9" name="Text 7"/>
          <p:cNvSpPr/>
          <p:nvPr/>
        </p:nvSpPr>
        <p:spPr>
          <a:xfrm>
            <a:off x="671513" y="1542604"/>
            <a:ext cx="769851" cy="150019"/>
          </a:xfrm>
          <a:prstGeom prst="rect">
            <a:avLst/>
          </a:prstGeom>
          <a:noFill/>
          <a:ln/>
        </p:spPr>
        <p:txBody>
          <a:bodyPr wrap="none" lIns="0" tIns="0" rIns="0" bIns="0" rtlCol="0" anchor="t"/>
          <a:lstStyle/>
          <a:p>
            <a:pPr algn="l" indent="0" marL="0">
              <a:lnSpc>
                <a:spcPts val="1181"/>
              </a:lnSpc>
              <a:buNone/>
            </a:pPr>
            <a:r>
              <a:rPr lang="en-US" sz="800" b="1" spc="87" kern="0" dirty="0">
                <a:solidFill>
                  <a:srgbClr val="0F766E"/>
                </a:solidFill>
                <a:latin typeface="Courier New" pitchFamily="34" charset="0"/>
                <a:ea typeface="Courier New" pitchFamily="34" charset="-122"/>
                <a:cs typeface="Courier New" pitchFamily="34" charset="-120"/>
              </a:rPr>
              <a:t>T</a:t>
            </a:r>
            <a:endParaRPr lang="en-US" sz="800" dirty="0"/>
          </a:p>
        </p:txBody>
      </p:sp>
      <p:sp>
        <p:nvSpPr>
          <p:cNvPr id="10" name="Text 8"/>
          <p:cNvSpPr/>
          <p:nvPr/>
        </p:nvSpPr>
        <p:spPr>
          <a:xfrm>
            <a:off x="592931" y="1821210"/>
            <a:ext cx="2395500" cy="641821"/>
          </a:xfrm>
          <a:prstGeom prst="roundRect">
            <a:avLst>
              <a:gd name="adj" fmla="val 11872"/>
            </a:avLst>
          </a:prstGeom>
          <a:solidFill>
            <a:srgbClr val="F6F8FB"/>
          </a:solidFill>
          <a:ln/>
        </p:spPr>
        <p:txBody>
          <a:bodyPr wrap="square" rtlCol="0" anchor="ctr"/>
          <a:lstStyle/>
          <a:p>
            <a:pPr indent="0" marL="0">
              <a:buNone/>
            </a:pPr>
            <a:endParaRPr lang="en-US" dirty="0"/>
          </a:p>
        </p:txBody>
      </p:sp>
      <p:sp>
        <p:nvSpPr>
          <p:cNvPr id="11" name="Text 9"/>
          <p:cNvSpPr/>
          <p:nvPr/>
        </p:nvSpPr>
        <p:spPr>
          <a:xfrm>
            <a:off x="682228" y="1896219"/>
            <a:ext cx="192881" cy="192881"/>
          </a:xfrm>
          <a:prstGeom prst="roundRect">
            <a:avLst>
              <a:gd name="adj" fmla="val 2963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12" name="Text 10"/>
          <p:cNvSpPr/>
          <p:nvPr/>
        </p:nvSpPr>
        <p:spPr>
          <a:xfrm>
            <a:off x="695801" y="1909792"/>
            <a:ext cx="165735" cy="165735"/>
          </a:xfrm>
          <a:prstGeom prst="rect">
            <a:avLst/>
          </a:prstGeom>
          <a:noFill/>
          <a:ln/>
        </p:spPr>
        <p:txBody>
          <a:bodyPr wrap="none" lIns="0" tIns="0" rIns="0" bIns="0" rtlCol="0" anchor="ctr"/>
          <a:lstStyle/>
          <a:p>
            <a:pPr algn="ctr" indent="0" marL="0">
              <a:buNone/>
            </a:pPr>
            <a:r>
              <a:rPr lang="en-US" sz="1125" dirty="0">
                <a:solidFill>
                  <a:srgbClr val="0F766E"/>
                </a:solidFill>
                <a:latin typeface="Segoe UI Symbol" pitchFamily="34" charset="0"/>
                <a:ea typeface="Segoe UI Symbol" pitchFamily="34" charset="-122"/>
                <a:cs typeface="Segoe UI Symbol" pitchFamily="34" charset="-120"/>
              </a:rPr>
              <a:t>⚗</a:t>
            </a:r>
            <a:endParaRPr lang="en-US" sz="1125" dirty="0"/>
          </a:p>
        </p:txBody>
      </p:sp>
      <p:sp>
        <p:nvSpPr>
          <p:cNvPr id="13" name="Text 11"/>
          <p:cNvSpPr/>
          <p:nvPr/>
        </p:nvSpPr>
        <p:spPr>
          <a:xfrm>
            <a:off x="950119" y="1892647"/>
            <a:ext cx="1952588" cy="285293"/>
          </a:xfrm>
          <a:prstGeom prst="rect">
            <a:avLst/>
          </a:prstGeom>
          <a:noFill/>
          <a:ln/>
        </p:spPr>
        <p:txBody>
          <a:bodyPr wrap="square" lIns="0" tIns="0" rIns="0" bIns="0" rtlCol="0" anchor="t"/>
          <a:lstStyle/>
          <a:p>
            <a:pPr algn="l" indent="0" marL="0">
              <a:lnSpc>
                <a:spcPts val="914"/>
              </a:lnSpc>
              <a:buNone/>
            </a:pPr>
            <a:r>
              <a:rPr lang="en-US" sz="800" b="1" dirty="0">
                <a:solidFill>
                  <a:srgbClr val="0F1F3D"/>
                </a:solidFill>
                <a:latin typeface="Carlito" pitchFamily="34" charset="0"/>
                <a:ea typeface="Carlito" pitchFamily="34" charset="-122"/>
                <a:cs typeface="Carlito" pitchFamily="34" charset="-120"/>
              </a:rPr>
              <a:t>Tests whether deep learning is truly necessary for attention recognition</a:t>
            </a:r>
            <a:endParaRPr lang="en-US" sz="800" dirty="0"/>
          </a:p>
        </p:txBody>
      </p:sp>
      <p:sp>
        <p:nvSpPr>
          <p:cNvPr id="14" name="Text 12"/>
          <p:cNvSpPr/>
          <p:nvPr/>
        </p:nvSpPr>
        <p:spPr>
          <a:xfrm>
            <a:off x="678656" y="2153394"/>
            <a:ext cx="2224050" cy="238199"/>
          </a:xfrm>
          <a:prstGeom prst="rect">
            <a:avLst/>
          </a:prstGeom>
          <a:noFill/>
          <a:ln/>
        </p:spPr>
        <p:txBody>
          <a:bodyPr wrap="square" lIns="271463" tIns="0" rIns="0" bIns="0" rtlCol="0" anchor="t"/>
          <a:lstStyle/>
          <a:p>
            <a:pPr algn="l" indent="0" marL="0">
              <a:lnSpc>
                <a:spcPts val="938"/>
              </a:lnSpc>
              <a:buNone/>
            </a:pPr>
            <a:r>
              <a:rPr lang="en-US" sz="800" dirty="0">
                <a:solidFill>
                  <a:srgbClr val="5B6B82"/>
                </a:solidFill>
                <a:latin typeface="Carlito" pitchFamily="34" charset="0"/>
                <a:ea typeface="Carlito" pitchFamily="34" charset="-122"/>
                <a:cs typeface="Carlito" pitchFamily="34" charset="-120"/>
              </a:rPr>
              <a:t>Shows the conditions where lightweight models match or beat it.</a:t>
            </a:r>
            <a:endParaRPr lang="en-US" sz="800" dirty="0"/>
          </a:p>
        </p:txBody>
      </p:sp>
      <p:sp>
        <p:nvSpPr>
          <p:cNvPr id="15" name="Text 13"/>
          <p:cNvSpPr/>
          <p:nvPr/>
        </p:nvSpPr>
        <p:spPr>
          <a:xfrm>
            <a:off x="592931" y="2548756"/>
            <a:ext cx="2395500" cy="641821"/>
          </a:xfrm>
          <a:prstGeom prst="roundRect">
            <a:avLst>
              <a:gd name="adj" fmla="val 11872"/>
            </a:avLst>
          </a:prstGeom>
          <a:solidFill>
            <a:srgbClr val="F6F8FB"/>
          </a:solidFill>
          <a:ln/>
        </p:spPr>
        <p:txBody>
          <a:bodyPr wrap="square" rtlCol="0" anchor="ctr"/>
          <a:lstStyle/>
          <a:p>
            <a:pPr indent="0" marL="0">
              <a:buNone/>
            </a:pPr>
            <a:endParaRPr lang="en-US" dirty="0"/>
          </a:p>
        </p:txBody>
      </p:sp>
      <p:sp>
        <p:nvSpPr>
          <p:cNvPr id="16" name="Text 14"/>
          <p:cNvSpPr/>
          <p:nvPr/>
        </p:nvSpPr>
        <p:spPr>
          <a:xfrm>
            <a:off x="682228" y="2623765"/>
            <a:ext cx="192881" cy="192881"/>
          </a:xfrm>
          <a:prstGeom prst="roundRect">
            <a:avLst>
              <a:gd name="adj" fmla="val 2963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17" name="Text 15"/>
          <p:cNvSpPr/>
          <p:nvPr/>
        </p:nvSpPr>
        <p:spPr>
          <a:xfrm>
            <a:off x="695801" y="2637339"/>
            <a:ext cx="165735" cy="165735"/>
          </a:xfrm>
          <a:prstGeom prst="rect">
            <a:avLst/>
          </a:prstGeom>
          <a:noFill/>
          <a:ln/>
        </p:spPr>
        <p:txBody>
          <a:bodyPr wrap="none" lIns="0" tIns="0" rIns="0" bIns="0" rtlCol="0" anchor="ctr"/>
          <a:lstStyle/>
          <a:p>
            <a:pPr algn="ctr" indent="0" marL="0">
              <a:buNone/>
            </a:pPr>
            <a:r>
              <a:rPr lang="en-US" sz="1125" dirty="0">
                <a:solidFill>
                  <a:srgbClr val="0F766E"/>
                </a:solidFill>
                <a:latin typeface="Segoe UI Symbol" pitchFamily="34" charset="0"/>
                <a:ea typeface="Segoe UI Symbol" pitchFamily="34" charset="-122"/>
                <a:cs typeface="Segoe UI Symbol" pitchFamily="34" charset="-120"/>
              </a:rPr>
              <a:t>◆</a:t>
            </a:r>
            <a:endParaRPr lang="en-US" sz="1125" dirty="0"/>
          </a:p>
        </p:txBody>
      </p:sp>
      <p:sp>
        <p:nvSpPr>
          <p:cNvPr id="18" name="Text 16"/>
          <p:cNvSpPr/>
          <p:nvPr/>
        </p:nvSpPr>
        <p:spPr>
          <a:xfrm>
            <a:off x="950119" y="2620194"/>
            <a:ext cx="1952588" cy="285293"/>
          </a:xfrm>
          <a:prstGeom prst="rect">
            <a:avLst/>
          </a:prstGeom>
          <a:noFill/>
          <a:ln/>
        </p:spPr>
        <p:txBody>
          <a:bodyPr wrap="square" lIns="0" tIns="0" rIns="0" bIns="0" rtlCol="0" anchor="t"/>
          <a:lstStyle/>
          <a:p>
            <a:pPr algn="l" indent="0" marL="0">
              <a:lnSpc>
                <a:spcPts val="914"/>
              </a:lnSpc>
              <a:buNone/>
            </a:pPr>
            <a:r>
              <a:rPr lang="en-US" sz="800" b="1" dirty="0">
                <a:solidFill>
                  <a:srgbClr val="0F1F3D"/>
                </a:solidFill>
                <a:latin typeface="Carlito" pitchFamily="34" charset="0"/>
                <a:ea typeface="Carlito" pitchFamily="34" charset="-122"/>
                <a:cs typeface="Carlito" pitchFamily="34" charset="-120"/>
              </a:rPr>
              <a:t>SHAP values reveal which facial features drive each attention state</a:t>
            </a:r>
            <a:endParaRPr lang="en-US" sz="800" dirty="0"/>
          </a:p>
        </p:txBody>
      </p:sp>
      <p:sp>
        <p:nvSpPr>
          <p:cNvPr id="19" name="Text 17"/>
          <p:cNvSpPr/>
          <p:nvPr/>
        </p:nvSpPr>
        <p:spPr>
          <a:xfrm>
            <a:off x="678656" y="2880940"/>
            <a:ext cx="2224050" cy="238199"/>
          </a:xfrm>
          <a:prstGeom prst="rect">
            <a:avLst/>
          </a:prstGeom>
          <a:noFill/>
          <a:ln/>
        </p:spPr>
        <p:txBody>
          <a:bodyPr wrap="square" lIns="271463" tIns="0" rIns="0" bIns="0" rtlCol="0" anchor="t"/>
          <a:lstStyle/>
          <a:p>
            <a:pPr algn="l" indent="0" marL="0">
              <a:lnSpc>
                <a:spcPts val="938"/>
              </a:lnSpc>
              <a:buNone/>
            </a:pPr>
            <a:r>
              <a:rPr lang="en-US" sz="800" dirty="0">
                <a:solidFill>
                  <a:srgbClr val="5B6B82"/>
                </a:solidFill>
                <a:latin typeface="Carlito" pitchFamily="34" charset="0"/>
                <a:ea typeface="Carlito" pitchFamily="34" charset="-122"/>
                <a:cs typeface="Carlito" pitchFamily="34" charset="-120"/>
              </a:rPr>
              <a:t>Advances the theoretical understanding of affective computing.</a:t>
            </a:r>
            <a:endParaRPr lang="en-US" sz="800" dirty="0"/>
          </a:p>
        </p:txBody>
      </p:sp>
      <p:sp>
        <p:nvSpPr>
          <p:cNvPr id="20" name="Text 18"/>
          <p:cNvSpPr/>
          <p:nvPr/>
        </p:nvSpPr>
        <p:spPr>
          <a:xfrm>
            <a:off x="3242035" y="1367582"/>
            <a:ext cx="2659819" cy="2974032"/>
          </a:xfrm>
          <a:prstGeom prst="roundRect">
            <a:avLst>
              <a:gd name="adj" fmla="val 3581"/>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21" name="Text 19"/>
          <p:cNvSpPr/>
          <p:nvPr/>
        </p:nvSpPr>
        <p:spPr>
          <a:xfrm>
            <a:off x="3351334" y="1486939"/>
            <a:ext cx="1147643" cy="261347"/>
          </a:xfrm>
          <a:prstGeom prst="roundRect">
            <a:avLst>
              <a:gd name="adj" fmla="val 21867"/>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22" name="Text 20"/>
          <p:cNvSpPr/>
          <p:nvPr/>
        </p:nvSpPr>
        <p:spPr>
          <a:xfrm>
            <a:off x="3581140" y="1565821"/>
            <a:ext cx="816397" cy="129679"/>
          </a:xfrm>
          <a:prstGeom prst="rect">
            <a:avLst/>
          </a:prstGeom>
          <a:noFill/>
          <a:ln/>
        </p:spPr>
        <p:txBody>
          <a:bodyPr wrap="none" lIns="0" tIns="0" rIns="0" bIns="0" rtlCol="0" anchor="t"/>
          <a:lstStyle/>
          <a:p>
            <a:pPr algn="l" indent="0" marL="0">
              <a:lnSpc>
                <a:spcPts val="928"/>
              </a:lnSpc>
              <a:buNone/>
            </a:pPr>
            <a:r>
              <a:rPr lang="en-US" sz="619" b="1" spc="87" kern="0" dirty="0">
                <a:solidFill>
                  <a:srgbClr val="0F1F3D"/>
                </a:solidFill>
                <a:latin typeface="Courier New" pitchFamily="34" charset="0"/>
                <a:ea typeface="Courier New" pitchFamily="34" charset="-122"/>
                <a:cs typeface="Courier New" pitchFamily="34" charset="-120"/>
              </a:rPr>
              <a:t>METHODOLOGICAL</a:t>
            </a:r>
            <a:endParaRPr lang="en-US" sz="619" dirty="0"/>
          </a:p>
        </p:txBody>
      </p:sp>
      <p:sp>
        <p:nvSpPr>
          <p:cNvPr id="23" name="Text 21"/>
          <p:cNvSpPr/>
          <p:nvPr/>
        </p:nvSpPr>
        <p:spPr>
          <a:xfrm>
            <a:off x="3452775" y="1542604"/>
            <a:ext cx="944761" cy="150019"/>
          </a:xfrm>
          <a:prstGeom prst="rect">
            <a:avLst/>
          </a:prstGeom>
          <a:noFill/>
          <a:ln/>
        </p:spPr>
        <p:txBody>
          <a:bodyPr wrap="none" lIns="0" tIns="0" rIns="0" bIns="0" rtlCol="0" anchor="t"/>
          <a:lstStyle/>
          <a:p>
            <a:pPr algn="l" indent="0" marL="0">
              <a:lnSpc>
                <a:spcPts val="1181"/>
              </a:lnSpc>
              <a:buNone/>
            </a:pPr>
            <a:r>
              <a:rPr lang="en-US" sz="800" b="1" spc="87" kern="0" dirty="0">
                <a:solidFill>
                  <a:srgbClr val="0F766E"/>
                </a:solidFill>
                <a:latin typeface="Courier New" pitchFamily="34" charset="0"/>
                <a:ea typeface="Courier New" pitchFamily="34" charset="-122"/>
                <a:cs typeface="Courier New" pitchFamily="34" charset="-120"/>
              </a:rPr>
              <a:t>M</a:t>
            </a:r>
            <a:endParaRPr lang="en-US" sz="800" dirty="0"/>
          </a:p>
        </p:txBody>
      </p:sp>
      <p:sp>
        <p:nvSpPr>
          <p:cNvPr id="24" name="Text 22"/>
          <p:cNvSpPr/>
          <p:nvPr/>
        </p:nvSpPr>
        <p:spPr>
          <a:xfrm>
            <a:off x="3374194" y="1821210"/>
            <a:ext cx="2395500" cy="757907"/>
          </a:xfrm>
          <a:prstGeom prst="roundRect">
            <a:avLst>
              <a:gd name="adj" fmla="val 10054"/>
            </a:avLst>
          </a:prstGeom>
          <a:solidFill>
            <a:srgbClr val="F6F8FB"/>
          </a:solidFill>
          <a:ln/>
        </p:spPr>
        <p:txBody>
          <a:bodyPr wrap="square" rtlCol="0" anchor="ctr"/>
          <a:lstStyle/>
          <a:p>
            <a:pPr indent="0" marL="0">
              <a:buNone/>
            </a:pPr>
            <a:endParaRPr lang="en-US" dirty="0"/>
          </a:p>
        </p:txBody>
      </p:sp>
      <p:sp>
        <p:nvSpPr>
          <p:cNvPr id="25" name="Text 23"/>
          <p:cNvSpPr/>
          <p:nvPr/>
        </p:nvSpPr>
        <p:spPr>
          <a:xfrm>
            <a:off x="3463491" y="1896219"/>
            <a:ext cx="192881" cy="192881"/>
          </a:xfrm>
          <a:prstGeom prst="roundRect">
            <a:avLst>
              <a:gd name="adj" fmla="val 2963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26" name="Text 24"/>
          <p:cNvSpPr/>
          <p:nvPr/>
        </p:nvSpPr>
        <p:spPr>
          <a:xfrm>
            <a:off x="3477064" y="1909792"/>
            <a:ext cx="165735" cy="165735"/>
          </a:xfrm>
          <a:prstGeom prst="rect">
            <a:avLst/>
          </a:prstGeom>
          <a:noFill/>
          <a:ln/>
        </p:spPr>
        <p:txBody>
          <a:bodyPr wrap="none" lIns="0" tIns="0" rIns="0" bIns="0" rtlCol="0" anchor="ctr"/>
          <a:lstStyle/>
          <a:p>
            <a:pPr algn="ctr" indent="0" marL="0">
              <a:buNone/>
            </a:pPr>
            <a:r>
              <a:rPr lang="en-US" sz="1125" dirty="0">
                <a:solidFill>
                  <a:srgbClr val="0F766E"/>
                </a:solidFill>
                <a:latin typeface="Segoe UI Symbol" pitchFamily="34" charset="0"/>
                <a:ea typeface="Segoe UI Symbol" pitchFamily="34" charset="-122"/>
                <a:cs typeface="Segoe UI Symbol" pitchFamily="34" charset="-120"/>
              </a:rPr>
              <a:t>◔</a:t>
            </a:r>
            <a:endParaRPr lang="en-US" sz="1125" dirty="0"/>
          </a:p>
        </p:txBody>
      </p:sp>
      <p:sp>
        <p:nvSpPr>
          <p:cNvPr id="27" name="Text 25"/>
          <p:cNvSpPr/>
          <p:nvPr/>
        </p:nvSpPr>
        <p:spPr>
          <a:xfrm>
            <a:off x="3731382" y="1892647"/>
            <a:ext cx="1952588" cy="427939"/>
          </a:xfrm>
          <a:prstGeom prst="rect">
            <a:avLst/>
          </a:prstGeom>
          <a:noFill/>
          <a:ln/>
        </p:spPr>
        <p:txBody>
          <a:bodyPr wrap="square" lIns="0" tIns="0" rIns="0" bIns="0" rtlCol="0" anchor="t"/>
          <a:lstStyle/>
          <a:p>
            <a:pPr algn="l" indent="0" marL="0">
              <a:lnSpc>
                <a:spcPts val="914"/>
              </a:lnSpc>
              <a:buNone/>
            </a:pPr>
            <a:r>
              <a:rPr lang="en-US" sz="800" b="1" dirty="0">
                <a:solidFill>
                  <a:srgbClr val="0F1F3D"/>
                </a:solidFill>
                <a:latin typeface="Carlito" pitchFamily="34" charset="0"/>
                <a:ea typeface="Carlito" pitchFamily="34" charset="-122"/>
                <a:cs typeface="Carlito" pitchFamily="34" charset="-120"/>
              </a:rPr>
              <a:t>New facial-feature pipeline for DAiSEE: geometric, temporal, statistical</a:t>
            </a:r>
            <a:endParaRPr lang="en-US" sz="800" dirty="0"/>
          </a:p>
        </p:txBody>
      </p:sp>
      <p:sp>
        <p:nvSpPr>
          <p:cNvPr id="28" name="Text 26"/>
          <p:cNvSpPr/>
          <p:nvPr/>
        </p:nvSpPr>
        <p:spPr>
          <a:xfrm>
            <a:off x="3459919" y="2269480"/>
            <a:ext cx="2224050" cy="238199"/>
          </a:xfrm>
          <a:prstGeom prst="rect">
            <a:avLst/>
          </a:prstGeom>
          <a:noFill/>
          <a:ln/>
        </p:spPr>
        <p:txBody>
          <a:bodyPr wrap="square" lIns="271463" tIns="0" rIns="0" bIns="0" rtlCol="0" anchor="t"/>
          <a:lstStyle/>
          <a:p>
            <a:pPr algn="l" indent="0" marL="0">
              <a:lnSpc>
                <a:spcPts val="938"/>
              </a:lnSpc>
              <a:buNone/>
            </a:pPr>
            <a:r>
              <a:rPr lang="en-US" sz="800" dirty="0">
                <a:solidFill>
                  <a:srgbClr val="5B6B82"/>
                </a:solidFill>
                <a:latin typeface="Carlito" pitchFamily="34" charset="0"/>
                <a:ea typeface="Carlito" pitchFamily="34" charset="-122"/>
                <a:cs typeface="Carlito" pitchFamily="34" charset="-120"/>
              </a:rPr>
              <a:t>Reproducible template adaptable to other video-based affect datasets.</a:t>
            </a:r>
            <a:endParaRPr lang="en-US" sz="800" dirty="0"/>
          </a:p>
        </p:txBody>
      </p:sp>
      <p:sp>
        <p:nvSpPr>
          <p:cNvPr id="29" name="Text 27"/>
          <p:cNvSpPr/>
          <p:nvPr/>
        </p:nvSpPr>
        <p:spPr>
          <a:xfrm>
            <a:off x="3374194" y="2664842"/>
            <a:ext cx="2395500" cy="522722"/>
          </a:xfrm>
          <a:prstGeom prst="roundRect">
            <a:avLst>
              <a:gd name="adj" fmla="val 14578"/>
            </a:avLst>
          </a:prstGeom>
          <a:solidFill>
            <a:srgbClr val="F6F8FB"/>
          </a:solidFill>
          <a:ln/>
        </p:spPr>
        <p:txBody>
          <a:bodyPr wrap="square" rtlCol="0" anchor="ctr"/>
          <a:lstStyle/>
          <a:p>
            <a:pPr indent="0" marL="0">
              <a:buNone/>
            </a:pPr>
            <a:endParaRPr lang="en-US" dirty="0"/>
          </a:p>
        </p:txBody>
      </p:sp>
      <p:sp>
        <p:nvSpPr>
          <p:cNvPr id="30" name="Text 28"/>
          <p:cNvSpPr/>
          <p:nvPr/>
        </p:nvSpPr>
        <p:spPr>
          <a:xfrm>
            <a:off x="3463491" y="2739851"/>
            <a:ext cx="192881" cy="192881"/>
          </a:xfrm>
          <a:prstGeom prst="roundRect">
            <a:avLst>
              <a:gd name="adj" fmla="val 2963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31" name="Text 29"/>
          <p:cNvSpPr/>
          <p:nvPr/>
        </p:nvSpPr>
        <p:spPr>
          <a:xfrm>
            <a:off x="3477064" y="2753424"/>
            <a:ext cx="165735" cy="165735"/>
          </a:xfrm>
          <a:prstGeom prst="rect">
            <a:avLst/>
          </a:prstGeom>
          <a:noFill/>
          <a:ln/>
        </p:spPr>
        <p:txBody>
          <a:bodyPr wrap="none" lIns="0" tIns="0" rIns="0" bIns="0" rtlCol="0" anchor="ctr"/>
          <a:lstStyle/>
          <a:p>
            <a:pPr algn="ctr" indent="0" marL="0">
              <a:buNone/>
            </a:pPr>
            <a:r>
              <a:rPr lang="en-US" sz="1125" dirty="0">
                <a:solidFill>
                  <a:srgbClr val="0F766E"/>
                </a:solidFill>
                <a:latin typeface="Segoe UI Symbol" pitchFamily="34" charset="0"/>
                <a:ea typeface="Segoe UI Symbol" pitchFamily="34" charset="-122"/>
                <a:cs typeface="Segoe UI Symbol" pitchFamily="34" charset="-120"/>
              </a:rPr>
              <a:t>⚖</a:t>
            </a:r>
            <a:endParaRPr lang="en-US" sz="1125" dirty="0"/>
          </a:p>
        </p:txBody>
      </p:sp>
      <p:sp>
        <p:nvSpPr>
          <p:cNvPr id="32" name="Text 30"/>
          <p:cNvSpPr/>
          <p:nvPr/>
        </p:nvSpPr>
        <p:spPr>
          <a:xfrm>
            <a:off x="3731382" y="2736279"/>
            <a:ext cx="1952588" cy="285293"/>
          </a:xfrm>
          <a:prstGeom prst="rect">
            <a:avLst/>
          </a:prstGeom>
          <a:noFill/>
          <a:ln/>
        </p:spPr>
        <p:txBody>
          <a:bodyPr wrap="square" lIns="0" tIns="0" rIns="0" bIns="0" rtlCol="0" anchor="t"/>
          <a:lstStyle/>
          <a:p>
            <a:pPr algn="l" indent="0" marL="0">
              <a:lnSpc>
                <a:spcPts val="914"/>
              </a:lnSpc>
              <a:buNone/>
            </a:pPr>
            <a:r>
              <a:rPr lang="en-US" sz="800" b="1" dirty="0">
                <a:solidFill>
                  <a:srgbClr val="0F1F3D"/>
                </a:solidFill>
                <a:latin typeface="Carlito" pitchFamily="34" charset="0"/>
                <a:ea typeface="Carlito" pitchFamily="34" charset="-122"/>
                <a:cs typeface="Carlito" pitchFamily="34" charset="-120"/>
              </a:rPr>
              <a:t>Evaluates accuracy, compute cost, and interpretability together</a:t>
            </a:r>
            <a:endParaRPr lang="en-US" sz="800" dirty="0"/>
          </a:p>
        </p:txBody>
      </p:sp>
      <p:sp>
        <p:nvSpPr>
          <p:cNvPr id="33" name="Text 31"/>
          <p:cNvSpPr/>
          <p:nvPr/>
        </p:nvSpPr>
        <p:spPr>
          <a:xfrm>
            <a:off x="3459919" y="2997026"/>
            <a:ext cx="2224050" cy="119100"/>
          </a:xfrm>
          <a:prstGeom prst="rect">
            <a:avLst/>
          </a:prstGeom>
          <a:noFill/>
          <a:ln/>
        </p:spPr>
        <p:txBody>
          <a:bodyPr wrap="square" lIns="271463" tIns="0" rIns="0" bIns="0" rtlCol="0" anchor="t"/>
          <a:lstStyle/>
          <a:p>
            <a:pPr algn="l" indent="0" marL="0">
              <a:lnSpc>
                <a:spcPts val="938"/>
              </a:lnSpc>
              <a:buNone/>
            </a:pPr>
            <a:r>
              <a:rPr lang="en-US" sz="647" dirty="0">
                <a:solidFill>
                  <a:srgbClr val="5B6B82"/>
                </a:solidFill>
                <a:latin typeface="Carlito" pitchFamily="34" charset="0"/>
                <a:ea typeface="Carlito" pitchFamily="34" charset="-122"/>
                <a:cs typeface="Carlito" pitchFamily="34" charset="-120"/>
              </a:rPr>
              <a:t>Multi-dimensional evaluation framework.</a:t>
            </a:r>
            <a:endParaRPr lang="en-US" sz="647" dirty="0"/>
          </a:p>
        </p:txBody>
      </p:sp>
      <p:sp>
        <p:nvSpPr>
          <p:cNvPr id="34" name="Text 32"/>
          <p:cNvSpPr/>
          <p:nvPr/>
        </p:nvSpPr>
        <p:spPr>
          <a:xfrm>
            <a:off x="6023297" y="1367582"/>
            <a:ext cx="2659931" cy="2974032"/>
          </a:xfrm>
          <a:prstGeom prst="roundRect">
            <a:avLst>
              <a:gd name="adj" fmla="val 3581"/>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35" name="Text 33"/>
          <p:cNvSpPr/>
          <p:nvPr/>
        </p:nvSpPr>
        <p:spPr>
          <a:xfrm>
            <a:off x="6132597" y="1486939"/>
            <a:ext cx="856089" cy="261347"/>
          </a:xfrm>
          <a:prstGeom prst="roundRect">
            <a:avLst>
              <a:gd name="adj" fmla="val 21867"/>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36" name="Text 34"/>
          <p:cNvSpPr/>
          <p:nvPr/>
        </p:nvSpPr>
        <p:spPr>
          <a:xfrm>
            <a:off x="6352367" y="1565821"/>
            <a:ext cx="544914" cy="129679"/>
          </a:xfrm>
          <a:prstGeom prst="rect">
            <a:avLst/>
          </a:prstGeom>
          <a:noFill/>
          <a:ln/>
        </p:spPr>
        <p:txBody>
          <a:bodyPr wrap="none" lIns="0" tIns="0" rIns="0" bIns="0" rtlCol="0" anchor="t"/>
          <a:lstStyle/>
          <a:p>
            <a:pPr algn="l" indent="0" marL="0">
              <a:lnSpc>
                <a:spcPts val="928"/>
              </a:lnSpc>
              <a:buNone/>
            </a:pPr>
            <a:r>
              <a:rPr lang="en-US" sz="619" b="1" spc="87" kern="0" dirty="0">
                <a:solidFill>
                  <a:srgbClr val="0F1F3D"/>
                </a:solidFill>
                <a:latin typeface="Courier New" pitchFamily="34" charset="0"/>
                <a:ea typeface="Courier New" pitchFamily="34" charset="-122"/>
                <a:cs typeface="Courier New" pitchFamily="34" charset="-120"/>
              </a:rPr>
              <a:t>PRACTICAL</a:t>
            </a:r>
            <a:endParaRPr lang="en-US" sz="619" dirty="0"/>
          </a:p>
        </p:txBody>
      </p:sp>
      <p:sp>
        <p:nvSpPr>
          <p:cNvPr id="37" name="Text 35"/>
          <p:cNvSpPr/>
          <p:nvPr/>
        </p:nvSpPr>
        <p:spPr>
          <a:xfrm>
            <a:off x="6234038" y="1542604"/>
            <a:ext cx="653207" cy="150019"/>
          </a:xfrm>
          <a:prstGeom prst="rect">
            <a:avLst/>
          </a:prstGeom>
          <a:noFill/>
          <a:ln/>
        </p:spPr>
        <p:txBody>
          <a:bodyPr wrap="none" lIns="0" tIns="0" rIns="0" bIns="0" rtlCol="0" anchor="t"/>
          <a:lstStyle/>
          <a:p>
            <a:pPr algn="l" indent="0" marL="0">
              <a:lnSpc>
                <a:spcPts val="1181"/>
              </a:lnSpc>
              <a:buNone/>
            </a:pPr>
            <a:r>
              <a:rPr lang="en-US" sz="800" b="1" spc="87" kern="0" dirty="0">
                <a:solidFill>
                  <a:srgbClr val="0F766E"/>
                </a:solidFill>
                <a:latin typeface="Courier New" pitchFamily="34" charset="0"/>
                <a:ea typeface="Courier New" pitchFamily="34" charset="-122"/>
                <a:cs typeface="Courier New" pitchFamily="34" charset="-120"/>
              </a:rPr>
              <a:t>P</a:t>
            </a:r>
            <a:endParaRPr lang="en-US" sz="800" dirty="0"/>
          </a:p>
        </p:txBody>
      </p:sp>
      <p:sp>
        <p:nvSpPr>
          <p:cNvPr id="38" name="Text 36"/>
          <p:cNvSpPr/>
          <p:nvPr/>
        </p:nvSpPr>
        <p:spPr>
          <a:xfrm>
            <a:off x="6155457" y="1821210"/>
            <a:ext cx="2395612" cy="641821"/>
          </a:xfrm>
          <a:prstGeom prst="roundRect">
            <a:avLst>
              <a:gd name="adj" fmla="val 11872"/>
            </a:avLst>
          </a:prstGeom>
          <a:solidFill>
            <a:srgbClr val="F6F8FB"/>
          </a:solidFill>
          <a:ln/>
        </p:spPr>
        <p:txBody>
          <a:bodyPr wrap="square" rtlCol="0" anchor="ctr"/>
          <a:lstStyle/>
          <a:p>
            <a:pPr indent="0" marL="0">
              <a:buNone/>
            </a:pPr>
            <a:endParaRPr lang="en-US" dirty="0"/>
          </a:p>
        </p:txBody>
      </p:sp>
      <p:sp>
        <p:nvSpPr>
          <p:cNvPr id="39" name="Text 37"/>
          <p:cNvSpPr/>
          <p:nvPr/>
        </p:nvSpPr>
        <p:spPr>
          <a:xfrm>
            <a:off x="6244754" y="1896219"/>
            <a:ext cx="192881" cy="192881"/>
          </a:xfrm>
          <a:prstGeom prst="roundRect">
            <a:avLst>
              <a:gd name="adj" fmla="val 2963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40" name="Text 38"/>
          <p:cNvSpPr/>
          <p:nvPr/>
        </p:nvSpPr>
        <p:spPr>
          <a:xfrm>
            <a:off x="6258327" y="1909792"/>
            <a:ext cx="165735" cy="165735"/>
          </a:xfrm>
          <a:prstGeom prst="rect">
            <a:avLst/>
          </a:prstGeom>
          <a:noFill/>
          <a:ln/>
        </p:spPr>
        <p:txBody>
          <a:bodyPr wrap="none" lIns="0" tIns="0" rIns="0" bIns="0" rtlCol="0" anchor="ctr"/>
          <a:lstStyle/>
          <a:p>
            <a:pPr algn="ctr" indent="0" marL="0">
              <a:buNone/>
            </a:pPr>
            <a:r>
              <a:rPr lang="en-US" sz="1125" dirty="0">
                <a:solidFill>
                  <a:srgbClr val="0F766E"/>
                </a:solidFill>
                <a:latin typeface="Segoe UI Symbol" pitchFamily="34" charset="0"/>
                <a:ea typeface="Segoe UI Symbol" pitchFamily="34" charset="-122"/>
                <a:cs typeface="Segoe UI Symbol" pitchFamily="34" charset="-120"/>
              </a:rPr>
              <a:t>✦</a:t>
            </a:r>
            <a:endParaRPr lang="en-US" sz="1125" dirty="0"/>
          </a:p>
        </p:txBody>
      </p:sp>
      <p:sp>
        <p:nvSpPr>
          <p:cNvPr id="41" name="Text 39"/>
          <p:cNvSpPr/>
          <p:nvPr/>
        </p:nvSpPr>
        <p:spPr>
          <a:xfrm>
            <a:off x="6512644" y="1892647"/>
            <a:ext cx="1952699" cy="285293"/>
          </a:xfrm>
          <a:prstGeom prst="rect">
            <a:avLst/>
          </a:prstGeom>
          <a:noFill/>
          <a:ln/>
        </p:spPr>
        <p:txBody>
          <a:bodyPr wrap="square" lIns="0" tIns="0" rIns="0" bIns="0" rtlCol="0" anchor="t"/>
          <a:lstStyle/>
          <a:p>
            <a:pPr algn="l" indent="0" marL="0">
              <a:lnSpc>
                <a:spcPts val="914"/>
              </a:lnSpc>
              <a:buNone/>
            </a:pPr>
            <a:r>
              <a:rPr lang="en-US" sz="800" b="1" dirty="0">
                <a:solidFill>
                  <a:srgbClr val="0F1F3D"/>
                </a:solidFill>
                <a:latin typeface="Carlito" pitchFamily="34" charset="0"/>
                <a:ea typeface="Carlito" pitchFamily="34" charset="-122"/>
                <a:cs typeface="Carlito" pitchFamily="34" charset="-120"/>
              </a:rPr>
              <a:t>Cuts computational cost by orders of magnitude vs. deep learning</a:t>
            </a:r>
            <a:endParaRPr lang="en-US" sz="800" dirty="0"/>
          </a:p>
        </p:txBody>
      </p:sp>
      <p:sp>
        <p:nvSpPr>
          <p:cNvPr id="42" name="Text 40"/>
          <p:cNvSpPr/>
          <p:nvPr/>
        </p:nvSpPr>
        <p:spPr>
          <a:xfrm>
            <a:off x="6241182" y="2153394"/>
            <a:ext cx="2224162" cy="238199"/>
          </a:xfrm>
          <a:prstGeom prst="rect">
            <a:avLst/>
          </a:prstGeom>
          <a:noFill/>
          <a:ln/>
        </p:spPr>
        <p:txBody>
          <a:bodyPr wrap="square" lIns="271463" tIns="0" rIns="0" bIns="0" rtlCol="0" anchor="t"/>
          <a:lstStyle/>
          <a:p>
            <a:pPr algn="l" indent="0" marL="0">
              <a:lnSpc>
                <a:spcPts val="938"/>
              </a:lnSpc>
              <a:buNone/>
            </a:pPr>
            <a:r>
              <a:rPr lang="en-US" sz="800" dirty="0">
                <a:solidFill>
                  <a:srgbClr val="5B6B82"/>
                </a:solidFill>
                <a:latin typeface="Carlito" pitchFamily="34" charset="0"/>
                <a:ea typeface="Carlito" pitchFamily="34" charset="-122"/>
                <a:cs typeface="Carlito" pitchFamily="34" charset="-120"/>
              </a:rPr>
              <a:t>Enables real-time monitoring on budget laptops and mobile devices.</a:t>
            </a:r>
            <a:endParaRPr lang="en-US" sz="800" dirty="0"/>
          </a:p>
        </p:txBody>
      </p:sp>
      <p:sp>
        <p:nvSpPr>
          <p:cNvPr id="43" name="Text 41"/>
          <p:cNvSpPr/>
          <p:nvPr/>
        </p:nvSpPr>
        <p:spPr>
          <a:xfrm>
            <a:off x="6155457" y="2548756"/>
            <a:ext cx="2395612" cy="641821"/>
          </a:xfrm>
          <a:prstGeom prst="roundRect">
            <a:avLst>
              <a:gd name="adj" fmla="val 11872"/>
            </a:avLst>
          </a:prstGeom>
          <a:solidFill>
            <a:srgbClr val="F6F8FB"/>
          </a:solidFill>
          <a:ln/>
        </p:spPr>
        <p:txBody>
          <a:bodyPr wrap="square" rtlCol="0" anchor="ctr"/>
          <a:lstStyle/>
          <a:p>
            <a:pPr indent="0" marL="0">
              <a:buNone/>
            </a:pPr>
            <a:endParaRPr lang="en-US" dirty="0"/>
          </a:p>
        </p:txBody>
      </p:sp>
      <p:sp>
        <p:nvSpPr>
          <p:cNvPr id="44" name="Text 42"/>
          <p:cNvSpPr/>
          <p:nvPr/>
        </p:nvSpPr>
        <p:spPr>
          <a:xfrm>
            <a:off x="6244754" y="2623765"/>
            <a:ext cx="192881" cy="192881"/>
          </a:xfrm>
          <a:prstGeom prst="roundRect">
            <a:avLst>
              <a:gd name="adj" fmla="val 2963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45" name="Text 43"/>
          <p:cNvSpPr/>
          <p:nvPr/>
        </p:nvSpPr>
        <p:spPr>
          <a:xfrm>
            <a:off x="6258327" y="2637339"/>
            <a:ext cx="165735" cy="165735"/>
          </a:xfrm>
          <a:prstGeom prst="rect">
            <a:avLst/>
          </a:prstGeom>
          <a:noFill/>
          <a:ln/>
        </p:spPr>
        <p:txBody>
          <a:bodyPr wrap="none" lIns="0" tIns="0" rIns="0" bIns="0" rtlCol="0" anchor="ctr"/>
          <a:lstStyle/>
          <a:p>
            <a:pPr algn="ctr" indent="0" marL="0">
              <a:buNone/>
            </a:pPr>
            <a:r>
              <a:rPr lang="en-US" sz="1125" dirty="0">
                <a:solidFill>
                  <a:srgbClr val="0F766E"/>
                </a:solidFill>
                <a:latin typeface="Segoe UI Symbol" pitchFamily="34" charset="0"/>
                <a:ea typeface="Segoe UI Symbol" pitchFamily="34" charset="-122"/>
                <a:cs typeface="Segoe UI Symbol" pitchFamily="34" charset="-120"/>
              </a:rPr>
              <a:t>▿</a:t>
            </a:r>
            <a:endParaRPr lang="en-US" sz="1125" dirty="0"/>
          </a:p>
        </p:txBody>
      </p:sp>
      <p:sp>
        <p:nvSpPr>
          <p:cNvPr id="46" name="Text 44"/>
          <p:cNvSpPr/>
          <p:nvPr/>
        </p:nvSpPr>
        <p:spPr>
          <a:xfrm>
            <a:off x="6512644" y="2620194"/>
            <a:ext cx="1952699" cy="285293"/>
          </a:xfrm>
          <a:prstGeom prst="rect">
            <a:avLst/>
          </a:prstGeom>
          <a:noFill/>
          <a:ln/>
        </p:spPr>
        <p:txBody>
          <a:bodyPr wrap="square" lIns="0" tIns="0" rIns="0" bIns="0" rtlCol="0" anchor="t"/>
          <a:lstStyle/>
          <a:p>
            <a:pPr algn="l" indent="0" marL="0">
              <a:lnSpc>
                <a:spcPts val="914"/>
              </a:lnSpc>
              <a:buNone/>
            </a:pPr>
            <a:r>
              <a:rPr lang="en-US" sz="800" b="1" dirty="0">
                <a:solidFill>
                  <a:srgbClr val="0F1F3D"/>
                </a:solidFill>
                <a:latin typeface="Carlito" pitchFamily="34" charset="0"/>
                <a:ea typeface="Carlito" pitchFamily="34" charset="-122"/>
                <a:cs typeface="Carlito" pitchFamily="34" charset="-120"/>
              </a:rPr>
              <a:t>Interpretable output guides timely, targeted teaching interventions</a:t>
            </a:r>
            <a:endParaRPr lang="en-US" sz="800" dirty="0"/>
          </a:p>
        </p:txBody>
      </p:sp>
      <p:sp>
        <p:nvSpPr>
          <p:cNvPr id="47" name="Text 45"/>
          <p:cNvSpPr/>
          <p:nvPr/>
        </p:nvSpPr>
        <p:spPr>
          <a:xfrm>
            <a:off x="6241182" y="2880940"/>
            <a:ext cx="2224162" cy="238199"/>
          </a:xfrm>
          <a:prstGeom prst="rect">
            <a:avLst/>
          </a:prstGeom>
          <a:noFill/>
          <a:ln/>
        </p:spPr>
        <p:txBody>
          <a:bodyPr wrap="square" lIns="271463" tIns="0" rIns="0" bIns="0" rtlCol="0" anchor="t"/>
          <a:lstStyle/>
          <a:p>
            <a:pPr algn="l" indent="0" marL="0">
              <a:lnSpc>
                <a:spcPts val="938"/>
              </a:lnSpc>
              <a:buNone/>
            </a:pPr>
            <a:r>
              <a:rPr lang="en-US" sz="800" dirty="0">
                <a:solidFill>
                  <a:srgbClr val="5B6B82"/>
                </a:solidFill>
                <a:latin typeface="Carlito" pitchFamily="34" charset="0"/>
                <a:ea typeface="Carlito" pitchFamily="34" charset="-122"/>
                <a:cs typeface="Carlito" pitchFamily="34" charset="-120"/>
              </a:rPr>
              <a:t>Deployable in resource-constrained educational platforms.</a:t>
            </a:r>
            <a:endParaRPr lang="en-US" sz="800" dirty="0"/>
          </a:p>
        </p:txBody>
      </p:sp>
      <p:sp>
        <p:nvSpPr>
          <p:cNvPr id="48" name="Text 46"/>
          <p:cNvSpPr/>
          <p:nvPr/>
        </p:nvSpPr>
        <p:spPr>
          <a:xfrm>
            <a:off x="457200" y="4445198"/>
            <a:ext cx="8229600" cy="355402"/>
          </a:xfrm>
          <a:prstGeom prst="roundRect">
            <a:avLst>
              <a:gd name="adj" fmla="val 21441"/>
            </a:avLst>
          </a:prstGeom>
          <a:solidFill>
            <a:srgbClr val="F6F8FB"/>
          </a:solidFill>
          <a:ln/>
        </p:spPr>
        <p:txBody>
          <a:bodyPr wrap="square" rtlCol="0" anchor="ctr"/>
          <a:lstStyle/>
          <a:p>
            <a:pPr indent="0" marL="0">
              <a:buNone/>
            </a:pPr>
            <a:endParaRPr lang="en-US" dirty="0"/>
          </a:p>
        </p:txBody>
      </p:sp>
      <p:sp>
        <p:nvSpPr>
          <p:cNvPr id="49" name="Shape 47"/>
          <p:cNvSpPr/>
          <p:nvPr/>
        </p:nvSpPr>
        <p:spPr>
          <a:xfrm>
            <a:off x="457200" y="4448770"/>
            <a:ext cx="8229600" cy="0"/>
          </a:xfrm>
          <a:prstGeom prst="line">
            <a:avLst/>
          </a:prstGeom>
          <a:noFill/>
          <a:ln w="7144">
            <a:solidFill>
              <a:srgbClr val="D9E1EC"/>
            </a:solidFill>
            <a:prstDash val="solid"/>
          </a:ln>
        </p:spPr>
      </p:sp>
      <p:sp>
        <p:nvSpPr>
          <p:cNvPr id="50" name="Shape 48"/>
          <p:cNvSpPr/>
          <p:nvPr/>
        </p:nvSpPr>
        <p:spPr>
          <a:xfrm>
            <a:off x="8683228" y="4445198"/>
            <a:ext cx="0" cy="355402"/>
          </a:xfrm>
          <a:prstGeom prst="line">
            <a:avLst/>
          </a:prstGeom>
          <a:noFill/>
          <a:ln w="7144">
            <a:solidFill>
              <a:srgbClr val="D9E1EC"/>
            </a:solidFill>
            <a:prstDash val="solid"/>
          </a:ln>
        </p:spPr>
      </p:sp>
      <p:sp>
        <p:nvSpPr>
          <p:cNvPr id="51" name="Shape 49"/>
          <p:cNvSpPr/>
          <p:nvPr/>
        </p:nvSpPr>
        <p:spPr>
          <a:xfrm>
            <a:off x="457200" y="4797028"/>
            <a:ext cx="8229600" cy="0"/>
          </a:xfrm>
          <a:prstGeom prst="line">
            <a:avLst/>
          </a:prstGeom>
          <a:noFill/>
          <a:ln w="7144">
            <a:solidFill>
              <a:srgbClr val="D9E1EC"/>
            </a:solidFill>
            <a:prstDash val="solid"/>
          </a:ln>
        </p:spPr>
      </p:sp>
      <p:sp>
        <p:nvSpPr>
          <p:cNvPr id="52" name="Shape 50"/>
          <p:cNvSpPr/>
          <p:nvPr/>
        </p:nvSpPr>
        <p:spPr>
          <a:xfrm>
            <a:off x="467916" y="4445198"/>
            <a:ext cx="0" cy="355402"/>
          </a:xfrm>
          <a:prstGeom prst="line">
            <a:avLst/>
          </a:prstGeom>
          <a:noFill/>
          <a:ln w="21431">
            <a:solidFill>
              <a:srgbClr val="14B8A6"/>
            </a:solidFill>
            <a:prstDash val="solid"/>
          </a:ln>
        </p:spPr>
      </p:sp>
      <p:sp>
        <p:nvSpPr>
          <p:cNvPr id="53" name="Text 51"/>
          <p:cNvSpPr/>
          <p:nvPr/>
        </p:nvSpPr>
        <p:spPr>
          <a:xfrm>
            <a:off x="607219" y="4519886"/>
            <a:ext cx="450949" cy="206026"/>
          </a:xfrm>
          <a:prstGeom prst="roundRect">
            <a:avLst>
              <a:gd name="adj" fmla="val 18493"/>
            </a:avLst>
          </a:prstGeom>
          <a:solidFill>
            <a:srgbClr val="14B8A6">
              <a:alpha val="18000"/>
            </a:srgbClr>
          </a:solidFill>
          <a:ln w="7144">
            <a:solidFill>
              <a:srgbClr val="14B8A6"/>
            </a:solidFill>
            <a:prstDash val="solid"/>
          </a:ln>
        </p:spPr>
        <p:txBody>
          <a:bodyPr wrap="square" rtlCol="0" anchor="ctr"/>
          <a:lstStyle/>
          <a:p>
            <a:pPr indent="0" marL="0">
              <a:buNone/>
            </a:pPr>
            <a:endParaRPr lang="en-US" dirty="0"/>
          </a:p>
        </p:txBody>
      </p:sp>
      <p:sp>
        <p:nvSpPr>
          <p:cNvPr id="54" name="Text 52"/>
          <p:cNvSpPr/>
          <p:nvPr/>
        </p:nvSpPr>
        <p:spPr>
          <a:xfrm>
            <a:off x="821531" y="4573786"/>
            <a:ext cx="286643" cy="125403"/>
          </a:xfrm>
          <a:prstGeom prst="rect">
            <a:avLst/>
          </a:prstGeom>
          <a:noFill/>
          <a:ln/>
        </p:spPr>
        <p:txBody>
          <a:bodyPr wrap="none" lIns="0" tIns="0" rIns="0" bIns="0" rtlCol="0" anchor="t"/>
          <a:lstStyle/>
          <a:p>
            <a:pPr algn="l" indent="0" marL="0">
              <a:lnSpc>
                <a:spcPts val="886"/>
              </a:lnSpc>
              <a:buNone/>
            </a:pPr>
            <a:r>
              <a:rPr lang="en-US" sz="800" b="1" spc="59" kern="0" dirty="0">
                <a:solidFill>
                  <a:srgbClr val="0F766E"/>
                </a:solidFill>
                <a:latin typeface="Courier New" pitchFamily="34" charset="0"/>
                <a:ea typeface="Courier New" pitchFamily="34" charset="-122"/>
                <a:cs typeface="Courier New" pitchFamily="34" charset="-120"/>
              </a:rPr>
              <a:t>SDG</a:t>
            </a:r>
            <a:endParaRPr lang="en-US" sz="800" dirty="0"/>
          </a:p>
        </p:txBody>
      </p:sp>
      <p:sp>
        <p:nvSpPr>
          <p:cNvPr id="55" name="Text 53"/>
          <p:cNvSpPr/>
          <p:nvPr/>
        </p:nvSpPr>
        <p:spPr>
          <a:xfrm>
            <a:off x="685800" y="4576465"/>
            <a:ext cx="92869" cy="92869"/>
          </a:xfrm>
          <a:prstGeom prst="rect">
            <a:avLst/>
          </a:prstGeom>
          <a:noFill/>
          <a:ln/>
        </p:spPr>
        <p:txBody>
          <a:bodyPr wrap="none" lIns="0" tIns="0" rIns="0" bIns="0" rtlCol="0" anchor="ctr"/>
          <a:lstStyle/>
          <a:p>
            <a:pPr algn="ctr" indent="0" marL="0">
              <a:buNone/>
            </a:pPr>
            <a:r>
              <a:rPr lang="en-US" sz="914" dirty="0">
                <a:solidFill>
                  <a:srgbClr val="0F766E"/>
                </a:solidFill>
                <a:latin typeface="Segoe UI Symbol" pitchFamily="34" charset="0"/>
                <a:ea typeface="Segoe UI Symbol" pitchFamily="34" charset="-122"/>
                <a:cs typeface="Segoe UI Symbol" pitchFamily="34" charset="-120"/>
              </a:rPr>
              <a:t>✿</a:t>
            </a:r>
            <a:endParaRPr lang="en-US" sz="914" dirty="0"/>
          </a:p>
        </p:txBody>
      </p:sp>
      <p:sp>
        <p:nvSpPr>
          <p:cNvPr id="56" name="Text 54"/>
          <p:cNvSpPr/>
          <p:nvPr/>
        </p:nvSpPr>
        <p:spPr>
          <a:xfrm>
            <a:off x="1158180" y="4560391"/>
            <a:ext cx="7392888" cy="153619"/>
          </a:xfrm>
          <a:prstGeom prst="rect">
            <a:avLst/>
          </a:prstGeom>
          <a:noFill/>
          <a:ln/>
        </p:spPr>
        <p:txBody>
          <a:bodyPr wrap="square" lIns="0" tIns="0" rIns="0" bIns="0" rtlCol="0" anchor="t"/>
          <a:lstStyle/>
          <a:p>
            <a:pPr algn="l" indent="0" marL="0">
              <a:lnSpc>
                <a:spcPts val="984"/>
              </a:lnSpc>
              <a:buNone/>
            </a:pPr>
            <a:r>
              <a:rPr lang="en-US" sz="800" dirty="0">
                <a:solidFill>
                  <a:srgbClr val="0F1F3D"/>
                </a:solidFill>
                <a:latin typeface="Carlito" pitchFamily="34" charset="0"/>
                <a:ea typeface="Carlito" pitchFamily="34" charset="-122"/>
                <a:cs typeface="Carlito" pitchFamily="34" charset="-120"/>
              </a:rPr>
              <a:t>Aligned with </a:t>
            </a:r>
            <a:pPr algn="l" indent="0" marL="0">
              <a:lnSpc>
                <a:spcPts val="984"/>
              </a:lnSpc>
              <a:buNone/>
            </a:pPr>
            <a:r>
              <a:rPr lang="en-US" sz="800" b="1" dirty="0">
                <a:solidFill>
                  <a:srgbClr val="0F766E"/>
                </a:solidFill>
                <a:latin typeface="Liberation Sans Narrow" pitchFamily="34" charset="0"/>
                <a:ea typeface="Liberation Sans Narrow" pitchFamily="34" charset="-122"/>
                <a:cs typeface="Liberation Sans Narrow" pitchFamily="34" charset="-120"/>
              </a:rPr>
              <a:t>UN SDG 4</a:t>
            </a:r>
            <a:pPr algn="l" indent="0" marL="0">
              <a:lnSpc>
                <a:spcPts val="984"/>
              </a:lnSpc>
              <a:buNone/>
            </a:pPr>
            <a:r>
              <a:rPr lang="en-US" sz="800" dirty="0">
                <a:solidFill>
                  <a:srgbClr val="0F1F3D"/>
                </a:solidFill>
                <a:latin typeface="Carlito" pitchFamily="34" charset="0"/>
                <a:ea typeface="Carlito" pitchFamily="34" charset="-122"/>
                <a:cs typeface="Carlito" pitchFamily="34" charset="-120"/>
              </a:rPr>
              <a:t> (Quality Education) and </a:t>
            </a:r>
            <a:pPr algn="l" indent="0" marL="0">
              <a:lnSpc>
                <a:spcPts val="984"/>
              </a:lnSpc>
              <a:buNone/>
            </a:pPr>
            <a:r>
              <a:rPr lang="en-US" sz="800" b="1" dirty="0">
                <a:solidFill>
                  <a:srgbClr val="0F766E"/>
                </a:solidFill>
                <a:latin typeface="Liberation Sans Narrow" pitchFamily="34" charset="0"/>
                <a:ea typeface="Liberation Sans Narrow" pitchFamily="34" charset="-122"/>
                <a:cs typeface="Liberation Sans Narrow" pitchFamily="34" charset="-120"/>
              </a:rPr>
              <a:t>SDG 9</a:t>
            </a:r>
            <a:pPr algn="l" indent="0" marL="0">
              <a:lnSpc>
                <a:spcPts val="984"/>
              </a:lnSpc>
              <a:buNone/>
            </a:pPr>
            <a:r>
              <a:rPr lang="en-US" sz="800" dirty="0">
                <a:solidFill>
                  <a:srgbClr val="0F1F3D"/>
                </a:solidFill>
                <a:latin typeface="Carlito" pitchFamily="34" charset="0"/>
                <a:ea typeface="Carlito" pitchFamily="34" charset="-122"/>
                <a:cs typeface="Carlito" pitchFamily="34" charset="-120"/>
              </a:rPr>
              <a:t> (Industry, Innovation and Infrastructure).</a:t>
            </a:r>
            <a:endParaRPr lang="en-US" sz="800" dirty="0"/>
          </a:p>
        </p:txBody>
      </p:sp>
      <p:sp>
        <p:nvSpPr>
          <p:cNvPr id="57" name="Text 55"/>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a:t>
            </a:r>
            <a:endParaRPr lang="en-US" sz="800" dirty="0"/>
          </a:p>
        </p:txBody>
      </p:sp>
      <p:sp>
        <p:nvSpPr>
          <p:cNvPr id="58" name="Text 56"/>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10 / 34</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0F1F3D"/>
          </a:solidFill>
          <a:ln/>
        </p:spPr>
        <p:txBody>
          <a:bodyPr wrap="square" rtlCol="0" anchor="ctr"/>
          <a:lstStyle/>
          <a:p>
            <a:pPr indent="0" marL="0">
              <a:buNone/>
            </a:pPr>
            <a:endParaRPr lang="en-US" dirty="0"/>
          </a:p>
        </p:txBody>
      </p:sp>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1"/>
          <p:cNvSpPr/>
          <p:nvPr/>
        </p:nvSpPr>
        <p:spPr>
          <a:xfrm>
            <a:off x="6553391" y="3429000"/>
            <a:ext cx="2590610" cy="1257300"/>
          </a:xfrm>
          <a:prstGeom prst="rect">
            <a:avLst/>
          </a:prstGeom>
          <a:noFill/>
          <a:ln/>
        </p:spPr>
        <p:txBody>
          <a:bodyPr wrap="square" lIns="0" tIns="0" rIns="0" bIns="0" rtlCol="0" anchor="t"/>
          <a:lstStyle/>
          <a:p>
            <a:pPr algn="l" indent="0" marL="0">
              <a:lnSpc>
                <a:spcPts val="10125"/>
              </a:lnSpc>
              <a:buNone/>
            </a:pPr>
            <a:r>
              <a:rPr lang="en-US" sz="11250" b="1" spc="-450" kern="0" dirty="0">
                <a:solidFill>
                  <a:srgbClr val="FFFFFF">
                    <a:alpha val="8000"/>
                  </a:srgbClr>
                </a:solidFill>
                <a:latin typeface="Liberation Sans Narrow" pitchFamily="34" charset="0"/>
                <a:ea typeface="Liberation Sans Narrow" pitchFamily="34" charset="-122"/>
                <a:cs typeface="Liberation Sans Narrow" pitchFamily="34" charset="-120"/>
              </a:rPr>
              <a:t>02</a:t>
            </a:r>
            <a:endParaRPr lang="en-US" sz="11250" dirty="0"/>
          </a:p>
        </p:txBody>
      </p:sp>
      <p:sp>
        <p:nvSpPr>
          <p:cNvPr id="5" name="Text 2"/>
          <p:cNvSpPr/>
          <p:nvPr/>
        </p:nvSpPr>
        <p:spPr>
          <a:xfrm>
            <a:off x="571500" y="457200"/>
            <a:ext cx="5575362" cy="164592"/>
          </a:xfrm>
          <a:prstGeom prst="rect">
            <a:avLst/>
          </a:prstGeom>
          <a:noFill/>
          <a:ln/>
        </p:spPr>
        <p:txBody>
          <a:bodyPr wrap="none" lIns="0" tIns="0" rIns="0" bIns="0" rtlCol="0" anchor="t"/>
          <a:lstStyle/>
          <a:p>
            <a:pPr algn="l" indent="0" marL="0">
              <a:lnSpc>
                <a:spcPts val="1097"/>
              </a:lnSpc>
              <a:buNone/>
            </a:pPr>
            <a:r>
              <a:rPr lang="en-US" sz="800" spc="219" kern="0" dirty="0">
                <a:solidFill>
                  <a:srgbClr val="14B8A6"/>
                </a:solidFill>
                <a:latin typeface="Liberation Sans Narrow" pitchFamily="34" charset="0"/>
                <a:ea typeface="Liberation Sans Narrow" pitchFamily="34" charset="-122"/>
                <a:cs typeface="Liberation Sans Narrow" pitchFamily="34" charset="-120"/>
              </a:rPr>
              <a:t>02 / 04</a:t>
            </a:r>
            <a:endParaRPr lang="en-US" sz="800" dirty="0"/>
          </a:p>
        </p:txBody>
      </p:sp>
      <p:sp>
        <p:nvSpPr>
          <p:cNvPr id="6" name="Text 3"/>
          <p:cNvSpPr/>
          <p:nvPr/>
        </p:nvSpPr>
        <p:spPr>
          <a:xfrm>
            <a:off x="6161150" y="462558"/>
            <a:ext cx="2521078" cy="164592"/>
          </a:xfrm>
          <a:prstGeom prst="rect">
            <a:avLst/>
          </a:prstGeom>
          <a:noFill/>
          <a:ln/>
        </p:spPr>
        <p:txBody>
          <a:bodyPr wrap="square" lIns="0" tIns="0" rIns="0" bIns="0" rtlCol="0" anchor="t"/>
          <a:lstStyle/>
          <a:p>
            <a:pPr algn="l" indent="0" marL="0">
              <a:lnSpc>
                <a:spcPts val="1013"/>
              </a:lnSpc>
              <a:buNone/>
            </a:pPr>
            <a:r>
              <a:rPr lang="en-US" sz="800" spc="135" kern="0" dirty="0">
                <a:solidFill>
                  <a:srgbClr val="FFFFFF">
                    <a:alpha val="50000"/>
                  </a:srgbClr>
                </a:solidFill>
                <a:latin typeface="Liberation Sans Narrow" pitchFamily="34" charset="0"/>
                <a:ea typeface="Liberation Sans Narrow" pitchFamily="34" charset="-122"/>
                <a:cs typeface="Liberation Sans Narrow" pitchFamily="34" charset="-120"/>
              </a:rPr>
              <a:t>MOUL HENGBORANN · M-DAS ITC 2026</a:t>
            </a:r>
            <a:endParaRPr lang="en-US" sz="800" dirty="0"/>
          </a:p>
        </p:txBody>
      </p:sp>
      <p:sp>
        <p:nvSpPr>
          <p:cNvPr id="7" name="Text 4"/>
          <p:cNvSpPr/>
          <p:nvPr/>
        </p:nvSpPr>
        <p:spPr>
          <a:xfrm>
            <a:off x="571500" y="1515368"/>
            <a:ext cx="400050" cy="21431"/>
          </a:xfrm>
          <a:prstGeom prst="rect">
            <a:avLst/>
          </a:prstGeom>
          <a:solidFill>
            <a:srgbClr val="14B8A6"/>
          </a:solidFill>
          <a:ln/>
        </p:spPr>
        <p:txBody>
          <a:bodyPr wrap="square" rtlCol="0" anchor="ctr"/>
          <a:lstStyle/>
          <a:p>
            <a:pPr indent="0" marL="0">
              <a:buNone/>
            </a:pPr>
            <a:endParaRPr lang="en-US" dirty="0"/>
          </a:p>
        </p:txBody>
      </p:sp>
      <p:sp>
        <p:nvSpPr>
          <p:cNvPr id="8" name="Text 5"/>
          <p:cNvSpPr/>
          <p:nvPr/>
        </p:nvSpPr>
        <p:spPr>
          <a:xfrm>
            <a:off x="571500" y="1742182"/>
            <a:ext cx="42863" cy="42863"/>
          </a:xfrm>
          <a:prstGeom prst="roundRect">
            <a:avLst>
              <a:gd name="adj" fmla="val 22199741"/>
            </a:avLst>
          </a:prstGeom>
          <a:solidFill>
            <a:srgbClr val="14B8A6"/>
          </a:solidFill>
          <a:ln/>
        </p:spPr>
        <p:txBody>
          <a:bodyPr wrap="square" rtlCol="0" anchor="ctr"/>
          <a:lstStyle/>
          <a:p>
            <a:pPr indent="0" marL="0">
              <a:buNone/>
            </a:pPr>
            <a:endParaRPr lang="en-US" dirty="0"/>
          </a:p>
        </p:txBody>
      </p:sp>
      <p:sp>
        <p:nvSpPr>
          <p:cNvPr id="9" name="Text 6"/>
          <p:cNvSpPr/>
          <p:nvPr/>
        </p:nvSpPr>
        <p:spPr>
          <a:xfrm>
            <a:off x="571500" y="1693962"/>
            <a:ext cx="1005606" cy="164592"/>
          </a:xfrm>
          <a:prstGeom prst="rect">
            <a:avLst/>
          </a:prstGeom>
          <a:noFill/>
          <a:ln/>
        </p:spPr>
        <p:txBody>
          <a:bodyPr wrap="none" lIns="0" tIns="0" rIns="0" bIns="0" rtlCol="0" anchor="t"/>
          <a:lstStyle/>
          <a:p>
            <a:pPr algn="l" indent="0" marL="0">
              <a:lnSpc>
                <a:spcPts val="1097"/>
              </a:lnSpc>
              <a:buNone/>
            </a:pPr>
            <a:r>
              <a:rPr lang="en-US" sz="800" spc="132" kern="0" dirty="0">
                <a:solidFill>
                  <a:srgbClr val="FFFFFF">
                    <a:alpha val="55000"/>
                  </a:srgbClr>
                </a:solidFill>
                <a:latin typeface="Carlito" pitchFamily="34" charset="0"/>
                <a:ea typeface="Carlito" pitchFamily="34" charset="-122"/>
                <a:cs typeface="Carlito" pitchFamily="34" charset="-120"/>
              </a:rPr>
              <a:t>DATASET</a:t>
            </a:r>
            <a:endParaRPr lang="en-US" sz="800" dirty="0"/>
          </a:p>
        </p:txBody>
      </p:sp>
      <p:sp>
        <p:nvSpPr>
          <p:cNvPr id="10" name="Text 7"/>
          <p:cNvSpPr/>
          <p:nvPr/>
        </p:nvSpPr>
        <p:spPr>
          <a:xfrm>
            <a:off x="1402184" y="1742182"/>
            <a:ext cx="42863" cy="42863"/>
          </a:xfrm>
          <a:prstGeom prst="roundRect">
            <a:avLst>
              <a:gd name="adj" fmla="val 22199741"/>
            </a:avLst>
          </a:prstGeom>
          <a:solidFill>
            <a:srgbClr val="14B8A6"/>
          </a:solidFill>
          <a:ln/>
        </p:spPr>
        <p:txBody>
          <a:bodyPr wrap="square" rtlCol="0" anchor="ctr"/>
          <a:lstStyle/>
          <a:p>
            <a:pPr indent="0" marL="0">
              <a:buNone/>
            </a:pPr>
            <a:endParaRPr lang="en-US" dirty="0"/>
          </a:p>
        </p:txBody>
      </p:sp>
      <p:sp>
        <p:nvSpPr>
          <p:cNvPr id="11" name="Text 8"/>
          <p:cNvSpPr/>
          <p:nvPr/>
        </p:nvSpPr>
        <p:spPr>
          <a:xfrm>
            <a:off x="1402184" y="1693962"/>
            <a:ext cx="1573863" cy="164592"/>
          </a:xfrm>
          <a:prstGeom prst="rect">
            <a:avLst/>
          </a:prstGeom>
          <a:noFill/>
          <a:ln/>
        </p:spPr>
        <p:txBody>
          <a:bodyPr wrap="none" lIns="0" tIns="0" rIns="0" bIns="0" rtlCol="0" anchor="t"/>
          <a:lstStyle/>
          <a:p>
            <a:pPr algn="l" indent="0" marL="0">
              <a:lnSpc>
                <a:spcPts val="1097"/>
              </a:lnSpc>
              <a:buNone/>
            </a:pPr>
            <a:r>
              <a:rPr lang="en-US" sz="800" spc="132" kern="0" dirty="0">
                <a:solidFill>
                  <a:srgbClr val="FFFFFF">
                    <a:alpha val="55000"/>
                  </a:srgbClr>
                </a:solidFill>
                <a:latin typeface="Carlito" pitchFamily="34" charset="0"/>
                <a:ea typeface="Carlito" pitchFamily="34" charset="-122"/>
                <a:cs typeface="Carlito" pitchFamily="34" charset="-120"/>
              </a:rPr>
              <a:t>RESEARCH FLOW</a:t>
            </a:r>
            <a:endParaRPr lang="en-US" sz="800" dirty="0"/>
          </a:p>
        </p:txBody>
      </p:sp>
      <p:sp>
        <p:nvSpPr>
          <p:cNvPr id="12" name="Text 9"/>
          <p:cNvSpPr/>
          <p:nvPr/>
        </p:nvSpPr>
        <p:spPr>
          <a:xfrm>
            <a:off x="2714848" y="1742182"/>
            <a:ext cx="42863" cy="42863"/>
          </a:xfrm>
          <a:prstGeom prst="roundRect">
            <a:avLst>
              <a:gd name="adj" fmla="val 22199741"/>
            </a:avLst>
          </a:prstGeom>
          <a:solidFill>
            <a:srgbClr val="14B8A6"/>
          </a:solidFill>
          <a:ln/>
        </p:spPr>
        <p:txBody>
          <a:bodyPr wrap="square" rtlCol="0" anchor="ctr"/>
          <a:lstStyle/>
          <a:p>
            <a:pPr indent="0" marL="0">
              <a:buNone/>
            </a:pPr>
            <a:endParaRPr lang="en-US" dirty="0"/>
          </a:p>
        </p:txBody>
      </p:sp>
      <p:sp>
        <p:nvSpPr>
          <p:cNvPr id="13" name="Text 10"/>
          <p:cNvSpPr/>
          <p:nvPr/>
        </p:nvSpPr>
        <p:spPr>
          <a:xfrm>
            <a:off x="2714848" y="1693962"/>
            <a:ext cx="1846226" cy="164592"/>
          </a:xfrm>
          <a:prstGeom prst="rect">
            <a:avLst/>
          </a:prstGeom>
          <a:noFill/>
          <a:ln/>
        </p:spPr>
        <p:txBody>
          <a:bodyPr wrap="none" lIns="0" tIns="0" rIns="0" bIns="0" rtlCol="0" anchor="t"/>
          <a:lstStyle/>
          <a:p>
            <a:pPr algn="l" indent="0" marL="0">
              <a:lnSpc>
                <a:spcPts val="1097"/>
              </a:lnSpc>
              <a:buNone/>
            </a:pPr>
            <a:r>
              <a:rPr lang="en-US" sz="800" spc="132" kern="0" dirty="0">
                <a:solidFill>
                  <a:srgbClr val="FFFFFF">
                    <a:alpha val="55000"/>
                  </a:srgbClr>
                </a:solidFill>
                <a:latin typeface="Carlito" pitchFamily="34" charset="0"/>
                <a:ea typeface="Carlito" pitchFamily="34" charset="-122"/>
                <a:cs typeface="Carlito" pitchFamily="34" charset="-120"/>
              </a:rPr>
              <a:t>FRAME EXTRACTION</a:t>
            </a:r>
            <a:endParaRPr lang="en-US" sz="800" dirty="0"/>
          </a:p>
        </p:txBody>
      </p:sp>
      <p:sp>
        <p:nvSpPr>
          <p:cNvPr id="14" name="Text 11"/>
          <p:cNvSpPr/>
          <p:nvPr/>
        </p:nvSpPr>
        <p:spPr>
          <a:xfrm>
            <a:off x="4220059" y="1742182"/>
            <a:ext cx="42863" cy="42863"/>
          </a:xfrm>
          <a:prstGeom prst="roundRect">
            <a:avLst>
              <a:gd name="adj" fmla="val 22199741"/>
            </a:avLst>
          </a:prstGeom>
          <a:solidFill>
            <a:srgbClr val="14B8A6"/>
          </a:solidFill>
          <a:ln/>
        </p:spPr>
        <p:txBody>
          <a:bodyPr wrap="square" rtlCol="0" anchor="ctr"/>
          <a:lstStyle/>
          <a:p>
            <a:pPr indent="0" marL="0">
              <a:buNone/>
            </a:pPr>
            <a:endParaRPr lang="en-US" dirty="0"/>
          </a:p>
        </p:txBody>
      </p:sp>
      <p:sp>
        <p:nvSpPr>
          <p:cNvPr id="15" name="Text 12"/>
          <p:cNvSpPr/>
          <p:nvPr/>
        </p:nvSpPr>
        <p:spPr>
          <a:xfrm>
            <a:off x="4220059" y="1693962"/>
            <a:ext cx="2137693" cy="164592"/>
          </a:xfrm>
          <a:prstGeom prst="rect">
            <a:avLst/>
          </a:prstGeom>
          <a:noFill/>
          <a:ln/>
        </p:spPr>
        <p:txBody>
          <a:bodyPr wrap="none" lIns="0" tIns="0" rIns="0" bIns="0" rtlCol="0" anchor="t"/>
          <a:lstStyle/>
          <a:p>
            <a:pPr algn="l" indent="0" marL="0">
              <a:lnSpc>
                <a:spcPts val="1097"/>
              </a:lnSpc>
              <a:buNone/>
            </a:pPr>
            <a:r>
              <a:rPr lang="en-US" sz="800" spc="132" kern="0" dirty="0">
                <a:solidFill>
                  <a:srgbClr val="FFFFFF">
                    <a:alpha val="55000"/>
                  </a:srgbClr>
                </a:solidFill>
                <a:latin typeface="Carlito" pitchFamily="34" charset="0"/>
                <a:ea typeface="Carlito" pitchFamily="34" charset="-122"/>
                <a:cs typeface="Carlito" pitchFamily="34" charset="-120"/>
              </a:rPr>
              <a:t>FEATURE ENGINEERING</a:t>
            </a:r>
            <a:endParaRPr lang="en-US" sz="800" dirty="0"/>
          </a:p>
        </p:txBody>
      </p:sp>
      <p:sp>
        <p:nvSpPr>
          <p:cNvPr id="16" name="Text 13"/>
          <p:cNvSpPr/>
          <p:nvPr/>
        </p:nvSpPr>
        <p:spPr>
          <a:xfrm>
            <a:off x="571500" y="2081510"/>
            <a:ext cx="42863" cy="42863"/>
          </a:xfrm>
          <a:prstGeom prst="roundRect">
            <a:avLst>
              <a:gd name="adj" fmla="val 22199741"/>
            </a:avLst>
          </a:prstGeom>
          <a:solidFill>
            <a:srgbClr val="14B8A6"/>
          </a:solidFill>
          <a:ln/>
        </p:spPr>
        <p:txBody>
          <a:bodyPr wrap="square" rtlCol="0" anchor="ctr"/>
          <a:lstStyle/>
          <a:p>
            <a:pPr indent="0" marL="0">
              <a:buNone/>
            </a:pPr>
            <a:endParaRPr lang="en-US" dirty="0"/>
          </a:p>
        </p:txBody>
      </p:sp>
      <p:sp>
        <p:nvSpPr>
          <p:cNvPr id="17" name="Text 14"/>
          <p:cNvSpPr/>
          <p:nvPr/>
        </p:nvSpPr>
        <p:spPr>
          <a:xfrm>
            <a:off x="571500" y="2033290"/>
            <a:ext cx="1176470" cy="164592"/>
          </a:xfrm>
          <a:prstGeom prst="rect">
            <a:avLst/>
          </a:prstGeom>
          <a:noFill/>
          <a:ln/>
        </p:spPr>
        <p:txBody>
          <a:bodyPr wrap="none" lIns="0" tIns="0" rIns="0" bIns="0" rtlCol="0" anchor="t"/>
          <a:lstStyle/>
          <a:p>
            <a:pPr algn="l" indent="0" marL="0">
              <a:lnSpc>
                <a:spcPts val="1097"/>
              </a:lnSpc>
              <a:buNone/>
            </a:pPr>
            <a:r>
              <a:rPr lang="en-US" sz="800" spc="132" kern="0" dirty="0">
                <a:solidFill>
                  <a:srgbClr val="FFFFFF">
                    <a:alpha val="55000"/>
                  </a:srgbClr>
                </a:solidFill>
                <a:latin typeface="Carlito" pitchFamily="34" charset="0"/>
                <a:ea typeface="Carlito" pitchFamily="34" charset="-122"/>
                <a:cs typeface="Carlito" pitchFamily="34" charset="-120"/>
              </a:rPr>
              <a:t>MODELING</a:t>
            </a:r>
            <a:endParaRPr lang="en-US" sz="800" dirty="0"/>
          </a:p>
        </p:txBody>
      </p:sp>
      <p:sp>
        <p:nvSpPr>
          <p:cNvPr id="18" name="Text 15"/>
          <p:cNvSpPr/>
          <p:nvPr/>
        </p:nvSpPr>
        <p:spPr>
          <a:xfrm>
            <a:off x="571500" y="2372618"/>
            <a:ext cx="6363081" cy="583225"/>
          </a:xfrm>
          <a:prstGeom prst="rect">
            <a:avLst/>
          </a:prstGeom>
          <a:noFill/>
          <a:ln/>
        </p:spPr>
        <p:txBody>
          <a:bodyPr wrap="none" lIns="0" tIns="0" rIns="0" bIns="0" rtlCol="0" anchor="t"/>
          <a:lstStyle/>
          <a:p>
            <a:pPr algn="l" indent="0" marL="0">
              <a:lnSpc>
                <a:spcPts val="4253"/>
              </a:lnSpc>
              <a:buNone/>
            </a:pPr>
            <a:r>
              <a:rPr lang="en-US" sz="4050" b="1" spc="-81" kern="0" dirty="0">
                <a:solidFill>
                  <a:srgbClr val="FFFFFF"/>
                </a:solidFill>
                <a:latin typeface="Carlito" pitchFamily="34" charset="0"/>
                <a:ea typeface="Carlito" pitchFamily="34" charset="-122"/>
                <a:cs typeface="Carlito" pitchFamily="34" charset="-120"/>
              </a:rPr>
              <a:t>Methodology</a:t>
            </a:r>
            <a:endParaRPr lang="en-US" sz="4050" dirty="0"/>
          </a:p>
        </p:txBody>
      </p:sp>
      <p:sp>
        <p:nvSpPr>
          <p:cNvPr id="19" name="Text 16"/>
          <p:cNvSpPr/>
          <p:nvPr/>
        </p:nvSpPr>
        <p:spPr>
          <a:xfrm>
            <a:off x="571500" y="3041228"/>
            <a:ext cx="4572000" cy="645549"/>
          </a:xfrm>
          <a:prstGeom prst="rect">
            <a:avLst/>
          </a:prstGeom>
          <a:noFill/>
          <a:ln/>
        </p:spPr>
        <p:txBody>
          <a:bodyPr wrap="square" lIns="0" tIns="0" rIns="0" bIns="0" rtlCol="0" anchor="t"/>
          <a:lstStyle/>
          <a:p>
            <a:pPr algn="l" indent="0" marL="0">
              <a:lnSpc>
                <a:spcPts val="1569"/>
              </a:lnSpc>
              <a:buNone/>
            </a:pPr>
            <a:r>
              <a:rPr lang="en-US" sz="1013" dirty="0">
                <a:solidFill>
                  <a:srgbClr val="FFFFFF">
                    <a:alpha val="70000"/>
                  </a:srgbClr>
                </a:solidFill>
                <a:latin typeface="Carlito" pitchFamily="34" charset="0"/>
                <a:ea typeface="Carlito" pitchFamily="34" charset="-122"/>
                <a:cs typeface="Carlito" pitchFamily="34" charset="-120"/>
              </a:rPr>
              <a:t>From raw video frames to classification-ready feature vectors in twelve stages — dataset, frame selection, MediaPipe extraction, feature engineering, and XGBoost modeling.</a:t>
            </a:r>
            <a:endParaRPr lang="en-US" sz="1013" dirty="0"/>
          </a:p>
        </p:txBody>
      </p:sp>
      <p:sp>
        <p:nvSpPr>
          <p:cNvPr id="20" name="Text 17"/>
          <p:cNvSpPr/>
          <p:nvPr/>
        </p:nvSpPr>
        <p:spPr>
          <a:xfrm>
            <a:off x="571500" y="4564856"/>
            <a:ext cx="114300" cy="114300"/>
          </a:xfrm>
          <a:prstGeom prst="rect">
            <a:avLst/>
          </a:prstGeom>
          <a:noFill/>
          <a:ln/>
        </p:spPr>
        <p:txBody>
          <a:bodyPr wrap="none" lIns="0" tIns="0" rIns="0" bIns="0" rtlCol="0" anchor="ctr"/>
          <a:lstStyle/>
          <a:p>
            <a:pPr algn="ctr" indent="0" marL="0">
              <a:buNone/>
            </a:pPr>
            <a:r>
              <a:rPr lang="en-US" sz="1125" dirty="0">
                <a:solidFill>
                  <a:srgbClr val="14B8A6"/>
                </a:solidFill>
                <a:latin typeface="Segoe UI Symbol" pitchFamily="34" charset="0"/>
                <a:ea typeface="Segoe UI Symbol" pitchFamily="34" charset="-122"/>
                <a:cs typeface="Segoe UI Symbol" pitchFamily="34" charset="-120"/>
              </a:rPr>
              <a:t>→</a:t>
            </a:r>
            <a:endParaRPr lang="en-US" sz="1125" dirty="0"/>
          </a:p>
        </p:txBody>
      </p:sp>
      <p:sp>
        <p:nvSpPr>
          <p:cNvPr id="21" name="Text 18"/>
          <p:cNvSpPr/>
          <p:nvPr/>
        </p:nvSpPr>
        <p:spPr>
          <a:xfrm>
            <a:off x="771525" y="4557713"/>
            <a:ext cx="1242618" cy="128588"/>
          </a:xfrm>
          <a:prstGeom prst="rect">
            <a:avLst/>
          </a:prstGeom>
          <a:noFill/>
          <a:ln/>
        </p:spPr>
        <p:txBody>
          <a:bodyPr wrap="none" lIns="0" tIns="0" rIns="0" bIns="0" rtlCol="0" anchor="t"/>
          <a:lstStyle/>
          <a:p>
            <a:pPr algn="l" indent="0" marL="0">
              <a:lnSpc>
                <a:spcPts val="1013"/>
              </a:lnSpc>
              <a:buNone/>
            </a:pPr>
            <a:r>
              <a:rPr lang="en-US" sz="800" spc="122" kern="0" dirty="0">
                <a:solidFill>
                  <a:srgbClr val="FFFFFF">
                    <a:alpha val="40000"/>
                  </a:srgbClr>
                </a:solidFill>
                <a:latin typeface="Liberation Sans Narrow" pitchFamily="34" charset="0"/>
                <a:ea typeface="Liberation Sans Narrow" pitchFamily="34" charset="-122"/>
                <a:cs typeface="Liberation Sans Narrow" pitchFamily="34" charset="-120"/>
              </a:rPr>
              <a:t>SLIDES 12 – 18</a:t>
            </a:r>
            <a:endParaRPr lang="en-US" sz="800" dirty="0"/>
          </a:p>
        </p:txBody>
      </p:sp>
      <p:sp>
        <p:nvSpPr>
          <p:cNvPr id="22" name="Text 19"/>
          <p:cNvSpPr/>
          <p:nvPr/>
        </p:nvSpPr>
        <p:spPr>
          <a:xfrm>
            <a:off x="6262948" y="4568428"/>
            <a:ext cx="2419280" cy="117872"/>
          </a:xfrm>
          <a:prstGeom prst="rect">
            <a:avLst/>
          </a:prstGeom>
          <a:noFill/>
          <a:ln/>
        </p:spPr>
        <p:txBody>
          <a:bodyPr wrap="square" lIns="0" tIns="0" rIns="0" bIns="0" rtlCol="0" anchor="t"/>
          <a:lstStyle/>
          <a:p>
            <a:pPr algn="l" indent="0" marL="0">
              <a:lnSpc>
                <a:spcPts val="928"/>
              </a:lnSpc>
              <a:buNone/>
            </a:pPr>
            <a:r>
              <a:rPr lang="en-US" sz="800" spc="136" kern="0" dirty="0">
                <a:solidFill>
                  <a:srgbClr val="FFFFFF">
                    <a:alpha val="35000"/>
                  </a:srgbClr>
                </a:solidFill>
                <a:latin typeface="Carlito" pitchFamily="34" charset="0"/>
                <a:ea typeface="Carlito" pitchFamily="34" charset="-122"/>
                <a:cs typeface="Carlito" pitchFamily="34" charset="-120"/>
              </a:rPr>
              <a:t>EFFICIENT ATTENTION CLASSIFICATION</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47590"/>
          </a:xfrm>
          <a:prstGeom prst="rect">
            <a:avLst/>
          </a:prstGeom>
          <a:noFill/>
          <a:ln/>
        </p:spPr>
        <p:txBody>
          <a:bodyPr wrap="none" lIns="0" tIns="0" rIns="0" bIns="0" rtlCol="0" anchor="t">
            <a:normAutofit/>
          </a:bodyPr>
          <a:lstStyle/>
          <a:p>
            <a:pPr algn="l" indent="0" marL="0">
              <a:lnSpc>
                <a:spcPts val="928"/>
              </a:lnSpc>
              <a:buNone/>
            </a:pPr>
            <a:r>
              <a:rPr lang="en-US" sz="800" b="1" spc="136" kern="0" dirty="0">
                <a:solidFill>
                  <a:srgbClr val="14B8A6"/>
                </a:solidFill>
                <a:latin typeface="Carlito" pitchFamily="34" charset="0"/>
                <a:ea typeface="Carlito" pitchFamily="34" charset="-122"/>
                <a:cs typeface="Carlito" pitchFamily="34" charset="-120"/>
              </a:rPr>
              <a:t>METHODOLOGY · DATASET</a:t>
            </a:r>
            <a:endParaRPr lang="en-US" sz="800" dirty="0"/>
          </a:p>
        </p:txBody>
      </p:sp>
      <p:sp>
        <p:nvSpPr>
          <p:cNvPr id="3" name="Text 1"/>
          <p:cNvSpPr/>
          <p:nvPr/>
        </p:nvSpPr>
        <p:spPr>
          <a:xfrm>
            <a:off x="457200" y="575072"/>
            <a:ext cx="8636000" cy="605683"/>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DAiSEE — The First Multi-Label Affective Video Benchmark</a:t>
            </a:r>
            <a:endParaRPr lang="en-US" sz="2025" dirty="0"/>
          </a:p>
        </p:txBody>
      </p:sp>
      <p:sp>
        <p:nvSpPr>
          <p:cNvPr id="4" name="Text 2"/>
          <p:cNvSpPr/>
          <p:nvPr/>
        </p:nvSpPr>
        <p:spPr>
          <a:xfrm>
            <a:off x="457200" y="1208187"/>
            <a:ext cx="6572250" cy="358759"/>
          </a:xfrm>
          <a:prstGeom prst="rect">
            <a:avLst/>
          </a:prstGeom>
          <a:noFill/>
          <a:ln/>
        </p:spPr>
        <p:txBody>
          <a:bodyPr wrap="square" lIns="0" tIns="0" rIns="0" bIns="0" rtlCol="0" anchor="t"/>
          <a:lstStyle/>
          <a:p>
            <a:pPr algn="l" indent="0" marL="0">
              <a:lnSpc>
                <a:spcPts val="1308"/>
              </a:lnSpc>
              <a:buNone/>
            </a:pPr>
            <a:r>
              <a:rPr lang="en-US" sz="844" dirty="0">
                <a:solidFill>
                  <a:srgbClr val="5B6B82"/>
                </a:solidFill>
                <a:latin typeface="Carlito" pitchFamily="34" charset="0"/>
                <a:ea typeface="Carlito" pitchFamily="34" charset="-122"/>
                <a:cs typeface="Carlito" pitchFamily="34" charset="-120"/>
              </a:rPr>
              <a:t>Crowd-annotated against a gold standard created by a team of expert psychologists. Four affective states, four intensity levels, severe class imbalance.</a:t>
            </a:r>
            <a:endParaRPr lang="en-US" sz="844" dirty="0"/>
          </a:p>
        </p:txBody>
      </p:sp>
      <p:sp>
        <p:nvSpPr>
          <p:cNvPr id="5" name="Text 3"/>
          <p:cNvSpPr/>
          <p:nvPr/>
        </p:nvSpPr>
        <p:spPr>
          <a:xfrm>
            <a:off x="460772" y="1686818"/>
            <a:ext cx="1964531" cy="967978"/>
          </a:xfrm>
          <a:prstGeom prst="roundRect">
            <a:avLst>
              <a:gd name="adj" fmla="val 984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6" name="Text 4"/>
          <p:cNvSpPr/>
          <p:nvPr/>
        </p:nvSpPr>
        <p:spPr>
          <a:xfrm>
            <a:off x="592931" y="1804690"/>
            <a:ext cx="1700213" cy="293180"/>
          </a:xfrm>
          <a:prstGeom prst="rect">
            <a:avLst/>
          </a:prstGeom>
          <a:noFill/>
          <a:ln/>
        </p:spPr>
        <p:txBody>
          <a:bodyPr wrap="none" lIns="0" tIns="0" rIns="0" bIns="0" rtlCol="0" anchor="t"/>
          <a:lstStyle/>
          <a:p>
            <a:pPr algn="l" indent="0" marL="0">
              <a:lnSpc>
                <a:spcPts val="2138"/>
              </a:lnSpc>
              <a:buNone/>
            </a:pPr>
            <a:r>
              <a:rPr lang="en-US" sz="2138" b="1" spc="-43" kern="0" dirty="0">
                <a:solidFill>
                  <a:srgbClr val="0F1F3D"/>
                </a:solidFill>
                <a:latin typeface="Liberation Sans Narrow" pitchFamily="34" charset="0"/>
                <a:ea typeface="Liberation Sans Narrow" pitchFamily="34" charset="-122"/>
                <a:cs typeface="Liberation Sans Narrow" pitchFamily="34" charset="-120"/>
              </a:rPr>
              <a:t>9,068</a:t>
            </a:r>
            <a:endParaRPr lang="en-US" sz="2138" dirty="0"/>
          </a:p>
        </p:txBody>
      </p:sp>
      <p:sp>
        <p:nvSpPr>
          <p:cNvPr id="7" name="Text 5"/>
          <p:cNvSpPr/>
          <p:nvPr/>
        </p:nvSpPr>
        <p:spPr>
          <a:xfrm>
            <a:off x="592931" y="2133302"/>
            <a:ext cx="1700213" cy="119015"/>
          </a:xfrm>
          <a:prstGeom prst="rect">
            <a:avLst/>
          </a:prstGeom>
          <a:noFill/>
          <a:ln/>
        </p:spPr>
        <p:txBody>
          <a:bodyPr wrap="none" lIns="0" tIns="0" rIns="0" bIns="0" rtlCol="0" anchor="t">
            <a:normAutofit/>
          </a:bodyPr>
          <a:lstStyle/>
          <a:p>
            <a:pPr algn="l" indent="0" marL="0">
              <a:lnSpc>
                <a:spcPts val="928"/>
              </a:lnSpc>
              <a:buNone/>
            </a:pPr>
            <a:r>
              <a:rPr lang="en-US" sz="800" spc="99" kern="0" dirty="0">
                <a:solidFill>
                  <a:srgbClr val="5B6B82"/>
                </a:solidFill>
                <a:latin typeface="Carlito" pitchFamily="34" charset="0"/>
                <a:ea typeface="Carlito" pitchFamily="34" charset="-122"/>
                <a:cs typeface="Carlito" pitchFamily="34" charset="-120"/>
              </a:rPr>
              <a:t>SHORT VIDEO CLIPS</a:t>
            </a:r>
            <a:endParaRPr lang="en-US" sz="800" dirty="0"/>
          </a:p>
        </p:txBody>
      </p:sp>
      <p:sp>
        <p:nvSpPr>
          <p:cNvPr id="8" name="Text 6"/>
          <p:cNvSpPr/>
          <p:nvPr/>
        </p:nvSpPr>
        <p:spPr>
          <a:xfrm>
            <a:off x="592931" y="2279749"/>
            <a:ext cx="1700213" cy="164592"/>
          </a:xfrm>
          <a:prstGeom prst="rect">
            <a:avLst/>
          </a:prstGeom>
          <a:noFill/>
          <a:ln/>
        </p:spPr>
        <p:txBody>
          <a:bodyPr wrap="none" lIns="0" tIns="0" rIns="0" bIns="0" rtlCol="0" anchor="t"/>
          <a:lstStyle/>
          <a:p>
            <a:pPr algn="l" indent="0" marL="0">
              <a:lnSpc>
                <a:spcPts val="1013"/>
              </a:lnSpc>
              <a:buNone/>
            </a:pPr>
            <a:r>
              <a:rPr lang="en-US" sz="800" dirty="0">
                <a:solidFill>
                  <a:srgbClr val="8A97AB"/>
                </a:solidFill>
                <a:latin typeface="Liberation Sans Narrow" pitchFamily="34" charset="0"/>
                <a:ea typeface="Liberation Sans Narrow" pitchFamily="34" charset="-122"/>
                <a:cs typeface="Liberation Sans Narrow" pitchFamily="34" charset="-120"/>
              </a:rPr>
              <a:t>10–60 s each, 30 fps</a:t>
            </a:r>
            <a:endParaRPr lang="en-US" sz="800" dirty="0"/>
          </a:p>
        </p:txBody>
      </p:sp>
      <p:sp>
        <p:nvSpPr>
          <p:cNvPr id="9" name="Text 7"/>
          <p:cNvSpPr/>
          <p:nvPr/>
        </p:nvSpPr>
        <p:spPr>
          <a:xfrm>
            <a:off x="2546747" y="1686818"/>
            <a:ext cx="1964531" cy="967978"/>
          </a:xfrm>
          <a:prstGeom prst="roundRect">
            <a:avLst>
              <a:gd name="adj" fmla="val 984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10" name="Text 8"/>
          <p:cNvSpPr/>
          <p:nvPr/>
        </p:nvSpPr>
        <p:spPr>
          <a:xfrm>
            <a:off x="2678906" y="1804690"/>
            <a:ext cx="1700213" cy="293180"/>
          </a:xfrm>
          <a:prstGeom prst="rect">
            <a:avLst/>
          </a:prstGeom>
          <a:noFill/>
          <a:ln/>
        </p:spPr>
        <p:txBody>
          <a:bodyPr wrap="none" lIns="0" tIns="0" rIns="0" bIns="0" rtlCol="0" anchor="t"/>
          <a:lstStyle/>
          <a:p>
            <a:pPr algn="l" indent="0" marL="0">
              <a:lnSpc>
                <a:spcPts val="2138"/>
              </a:lnSpc>
              <a:buNone/>
            </a:pPr>
            <a:r>
              <a:rPr lang="en-US" sz="2138" b="1" spc="-43" kern="0" dirty="0">
                <a:solidFill>
                  <a:srgbClr val="0F1F3D"/>
                </a:solidFill>
                <a:latin typeface="Liberation Sans Narrow" pitchFamily="34" charset="0"/>
                <a:ea typeface="Liberation Sans Narrow" pitchFamily="34" charset="-122"/>
                <a:cs typeface="Liberation Sans Narrow" pitchFamily="34" charset="-120"/>
              </a:rPr>
              <a:t>112</a:t>
            </a:r>
            <a:endParaRPr lang="en-US" sz="2138" dirty="0"/>
          </a:p>
        </p:txBody>
      </p:sp>
      <p:sp>
        <p:nvSpPr>
          <p:cNvPr id="11" name="Text 9"/>
          <p:cNvSpPr/>
          <p:nvPr/>
        </p:nvSpPr>
        <p:spPr>
          <a:xfrm>
            <a:off x="2678906" y="2133302"/>
            <a:ext cx="1700213" cy="119015"/>
          </a:xfrm>
          <a:prstGeom prst="rect">
            <a:avLst/>
          </a:prstGeom>
          <a:noFill/>
          <a:ln/>
        </p:spPr>
        <p:txBody>
          <a:bodyPr wrap="none" lIns="0" tIns="0" rIns="0" bIns="0" rtlCol="0" anchor="t">
            <a:normAutofit/>
          </a:bodyPr>
          <a:lstStyle/>
          <a:p>
            <a:pPr algn="l" indent="0" marL="0">
              <a:lnSpc>
                <a:spcPts val="928"/>
              </a:lnSpc>
              <a:buNone/>
            </a:pPr>
            <a:r>
              <a:rPr lang="en-US" sz="800" spc="99" kern="0" dirty="0">
                <a:solidFill>
                  <a:srgbClr val="5B6B82"/>
                </a:solidFill>
                <a:latin typeface="Carlito" pitchFamily="34" charset="0"/>
                <a:ea typeface="Carlito" pitchFamily="34" charset="-122"/>
                <a:cs typeface="Carlito" pitchFamily="34" charset="-120"/>
              </a:rPr>
              <a:t>UNIQUE SUBJECTS</a:t>
            </a:r>
            <a:endParaRPr lang="en-US" sz="800" dirty="0"/>
          </a:p>
        </p:txBody>
      </p:sp>
      <p:sp>
        <p:nvSpPr>
          <p:cNvPr id="12" name="Text 10"/>
          <p:cNvSpPr/>
          <p:nvPr/>
        </p:nvSpPr>
        <p:spPr>
          <a:xfrm>
            <a:off x="2678906" y="2279749"/>
            <a:ext cx="1700213" cy="164592"/>
          </a:xfrm>
          <a:prstGeom prst="rect">
            <a:avLst/>
          </a:prstGeom>
          <a:noFill/>
          <a:ln/>
        </p:spPr>
        <p:txBody>
          <a:bodyPr wrap="none" lIns="0" tIns="0" rIns="0" bIns="0" rtlCol="0" anchor="t"/>
          <a:lstStyle/>
          <a:p>
            <a:pPr algn="l" indent="0" marL="0">
              <a:lnSpc>
                <a:spcPts val="1013"/>
              </a:lnSpc>
              <a:buNone/>
            </a:pPr>
            <a:r>
              <a:rPr lang="en-US" sz="800" dirty="0">
                <a:solidFill>
                  <a:srgbClr val="8A97AB"/>
                </a:solidFill>
                <a:latin typeface="Carlito" pitchFamily="34" charset="0"/>
                <a:ea typeface="Carlito" pitchFamily="34" charset="-122"/>
                <a:cs typeface="Carlito" pitchFamily="34" charset="-120"/>
              </a:rPr>
              <a:t>Diverse demographics</a:t>
            </a:r>
            <a:endParaRPr lang="en-US" sz="800" dirty="0"/>
          </a:p>
        </p:txBody>
      </p:sp>
      <p:sp>
        <p:nvSpPr>
          <p:cNvPr id="13" name="Text 11"/>
          <p:cNvSpPr/>
          <p:nvPr/>
        </p:nvSpPr>
        <p:spPr>
          <a:xfrm>
            <a:off x="4632722" y="1686818"/>
            <a:ext cx="1964531" cy="967978"/>
          </a:xfrm>
          <a:prstGeom prst="roundRect">
            <a:avLst>
              <a:gd name="adj" fmla="val 984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14" name="Text 12"/>
          <p:cNvSpPr/>
          <p:nvPr/>
        </p:nvSpPr>
        <p:spPr>
          <a:xfrm>
            <a:off x="4764881" y="1804690"/>
            <a:ext cx="1700213" cy="293180"/>
          </a:xfrm>
          <a:prstGeom prst="rect">
            <a:avLst/>
          </a:prstGeom>
          <a:noFill/>
          <a:ln/>
        </p:spPr>
        <p:txBody>
          <a:bodyPr wrap="none" lIns="0" tIns="0" rIns="0" bIns="0" rtlCol="0" anchor="t"/>
          <a:lstStyle/>
          <a:p>
            <a:pPr algn="l" indent="0" marL="0">
              <a:lnSpc>
                <a:spcPts val="2138"/>
              </a:lnSpc>
              <a:buNone/>
            </a:pPr>
            <a:r>
              <a:rPr lang="en-US" sz="2138" b="1" spc="-43" kern="0" dirty="0">
                <a:solidFill>
                  <a:srgbClr val="0F1F3D"/>
                </a:solidFill>
                <a:latin typeface="Liberation Sans Narrow" pitchFamily="34" charset="0"/>
                <a:ea typeface="Liberation Sans Narrow" pitchFamily="34" charset="-122"/>
                <a:cs typeface="Liberation Sans Narrow" pitchFamily="34" charset="-120"/>
              </a:rPr>
              <a:t>4</a:t>
            </a:r>
            <a:endParaRPr lang="en-US" sz="2138" dirty="0"/>
          </a:p>
        </p:txBody>
      </p:sp>
      <p:sp>
        <p:nvSpPr>
          <p:cNvPr id="15" name="Text 13"/>
          <p:cNvSpPr/>
          <p:nvPr/>
        </p:nvSpPr>
        <p:spPr>
          <a:xfrm>
            <a:off x="4764881" y="2133302"/>
            <a:ext cx="1700213" cy="119015"/>
          </a:xfrm>
          <a:prstGeom prst="rect">
            <a:avLst/>
          </a:prstGeom>
          <a:noFill/>
          <a:ln/>
        </p:spPr>
        <p:txBody>
          <a:bodyPr wrap="none" lIns="0" tIns="0" rIns="0" bIns="0" rtlCol="0" anchor="t">
            <a:normAutofit/>
          </a:bodyPr>
          <a:lstStyle/>
          <a:p>
            <a:pPr algn="l" indent="0" marL="0">
              <a:lnSpc>
                <a:spcPts val="928"/>
              </a:lnSpc>
              <a:buNone/>
            </a:pPr>
            <a:r>
              <a:rPr lang="en-US" sz="800" spc="99" kern="0" dirty="0">
                <a:solidFill>
                  <a:srgbClr val="5B6B82"/>
                </a:solidFill>
                <a:latin typeface="Carlito" pitchFamily="34" charset="0"/>
                <a:ea typeface="Carlito" pitchFamily="34" charset="-122"/>
                <a:cs typeface="Carlito" pitchFamily="34" charset="-120"/>
              </a:rPr>
              <a:t>AFFECTIVE STATES</a:t>
            </a:r>
            <a:endParaRPr lang="en-US" sz="800" dirty="0"/>
          </a:p>
        </p:txBody>
      </p:sp>
      <p:sp>
        <p:nvSpPr>
          <p:cNvPr id="16" name="Text 14"/>
          <p:cNvSpPr/>
          <p:nvPr/>
        </p:nvSpPr>
        <p:spPr>
          <a:xfrm>
            <a:off x="4764881" y="2279749"/>
            <a:ext cx="1700213" cy="257175"/>
          </a:xfrm>
          <a:prstGeom prst="rect">
            <a:avLst/>
          </a:prstGeom>
          <a:noFill/>
          <a:ln/>
        </p:spPr>
        <p:txBody>
          <a:bodyPr wrap="square" lIns="0" tIns="0" rIns="0" bIns="0" rtlCol="0" anchor="t"/>
          <a:lstStyle/>
          <a:p>
            <a:pPr algn="l" indent="0" marL="0">
              <a:lnSpc>
                <a:spcPts val="1013"/>
              </a:lnSpc>
              <a:buNone/>
            </a:pPr>
            <a:r>
              <a:rPr lang="en-US" sz="800" dirty="0">
                <a:solidFill>
                  <a:srgbClr val="8A97AB"/>
                </a:solidFill>
                <a:latin typeface="Carlito" pitchFamily="34" charset="0"/>
                <a:ea typeface="Carlito" pitchFamily="34" charset="-122"/>
                <a:cs typeface="Carlito" pitchFamily="34" charset="-120"/>
              </a:rPr>
              <a:t>Boredom · Engagement · Confusion · Frustration</a:t>
            </a:r>
            <a:endParaRPr lang="en-US" sz="800" dirty="0"/>
          </a:p>
        </p:txBody>
      </p:sp>
      <p:sp>
        <p:nvSpPr>
          <p:cNvPr id="17" name="Text 15"/>
          <p:cNvSpPr/>
          <p:nvPr/>
        </p:nvSpPr>
        <p:spPr>
          <a:xfrm>
            <a:off x="6718697" y="1686818"/>
            <a:ext cx="1964531" cy="967978"/>
          </a:xfrm>
          <a:prstGeom prst="roundRect">
            <a:avLst>
              <a:gd name="adj" fmla="val 984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18" name="Text 16"/>
          <p:cNvSpPr/>
          <p:nvPr/>
        </p:nvSpPr>
        <p:spPr>
          <a:xfrm>
            <a:off x="6850856" y="1804690"/>
            <a:ext cx="1700213" cy="293180"/>
          </a:xfrm>
          <a:prstGeom prst="rect">
            <a:avLst/>
          </a:prstGeom>
          <a:noFill/>
          <a:ln/>
        </p:spPr>
        <p:txBody>
          <a:bodyPr wrap="none" lIns="0" tIns="0" rIns="0" bIns="0" rtlCol="0" anchor="t"/>
          <a:lstStyle/>
          <a:p>
            <a:pPr algn="l" indent="0" marL="0">
              <a:lnSpc>
                <a:spcPts val="2138"/>
              </a:lnSpc>
              <a:buNone/>
            </a:pPr>
            <a:r>
              <a:rPr lang="en-US" sz="2138" b="1" spc="-43" kern="0" dirty="0">
                <a:solidFill>
                  <a:srgbClr val="0F1F3D"/>
                </a:solidFill>
                <a:latin typeface="Liberation Sans Narrow" pitchFamily="34" charset="0"/>
                <a:ea typeface="Liberation Sans Narrow" pitchFamily="34" charset="-122"/>
                <a:cs typeface="Liberation Sans Narrow" pitchFamily="34" charset="-120"/>
              </a:rPr>
              <a:t>4</a:t>
            </a:r>
            <a:endParaRPr lang="en-US" sz="2138" dirty="0"/>
          </a:p>
        </p:txBody>
      </p:sp>
      <p:sp>
        <p:nvSpPr>
          <p:cNvPr id="19" name="Text 17"/>
          <p:cNvSpPr/>
          <p:nvPr/>
        </p:nvSpPr>
        <p:spPr>
          <a:xfrm>
            <a:off x="6850856" y="2133302"/>
            <a:ext cx="1700213" cy="119015"/>
          </a:xfrm>
          <a:prstGeom prst="rect">
            <a:avLst/>
          </a:prstGeom>
          <a:noFill/>
          <a:ln/>
        </p:spPr>
        <p:txBody>
          <a:bodyPr wrap="none" lIns="0" tIns="0" rIns="0" bIns="0" rtlCol="0" anchor="t">
            <a:normAutofit/>
          </a:bodyPr>
          <a:lstStyle/>
          <a:p>
            <a:pPr algn="l" indent="0" marL="0">
              <a:lnSpc>
                <a:spcPts val="928"/>
              </a:lnSpc>
              <a:buNone/>
            </a:pPr>
            <a:r>
              <a:rPr lang="en-US" sz="800" spc="99" kern="0" dirty="0">
                <a:solidFill>
                  <a:srgbClr val="5B6B82"/>
                </a:solidFill>
                <a:latin typeface="Carlito" pitchFamily="34" charset="0"/>
                <a:ea typeface="Carlito" pitchFamily="34" charset="-122"/>
                <a:cs typeface="Carlito" pitchFamily="34" charset="-120"/>
              </a:rPr>
              <a:t>INTENSITY LEVELS EACH</a:t>
            </a:r>
            <a:endParaRPr lang="en-US" sz="800" dirty="0"/>
          </a:p>
        </p:txBody>
      </p:sp>
      <p:sp>
        <p:nvSpPr>
          <p:cNvPr id="20" name="Text 18"/>
          <p:cNvSpPr/>
          <p:nvPr/>
        </p:nvSpPr>
        <p:spPr>
          <a:xfrm>
            <a:off x="6850856" y="2279749"/>
            <a:ext cx="1802225" cy="164592"/>
          </a:xfrm>
          <a:prstGeom prst="rect">
            <a:avLst/>
          </a:prstGeom>
          <a:noFill/>
          <a:ln/>
        </p:spPr>
        <p:txBody>
          <a:bodyPr wrap="square" lIns="0" tIns="0" rIns="0" bIns="0" rtlCol="0" anchor="t"/>
          <a:lstStyle/>
          <a:p>
            <a:pPr algn="l" indent="0" marL="0">
              <a:lnSpc>
                <a:spcPts val="1013"/>
              </a:lnSpc>
              <a:buNone/>
            </a:pPr>
            <a:r>
              <a:rPr lang="en-US" sz="800" dirty="0">
                <a:solidFill>
                  <a:srgbClr val="8A97AB"/>
                </a:solidFill>
                <a:latin typeface="Carlito" pitchFamily="34" charset="0"/>
                <a:ea typeface="Carlito" pitchFamily="34" charset="-122"/>
                <a:cs typeface="Carlito" pitchFamily="34" charset="-120"/>
              </a:rPr>
              <a:t>Very Low · Low · High · Very High</a:t>
            </a:r>
            <a:endParaRPr lang="en-US" sz="800" dirty="0"/>
          </a:p>
        </p:txBody>
      </p:sp>
      <p:sp>
        <p:nvSpPr>
          <p:cNvPr id="21" name="Text 19"/>
          <p:cNvSpPr/>
          <p:nvPr/>
        </p:nvSpPr>
        <p:spPr>
          <a:xfrm>
            <a:off x="457200" y="2801243"/>
            <a:ext cx="8636000" cy="142232"/>
          </a:xfrm>
          <a:prstGeom prst="rect">
            <a:avLst/>
          </a:prstGeom>
          <a:noFill/>
          <a:ln/>
        </p:spPr>
        <p:txBody>
          <a:bodyPr wrap="square" lIns="0" tIns="0" rIns="0" bIns="0" rtlCol="0" anchor="t">
            <a:normAutofit/>
          </a:bodyPr>
          <a:lstStyle/>
          <a:p>
            <a:pPr algn="l" indent="0" marL="0">
              <a:lnSpc>
                <a:spcPts val="886"/>
              </a:lnSpc>
              <a:buNone/>
            </a:pPr>
            <a:r>
              <a:rPr lang="en-US" sz="800" spc="106" kern="0" dirty="0">
                <a:solidFill>
                  <a:srgbClr val="5B6B82"/>
                </a:solidFill>
                <a:latin typeface="Carlito" pitchFamily="34" charset="0"/>
                <a:ea typeface="Carlito" pitchFamily="34" charset="-122"/>
                <a:cs typeface="Carlito" pitchFamily="34" charset="-120"/>
              </a:rPr>
              <a:t>CLASS DISTRIBUTION ACROSS 9,068 CLIPS (HIGHLY IMBALANCED)</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0907"/>
          <a:ext cx="8229600" cy="914400"/>
        </p:xfrm>
        <a:graphic>
          <a:graphicData uri="http://schemas.openxmlformats.org/drawingml/2006/table">
            <a:tbl>
              <a:tblPr/>
              <a:tblGrid>
                <a:gridCol w="1810494"/>
                <a:gridCol w="1248482"/>
                <a:gridCol w="782464"/>
                <a:gridCol w="782464"/>
                <a:gridCol w="1311325"/>
                <a:gridCol w="2294372"/>
              </a:tblGrid>
              <a:tr h="0">
                <a:tc>
                  <a:txBody>
                    <a:bodyPr/>
                    <a:lstStyle/>
                    <a:p>
                      <a:pPr algn="l" indent="0" marL="0">
                        <a:buNone/>
                      </a:pPr>
                      <a:r>
                        <a:rPr lang="en-US" sz="800" b="1" dirty="0">
                          <a:solidFill>
                            <a:srgbClr val="5B6B82"/>
                          </a:solidFill>
                          <a:latin typeface="Carlito" pitchFamily="34" charset="0"/>
                          <a:ea typeface="Carlito" pitchFamily="34" charset="-122"/>
                          <a:cs typeface="Carlito" pitchFamily="34" charset="-120"/>
                        </a:rPr>
                        <a:t>Affective State</a:t>
                      </a:r>
                      <a:endParaRPr lang="en-US" sz="800" dirty="0">
                        <a:latin typeface="Carlito" charset="0"/>
                        <a:ea typeface="Carlito" charset="0"/>
                        <a:cs typeface="Carlito"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b="1" dirty="0">
                          <a:solidFill>
                            <a:srgbClr val="5B6B82"/>
                          </a:solidFill>
                          <a:latin typeface="Carlito" pitchFamily="34" charset="0"/>
                          <a:ea typeface="Carlito" pitchFamily="34" charset="-122"/>
                          <a:cs typeface="Carlito" pitchFamily="34" charset="-120"/>
                        </a:rPr>
                        <a:t>Very Low</a:t>
                      </a:r>
                      <a:endParaRPr lang="en-US" sz="800" dirty="0">
                        <a:latin typeface="Carlito" charset="0"/>
                        <a:ea typeface="Carlito" charset="0"/>
                        <a:cs typeface="Carlito"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b="1" dirty="0">
                          <a:solidFill>
                            <a:srgbClr val="5B6B82"/>
                          </a:solidFill>
                          <a:latin typeface="Carlito" pitchFamily="34" charset="0"/>
                          <a:ea typeface="Carlito" pitchFamily="34" charset="-122"/>
                          <a:cs typeface="Carlito" pitchFamily="34" charset="-120"/>
                        </a:rPr>
                        <a:t>Low</a:t>
                      </a:r>
                      <a:endParaRPr lang="en-US" sz="800" dirty="0">
                        <a:latin typeface="Carlito" charset="0"/>
                        <a:ea typeface="Carlito" charset="0"/>
                        <a:cs typeface="Carlito"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b="1" dirty="0">
                          <a:solidFill>
                            <a:srgbClr val="5B6B82"/>
                          </a:solidFill>
                          <a:latin typeface="Carlito" pitchFamily="34" charset="0"/>
                          <a:ea typeface="Carlito" pitchFamily="34" charset="-122"/>
                          <a:cs typeface="Carlito" pitchFamily="34" charset="-120"/>
                        </a:rPr>
                        <a:t>High</a:t>
                      </a:r>
                      <a:endParaRPr lang="en-US" sz="800" dirty="0">
                        <a:latin typeface="Carlito" charset="0"/>
                        <a:ea typeface="Carlito" charset="0"/>
                        <a:cs typeface="Carlito"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b="1" dirty="0">
                          <a:solidFill>
                            <a:srgbClr val="5B6B82"/>
                          </a:solidFill>
                          <a:latin typeface="Carlito" pitchFamily="34" charset="0"/>
                          <a:ea typeface="Carlito" pitchFamily="34" charset="-122"/>
                          <a:cs typeface="Carlito" pitchFamily="34" charset="-120"/>
                        </a:rPr>
                        <a:t>Very High</a:t>
                      </a:r>
                      <a:endParaRPr lang="en-US" sz="800" dirty="0">
                        <a:latin typeface="Carlito" charset="0"/>
                        <a:ea typeface="Carlito" charset="0"/>
                        <a:cs typeface="Carlito"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b="1" dirty="0">
                          <a:solidFill>
                            <a:srgbClr val="5B6B82"/>
                          </a:solidFill>
                          <a:latin typeface="Carlito" pitchFamily="34" charset="0"/>
                          <a:ea typeface="Carlito" pitchFamily="34" charset="-122"/>
                          <a:cs typeface="Carlito" pitchFamily="34" charset="-120"/>
                        </a:rPr>
                        <a:t>Ratio VLow : VHigh</a:t>
                      </a:r>
                      <a:endParaRPr lang="en-US" sz="800" dirty="0">
                        <a:latin typeface="Carlito" charset="0"/>
                        <a:ea typeface="Carlito" charset="0"/>
                        <a:cs typeface="Carlito"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Boredom</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8A97AB"/>
                          </a:solidFill>
                          <a:latin typeface="Courier New" pitchFamily="34" charset="0"/>
                          <a:ea typeface="Courier New" pitchFamily="34" charset="-122"/>
                          <a:cs typeface="Courier New" pitchFamily="34" charset="-120"/>
                        </a:rPr>
                        <a:t>3,869</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2,931</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1,934</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766E"/>
                          </a:solidFill>
                          <a:latin typeface="Courier New" pitchFamily="34" charset="0"/>
                          <a:ea typeface="Courier New" pitchFamily="34" charset="-122"/>
                          <a:cs typeface="Courier New" pitchFamily="34" charset="-120"/>
                        </a:rPr>
                        <a:t>334</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B8A6">
                        <a:alpha val="10000"/>
                      </a:srgbClr>
                    </a:solidFill>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11.6 : 1</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Confusion</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8A97AB"/>
                          </a:solidFill>
                          <a:latin typeface="Courier New" pitchFamily="34" charset="0"/>
                          <a:ea typeface="Courier New" pitchFamily="34" charset="-122"/>
                          <a:cs typeface="Courier New" pitchFamily="34" charset="-120"/>
                        </a:rPr>
                        <a:t>6,024</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2,191</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752</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766E"/>
                          </a:solidFill>
                          <a:latin typeface="Courier New" pitchFamily="34" charset="0"/>
                          <a:ea typeface="Courier New" pitchFamily="34" charset="-122"/>
                          <a:cs typeface="Courier New" pitchFamily="34" charset="-120"/>
                        </a:rPr>
                        <a:t>101</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B8A6">
                        <a:alpha val="10000"/>
                      </a:srgbClr>
                    </a:solidFill>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59.6 : 1</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Engagement</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8A97AB"/>
                          </a:solidFill>
                          <a:latin typeface="Courier New" pitchFamily="34" charset="0"/>
                          <a:ea typeface="Courier New" pitchFamily="34" charset="-122"/>
                          <a:cs typeface="Courier New" pitchFamily="34" charset="-120"/>
                        </a:rPr>
                        <a:t>61</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459</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4,477</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766E"/>
                          </a:solidFill>
                          <a:latin typeface="Courier New" pitchFamily="34" charset="0"/>
                          <a:ea typeface="Courier New" pitchFamily="34" charset="-122"/>
                          <a:cs typeface="Courier New" pitchFamily="34" charset="-120"/>
                        </a:rPr>
                        <a:t>4,071</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B8A6">
                        <a:alpha val="10000"/>
                      </a:srgbClr>
                    </a:solidFill>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1 : 66.7</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Frustration</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8A97AB"/>
                          </a:solidFill>
                          <a:latin typeface="Courier New" pitchFamily="34" charset="0"/>
                          <a:ea typeface="Courier New" pitchFamily="34" charset="-122"/>
                          <a:cs typeface="Courier New" pitchFamily="34" charset="-120"/>
                        </a:rPr>
                        <a:t>6,986</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1,649</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346</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766E"/>
                          </a:solidFill>
                          <a:latin typeface="Courier New" pitchFamily="34" charset="0"/>
                          <a:ea typeface="Courier New" pitchFamily="34" charset="-122"/>
                          <a:cs typeface="Courier New" pitchFamily="34" charset="-120"/>
                        </a:rPr>
                        <a:t>87</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B8A6">
                        <a:alpha val="10000"/>
                      </a:srgbClr>
                    </a:solidFill>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80.3 : 1</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23" name="Text 20"/>
          <p:cNvSpPr/>
          <p:nvPr/>
        </p:nvSpPr>
        <p:spPr>
          <a:xfrm>
            <a:off x="457200" y="4360366"/>
            <a:ext cx="8229600" cy="567928"/>
          </a:xfrm>
          <a:prstGeom prst="roundRect">
            <a:avLst>
              <a:gd name="adj" fmla="val 6709"/>
            </a:avLst>
          </a:prstGeom>
          <a:solidFill>
            <a:srgbClr val="FFFFFF"/>
          </a:solidFill>
          <a:ln/>
        </p:spPr>
        <p:txBody>
          <a:bodyPr wrap="square" rtlCol="0" anchor="ctr"/>
          <a:lstStyle/>
          <a:p>
            <a:pPr indent="0" marL="0">
              <a:buNone/>
            </a:pPr>
            <a:endParaRPr lang="en-US" dirty="0"/>
          </a:p>
        </p:txBody>
      </p:sp>
      <p:sp>
        <p:nvSpPr>
          <p:cNvPr id="24" name="Shape 21"/>
          <p:cNvSpPr/>
          <p:nvPr/>
        </p:nvSpPr>
        <p:spPr>
          <a:xfrm>
            <a:off x="457200" y="4363938"/>
            <a:ext cx="8229600" cy="0"/>
          </a:xfrm>
          <a:prstGeom prst="line">
            <a:avLst/>
          </a:prstGeom>
          <a:noFill/>
          <a:ln w="7144">
            <a:solidFill>
              <a:srgbClr val="D9E1EC"/>
            </a:solidFill>
            <a:prstDash val="solid"/>
          </a:ln>
        </p:spPr>
      </p:sp>
      <p:sp>
        <p:nvSpPr>
          <p:cNvPr id="25" name="Shape 22"/>
          <p:cNvSpPr/>
          <p:nvPr/>
        </p:nvSpPr>
        <p:spPr>
          <a:xfrm>
            <a:off x="8683228" y="4360366"/>
            <a:ext cx="0" cy="567928"/>
          </a:xfrm>
          <a:prstGeom prst="line">
            <a:avLst/>
          </a:prstGeom>
          <a:noFill/>
          <a:ln w="7144">
            <a:solidFill>
              <a:srgbClr val="D9E1EC"/>
            </a:solidFill>
            <a:prstDash val="solid"/>
          </a:ln>
        </p:spPr>
      </p:sp>
      <p:sp>
        <p:nvSpPr>
          <p:cNvPr id="26" name="Shape 23"/>
          <p:cNvSpPr/>
          <p:nvPr/>
        </p:nvSpPr>
        <p:spPr>
          <a:xfrm>
            <a:off x="457200" y="4924723"/>
            <a:ext cx="8229600" cy="0"/>
          </a:xfrm>
          <a:prstGeom prst="line">
            <a:avLst/>
          </a:prstGeom>
          <a:noFill/>
          <a:ln w="7144">
            <a:solidFill>
              <a:srgbClr val="D9E1EC"/>
            </a:solidFill>
            <a:prstDash val="solid"/>
          </a:ln>
        </p:spPr>
      </p:sp>
      <p:sp>
        <p:nvSpPr>
          <p:cNvPr id="27" name="Shape 24"/>
          <p:cNvSpPr/>
          <p:nvPr/>
        </p:nvSpPr>
        <p:spPr>
          <a:xfrm>
            <a:off x="467916" y="4360366"/>
            <a:ext cx="0" cy="567928"/>
          </a:xfrm>
          <a:prstGeom prst="line">
            <a:avLst/>
          </a:prstGeom>
          <a:noFill/>
          <a:ln w="21431">
            <a:solidFill>
              <a:srgbClr val="14B8A6"/>
            </a:solidFill>
            <a:prstDash val="solid"/>
          </a:ln>
        </p:spPr>
      </p:sp>
      <p:sp>
        <p:nvSpPr>
          <p:cNvPr id="28" name="Text 25"/>
          <p:cNvSpPr/>
          <p:nvPr/>
        </p:nvSpPr>
        <p:spPr>
          <a:xfrm>
            <a:off x="592931" y="4565749"/>
            <a:ext cx="157163" cy="157163"/>
          </a:xfrm>
          <a:prstGeom prst="rect">
            <a:avLst/>
          </a:prstGeom>
          <a:noFill/>
          <a:ln/>
        </p:spPr>
        <p:txBody>
          <a:bodyPr wrap="none" lIns="0" tIns="0" rIns="0" bIns="0" rtlCol="0" anchor="ctr"/>
          <a:lstStyle/>
          <a:p>
            <a:pPr algn="ctr" indent="0" marL="0">
              <a:buNone/>
            </a:pPr>
            <a:r>
              <a:rPr lang="en-US" sz="1547" dirty="0">
                <a:solidFill>
                  <a:srgbClr val="14B8A6"/>
                </a:solidFill>
                <a:latin typeface="Segoe UI Symbol" pitchFamily="34" charset="0"/>
                <a:ea typeface="Segoe UI Symbol" pitchFamily="34" charset="-122"/>
                <a:cs typeface="Segoe UI Symbol" pitchFamily="34" charset="-120"/>
              </a:rPr>
              <a:t>⚠</a:t>
            </a:r>
            <a:endParaRPr lang="en-US" sz="1547" dirty="0"/>
          </a:p>
        </p:txBody>
      </p:sp>
      <p:sp>
        <p:nvSpPr>
          <p:cNvPr id="29" name="Text 26"/>
          <p:cNvSpPr/>
          <p:nvPr/>
        </p:nvSpPr>
        <p:spPr>
          <a:xfrm>
            <a:off x="835819" y="4438948"/>
            <a:ext cx="7729538" cy="126159"/>
          </a:xfrm>
          <a:prstGeom prst="rect">
            <a:avLst/>
          </a:prstGeom>
          <a:noFill/>
          <a:ln/>
        </p:spPr>
        <p:txBody>
          <a:bodyPr wrap="square" lIns="0" tIns="0" rIns="0" bIns="0" rtlCol="0" anchor="t">
            <a:normAutofit/>
          </a:bodyPr>
          <a:lstStyle/>
          <a:p>
            <a:pPr algn="l" indent="0" marL="0">
              <a:lnSpc>
                <a:spcPts val="1097"/>
              </a:lnSpc>
              <a:buNone/>
            </a:pPr>
            <a:r>
              <a:rPr lang="en-US" sz="800" b="1" dirty="0">
                <a:solidFill>
                  <a:srgbClr val="0F1F3D"/>
                </a:solidFill>
                <a:latin typeface="Carlito" pitchFamily="34" charset="0"/>
                <a:ea typeface="Carlito" pitchFamily="34" charset="-122"/>
                <a:cs typeface="Carlito" pitchFamily="34" charset="-120"/>
              </a:rPr>
              <a:t>Why this imbalance is the central methodological challenge</a:t>
            </a:r>
            <a:endParaRPr lang="en-US" sz="800" dirty="0"/>
          </a:p>
        </p:txBody>
      </p:sp>
      <p:sp>
        <p:nvSpPr>
          <p:cNvPr id="30" name="Text 27"/>
          <p:cNvSpPr/>
          <p:nvPr/>
        </p:nvSpPr>
        <p:spPr>
          <a:xfrm>
            <a:off x="835819" y="4592538"/>
            <a:ext cx="7729538" cy="257175"/>
          </a:xfrm>
          <a:prstGeom prst="rect">
            <a:avLst/>
          </a:prstGeom>
          <a:noFill/>
          <a:ln/>
        </p:spPr>
        <p:txBody>
          <a:bodyPr wrap="square" lIns="0" tIns="0" rIns="0" bIns="0" rtlCol="0" anchor="t"/>
          <a:lstStyle/>
          <a:p>
            <a:pPr algn="l" indent="0" marL="0">
              <a:lnSpc>
                <a:spcPts val="1013"/>
              </a:lnSpc>
              <a:buNone/>
            </a:pPr>
            <a:r>
              <a:rPr lang="en-US" sz="800" dirty="0">
                <a:solidFill>
                  <a:srgbClr val="5B6B82"/>
                </a:solidFill>
                <a:latin typeface="Carlito" pitchFamily="34" charset="0"/>
                <a:ea typeface="Carlito" pitchFamily="34" charset="-122"/>
                <a:cs typeface="Carlito" pitchFamily="34" charset="-120"/>
              </a:rPr>
              <a:t>For Boredom, Confusion, and Frustration, the vast majority of clips fall into Very Low or Low — the model sees only a fraction of the high-intensity examples it needs to learn from. We address this with SMOTE + class weighting + Focal Loss (see Slide 18).</a:t>
            </a:r>
            <a:endParaRPr lang="en-US" sz="800" dirty="0"/>
          </a:p>
        </p:txBody>
      </p:sp>
      <p:sp>
        <p:nvSpPr>
          <p:cNvPr id="31" name="Text 28"/>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M-DAS ITC 2026</a:t>
            </a:r>
            <a:endParaRPr lang="en-US" sz="800" dirty="0"/>
          </a:p>
        </p:txBody>
      </p:sp>
      <p:sp>
        <p:nvSpPr>
          <p:cNvPr id="32" name="Text 29"/>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12 / 34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19015"/>
          </a:xfrm>
          <a:prstGeom prst="rect">
            <a:avLst/>
          </a:prstGeom>
          <a:noFill/>
          <a:ln/>
        </p:spPr>
        <p:txBody>
          <a:bodyPr wrap="square" lIns="0" tIns="0" rIns="0" bIns="0" rtlCol="0" anchor="t">
            <a:normAutofit/>
          </a:bodyPr>
          <a:lstStyle/>
          <a:p>
            <a:pPr algn="l" indent="0" marL="0">
              <a:lnSpc>
                <a:spcPts val="928"/>
              </a:lnSpc>
              <a:buNone/>
            </a:pPr>
            <a:r>
              <a:rPr lang="en-US" sz="800" b="1" spc="136" kern="0" dirty="0">
                <a:solidFill>
                  <a:srgbClr val="14B8A6"/>
                </a:solidFill>
                <a:latin typeface="Carlito" pitchFamily="34" charset="0"/>
                <a:ea typeface="Carlito" pitchFamily="34" charset="-122"/>
                <a:cs typeface="Carlito" pitchFamily="34" charset="-120"/>
              </a:rPr>
              <a:t>METHODOLOGY · END-TO-END PIPELINE</a:t>
            </a:r>
            <a:endParaRPr lang="en-US" sz="800" dirty="0"/>
          </a:p>
        </p:txBody>
      </p:sp>
      <p:sp>
        <p:nvSpPr>
          <p:cNvPr id="3" name="Text 1"/>
          <p:cNvSpPr/>
          <p:nvPr/>
        </p:nvSpPr>
        <p:spPr>
          <a:xfrm>
            <a:off x="457200" y="546497"/>
            <a:ext cx="8636000" cy="303413"/>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From Raw Video to Trained Classifier in Twelve Stages</a:t>
            </a:r>
            <a:endParaRPr lang="en-US" sz="2025" dirty="0"/>
          </a:p>
        </p:txBody>
      </p:sp>
      <p:sp>
        <p:nvSpPr>
          <p:cNvPr id="4" name="Text 2"/>
          <p:cNvSpPr/>
          <p:nvPr/>
        </p:nvSpPr>
        <p:spPr>
          <a:xfrm>
            <a:off x="457200" y="877342"/>
            <a:ext cx="6572250" cy="340106"/>
          </a:xfrm>
          <a:prstGeom prst="rect">
            <a:avLst/>
          </a:prstGeom>
          <a:noFill/>
          <a:ln/>
        </p:spPr>
        <p:txBody>
          <a:bodyPr wrap="square" lIns="0" tIns="0" rIns="0" bIns="0" rtlCol="0" anchor="t"/>
          <a:lstStyle/>
          <a:p>
            <a:pPr algn="l" indent="0" marL="0">
              <a:lnSpc>
                <a:spcPts val="1177"/>
              </a:lnSpc>
              <a:buNone/>
            </a:pPr>
            <a:r>
              <a:rPr lang="en-US" sz="800" dirty="0">
                <a:solidFill>
                  <a:srgbClr val="5B6B82"/>
                </a:solidFill>
                <a:latin typeface="Carlito" pitchFamily="34" charset="0"/>
                <a:ea typeface="Carlito" pitchFamily="34" charset="-122"/>
                <a:cs typeface="Carlito" pitchFamily="34" charset="-120"/>
              </a:rPr>
              <a:t>Each stage has clear input-output specifications, enabling modular testing and independent optimization — the pipeline prioritizes computational efficiency at every stage.</a:t>
            </a:r>
            <a:endParaRPr lang="en-US" sz="800" dirty="0"/>
          </a:p>
        </p:txBody>
      </p:sp>
      <p:sp>
        <p:nvSpPr>
          <p:cNvPr id="5" name="Text 3"/>
          <p:cNvSpPr/>
          <p:nvPr/>
        </p:nvSpPr>
        <p:spPr>
          <a:xfrm>
            <a:off x="1081385" y="1294135"/>
            <a:ext cx="1007269" cy="678656"/>
          </a:xfrm>
          <a:prstGeom prst="roundRect">
            <a:avLst>
              <a:gd name="adj" fmla="val 11228"/>
            </a:avLst>
          </a:prstGeom>
          <a:solidFill>
            <a:srgbClr val="FFFFFF"/>
          </a:solidFill>
          <a:ln w="7144">
            <a:solidFill>
              <a:srgbClr val="D9E1EC"/>
            </a:solidFill>
            <a:prstDash val="solid"/>
          </a:ln>
          <a:effectLst>
            <a:outerShdw sx="100000" sy="100000" kx="0" ky="0" algn="bl" rotWithShape="0" blurRad="19050" dist="9525" dir="5400000">
              <a:srgbClr val="0F1F3D">
                <a:alpha val="4000"/>
              </a:srgbClr>
            </a:outerShdw>
          </a:effectLst>
        </p:spPr>
        <p:txBody>
          <a:bodyPr wrap="square" rtlCol="0" anchor="ctr"/>
          <a:lstStyle/>
          <a:p>
            <a:pPr indent="0" marL="0">
              <a:buNone/>
            </a:pPr>
            <a:endParaRPr lang="en-US" dirty="0"/>
          </a:p>
        </p:txBody>
      </p:sp>
      <p:sp>
        <p:nvSpPr>
          <p:cNvPr id="6" name="Text 4"/>
          <p:cNvSpPr/>
          <p:nvPr/>
        </p:nvSpPr>
        <p:spPr>
          <a:xfrm>
            <a:off x="1156395" y="1360215"/>
            <a:ext cx="714375" cy="164592"/>
          </a:xfrm>
          <a:prstGeom prst="rect">
            <a:avLst/>
          </a:prstGeom>
          <a:noFill/>
          <a:ln/>
        </p:spPr>
        <p:txBody>
          <a:bodyPr wrap="none" lIns="0" tIns="0" rIns="0" bIns="0" rtlCol="0" anchor="t"/>
          <a:lstStyle/>
          <a:p>
            <a:pPr algn="l" indent="0" marL="0">
              <a:lnSpc>
                <a:spcPts val="928"/>
              </a:lnSpc>
              <a:buNone/>
            </a:pPr>
            <a:r>
              <a:rPr lang="en-US" sz="800" b="1" spc="74" kern="0" dirty="0">
                <a:solidFill>
                  <a:srgbClr val="14B8A6"/>
                </a:solidFill>
                <a:latin typeface="Liberation Sans Narrow" pitchFamily="34" charset="0"/>
                <a:ea typeface="Liberation Sans Narrow" pitchFamily="34" charset="-122"/>
                <a:cs typeface="Liberation Sans Narrow" pitchFamily="34" charset="-120"/>
              </a:rPr>
              <a:t>01</a:t>
            </a:r>
            <a:endParaRPr lang="en-US" sz="800" dirty="0"/>
          </a:p>
        </p:txBody>
      </p:sp>
      <p:sp>
        <p:nvSpPr>
          <p:cNvPr id="7" name="Text 5"/>
          <p:cNvSpPr/>
          <p:nvPr/>
        </p:nvSpPr>
        <p:spPr>
          <a:xfrm>
            <a:off x="1885057" y="1354857"/>
            <a:ext cx="128588" cy="128588"/>
          </a:xfrm>
          <a:prstGeom prst="rect">
            <a:avLst/>
          </a:prstGeom>
          <a:noFill/>
          <a:ln/>
        </p:spPr>
        <p:txBody>
          <a:bodyPr wrap="none" lIns="0" tIns="0" rIns="0" bIns="0" rtlCol="0" anchor="ctr"/>
          <a:lstStyle/>
          <a:p>
            <a:pPr algn="ctr" indent="0" marL="0">
              <a:buNone/>
            </a:pPr>
            <a:r>
              <a:rPr lang="en-US" sz="1266" dirty="0">
                <a:solidFill>
                  <a:srgbClr val="0F1F3D"/>
                </a:solidFill>
                <a:latin typeface="Segoe UI Symbol" pitchFamily="34" charset="0"/>
                <a:ea typeface="Segoe UI Symbol" pitchFamily="34" charset="-122"/>
                <a:cs typeface="Segoe UI Symbol" pitchFamily="34" charset="-120"/>
              </a:rPr>
              <a:t>▶</a:t>
            </a:r>
            <a:endParaRPr lang="en-US" sz="1266" dirty="0"/>
          </a:p>
        </p:txBody>
      </p:sp>
      <p:sp>
        <p:nvSpPr>
          <p:cNvPr id="8" name="Text 6"/>
          <p:cNvSpPr/>
          <p:nvPr/>
        </p:nvSpPr>
        <p:spPr>
          <a:xfrm>
            <a:off x="1156395" y="1497732"/>
            <a:ext cx="857250" cy="120801"/>
          </a:xfrm>
          <a:prstGeom prst="rect">
            <a:avLst/>
          </a:prstGeom>
          <a:noFill/>
          <a:ln/>
        </p:spPr>
        <p:txBody>
          <a:bodyPr wrap="none" lIns="0" tIns="0" rIns="0" bIns="0" rtlCol="0" anchor="t">
            <a:normAutofit/>
          </a:bodyPr>
          <a:lstStyle/>
          <a:p>
            <a:pPr algn="l" indent="0" marL="0">
              <a:lnSpc>
                <a:spcPts val="1055"/>
              </a:lnSpc>
              <a:buNone/>
            </a:pPr>
            <a:r>
              <a:rPr lang="en-US" sz="800" b="1" spc="-4" kern="0" dirty="0">
                <a:solidFill>
                  <a:srgbClr val="0F1F3D"/>
                </a:solidFill>
                <a:latin typeface="Carlito" pitchFamily="34" charset="0"/>
                <a:ea typeface="Carlito" pitchFamily="34" charset="-122"/>
                <a:cs typeface="Carlito" pitchFamily="34" charset="-120"/>
              </a:rPr>
              <a:t>DAiSEE</a:t>
            </a:r>
            <a:endParaRPr lang="en-US" sz="800" dirty="0"/>
          </a:p>
        </p:txBody>
      </p:sp>
      <p:sp>
        <p:nvSpPr>
          <p:cNvPr id="9" name="Text 7"/>
          <p:cNvSpPr/>
          <p:nvPr/>
        </p:nvSpPr>
        <p:spPr>
          <a:xfrm>
            <a:off x="1156395" y="1645965"/>
            <a:ext cx="908685" cy="266105"/>
          </a:xfrm>
          <a:prstGeom prst="rect">
            <a:avLst/>
          </a:prstGeom>
          <a:noFill/>
          <a:ln/>
        </p:spPr>
        <p:txBody>
          <a:bodyPr wrap="square" lIns="0" tIns="0" rIns="0" bIns="0" rtlCol="0" anchor="t"/>
          <a:lstStyle/>
          <a:p>
            <a:pPr algn="l" indent="0" marL="0">
              <a:lnSpc>
                <a:spcPts val="705"/>
              </a:lnSpc>
              <a:buNone/>
            </a:pPr>
            <a:r>
              <a:rPr lang="en-US" sz="800" dirty="0">
                <a:solidFill>
                  <a:srgbClr val="5B6B82"/>
                </a:solidFill>
                <a:latin typeface="Carlito" pitchFamily="34" charset="0"/>
                <a:ea typeface="Carlito" pitchFamily="34" charset="-122"/>
                <a:cs typeface="Carlito" pitchFamily="34" charset="-120"/>
              </a:rPr>
              <a:t>Raw video input · 30 fps clips from 112 participants</a:t>
            </a:r>
            <a:endParaRPr lang="en-US" sz="800" dirty="0"/>
          </a:p>
        </p:txBody>
      </p:sp>
      <p:sp>
        <p:nvSpPr>
          <p:cNvPr id="10" name="Text 8"/>
          <p:cNvSpPr/>
          <p:nvPr/>
        </p:nvSpPr>
        <p:spPr>
          <a:xfrm>
            <a:off x="2092226" y="1290563"/>
            <a:ext cx="180380" cy="740664"/>
          </a:xfrm>
          <a:prstGeom prst="rect">
            <a:avLst/>
          </a:prstGeom>
          <a:noFill/>
          <a:ln/>
        </p:spPr>
        <p:txBody>
          <a:bodyPr wrap="none" lIns="42863" tIns="0" rIns="42863" bIns="0" rtlCol="0" anchor="t"/>
          <a:lstStyle/>
          <a:p>
            <a:pPr algn="l" indent="0" marL="0">
              <a:lnSpc>
                <a:spcPts val="5400"/>
              </a:lnSpc>
              <a:buNone/>
            </a:pPr>
            <a:r>
              <a:rPr lang="en-US" sz="1238" dirty="0">
                <a:solidFill>
                  <a:srgbClr val="14B8A6"/>
                </a:solidFill>
                <a:latin typeface="Courier New" pitchFamily="34" charset="0"/>
                <a:ea typeface="Courier New" pitchFamily="34" charset="-122"/>
                <a:cs typeface="Courier New" pitchFamily="34" charset="-120"/>
              </a:rPr>
              <a:t>›</a:t>
            </a:r>
            <a:endParaRPr lang="en-US" sz="1238" dirty="0"/>
          </a:p>
        </p:txBody>
      </p:sp>
      <p:sp>
        <p:nvSpPr>
          <p:cNvPr id="11" name="Text 9"/>
          <p:cNvSpPr/>
          <p:nvPr/>
        </p:nvSpPr>
        <p:spPr>
          <a:xfrm>
            <a:off x="2276177" y="1294135"/>
            <a:ext cx="1007269" cy="678656"/>
          </a:xfrm>
          <a:prstGeom prst="roundRect">
            <a:avLst>
              <a:gd name="adj" fmla="val 11228"/>
            </a:avLst>
          </a:prstGeom>
          <a:solidFill>
            <a:srgbClr val="FFFFFF"/>
          </a:solidFill>
          <a:ln w="7144">
            <a:solidFill>
              <a:srgbClr val="D9E1EC"/>
            </a:solidFill>
            <a:prstDash val="solid"/>
          </a:ln>
          <a:effectLst>
            <a:outerShdw sx="100000" sy="100000" kx="0" ky="0" algn="bl" rotWithShape="0" blurRad="19050" dist="9525" dir="5400000">
              <a:srgbClr val="0F1F3D">
                <a:alpha val="4000"/>
              </a:srgbClr>
            </a:outerShdw>
          </a:effectLst>
        </p:spPr>
        <p:txBody>
          <a:bodyPr wrap="square" rtlCol="0" anchor="ctr"/>
          <a:lstStyle/>
          <a:p>
            <a:pPr indent="0" marL="0">
              <a:buNone/>
            </a:pPr>
            <a:endParaRPr lang="en-US" dirty="0"/>
          </a:p>
        </p:txBody>
      </p:sp>
      <p:sp>
        <p:nvSpPr>
          <p:cNvPr id="12" name="Text 10"/>
          <p:cNvSpPr/>
          <p:nvPr/>
        </p:nvSpPr>
        <p:spPr>
          <a:xfrm>
            <a:off x="2351187" y="1360215"/>
            <a:ext cx="714375" cy="164592"/>
          </a:xfrm>
          <a:prstGeom prst="rect">
            <a:avLst/>
          </a:prstGeom>
          <a:noFill/>
          <a:ln/>
        </p:spPr>
        <p:txBody>
          <a:bodyPr wrap="none" lIns="0" tIns="0" rIns="0" bIns="0" rtlCol="0" anchor="t"/>
          <a:lstStyle/>
          <a:p>
            <a:pPr algn="l" indent="0" marL="0">
              <a:lnSpc>
                <a:spcPts val="928"/>
              </a:lnSpc>
              <a:buNone/>
            </a:pPr>
            <a:r>
              <a:rPr lang="en-US" sz="800" b="1" spc="74" kern="0" dirty="0">
                <a:solidFill>
                  <a:srgbClr val="14B8A6"/>
                </a:solidFill>
                <a:latin typeface="Liberation Sans Narrow" pitchFamily="34" charset="0"/>
                <a:ea typeface="Liberation Sans Narrow" pitchFamily="34" charset="-122"/>
                <a:cs typeface="Liberation Sans Narrow" pitchFamily="34" charset="-120"/>
              </a:rPr>
              <a:t>02</a:t>
            </a:r>
            <a:endParaRPr lang="en-US" sz="800" dirty="0"/>
          </a:p>
        </p:txBody>
      </p:sp>
      <p:sp>
        <p:nvSpPr>
          <p:cNvPr id="13" name="Text 11"/>
          <p:cNvSpPr/>
          <p:nvPr/>
        </p:nvSpPr>
        <p:spPr>
          <a:xfrm>
            <a:off x="3079849" y="1354857"/>
            <a:ext cx="128588" cy="128588"/>
          </a:xfrm>
          <a:prstGeom prst="rect">
            <a:avLst/>
          </a:prstGeom>
          <a:noFill/>
          <a:ln/>
        </p:spPr>
        <p:txBody>
          <a:bodyPr wrap="none" lIns="0" tIns="0" rIns="0" bIns="0" rtlCol="0" anchor="ctr"/>
          <a:lstStyle/>
          <a:p>
            <a:pPr algn="ctr" indent="0" marL="0">
              <a:buNone/>
            </a:pPr>
            <a:r>
              <a:rPr lang="en-US" sz="1266" dirty="0">
                <a:solidFill>
                  <a:srgbClr val="0F1F3D"/>
                </a:solidFill>
                <a:latin typeface="Segoe UI Symbol" pitchFamily="34" charset="0"/>
                <a:ea typeface="Segoe UI Symbol" pitchFamily="34" charset="-122"/>
                <a:cs typeface="Segoe UI Symbol" pitchFamily="34" charset="-120"/>
              </a:rPr>
              <a:t>✦</a:t>
            </a:r>
            <a:endParaRPr lang="en-US" sz="1266" dirty="0"/>
          </a:p>
        </p:txBody>
      </p:sp>
      <p:sp>
        <p:nvSpPr>
          <p:cNvPr id="14" name="Text 12"/>
          <p:cNvSpPr/>
          <p:nvPr/>
        </p:nvSpPr>
        <p:spPr>
          <a:xfrm>
            <a:off x="2351187" y="1497732"/>
            <a:ext cx="857250" cy="120801"/>
          </a:xfrm>
          <a:prstGeom prst="rect">
            <a:avLst/>
          </a:prstGeom>
          <a:noFill/>
          <a:ln/>
        </p:spPr>
        <p:txBody>
          <a:bodyPr wrap="none" lIns="0" tIns="0" rIns="0" bIns="0" rtlCol="0" anchor="t">
            <a:normAutofit/>
          </a:bodyPr>
          <a:lstStyle/>
          <a:p>
            <a:pPr algn="l" indent="0" marL="0">
              <a:lnSpc>
                <a:spcPts val="1055"/>
              </a:lnSpc>
              <a:buNone/>
            </a:pPr>
            <a:r>
              <a:rPr lang="en-US" sz="703" b="1" spc="-4" kern="0" dirty="0">
                <a:solidFill>
                  <a:srgbClr val="0F1F3D"/>
                </a:solidFill>
                <a:latin typeface="Carlito" pitchFamily="34" charset="0"/>
                <a:ea typeface="Carlito" pitchFamily="34" charset="-122"/>
                <a:cs typeface="Carlito" pitchFamily="34" charset="-120"/>
              </a:rPr>
              <a:t>Label Transform</a:t>
            </a:r>
            <a:endParaRPr lang="en-US" sz="703" dirty="0"/>
          </a:p>
        </p:txBody>
      </p:sp>
      <p:sp>
        <p:nvSpPr>
          <p:cNvPr id="15" name="Text 13"/>
          <p:cNvSpPr/>
          <p:nvPr/>
        </p:nvSpPr>
        <p:spPr>
          <a:xfrm>
            <a:off x="2351187" y="1645965"/>
            <a:ext cx="908685" cy="266105"/>
          </a:xfrm>
          <a:prstGeom prst="rect">
            <a:avLst/>
          </a:prstGeom>
          <a:noFill/>
          <a:ln/>
        </p:spPr>
        <p:txBody>
          <a:bodyPr wrap="square" lIns="0" tIns="0" rIns="0" bIns="0" rtlCol="0" anchor="t"/>
          <a:lstStyle/>
          <a:p>
            <a:pPr algn="l" indent="0" marL="0">
              <a:lnSpc>
                <a:spcPts val="705"/>
              </a:lnSpc>
              <a:buNone/>
            </a:pPr>
            <a:r>
              <a:rPr lang="en-US" sz="800" dirty="0">
                <a:solidFill>
                  <a:srgbClr val="5B6B82"/>
                </a:solidFill>
                <a:latin typeface="Carlito" pitchFamily="34" charset="0"/>
                <a:ea typeface="Carlito" pitchFamily="34" charset="-122"/>
                <a:cs typeface="Carlito" pitchFamily="34" charset="-120"/>
              </a:rPr>
              <a:t>4-Class → 3-Class · state-specific mapping</a:t>
            </a:r>
            <a:endParaRPr lang="en-US" sz="800" dirty="0"/>
          </a:p>
        </p:txBody>
      </p:sp>
      <p:sp>
        <p:nvSpPr>
          <p:cNvPr id="16" name="Text 14"/>
          <p:cNvSpPr/>
          <p:nvPr/>
        </p:nvSpPr>
        <p:spPr>
          <a:xfrm>
            <a:off x="3287018" y="1290563"/>
            <a:ext cx="180380" cy="740664"/>
          </a:xfrm>
          <a:prstGeom prst="rect">
            <a:avLst/>
          </a:prstGeom>
          <a:noFill/>
          <a:ln/>
        </p:spPr>
        <p:txBody>
          <a:bodyPr wrap="none" lIns="42863" tIns="0" rIns="42863" bIns="0" rtlCol="0" anchor="t"/>
          <a:lstStyle/>
          <a:p>
            <a:pPr algn="l" indent="0" marL="0">
              <a:lnSpc>
                <a:spcPts val="5400"/>
              </a:lnSpc>
              <a:buNone/>
            </a:pPr>
            <a:r>
              <a:rPr lang="en-US" sz="1238" dirty="0">
                <a:solidFill>
                  <a:srgbClr val="14B8A6"/>
                </a:solidFill>
                <a:latin typeface="Courier New" pitchFamily="34" charset="0"/>
                <a:ea typeface="Courier New" pitchFamily="34" charset="-122"/>
                <a:cs typeface="Courier New" pitchFamily="34" charset="-120"/>
              </a:rPr>
              <a:t>›</a:t>
            </a:r>
            <a:endParaRPr lang="en-US" sz="1238" dirty="0"/>
          </a:p>
        </p:txBody>
      </p:sp>
      <p:sp>
        <p:nvSpPr>
          <p:cNvPr id="17" name="Text 15"/>
          <p:cNvSpPr/>
          <p:nvPr/>
        </p:nvSpPr>
        <p:spPr>
          <a:xfrm>
            <a:off x="3470970" y="1294135"/>
            <a:ext cx="1007269" cy="678656"/>
          </a:xfrm>
          <a:prstGeom prst="roundRect">
            <a:avLst>
              <a:gd name="adj" fmla="val 11228"/>
            </a:avLst>
          </a:prstGeom>
          <a:solidFill>
            <a:srgbClr val="FFFFFF"/>
          </a:solidFill>
          <a:ln w="7144">
            <a:solidFill>
              <a:srgbClr val="D9E1EC"/>
            </a:solidFill>
            <a:prstDash val="solid"/>
          </a:ln>
          <a:effectLst>
            <a:outerShdw sx="100000" sy="100000" kx="0" ky="0" algn="bl" rotWithShape="0" blurRad="19050" dist="9525" dir="5400000">
              <a:srgbClr val="0F1F3D">
                <a:alpha val="4000"/>
              </a:srgbClr>
            </a:outerShdw>
          </a:effectLst>
        </p:spPr>
        <p:txBody>
          <a:bodyPr wrap="square" rtlCol="0" anchor="ctr"/>
          <a:lstStyle/>
          <a:p>
            <a:pPr indent="0" marL="0">
              <a:buNone/>
            </a:pPr>
            <a:endParaRPr lang="en-US" dirty="0"/>
          </a:p>
        </p:txBody>
      </p:sp>
      <p:sp>
        <p:nvSpPr>
          <p:cNvPr id="18" name="Text 16"/>
          <p:cNvSpPr/>
          <p:nvPr/>
        </p:nvSpPr>
        <p:spPr>
          <a:xfrm>
            <a:off x="3545979" y="1360215"/>
            <a:ext cx="714375" cy="164592"/>
          </a:xfrm>
          <a:prstGeom prst="rect">
            <a:avLst/>
          </a:prstGeom>
          <a:noFill/>
          <a:ln/>
        </p:spPr>
        <p:txBody>
          <a:bodyPr wrap="none" lIns="0" tIns="0" rIns="0" bIns="0" rtlCol="0" anchor="t"/>
          <a:lstStyle/>
          <a:p>
            <a:pPr algn="l" indent="0" marL="0">
              <a:lnSpc>
                <a:spcPts val="928"/>
              </a:lnSpc>
              <a:buNone/>
            </a:pPr>
            <a:r>
              <a:rPr lang="en-US" sz="800" b="1" spc="74" kern="0" dirty="0">
                <a:solidFill>
                  <a:srgbClr val="14B8A6"/>
                </a:solidFill>
                <a:latin typeface="Liberation Sans Narrow" pitchFamily="34" charset="0"/>
                <a:ea typeface="Liberation Sans Narrow" pitchFamily="34" charset="-122"/>
                <a:cs typeface="Liberation Sans Narrow" pitchFamily="34" charset="-120"/>
              </a:rPr>
              <a:t>03</a:t>
            </a:r>
            <a:endParaRPr lang="en-US" sz="800" dirty="0"/>
          </a:p>
        </p:txBody>
      </p:sp>
      <p:sp>
        <p:nvSpPr>
          <p:cNvPr id="19" name="Text 17"/>
          <p:cNvSpPr/>
          <p:nvPr/>
        </p:nvSpPr>
        <p:spPr>
          <a:xfrm>
            <a:off x="4274641" y="1354857"/>
            <a:ext cx="128588" cy="128588"/>
          </a:xfrm>
          <a:prstGeom prst="rect">
            <a:avLst/>
          </a:prstGeom>
          <a:noFill/>
          <a:ln/>
        </p:spPr>
        <p:txBody>
          <a:bodyPr wrap="none" lIns="0" tIns="0" rIns="0" bIns="0" rtlCol="0" anchor="ctr"/>
          <a:lstStyle/>
          <a:p>
            <a:pPr algn="ctr" indent="0" marL="0">
              <a:buNone/>
            </a:pPr>
            <a:r>
              <a:rPr lang="en-US" sz="1266" dirty="0">
                <a:solidFill>
                  <a:srgbClr val="0F1F3D"/>
                </a:solidFill>
                <a:latin typeface="Segoe UI Symbol" pitchFamily="34" charset="0"/>
                <a:ea typeface="Segoe UI Symbol" pitchFamily="34" charset="-122"/>
                <a:cs typeface="Segoe UI Symbol" pitchFamily="34" charset="-120"/>
              </a:rPr>
              <a:t>☻</a:t>
            </a:r>
            <a:endParaRPr lang="en-US" sz="1266" dirty="0"/>
          </a:p>
        </p:txBody>
      </p:sp>
      <p:sp>
        <p:nvSpPr>
          <p:cNvPr id="20" name="Text 18"/>
          <p:cNvSpPr/>
          <p:nvPr/>
        </p:nvSpPr>
        <p:spPr>
          <a:xfrm>
            <a:off x="3545979" y="1497732"/>
            <a:ext cx="857250" cy="120801"/>
          </a:xfrm>
          <a:prstGeom prst="rect">
            <a:avLst/>
          </a:prstGeom>
          <a:noFill/>
          <a:ln/>
        </p:spPr>
        <p:txBody>
          <a:bodyPr wrap="none" lIns="0" tIns="0" rIns="0" bIns="0" rtlCol="0" anchor="t">
            <a:normAutofit/>
          </a:bodyPr>
          <a:lstStyle/>
          <a:p>
            <a:pPr algn="l" indent="0" marL="0">
              <a:lnSpc>
                <a:spcPts val="1055"/>
              </a:lnSpc>
              <a:buNone/>
            </a:pPr>
            <a:r>
              <a:rPr lang="en-US" sz="800" b="1" spc="-4" kern="0" dirty="0">
                <a:solidFill>
                  <a:srgbClr val="0F1F3D"/>
                </a:solidFill>
                <a:latin typeface="Carlito" pitchFamily="34" charset="0"/>
                <a:ea typeface="Carlito" pitchFamily="34" charset="-122"/>
                <a:cs typeface="Carlito" pitchFamily="34" charset="-120"/>
              </a:rPr>
              <a:t>MediaPipe</a:t>
            </a:r>
            <a:endParaRPr lang="en-US" sz="800" dirty="0"/>
          </a:p>
        </p:txBody>
      </p:sp>
      <p:sp>
        <p:nvSpPr>
          <p:cNvPr id="21" name="Text 19"/>
          <p:cNvSpPr/>
          <p:nvPr/>
        </p:nvSpPr>
        <p:spPr>
          <a:xfrm>
            <a:off x="3545979" y="1645965"/>
            <a:ext cx="908685" cy="266105"/>
          </a:xfrm>
          <a:prstGeom prst="rect">
            <a:avLst/>
          </a:prstGeom>
          <a:noFill/>
          <a:ln/>
        </p:spPr>
        <p:txBody>
          <a:bodyPr wrap="square" lIns="0" tIns="0" rIns="0" bIns="0" rtlCol="0" anchor="t"/>
          <a:lstStyle/>
          <a:p>
            <a:pPr algn="l" indent="0" marL="0">
              <a:lnSpc>
                <a:spcPts val="705"/>
              </a:lnSpc>
              <a:buNone/>
            </a:pPr>
            <a:r>
              <a:rPr lang="en-US" sz="800" dirty="0">
                <a:solidFill>
                  <a:srgbClr val="5B6B82"/>
                </a:solidFill>
                <a:latin typeface="Carlito" pitchFamily="34" charset="0"/>
                <a:ea typeface="Carlito" pitchFamily="34" charset="-122"/>
                <a:cs typeface="Carlito" pitchFamily="34" charset="-120"/>
              </a:rPr>
              <a:t>78D per frame · blendshapes + pose + gaze</a:t>
            </a:r>
            <a:endParaRPr lang="en-US" sz="800" dirty="0"/>
          </a:p>
        </p:txBody>
      </p:sp>
      <p:sp>
        <p:nvSpPr>
          <p:cNvPr id="22" name="Text 20"/>
          <p:cNvSpPr/>
          <p:nvPr/>
        </p:nvSpPr>
        <p:spPr>
          <a:xfrm>
            <a:off x="4481810" y="1290563"/>
            <a:ext cx="180380" cy="740664"/>
          </a:xfrm>
          <a:prstGeom prst="rect">
            <a:avLst/>
          </a:prstGeom>
          <a:noFill/>
          <a:ln/>
        </p:spPr>
        <p:txBody>
          <a:bodyPr wrap="none" lIns="42863" tIns="0" rIns="42863" bIns="0" rtlCol="0" anchor="t"/>
          <a:lstStyle/>
          <a:p>
            <a:pPr algn="l" indent="0" marL="0">
              <a:lnSpc>
                <a:spcPts val="5400"/>
              </a:lnSpc>
              <a:buNone/>
            </a:pPr>
            <a:r>
              <a:rPr lang="en-US" sz="1238" dirty="0">
                <a:solidFill>
                  <a:srgbClr val="14B8A6"/>
                </a:solidFill>
                <a:latin typeface="Courier New" pitchFamily="34" charset="0"/>
                <a:ea typeface="Courier New" pitchFamily="34" charset="-122"/>
                <a:cs typeface="Courier New" pitchFamily="34" charset="-120"/>
              </a:rPr>
              <a:t>›</a:t>
            </a:r>
            <a:endParaRPr lang="en-US" sz="1238" dirty="0"/>
          </a:p>
        </p:txBody>
      </p:sp>
      <p:sp>
        <p:nvSpPr>
          <p:cNvPr id="23" name="Text 21"/>
          <p:cNvSpPr/>
          <p:nvPr/>
        </p:nvSpPr>
        <p:spPr>
          <a:xfrm>
            <a:off x="4665762" y="1294135"/>
            <a:ext cx="1007269" cy="678656"/>
          </a:xfrm>
          <a:prstGeom prst="roundRect">
            <a:avLst>
              <a:gd name="adj" fmla="val 11228"/>
            </a:avLst>
          </a:prstGeom>
          <a:solidFill>
            <a:srgbClr val="FFFFFF"/>
          </a:solidFill>
          <a:ln w="7144">
            <a:solidFill>
              <a:srgbClr val="D9E1EC"/>
            </a:solidFill>
            <a:prstDash val="solid"/>
          </a:ln>
          <a:effectLst>
            <a:outerShdw sx="100000" sy="100000" kx="0" ky="0" algn="bl" rotWithShape="0" blurRad="19050" dist="9525" dir="5400000">
              <a:srgbClr val="0F1F3D">
                <a:alpha val="4000"/>
              </a:srgbClr>
            </a:outerShdw>
          </a:effectLst>
        </p:spPr>
        <p:txBody>
          <a:bodyPr wrap="square" rtlCol="0" anchor="ctr"/>
          <a:lstStyle/>
          <a:p>
            <a:pPr indent="0" marL="0">
              <a:buNone/>
            </a:pPr>
            <a:endParaRPr lang="en-US" dirty="0"/>
          </a:p>
        </p:txBody>
      </p:sp>
      <p:sp>
        <p:nvSpPr>
          <p:cNvPr id="24" name="Text 22"/>
          <p:cNvSpPr/>
          <p:nvPr/>
        </p:nvSpPr>
        <p:spPr>
          <a:xfrm>
            <a:off x="4740771" y="1360215"/>
            <a:ext cx="714375" cy="164592"/>
          </a:xfrm>
          <a:prstGeom prst="rect">
            <a:avLst/>
          </a:prstGeom>
          <a:noFill/>
          <a:ln/>
        </p:spPr>
        <p:txBody>
          <a:bodyPr wrap="none" lIns="0" tIns="0" rIns="0" bIns="0" rtlCol="0" anchor="t"/>
          <a:lstStyle/>
          <a:p>
            <a:pPr algn="l" indent="0" marL="0">
              <a:lnSpc>
                <a:spcPts val="928"/>
              </a:lnSpc>
              <a:buNone/>
            </a:pPr>
            <a:r>
              <a:rPr lang="en-US" sz="800" b="1" spc="74" kern="0" dirty="0">
                <a:solidFill>
                  <a:srgbClr val="14B8A6"/>
                </a:solidFill>
                <a:latin typeface="Liberation Sans Narrow" pitchFamily="34" charset="0"/>
                <a:ea typeface="Liberation Sans Narrow" pitchFamily="34" charset="-122"/>
                <a:cs typeface="Liberation Sans Narrow" pitchFamily="34" charset="-120"/>
              </a:rPr>
              <a:t>04</a:t>
            </a:r>
            <a:endParaRPr lang="en-US" sz="800" dirty="0"/>
          </a:p>
        </p:txBody>
      </p:sp>
      <p:sp>
        <p:nvSpPr>
          <p:cNvPr id="25" name="Text 23"/>
          <p:cNvSpPr/>
          <p:nvPr/>
        </p:nvSpPr>
        <p:spPr>
          <a:xfrm>
            <a:off x="5469434" y="1354857"/>
            <a:ext cx="128588" cy="128588"/>
          </a:xfrm>
          <a:prstGeom prst="rect">
            <a:avLst/>
          </a:prstGeom>
          <a:noFill/>
          <a:ln/>
        </p:spPr>
        <p:txBody>
          <a:bodyPr wrap="none" lIns="0" tIns="0" rIns="0" bIns="0" rtlCol="0" anchor="ctr"/>
          <a:lstStyle/>
          <a:p>
            <a:pPr algn="ctr" indent="0" marL="0">
              <a:buNone/>
            </a:pPr>
            <a:r>
              <a:rPr lang="en-US" sz="1266" dirty="0">
                <a:solidFill>
                  <a:srgbClr val="0F1F3D"/>
                </a:solidFill>
                <a:latin typeface="Segoe UI Symbol" pitchFamily="34" charset="0"/>
                <a:ea typeface="Segoe UI Symbol" pitchFamily="34" charset="-122"/>
                <a:cs typeface="Segoe UI Symbol" pitchFamily="34" charset="-120"/>
              </a:rPr>
              <a:t>◉</a:t>
            </a:r>
            <a:endParaRPr lang="en-US" sz="1266" dirty="0"/>
          </a:p>
        </p:txBody>
      </p:sp>
      <p:sp>
        <p:nvSpPr>
          <p:cNvPr id="26" name="Text 24"/>
          <p:cNvSpPr/>
          <p:nvPr/>
        </p:nvSpPr>
        <p:spPr>
          <a:xfrm>
            <a:off x="4740771" y="1497732"/>
            <a:ext cx="857250" cy="120801"/>
          </a:xfrm>
          <a:prstGeom prst="rect">
            <a:avLst/>
          </a:prstGeom>
          <a:noFill/>
          <a:ln/>
        </p:spPr>
        <p:txBody>
          <a:bodyPr wrap="none" lIns="0" tIns="0" rIns="0" bIns="0" rtlCol="0" anchor="t">
            <a:normAutofit/>
          </a:bodyPr>
          <a:lstStyle/>
          <a:p>
            <a:pPr algn="l" indent="0" marL="0">
              <a:lnSpc>
                <a:spcPts val="1055"/>
              </a:lnSpc>
              <a:buNone/>
            </a:pPr>
            <a:r>
              <a:rPr lang="en-US" sz="800" b="1" spc="-4" kern="0" dirty="0">
                <a:solidFill>
                  <a:srgbClr val="0F1F3D"/>
                </a:solidFill>
                <a:latin typeface="Carlito" pitchFamily="34" charset="0"/>
                <a:ea typeface="Carlito" pitchFamily="34" charset="-122"/>
                <a:cs typeface="Carlito" pitchFamily="34" charset="-120"/>
              </a:rPr>
              <a:t>Sequence</a:t>
            </a:r>
            <a:endParaRPr lang="en-US" sz="800" dirty="0"/>
          </a:p>
        </p:txBody>
      </p:sp>
      <p:sp>
        <p:nvSpPr>
          <p:cNvPr id="27" name="Text 25"/>
          <p:cNvSpPr/>
          <p:nvPr/>
        </p:nvSpPr>
        <p:spPr>
          <a:xfrm>
            <a:off x="4740771" y="1645965"/>
            <a:ext cx="908685" cy="266105"/>
          </a:xfrm>
          <a:prstGeom prst="rect">
            <a:avLst/>
          </a:prstGeom>
          <a:noFill/>
          <a:ln/>
        </p:spPr>
        <p:txBody>
          <a:bodyPr wrap="square" lIns="0" tIns="0" rIns="0" bIns="0" rtlCol="0" anchor="t"/>
          <a:lstStyle/>
          <a:p>
            <a:pPr algn="l" indent="0" marL="0">
              <a:lnSpc>
                <a:spcPts val="705"/>
              </a:lnSpc>
              <a:buNone/>
            </a:pPr>
            <a:r>
              <a:rPr lang="en-US" sz="800" dirty="0">
                <a:solidFill>
                  <a:srgbClr val="5B6B82"/>
                </a:solidFill>
                <a:latin typeface="Liberation Sans Narrow" pitchFamily="34" charset="0"/>
                <a:ea typeface="Liberation Sans Narrow" pitchFamily="34" charset="-122"/>
                <a:cs typeface="Liberation Sans Narrow" pitchFamily="34" charset="-120"/>
              </a:rPr>
              <a:t>150 × 78 matrix · uniform downsample</a:t>
            </a:r>
            <a:endParaRPr lang="en-US" sz="800" dirty="0"/>
          </a:p>
        </p:txBody>
      </p:sp>
      <p:sp>
        <p:nvSpPr>
          <p:cNvPr id="28" name="Text 26"/>
          <p:cNvSpPr/>
          <p:nvPr/>
        </p:nvSpPr>
        <p:spPr>
          <a:xfrm>
            <a:off x="5676602" y="1290563"/>
            <a:ext cx="180380" cy="740664"/>
          </a:xfrm>
          <a:prstGeom prst="rect">
            <a:avLst/>
          </a:prstGeom>
          <a:noFill/>
          <a:ln/>
        </p:spPr>
        <p:txBody>
          <a:bodyPr wrap="none" lIns="42863" tIns="0" rIns="42863" bIns="0" rtlCol="0" anchor="t"/>
          <a:lstStyle/>
          <a:p>
            <a:pPr algn="l" indent="0" marL="0">
              <a:lnSpc>
                <a:spcPts val="5400"/>
              </a:lnSpc>
              <a:buNone/>
            </a:pPr>
            <a:r>
              <a:rPr lang="en-US" sz="1238" dirty="0">
                <a:solidFill>
                  <a:srgbClr val="14B8A6"/>
                </a:solidFill>
                <a:latin typeface="Courier New" pitchFamily="34" charset="0"/>
                <a:ea typeface="Courier New" pitchFamily="34" charset="-122"/>
                <a:cs typeface="Courier New" pitchFamily="34" charset="-120"/>
              </a:rPr>
              <a:t>›</a:t>
            </a:r>
            <a:endParaRPr lang="en-US" sz="1238" dirty="0"/>
          </a:p>
        </p:txBody>
      </p:sp>
      <p:sp>
        <p:nvSpPr>
          <p:cNvPr id="29" name="Text 27"/>
          <p:cNvSpPr/>
          <p:nvPr/>
        </p:nvSpPr>
        <p:spPr>
          <a:xfrm>
            <a:off x="5860554" y="1294135"/>
            <a:ext cx="1007269" cy="678656"/>
          </a:xfrm>
          <a:prstGeom prst="roundRect">
            <a:avLst>
              <a:gd name="adj" fmla="val 11228"/>
            </a:avLst>
          </a:prstGeom>
          <a:solidFill>
            <a:srgbClr val="FFFFFF"/>
          </a:solidFill>
          <a:ln w="7144">
            <a:solidFill>
              <a:srgbClr val="D9E1EC"/>
            </a:solidFill>
            <a:prstDash val="solid"/>
          </a:ln>
          <a:effectLst>
            <a:outerShdw sx="100000" sy="100000" kx="0" ky="0" algn="bl" rotWithShape="0" blurRad="19050" dist="9525" dir="5400000">
              <a:srgbClr val="0F1F3D">
                <a:alpha val="4000"/>
              </a:srgbClr>
            </a:outerShdw>
          </a:effectLst>
        </p:spPr>
        <p:txBody>
          <a:bodyPr wrap="square" rtlCol="0" anchor="ctr"/>
          <a:lstStyle/>
          <a:p>
            <a:pPr indent="0" marL="0">
              <a:buNone/>
            </a:pPr>
            <a:endParaRPr lang="en-US" dirty="0"/>
          </a:p>
        </p:txBody>
      </p:sp>
      <p:sp>
        <p:nvSpPr>
          <p:cNvPr id="30" name="Text 28"/>
          <p:cNvSpPr/>
          <p:nvPr/>
        </p:nvSpPr>
        <p:spPr>
          <a:xfrm>
            <a:off x="5935563" y="1360215"/>
            <a:ext cx="714375" cy="164592"/>
          </a:xfrm>
          <a:prstGeom prst="rect">
            <a:avLst/>
          </a:prstGeom>
          <a:noFill/>
          <a:ln/>
        </p:spPr>
        <p:txBody>
          <a:bodyPr wrap="none" lIns="0" tIns="0" rIns="0" bIns="0" rtlCol="0" anchor="t"/>
          <a:lstStyle/>
          <a:p>
            <a:pPr algn="l" indent="0" marL="0">
              <a:lnSpc>
                <a:spcPts val="928"/>
              </a:lnSpc>
              <a:buNone/>
            </a:pPr>
            <a:r>
              <a:rPr lang="en-US" sz="800" b="1" spc="74" kern="0" dirty="0">
                <a:solidFill>
                  <a:srgbClr val="14B8A6"/>
                </a:solidFill>
                <a:latin typeface="Liberation Sans Narrow" pitchFamily="34" charset="0"/>
                <a:ea typeface="Liberation Sans Narrow" pitchFamily="34" charset="-122"/>
                <a:cs typeface="Liberation Sans Narrow" pitchFamily="34" charset="-120"/>
              </a:rPr>
              <a:t>05</a:t>
            </a:r>
            <a:endParaRPr lang="en-US" sz="800" dirty="0"/>
          </a:p>
        </p:txBody>
      </p:sp>
      <p:sp>
        <p:nvSpPr>
          <p:cNvPr id="31" name="Text 29"/>
          <p:cNvSpPr/>
          <p:nvPr/>
        </p:nvSpPr>
        <p:spPr>
          <a:xfrm>
            <a:off x="6664226" y="1354857"/>
            <a:ext cx="128588" cy="128588"/>
          </a:xfrm>
          <a:prstGeom prst="rect">
            <a:avLst/>
          </a:prstGeom>
          <a:noFill/>
          <a:ln/>
        </p:spPr>
        <p:txBody>
          <a:bodyPr wrap="none" lIns="0" tIns="0" rIns="0" bIns="0" rtlCol="0" anchor="ctr"/>
          <a:lstStyle/>
          <a:p>
            <a:pPr algn="ctr" indent="0" marL="0">
              <a:buNone/>
            </a:pPr>
            <a:r>
              <a:rPr lang="en-US" sz="1266" dirty="0">
                <a:solidFill>
                  <a:srgbClr val="0F1F3D"/>
                </a:solidFill>
                <a:latin typeface="Segoe UI Symbol" pitchFamily="34" charset="0"/>
                <a:ea typeface="Segoe UI Symbol" pitchFamily="34" charset="-122"/>
                <a:cs typeface="Segoe UI Symbol" pitchFamily="34" charset="-120"/>
              </a:rPr>
              <a:t>⚙</a:t>
            </a:r>
            <a:endParaRPr lang="en-US" sz="1266" dirty="0"/>
          </a:p>
        </p:txBody>
      </p:sp>
      <p:sp>
        <p:nvSpPr>
          <p:cNvPr id="32" name="Text 30"/>
          <p:cNvSpPr/>
          <p:nvPr/>
        </p:nvSpPr>
        <p:spPr>
          <a:xfrm>
            <a:off x="5935563" y="1497732"/>
            <a:ext cx="857250" cy="120801"/>
          </a:xfrm>
          <a:prstGeom prst="rect">
            <a:avLst/>
          </a:prstGeom>
          <a:noFill/>
          <a:ln/>
        </p:spPr>
        <p:txBody>
          <a:bodyPr wrap="none" lIns="0" tIns="0" rIns="0" bIns="0" rtlCol="0" anchor="t">
            <a:normAutofit/>
          </a:bodyPr>
          <a:lstStyle/>
          <a:p>
            <a:pPr algn="l" indent="0" marL="0">
              <a:lnSpc>
                <a:spcPts val="1055"/>
              </a:lnSpc>
              <a:buNone/>
            </a:pPr>
            <a:r>
              <a:rPr lang="en-US" sz="800" b="1" spc="-4" kern="0" dirty="0">
                <a:solidFill>
                  <a:srgbClr val="0F1F3D"/>
                </a:solidFill>
                <a:latin typeface="Carlito" pitchFamily="34" charset="0"/>
                <a:ea typeface="Carlito" pitchFamily="34" charset="-122"/>
                <a:cs typeface="Carlito" pitchFamily="34" charset="-120"/>
              </a:rPr>
              <a:t>Normalize</a:t>
            </a:r>
            <a:endParaRPr lang="en-US" sz="800" dirty="0"/>
          </a:p>
        </p:txBody>
      </p:sp>
      <p:sp>
        <p:nvSpPr>
          <p:cNvPr id="33" name="Text 31"/>
          <p:cNvSpPr/>
          <p:nvPr/>
        </p:nvSpPr>
        <p:spPr>
          <a:xfrm>
            <a:off x="5935563" y="1645965"/>
            <a:ext cx="908685" cy="266105"/>
          </a:xfrm>
          <a:prstGeom prst="rect">
            <a:avLst/>
          </a:prstGeom>
          <a:noFill/>
          <a:ln/>
        </p:spPr>
        <p:txBody>
          <a:bodyPr wrap="square" lIns="0" tIns="0" rIns="0" bIns="0" rtlCol="0" anchor="t"/>
          <a:lstStyle/>
          <a:p>
            <a:pPr algn="l" indent="0" marL="0">
              <a:lnSpc>
                <a:spcPts val="705"/>
              </a:lnSpc>
              <a:buNone/>
            </a:pPr>
            <a:r>
              <a:rPr lang="en-US" sz="800" dirty="0">
                <a:solidFill>
                  <a:srgbClr val="5B6B82"/>
                </a:solidFill>
                <a:latin typeface="Carlito" pitchFamily="34" charset="0"/>
                <a:ea typeface="Carlito" pitchFamily="34" charset="-122"/>
                <a:cs typeface="Carlito" pitchFamily="34" charset="-120"/>
              </a:rPr>
              <a:t>5 strategies per type · training stats only</a:t>
            </a:r>
            <a:endParaRPr lang="en-US" sz="800" dirty="0"/>
          </a:p>
        </p:txBody>
      </p:sp>
      <p:sp>
        <p:nvSpPr>
          <p:cNvPr id="34" name="Text 32"/>
          <p:cNvSpPr/>
          <p:nvPr/>
        </p:nvSpPr>
        <p:spPr>
          <a:xfrm>
            <a:off x="6871395" y="1290563"/>
            <a:ext cx="180380" cy="740664"/>
          </a:xfrm>
          <a:prstGeom prst="rect">
            <a:avLst/>
          </a:prstGeom>
          <a:noFill/>
          <a:ln/>
        </p:spPr>
        <p:txBody>
          <a:bodyPr wrap="none" lIns="42863" tIns="0" rIns="42863" bIns="0" rtlCol="0" anchor="t"/>
          <a:lstStyle/>
          <a:p>
            <a:pPr algn="l" indent="0" marL="0">
              <a:lnSpc>
                <a:spcPts val="5400"/>
              </a:lnSpc>
              <a:buNone/>
            </a:pPr>
            <a:r>
              <a:rPr lang="en-US" sz="1238" dirty="0">
                <a:solidFill>
                  <a:srgbClr val="14B8A6"/>
                </a:solidFill>
                <a:latin typeface="Courier New" pitchFamily="34" charset="0"/>
                <a:ea typeface="Courier New" pitchFamily="34" charset="-122"/>
                <a:cs typeface="Courier New" pitchFamily="34" charset="-120"/>
              </a:rPr>
              <a:t>›</a:t>
            </a:r>
            <a:endParaRPr lang="en-US" sz="1238" dirty="0"/>
          </a:p>
        </p:txBody>
      </p:sp>
      <p:sp>
        <p:nvSpPr>
          <p:cNvPr id="35" name="Text 33"/>
          <p:cNvSpPr/>
          <p:nvPr/>
        </p:nvSpPr>
        <p:spPr>
          <a:xfrm>
            <a:off x="7055346" y="1294135"/>
            <a:ext cx="1007269" cy="678656"/>
          </a:xfrm>
          <a:prstGeom prst="roundRect">
            <a:avLst>
              <a:gd name="adj" fmla="val 11228"/>
            </a:avLst>
          </a:prstGeom>
          <a:solidFill>
            <a:srgbClr val="FFFFFF"/>
          </a:solidFill>
          <a:ln w="7144">
            <a:solidFill>
              <a:srgbClr val="D9E1EC"/>
            </a:solidFill>
            <a:prstDash val="solid"/>
          </a:ln>
          <a:effectLst>
            <a:outerShdw sx="100000" sy="100000" kx="0" ky="0" algn="bl" rotWithShape="0" blurRad="19050" dist="9525" dir="5400000">
              <a:srgbClr val="0F1F3D">
                <a:alpha val="4000"/>
              </a:srgbClr>
            </a:outerShdw>
          </a:effectLst>
        </p:spPr>
        <p:txBody>
          <a:bodyPr wrap="square" rtlCol="0" anchor="ctr"/>
          <a:lstStyle/>
          <a:p>
            <a:pPr indent="0" marL="0">
              <a:buNone/>
            </a:pPr>
            <a:endParaRPr lang="en-US" dirty="0"/>
          </a:p>
        </p:txBody>
      </p:sp>
      <p:sp>
        <p:nvSpPr>
          <p:cNvPr id="36" name="Text 34"/>
          <p:cNvSpPr/>
          <p:nvPr/>
        </p:nvSpPr>
        <p:spPr>
          <a:xfrm>
            <a:off x="7130355" y="1360215"/>
            <a:ext cx="714375" cy="164592"/>
          </a:xfrm>
          <a:prstGeom prst="rect">
            <a:avLst/>
          </a:prstGeom>
          <a:noFill/>
          <a:ln/>
        </p:spPr>
        <p:txBody>
          <a:bodyPr wrap="none" lIns="0" tIns="0" rIns="0" bIns="0" rtlCol="0" anchor="t"/>
          <a:lstStyle/>
          <a:p>
            <a:pPr algn="l" indent="0" marL="0">
              <a:lnSpc>
                <a:spcPts val="928"/>
              </a:lnSpc>
              <a:buNone/>
            </a:pPr>
            <a:r>
              <a:rPr lang="en-US" sz="800" b="1" spc="74" kern="0" dirty="0">
                <a:solidFill>
                  <a:srgbClr val="14B8A6"/>
                </a:solidFill>
                <a:latin typeface="Liberation Sans Narrow" pitchFamily="34" charset="0"/>
                <a:ea typeface="Liberation Sans Narrow" pitchFamily="34" charset="-122"/>
                <a:cs typeface="Liberation Sans Narrow" pitchFamily="34" charset="-120"/>
              </a:rPr>
              <a:t>06</a:t>
            </a:r>
            <a:endParaRPr lang="en-US" sz="800" dirty="0"/>
          </a:p>
        </p:txBody>
      </p:sp>
      <p:sp>
        <p:nvSpPr>
          <p:cNvPr id="37" name="Text 35"/>
          <p:cNvSpPr/>
          <p:nvPr/>
        </p:nvSpPr>
        <p:spPr>
          <a:xfrm>
            <a:off x="7859018" y="1354857"/>
            <a:ext cx="128588" cy="128588"/>
          </a:xfrm>
          <a:prstGeom prst="rect">
            <a:avLst/>
          </a:prstGeom>
          <a:noFill/>
          <a:ln/>
        </p:spPr>
        <p:txBody>
          <a:bodyPr wrap="none" lIns="0" tIns="0" rIns="0" bIns="0" rtlCol="0" anchor="ctr"/>
          <a:lstStyle/>
          <a:p>
            <a:pPr algn="ctr" indent="0" marL="0">
              <a:buNone/>
            </a:pPr>
            <a:r>
              <a:rPr lang="en-US" sz="1266" dirty="0">
                <a:solidFill>
                  <a:srgbClr val="0F1F3D"/>
                </a:solidFill>
                <a:latin typeface="Segoe UI Symbol" pitchFamily="34" charset="0"/>
                <a:ea typeface="Segoe UI Symbol" pitchFamily="34" charset="-122"/>
                <a:cs typeface="Segoe UI Symbol" pitchFamily="34" charset="-120"/>
              </a:rPr>
              <a:t>✿</a:t>
            </a:r>
            <a:endParaRPr lang="en-US" sz="1266" dirty="0"/>
          </a:p>
        </p:txBody>
      </p:sp>
      <p:sp>
        <p:nvSpPr>
          <p:cNvPr id="38" name="Text 36"/>
          <p:cNvSpPr/>
          <p:nvPr/>
        </p:nvSpPr>
        <p:spPr>
          <a:xfrm>
            <a:off x="7130355" y="1497732"/>
            <a:ext cx="857250" cy="120801"/>
          </a:xfrm>
          <a:prstGeom prst="rect">
            <a:avLst/>
          </a:prstGeom>
          <a:noFill/>
          <a:ln/>
        </p:spPr>
        <p:txBody>
          <a:bodyPr wrap="none" lIns="0" tIns="0" rIns="0" bIns="0" rtlCol="0" anchor="t">
            <a:normAutofit/>
          </a:bodyPr>
          <a:lstStyle/>
          <a:p>
            <a:pPr algn="l" indent="0" marL="0">
              <a:lnSpc>
                <a:spcPts val="1055"/>
              </a:lnSpc>
              <a:buNone/>
            </a:pPr>
            <a:r>
              <a:rPr lang="en-US" sz="800" b="1" spc="-4" kern="0" dirty="0">
                <a:solidFill>
                  <a:srgbClr val="0F1F3D"/>
                </a:solidFill>
                <a:latin typeface="Carlito" pitchFamily="34" charset="0"/>
                <a:ea typeface="Carlito" pitchFamily="34" charset="-122"/>
                <a:cs typeface="Carlito" pitchFamily="34" charset="-120"/>
              </a:rPr>
              <a:t>Feature Eng.</a:t>
            </a:r>
            <a:endParaRPr lang="en-US" sz="800" dirty="0"/>
          </a:p>
        </p:txBody>
      </p:sp>
      <p:sp>
        <p:nvSpPr>
          <p:cNvPr id="39" name="Text 37"/>
          <p:cNvSpPr/>
          <p:nvPr/>
        </p:nvSpPr>
        <p:spPr>
          <a:xfrm>
            <a:off x="7130355" y="1645965"/>
            <a:ext cx="857250" cy="266105"/>
          </a:xfrm>
          <a:prstGeom prst="rect">
            <a:avLst/>
          </a:prstGeom>
          <a:noFill/>
          <a:ln/>
        </p:spPr>
        <p:txBody>
          <a:bodyPr wrap="square" lIns="0" tIns="0" rIns="0" bIns="0" rtlCol="0" anchor="t"/>
          <a:lstStyle/>
          <a:p>
            <a:pPr algn="l" indent="0" marL="0">
              <a:lnSpc>
                <a:spcPts val="705"/>
              </a:lnSpc>
              <a:buNone/>
            </a:pPr>
            <a:r>
              <a:rPr lang="en-US" sz="800" dirty="0">
                <a:solidFill>
                  <a:srgbClr val="5B6B82"/>
                </a:solidFill>
                <a:latin typeface="Liberation Sans Narrow" pitchFamily="34" charset="0"/>
                <a:ea typeface="Liberation Sans Narrow" pitchFamily="34" charset="-122"/>
                <a:cs typeface="Liberation Sans Narrow" pitchFamily="34" charset="-120"/>
              </a:rPr>
              <a:t>~2,152 features · 5 categories</a:t>
            </a:r>
            <a:endParaRPr lang="en-US" sz="800" dirty="0"/>
          </a:p>
        </p:txBody>
      </p:sp>
      <p:sp>
        <p:nvSpPr>
          <p:cNvPr id="40" name="Text 38"/>
          <p:cNvSpPr/>
          <p:nvPr/>
        </p:nvSpPr>
        <p:spPr>
          <a:xfrm>
            <a:off x="4486275" y="2076376"/>
            <a:ext cx="171450" cy="171450"/>
          </a:xfrm>
          <a:prstGeom prst="rect">
            <a:avLst/>
          </a:prstGeom>
          <a:noFill/>
          <a:ln/>
        </p:spPr>
        <p:txBody>
          <a:bodyPr wrap="none" lIns="0" tIns="0" rIns="0" bIns="0" rtlCol="0" anchor="ctr"/>
          <a:lstStyle/>
          <a:p>
            <a:pPr algn="ctr" indent="0" marL="0">
              <a:buNone/>
            </a:pPr>
            <a:r>
              <a:rPr lang="en-US" sz="1266" dirty="0">
                <a:solidFill>
                  <a:srgbClr val="14B8A6"/>
                </a:solidFill>
                <a:latin typeface="Segoe UI Symbol" pitchFamily="34" charset="0"/>
                <a:ea typeface="Segoe UI Symbol" pitchFamily="34" charset="-122"/>
                <a:cs typeface="Segoe UI Symbol" pitchFamily="34" charset="-120"/>
              </a:rPr>
              <a:t>→</a:t>
            </a:r>
            <a:endParaRPr lang="en-US" sz="1266" dirty="0"/>
          </a:p>
        </p:txBody>
      </p:sp>
      <p:sp>
        <p:nvSpPr>
          <p:cNvPr id="41" name="Text 39"/>
          <p:cNvSpPr/>
          <p:nvPr/>
        </p:nvSpPr>
        <p:spPr>
          <a:xfrm>
            <a:off x="1081385" y="2351410"/>
            <a:ext cx="1007269" cy="678656"/>
          </a:xfrm>
          <a:prstGeom prst="roundRect">
            <a:avLst>
              <a:gd name="adj" fmla="val 11228"/>
            </a:avLst>
          </a:prstGeom>
          <a:solidFill>
            <a:srgbClr val="FFFFFF"/>
          </a:solidFill>
          <a:ln w="7144">
            <a:solidFill>
              <a:srgbClr val="D9E1EC"/>
            </a:solidFill>
            <a:prstDash val="solid"/>
          </a:ln>
          <a:effectLst>
            <a:outerShdw sx="100000" sy="100000" kx="0" ky="0" algn="bl" rotWithShape="0" blurRad="19050" dist="9525" dir="5400000">
              <a:srgbClr val="0F1F3D">
                <a:alpha val="4000"/>
              </a:srgbClr>
            </a:outerShdw>
          </a:effectLst>
        </p:spPr>
        <p:txBody>
          <a:bodyPr wrap="square" rtlCol="0" anchor="ctr"/>
          <a:lstStyle/>
          <a:p>
            <a:pPr indent="0" marL="0">
              <a:buNone/>
            </a:pPr>
            <a:endParaRPr lang="en-US" dirty="0"/>
          </a:p>
        </p:txBody>
      </p:sp>
      <p:sp>
        <p:nvSpPr>
          <p:cNvPr id="42" name="Text 40"/>
          <p:cNvSpPr/>
          <p:nvPr/>
        </p:nvSpPr>
        <p:spPr>
          <a:xfrm>
            <a:off x="1156395" y="2417490"/>
            <a:ext cx="714375" cy="164592"/>
          </a:xfrm>
          <a:prstGeom prst="rect">
            <a:avLst/>
          </a:prstGeom>
          <a:noFill/>
          <a:ln/>
        </p:spPr>
        <p:txBody>
          <a:bodyPr wrap="none" lIns="0" tIns="0" rIns="0" bIns="0" rtlCol="0" anchor="t"/>
          <a:lstStyle/>
          <a:p>
            <a:pPr algn="l" indent="0" marL="0">
              <a:lnSpc>
                <a:spcPts val="928"/>
              </a:lnSpc>
              <a:buNone/>
            </a:pPr>
            <a:r>
              <a:rPr lang="en-US" sz="800" b="1" spc="74" kern="0" dirty="0">
                <a:solidFill>
                  <a:srgbClr val="14B8A6"/>
                </a:solidFill>
                <a:latin typeface="Liberation Sans Narrow" pitchFamily="34" charset="0"/>
                <a:ea typeface="Liberation Sans Narrow" pitchFamily="34" charset="-122"/>
                <a:cs typeface="Liberation Sans Narrow" pitchFamily="34" charset="-120"/>
              </a:rPr>
              <a:t>07</a:t>
            </a:r>
            <a:endParaRPr lang="en-US" sz="800" dirty="0"/>
          </a:p>
        </p:txBody>
      </p:sp>
      <p:sp>
        <p:nvSpPr>
          <p:cNvPr id="43" name="Text 41"/>
          <p:cNvSpPr/>
          <p:nvPr/>
        </p:nvSpPr>
        <p:spPr>
          <a:xfrm>
            <a:off x="1885057" y="2412132"/>
            <a:ext cx="128588" cy="128588"/>
          </a:xfrm>
          <a:prstGeom prst="rect">
            <a:avLst/>
          </a:prstGeom>
          <a:noFill/>
          <a:ln/>
        </p:spPr>
        <p:txBody>
          <a:bodyPr wrap="none" lIns="0" tIns="0" rIns="0" bIns="0" rtlCol="0" anchor="ctr"/>
          <a:lstStyle/>
          <a:p>
            <a:pPr algn="ctr" indent="0" marL="0">
              <a:buNone/>
            </a:pPr>
            <a:r>
              <a:rPr lang="en-US" sz="1266" dirty="0">
                <a:solidFill>
                  <a:srgbClr val="0F1F3D"/>
                </a:solidFill>
                <a:latin typeface="Segoe UI Symbol" pitchFamily="34" charset="0"/>
                <a:ea typeface="Segoe UI Symbol" pitchFamily="34" charset="-122"/>
                <a:cs typeface="Segoe UI Symbol" pitchFamily="34" charset="-120"/>
              </a:rPr>
              <a:t>☰</a:t>
            </a:r>
            <a:endParaRPr lang="en-US" sz="1266" dirty="0"/>
          </a:p>
        </p:txBody>
      </p:sp>
      <p:sp>
        <p:nvSpPr>
          <p:cNvPr id="44" name="Text 42"/>
          <p:cNvSpPr/>
          <p:nvPr/>
        </p:nvSpPr>
        <p:spPr>
          <a:xfrm>
            <a:off x="1156395" y="2555007"/>
            <a:ext cx="857250" cy="120801"/>
          </a:xfrm>
          <a:prstGeom prst="rect">
            <a:avLst/>
          </a:prstGeom>
          <a:noFill/>
          <a:ln/>
        </p:spPr>
        <p:txBody>
          <a:bodyPr wrap="none" lIns="0" tIns="0" rIns="0" bIns="0" rtlCol="0" anchor="t">
            <a:normAutofit/>
          </a:bodyPr>
          <a:lstStyle/>
          <a:p>
            <a:pPr algn="l" indent="0" marL="0">
              <a:lnSpc>
                <a:spcPts val="1055"/>
              </a:lnSpc>
              <a:buNone/>
            </a:pPr>
            <a:r>
              <a:rPr lang="en-US" sz="800" b="1" spc="-4" kern="0" dirty="0">
                <a:solidFill>
                  <a:srgbClr val="0F1F3D"/>
                </a:solidFill>
                <a:latin typeface="Carlito" pitchFamily="34" charset="0"/>
                <a:ea typeface="Carlito" pitchFamily="34" charset="-122"/>
                <a:cs typeface="Carlito" pitchFamily="34" charset="-120"/>
              </a:rPr>
              <a:t>Selection</a:t>
            </a:r>
            <a:endParaRPr lang="en-US" sz="800" dirty="0"/>
          </a:p>
        </p:txBody>
      </p:sp>
      <p:sp>
        <p:nvSpPr>
          <p:cNvPr id="45" name="Text 43"/>
          <p:cNvSpPr/>
          <p:nvPr/>
        </p:nvSpPr>
        <p:spPr>
          <a:xfrm>
            <a:off x="1156395" y="2703240"/>
            <a:ext cx="857250" cy="266105"/>
          </a:xfrm>
          <a:prstGeom prst="rect">
            <a:avLst/>
          </a:prstGeom>
          <a:noFill/>
          <a:ln/>
        </p:spPr>
        <p:txBody>
          <a:bodyPr wrap="square" lIns="0" tIns="0" rIns="0" bIns="0" rtlCol="0" anchor="t"/>
          <a:lstStyle/>
          <a:p>
            <a:pPr algn="l" indent="0" marL="0">
              <a:lnSpc>
                <a:spcPts val="705"/>
              </a:lnSpc>
              <a:buNone/>
            </a:pPr>
            <a:r>
              <a:rPr lang="en-US" sz="800" dirty="0">
                <a:solidFill>
                  <a:srgbClr val="5B6B82"/>
                </a:solidFill>
                <a:latin typeface="Liberation Sans Narrow" pitchFamily="34" charset="0"/>
                <a:ea typeface="Liberation Sans Narrow" pitchFamily="34" charset="-122"/>
                <a:cs typeface="Liberation Sans Narrow" pitchFamily="34" charset="-120"/>
              </a:rPr>
              <a:t>Top 500 features · XGBoost + LASSO</a:t>
            </a:r>
            <a:endParaRPr lang="en-US" sz="800" dirty="0"/>
          </a:p>
        </p:txBody>
      </p:sp>
      <p:sp>
        <p:nvSpPr>
          <p:cNvPr id="46" name="Text 44"/>
          <p:cNvSpPr/>
          <p:nvPr/>
        </p:nvSpPr>
        <p:spPr>
          <a:xfrm>
            <a:off x="2092226" y="2347838"/>
            <a:ext cx="180380" cy="740664"/>
          </a:xfrm>
          <a:prstGeom prst="rect">
            <a:avLst/>
          </a:prstGeom>
          <a:noFill/>
          <a:ln/>
        </p:spPr>
        <p:txBody>
          <a:bodyPr wrap="none" lIns="42863" tIns="0" rIns="42863" bIns="0" rtlCol="0" anchor="t"/>
          <a:lstStyle/>
          <a:p>
            <a:pPr algn="l" indent="0" marL="0">
              <a:lnSpc>
                <a:spcPts val="5400"/>
              </a:lnSpc>
              <a:buNone/>
            </a:pPr>
            <a:r>
              <a:rPr lang="en-US" sz="1238" dirty="0">
                <a:solidFill>
                  <a:srgbClr val="14B8A6"/>
                </a:solidFill>
                <a:latin typeface="Courier New" pitchFamily="34" charset="0"/>
                <a:ea typeface="Courier New" pitchFamily="34" charset="-122"/>
                <a:cs typeface="Courier New" pitchFamily="34" charset="-120"/>
              </a:rPr>
              <a:t>›</a:t>
            </a:r>
            <a:endParaRPr lang="en-US" sz="1238" dirty="0"/>
          </a:p>
        </p:txBody>
      </p:sp>
      <p:sp>
        <p:nvSpPr>
          <p:cNvPr id="47" name="Text 45"/>
          <p:cNvSpPr/>
          <p:nvPr/>
        </p:nvSpPr>
        <p:spPr>
          <a:xfrm>
            <a:off x="2276177" y="2351410"/>
            <a:ext cx="1007269" cy="678656"/>
          </a:xfrm>
          <a:prstGeom prst="roundRect">
            <a:avLst>
              <a:gd name="adj" fmla="val 11228"/>
            </a:avLst>
          </a:prstGeom>
          <a:solidFill>
            <a:srgbClr val="FFFFFF"/>
          </a:solidFill>
          <a:ln w="7144">
            <a:solidFill>
              <a:srgbClr val="D9E1EC"/>
            </a:solidFill>
            <a:prstDash val="solid"/>
          </a:ln>
          <a:effectLst>
            <a:outerShdw sx="100000" sy="100000" kx="0" ky="0" algn="bl" rotWithShape="0" blurRad="19050" dist="9525" dir="5400000">
              <a:srgbClr val="0F1F3D">
                <a:alpha val="4000"/>
              </a:srgbClr>
            </a:outerShdw>
          </a:effectLst>
        </p:spPr>
        <p:txBody>
          <a:bodyPr wrap="square" rtlCol="0" anchor="ctr"/>
          <a:lstStyle/>
          <a:p>
            <a:pPr indent="0" marL="0">
              <a:buNone/>
            </a:pPr>
            <a:endParaRPr lang="en-US" dirty="0"/>
          </a:p>
        </p:txBody>
      </p:sp>
      <p:sp>
        <p:nvSpPr>
          <p:cNvPr id="48" name="Text 46"/>
          <p:cNvSpPr/>
          <p:nvPr/>
        </p:nvSpPr>
        <p:spPr>
          <a:xfrm>
            <a:off x="2351187" y="2417490"/>
            <a:ext cx="714375" cy="164592"/>
          </a:xfrm>
          <a:prstGeom prst="rect">
            <a:avLst/>
          </a:prstGeom>
          <a:noFill/>
          <a:ln/>
        </p:spPr>
        <p:txBody>
          <a:bodyPr wrap="none" lIns="0" tIns="0" rIns="0" bIns="0" rtlCol="0" anchor="t"/>
          <a:lstStyle/>
          <a:p>
            <a:pPr algn="l" indent="0" marL="0">
              <a:lnSpc>
                <a:spcPts val="928"/>
              </a:lnSpc>
              <a:buNone/>
            </a:pPr>
            <a:r>
              <a:rPr lang="en-US" sz="800" b="1" spc="74" kern="0" dirty="0">
                <a:solidFill>
                  <a:srgbClr val="14B8A6"/>
                </a:solidFill>
                <a:latin typeface="Liberation Sans Narrow" pitchFamily="34" charset="0"/>
                <a:ea typeface="Liberation Sans Narrow" pitchFamily="34" charset="-122"/>
                <a:cs typeface="Liberation Sans Narrow" pitchFamily="34" charset="-120"/>
              </a:rPr>
              <a:t>08</a:t>
            </a:r>
            <a:endParaRPr lang="en-US" sz="800" dirty="0"/>
          </a:p>
        </p:txBody>
      </p:sp>
      <p:sp>
        <p:nvSpPr>
          <p:cNvPr id="49" name="Text 47"/>
          <p:cNvSpPr/>
          <p:nvPr/>
        </p:nvSpPr>
        <p:spPr>
          <a:xfrm>
            <a:off x="3079849" y="2412132"/>
            <a:ext cx="128588" cy="128588"/>
          </a:xfrm>
          <a:prstGeom prst="rect">
            <a:avLst/>
          </a:prstGeom>
          <a:noFill/>
          <a:ln/>
        </p:spPr>
        <p:txBody>
          <a:bodyPr wrap="none" lIns="0" tIns="0" rIns="0" bIns="0" rtlCol="0" anchor="ctr"/>
          <a:lstStyle/>
          <a:p>
            <a:pPr algn="ctr" indent="0" marL="0">
              <a:buNone/>
            </a:pPr>
            <a:r>
              <a:rPr lang="en-US" sz="1266" dirty="0">
                <a:solidFill>
                  <a:srgbClr val="0F1F3D"/>
                </a:solidFill>
                <a:latin typeface="Segoe UI Symbol" pitchFamily="34" charset="0"/>
                <a:ea typeface="Segoe UI Symbol" pitchFamily="34" charset="-122"/>
                <a:cs typeface="Segoe UI Symbol" pitchFamily="34" charset="-120"/>
              </a:rPr>
              <a:t>☎</a:t>
            </a:r>
            <a:endParaRPr lang="en-US" sz="1266" dirty="0"/>
          </a:p>
        </p:txBody>
      </p:sp>
      <p:sp>
        <p:nvSpPr>
          <p:cNvPr id="50" name="Text 48"/>
          <p:cNvSpPr/>
          <p:nvPr/>
        </p:nvSpPr>
        <p:spPr>
          <a:xfrm>
            <a:off x="2351187" y="2555007"/>
            <a:ext cx="857250" cy="120801"/>
          </a:xfrm>
          <a:prstGeom prst="rect">
            <a:avLst/>
          </a:prstGeom>
          <a:noFill/>
          <a:ln/>
        </p:spPr>
        <p:txBody>
          <a:bodyPr wrap="none" lIns="0" tIns="0" rIns="0" bIns="0" rtlCol="0" anchor="t">
            <a:normAutofit/>
          </a:bodyPr>
          <a:lstStyle/>
          <a:p>
            <a:pPr algn="l" indent="0" marL="0">
              <a:lnSpc>
                <a:spcPts val="1055"/>
              </a:lnSpc>
              <a:buNone/>
            </a:pPr>
            <a:r>
              <a:rPr lang="en-US" sz="800" b="1" spc="-4" kern="0" dirty="0">
                <a:solidFill>
                  <a:srgbClr val="0F1F3D"/>
                </a:solidFill>
                <a:latin typeface="Carlito" pitchFamily="34" charset="0"/>
                <a:ea typeface="Carlito" pitchFamily="34" charset="-122"/>
                <a:cs typeface="Carlito" pitchFamily="34" charset="-120"/>
              </a:rPr>
              <a:t>Split</a:t>
            </a:r>
            <a:endParaRPr lang="en-US" sz="800" dirty="0"/>
          </a:p>
        </p:txBody>
      </p:sp>
      <p:sp>
        <p:nvSpPr>
          <p:cNvPr id="51" name="Text 49"/>
          <p:cNvSpPr/>
          <p:nvPr/>
        </p:nvSpPr>
        <p:spPr>
          <a:xfrm>
            <a:off x="2351187" y="2703240"/>
            <a:ext cx="857250" cy="266105"/>
          </a:xfrm>
          <a:prstGeom prst="rect">
            <a:avLst/>
          </a:prstGeom>
          <a:noFill/>
          <a:ln/>
        </p:spPr>
        <p:txBody>
          <a:bodyPr wrap="square" lIns="0" tIns="0" rIns="0" bIns="0" rtlCol="0" anchor="t"/>
          <a:lstStyle/>
          <a:p>
            <a:pPr algn="l" indent="0" marL="0">
              <a:lnSpc>
                <a:spcPts val="705"/>
              </a:lnSpc>
              <a:buNone/>
            </a:pPr>
            <a:r>
              <a:rPr lang="en-US" sz="800" dirty="0">
                <a:solidFill>
                  <a:srgbClr val="5B6B82"/>
                </a:solidFill>
                <a:latin typeface="Liberation Sans Narrow" pitchFamily="34" charset="0"/>
                <a:ea typeface="Liberation Sans Narrow" pitchFamily="34" charset="-122"/>
                <a:cs typeface="Liberation Sans Narrow" pitchFamily="34" charset="-120"/>
              </a:rPr>
              <a:t>80/10/10 stratified · seed=42</a:t>
            </a:r>
            <a:endParaRPr lang="en-US" sz="800" dirty="0"/>
          </a:p>
        </p:txBody>
      </p:sp>
      <p:sp>
        <p:nvSpPr>
          <p:cNvPr id="52" name="Text 50"/>
          <p:cNvSpPr/>
          <p:nvPr/>
        </p:nvSpPr>
        <p:spPr>
          <a:xfrm>
            <a:off x="3287018" y="2347838"/>
            <a:ext cx="180380" cy="740664"/>
          </a:xfrm>
          <a:prstGeom prst="rect">
            <a:avLst/>
          </a:prstGeom>
          <a:noFill/>
          <a:ln/>
        </p:spPr>
        <p:txBody>
          <a:bodyPr wrap="none" lIns="42863" tIns="0" rIns="42863" bIns="0" rtlCol="0" anchor="t"/>
          <a:lstStyle/>
          <a:p>
            <a:pPr algn="l" indent="0" marL="0">
              <a:lnSpc>
                <a:spcPts val="5400"/>
              </a:lnSpc>
              <a:buNone/>
            </a:pPr>
            <a:r>
              <a:rPr lang="en-US" sz="1238" dirty="0">
                <a:solidFill>
                  <a:srgbClr val="14B8A6"/>
                </a:solidFill>
                <a:latin typeface="Courier New" pitchFamily="34" charset="0"/>
                <a:ea typeface="Courier New" pitchFamily="34" charset="-122"/>
                <a:cs typeface="Courier New" pitchFamily="34" charset="-120"/>
              </a:rPr>
              <a:t>›</a:t>
            </a:r>
            <a:endParaRPr lang="en-US" sz="1238" dirty="0"/>
          </a:p>
        </p:txBody>
      </p:sp>
      <p:sp>
        <p:nvSpPr>
          <p:cNvPr id="53" name="Text 51"/>
          <p:cNvSpPr/>
          <p:nvPr/>
        </p:nvSpPr>
        <p:spPr>
          <a:xfrm>
            <a:off x="3470970" y="2351410"/>
            <a:ext cx="1007269" cy="678656"/>
          </a:xfrm>
          <a:prstGeom prst="roundRect">
            <a:avLst>
              <a:gd name="adj" fmla="val 11228"/>
            </a:avLst>
          </a:prstGeom>
          <a:solidFill>
            <a:srgbClr val="FFFFFF"/>
          </a:solidFill>
          <a:ln w="7144">
            <a:solidFill>
              <a:srgbClr val="D9E1EC"/>
            </a:solidFill>
            <a:prstDash val="solid"/>
          </a:ln>
          <a:effectLst>
            <a:outerShdw sx="100000" sy="100000" kx="0" ky="0" algn="bl" rotWithShape="0" blurRad="19050" dist="9525" dir="5400000">
              <a:srgbClr val="0F1F3D">
                <a:alpha val="4000"/>
              </a:srgbClr>
            </a:outerShdw>
          </a:effectLst>
        </p:spPr>
        <p:txBody>
          <a:bodyPr wrap="square" rtlCol="0" anchor="ctr"/>
          <a:lstStyle/>
          <a:p>
            <a:pPr indent="0" marL="0">
              <a:buNone/>
            </a:pPr>
            <a:endParaRPr lang="en-US" dirty="0"/>
          </a:p>
        </p:txBody>
      </p:sp>
      <p:sp>
        <p:nvSpPr>
          <p:cNvPr id="54" name="Text 52"/>
          <p:cNvSpPr/>
          <p:nvPr/>
        </p:nvSpPr>
        <p:spPr>
          <a:xfrm>
            <a:off x="3545979" y="2417490"/>
            <a:ext cx="714375" cy="164592"/>
          </a:xfrm>
          <a:prstGeom prst="rect">
            <a:avLst/>
          </a:prstGeom>
          <a:noFill/>
          <a:ln/>
        </p:spPr>
        <p:txBody>
          <a:bodyPr wrap="none" lIns="0" tIns="0" rIns="0" bIns="0" rtlCol="0" anchor="t"/>
          <a:lstStyle/>
          <a:p>
            <a:pPr algn="l" indent="0" marL="0">
              <a:lnSpc>
                <a:spcPts val="928"/>
              </a:lnSpc>
              <a:buNone/>
            </a:pPr>
            <a:r>
              <a:rPr lang="en-US" sz="800" b="1" spc="74" kern="0" dirty="0">
                <a:solidFill>
                  <a:srgbClr val="14B8A6"/>
                </a:solidFill>
                <a:latin typeface="Liberation Sans Narrow" pitchFamily="34" charset="0"/>
                <a:ea typeface="Liberation Sans Narrow" pitchFamily="34" charset="-122"/>
                <a:cs typeface="Liberation Sans Narrow" pitchFamily="34" charset="-120"/>
              </a:rPr>
              <a:t>09</a:t>
            </a:r>
            <a:endParaRPr lang="en-US" sz="800" dirty="0"/>
          </a:p>
        </p:txBody>
      </p:sp>
      <p:sp>
        <p:nvSpPr>
          <p:cNvPr id="55" name="Text 53"/>
          <p:cNvSpPr/>
          <p:nvPr/>
        </p:nvSpPr>
        <p:spPr>
          <a:xfrm>
            <a:off x="4274641" y="2412132"/>
            <a:ext cx="128588" cy="128588"/>
          </a:xfrm>
          <a:prstGeom prst="rect">
            <a:avLst/>
          </a:prstGeom>
          <a:noFill/>
          <a:ln/>
        </p:spPr>
        <p:txBody>
          <a:bodyPr wrap="none" lIns="0" tIns="0" rIns="0" bIns="0" rtlCol="0" anchor="ctr"/>
          <a:lstStyle/>
          <a:p>
            <a:pPr algn="ctr" indent="0" marL="0">
              <a:buNone/>
            </a:pPr>
            <a:r>
              <a:rPr lang="en-US" sz="1266" dirty="0">
                <a:solidFill>
                  <a:srgbClr val="0F1F3D"/>
                </a:solidFill>
                <a:latin typeface="Segoe UI Symbol" pitchFamily="34" charset="0"/>
                <a:ea typeface="Segoe UI Symbol" pitchFamily="34" charset="-122"/>
                <a:cs typeface="Segoe UI Symbol" pitchFamily="34" charset="-120"/>
              </a:rPr>
              <a:t>⚖</a:t>
            </a:r>
            <a:endParaRPr lang="en-US" sz="1266" dirty="0"/>
          </a:p>
        </p:txBody>
      </p:sp>
      <p:sp>
        <p:nvSpPr>
          <p:cNvPr id="56" name="Text 54"/>
          <p:cNvSpPr/>
          <p:nvPr/>
        </p:nvSpPr>
        <p:spPr>
          <a:xfrm>
            <a:off x="3545979" y="2555007"/>
            <a:ext cx="857250" cy="120801"/>
          </a:xfrm>
          <a:prstGeom prst="rect">
            <a:avLst/>
          </a:prstGeom>
          <a:noFill/>
          <a:ln/>
        </p:spPr>
        <p:txBody>
          <a:bodyPr wrap="none" lIns="0" tIns="0" rIns="0" bIns="0" rtlCol="0" anchor="t">
            <a:normAutofit/>
          </a:bodyPr>
          <a:lstStyle/>
          <a:p>
            <a:pPr algn="l" indent="0" marL="0">
              <a:lnSpc>
                <a:spcPts val="1055"/>
              </a:lnSpc>
              <a:buNone/>
            </a:pPr>
            <a:r>
              <a:rPr lang="en-US" sz="800" b="1" spc="-4" kern="0" dirty="0">
                <a:solidFill>
                  <a:srgbClr val="0F1F3D"/>
                </a:solidFill>
                <a:latin typeface="Carlito" pitchFamily="34" charset="0"/>
                <a:ea typeface="Carlito" pitchFamily="34" charset="-122"/>
                <a:cs typeface="Carlito" pitchFamily="34" charset="-120"/>
              </a:rPr>
              <a:t>Imbalance</a:t>
            </a:r>
            <a:endParaRPr lang="en-US" sz="800" dirty="0"/>
          </a:p>
        </p:txBody>
      </p:sp>
      <p:sp>
        <p:nvSpPr>
          <p:cNvPr id="57" name="Text 55"/>
          <p:cNvSpPr/>
          <p:nvPr/>
        </p:nvSpPr>
        <p:spPr>
          <a:xfrm>
            <a:off x="3545979" y="2703240"/>
            <a:ext cx="857250" cy="266105"/>
          </a:xfrm>
          <a:prstGeom prst="rect">
            <a:avLst/>
          </a:prstGeom>
          <a:noFill/>
          <a:ln/>
        </p:spPr>
        <p:txBody>
          <a:bodyPr wrap="square" lIns="0" tIns="0" rIns="0" bIns="0" rtlCol="0" anchor="t"/>
          <a:lstStyle/>
          <a:p>
            <a:pPr algn="l" indent="0" marL="0">
              <a:lnSpc>
                <a:spcPts val="705"/>
              </a:lnSpc>
              <a:buNone/>
            </a:pPr>
            <a:r>
              <a:rPr lang="en-US" sz="800" dirty="0">
                <a:solidFill>
                  <a:srgbClr val="5B6B82"/>
                </a:solidFill>
                <a:latin typeface="Carlito" pitchFamily="34" charset="0"/>
                <a:ea typeface="Carlito" pitchFamily="34" charset="-122"/>
                <a:cs typeface="Carlito" pitchFamily="34" charset="-120"/>
              </a:rPr>
              <a:t>SMOTE + weights + Focal Loss</a:t>
            </a:r>
            <a:endParaRPr lang="en-US" sz="800" dirty="0"/>
          </a:p>
        </p:txBody>
      </p:sp>
      <p:sp>
        <p:nvSpPr>
          <p:cNvPr id="58" name="Text 56"/>
          <p:cNvSpPr/>
          <p:nvPr/>
        </p:nvSpPr>
        <p:spPr>
          <a:xfrm>
            <a:off x="4481810" y="2347838"/>
            <a:ext cx="180380" cy="740664"/>
          </a:xfrm>
          <a:prstGeom prst="rect">
            <a:avLst/>
          </a:prstGeom>
          <a:noFill/>
          <a:ln/>
        </p:spPr>
        <p:txBody>
          <a:bodyPr wrap="none" lIns="42863" tIns="0" rIns="42863" bIns="0" rtlCol="0" anchor="t"/>
          <a:lstStyle/>
          <a:p>
            <a:pPr algn="l" indent="0" marL="0">
              <a:lnSpc>
                <a:spcPts val="5400"/>
              </a:lnSpc>
              <a:buNone/>
            </a:pPr>
            <a:r>
              <a:rPr lang="en-US" sz="1238" dirty="0">
                <a:solidFill>
                  <a:srgbClr val="14B8A6"/>
                </a:solidFill>
                <a:latin typeface="Courier New" pitchFamily="34" charset="0"/>
                <a:ea typeface="Courier New" pitchFamily="34" charset="-122"/>
                <a:cs typeface="Courier New" pitchFamily="34" charset="-120"/>
              </a:rPr>
              <a:t>›</a:t>
            </a:r>
            <a:endParaRPr lang="en-US" sz="1238" dirty="0"/>
          </a:p>
        </p:txBody>
      </p:sp>
      <p:sp>
        <p:nvSpPr>
          <p:cNvPr id="59" name="Text 57"/>
          <p:cNvSpPr/>
          <p:nvPr/>
        </p:nvSpPr>
        <p:spPr>
          <a:xfrm>
            <a:off x="4665762" y="2351410"/>
            <a:ext cx="1007269" cy="678656"/>
          </a:xfrm>
          <a:prstGeom prst="roundRect">
            <a:avLst>
              <a:gd name="adj" fmla="val 11228"/>
            </a:avLst>
          </a:prstGeom>
          <a:solidFill>
            <a:srgbClr val="FFFFFF"/>
          </a:solidFill>
          <a:ln w="7144">
            <a:solidFill>
              <a:srgbClr val="D9E1EC"/>
            </a:solidFill>
            <a:prstDash val="solid"/>
          </a:ln>
          <a:effectLst>
            <a:outerShdw sx="100000" sy="100000" kx="0" ky="0" algn="bl" rotWithShape="0" blurRad="19050" dist="9525" dir="5400000">
              <a:srgbClr val="0F1F3D">
                <a:alpha val="4000"/>
              </a:srgbClr>
            </a:outerShdw>
          </a:effectLst>
        </p:spPr>
        <p:txBody>
          <a:bodyPr wrap="square" rtlCol="0" anchor="ctr"/>
          <a:lstStyle/>
          <a:p>
            <a:pPr indent="0" marL="0">
              <a:buNone/>
            </a:pPr>
            <a:endParaRPr lang="en-US" dirty="0"/>
          </a:p>
        </p:txBody>
      </p:sp>
      <p:sp>
        <p:nvSpPr>
          <p:cNvPr id="60" name="Text 58"/>
          <p:cNvSpPr/>
          <p:nvPr/>
        </p:nvSpPr>
        <p:spPr>
          <a:xfrm>
            <a:off x="4740771" y="2417490"/>
            <a:ext cx="714375" cy="164592"/>
          </a:xfrm>
          <a:prstGeom prst="rect">
            <a:avLst/>
          </a:prstGeom>
          <a:noFill/>
          <a:ln/>
        </p:spPr>
        <p:txBody>
          <a:bodyPr wrap="none" lIns="0" tIns="0" rIns="0" bIns="0" rtlCol="0" anchor="t"/>
          <a:lstStyle/>
          <a:p>
            <a:pPr algn="l" indent="0" marL="0">
              <a:lnSpc>
                <a:spcPts val="928"/>
              </a:lnSpc>
              <a:buNone/>
            </a:pPr>
            <a:r>
              <a:rPr lang="en-US" sz="800" b="1" spc="74" kern="0" dirty="0">
                <a:solidFill>
                  <a:srgbClr val="14B8A6"/>
                </a:solidFill>
                <a:latin typeface="Liberation Sans Narrow" pitchFamily="34" charset="0"/>
                <a:ea typeface="Liberation Sans Narrow" pitchFamily="34" charset="-122"/>
                <a:cs typeface="Liberation Sans Narrow" pitchFamily="34" charset="-120"/>
              </a:rPr>
              <a:t>10</a:t>
            </a:r>
            <a:endParaRPr lang="en-US" sz="800" dirty="0"/>
          </a:p>
        </p:txBody>
      </p:sp>
      <p:sp>
        <p:nvSpPr>
          <p:cNvPr id="61" name="Text 59"/>
          <p:cNvSpPr/>
          <p:nvPr/>
        </p:nvSpPr>
        <p:spPr>
          <a:xfrm>
            <a:off x="5469434" y="2412132"/>
            <a:ext cx="128588" cy="128588"/>
          </a:xfrm>
          <a:prstGeom prst="rect">
            <a:avLst/>
          </a:prstGeom>
          <a:noFill/>
          <a:ln/>
        </p:spPr>
        <p:txBody>
          <a:bodyPr wrap="none" lIns="0" tIns="0" rIns="0" bIns="0" rtlCol="0" anchor="ctr"/>
          <a:lstStyle/>
          <a:p>
            <a:pPr algn="ctr" indent="0" marL="0">
              <a:buNone/>
            </a:pPr>
            <a:r>
              <a:rPr lang="en-US" sz="1266" dirty="0">
                <a:solidFill>
                  <a:srgbClr val="0F1F3D"/>
                </a:solidFill>
                <a:latin typeface="Segoe UI Symbol" pitchFamily="34" charset="0"/>
                <a:ea typeface="Segoe UI Symbol" pitchFamily="34" charset="-122"/>
                <a:cs typeface="Segoe UI Symbol" pitchFamily="34" charset="-120"/>
              </a:rPr>
              <a:t>✿</a:t>
            </a:r>
            <a:endParaRPr lang="en-US" sz="1266" dirty="0"/>
          </a:p>
        </p:txBody>
      </p:sp>
      <p:sp>
        <p:nvSpPr>
          <p:cNvPr id="62" name="Text 60"/>
          <p:cNvSpPr/>
          <p:nvPr/>
        </p:nvSpPr>
        <p:spPr>
          <a:xfrm>
            <a:off x="4740771" y="2555007"/>
            <a:ext cx="857250" cy="120801"/>
          </a:xfrm>
          <a:prstGeom prst="rect">
            <a:avLst/>
          </a:prstGeom>
          <a:noFill/>
          <a:ln/>
        </p:spPr>
        <p:txBody>
          <a:bodyPr wrap="none" lIns="0" tIns="0" rIns="0" bIns="0" rtlCol="0" anchor="t">
            <a:normAutofit/>
          </a:bodyPr>
          <a:lstStyle/>
          <a:p>
            <a:pPr algn="l" indent="0" marL="0">
              <a:lnSpc>
                <a:spcPts val="1055"/>
              </a:lnSpc>
              <a:buNone/>
            </a:pPr>
            <a:r>
              <a:rPr lang="en-US" sz="800" b="1" spc="-4" kern="0" dirty="0">
                <a:solidFill>
                  <a:srgbClr val="0F1F3D"/>
                </a:solidFill>
                <a:latin typeface="Carlito" pitchFamily="34" charset="0"/>
                <a:ea typeface="Carlito" pitchFamily="34" charset="-122"/>
                <a:cs typeface="Carlito" pitchFamily="34" charset="-120"/>
              </a:rPr>
              <a:t>XGBoost</a:t>
            </a:r>
            <a:endParaRPr lang="en-US" sz="800" dirty="0"/>
          </a:p>
        </p:txBody>
      </p:sp>
      <p:sp>
        <p:nvSpPr>
          <p:cNvPr id="63" name="Text 61"/>
          <p:cNvSpPr/>
          <p:nvPr/>
        </p:nvSpPr>
        <p:spPr>
          <a:xfrm>
            <a:off x="4740771" y="2703240"/>
            <a:ext cx="908685" cy="266105"/>
          </a:xfrm>
          <a:prstGeom prst="rect">
            <a:avLst/>
          </a:prstGeom>
          <a:noFill/>
          <a:ln/>
        </p:spPr>
        <p:txBody>
          <a:bodyPr wrap="square" lIns="0" tIns="0" rIns="0" bIns="0" rtlCol="0" anchor="t"/>
          <a:lstStyle/>
          <a:p>
            <a:pPr algn="l" indent="0" marL="0">
              <a:lnSpc>
                <a:spcPts val="705"/>
              </a:lnSpc>
              <a:buNone/>
            </a:pPr>
            <a:r>
              <a:rPr lang="en-US" sz="800" dirty="0">
                <a:solidFill>
                  <a:srgbClr val="5B6B82"/>
                </a:solidFill>
                <a:latin typeface="Carlito" pitchFamily="34" charset="0"/>
                <a:ea typeface="Carlito" pitchFamily="34" charset="-122"/>
                <a:cs typeface="Carlito" pitchFamily="34" charset="-120"/>
              </a:rPr>
              <a:t>4 independent models · depth=8, lr=0.05</a:t>
            </a:r>
            <a:endParaRPr lang="en-US" sz="800" dirty="0"/>
          </a:p>
        </p:txBody>
      </p:sp>
      <p:sp>
        <p:nvSpPr>
          <p:cNvPr id="64" name="Text 62"/>
          <p:cNvSpPr/>
          <p:nvPr/>
        </p:nvSpPr>
        <p:spPr>
          <a:xfrm>
            <a:off x="5676602" y="2347838"/>
            <a:ext cx="180380" cy="740664"/>
          </a:xfrm>
          <a:prstGeom prst="rect">
            <a:avLst/>
          </a:prstGeom>
          <a:noFill/>
          <a:ln/>
        </p:spPr>
        <p:txBody>
          <a:bodyPr wrap="none" lIns="42863" tIns="0" rIns="42863" bIns="0" rtlCol="0" anchor="t"/>
          <a:lstStyle/>
          <a:p>
            <a:pPr algn="l" indent="0" marL="0">
              <a:lnSpc>
                <a:spcPts val="5400"/>
              </a:lnSpc>
              <a:buNone/>
            </a:pPr>
            <a:r>
              <a:rPr lang="en-US" sz="1238" dirty="0">
                <a:solidFill>
                  <a:srgbClr val="14B8A6"/>
                </a:solidFill>
                <a:latin typeface="Courier New" pitchFamily="34" charset="0"/>
                <a:ea typeface="Courier New" pitchFamily="34" charset="-122"/>
                <a:cs typeface="Courier New" pitchFamily="34" charset="-120"/>
              </a:rPr>
              <a:t>›</a:t>
            </a:r>
            <a:endParaRPr lang="en-US" sz="1238" dirty="0"/>
          </a:p>
        </p:txBody>
      </p:sp>
      <p:sp>
        <p:nvSpPr>
          <p:cNvPr id="65" name="Text 63"/>
          <p:cNvSpPr/>
          <p:nvPr/>
        </p:nvSpPr>
        <p:spPr>
          <a:xfrm>
            <a:off x="5860554" y="2351410"/>
            <a:ext cx="1007269" cy="678656"/>
          </a:xfrm>
          <a:prstGeom prst="roundRect">
            <a:avLst>
              <a:gd name="adj" fmla="val 11228"/>
            </a:avLst>
          </a:prstGeom>
          <a:solidFill>
            <a:srgbClr val="FFFFFF"/>
          </a:solidFill>
          <a:ln w="7144">
            <a:solidFill>
              <a:srgbClr val="D9E1EC"/>
            </a:solidFill>
            <a:prstDash val="solid"/>
          </a:ln>
          <a:effectLst>
            <a:outerShdw sx="100000" sy="100000" kx="0" ky="0" algn="bl" rotWithShape="0" blurRad="19050" dist="9525" dir="5400000">
              <a:srgbClr val="0F1F3D">
                <a:alpha val="4000"/>
              </a:srgbClr>
            </a:outerShdw>
          </a:effectLst>
        </p:spPr>
        <p:txBody>
          <a:bodyPr wrap="square" rtlCol="0" anchor="ctr"/>
          <a:lstStyle/>
          <a:p>
            <a:pPr indent="0" marL="0">
              <a:buNone/>
            </a:pPr>
            <a:endParaRPr lang="en-US" dirty="0"/>
          </a:p>
        </p:txBody>
      </p:sp>
      <p:sp>
        <p:nvSpPr>
          <p:cNvPr id="66" name="Text 64"/>
          <p:cNvSpPr/>
          <p:nvPr/>
        </p:nvSpPr>
        <p:spPr>
          <a:xfrm>
            <a:off x="5935563" y="2417490"/>
            <a:ext cx="714375" cy="164592"/>
          </a:xfrm>
          <a:prstGeom prst="rect">
            <a:avLst/>
          </a:prstGeom>
          <a:noFill/>
          <a:ln/>
        </p:spPr>
        <p:txBody>
          <a:bodyPr wrap="none" lIns="0" tIns="0" rIns="0" bIns="0" rtlCol="0" anchor="t"/>
          <a:lstStyle/>
          <a:p>
            <a:pPr algn="l" indent="0" marL="0">
              <a:lnSpc>
                <a:spcPts val="928"/>
              </a:lnSpc>
              <a:buNone/>
            </a:pPr>
            <a:r>
              <a:rPr lang="en-US" sz="800" b="1" spc="74" kern="0" dirty="0">
                <a:solidFill>
                  <a:srgbClr val="14B8A6"/>
                </a:solidFill>
                <a:latin typeface="Liberation Sans Narrow" pitchFamily="34" charset="0"/>
                <a:ea typeface="Liberation Sans Narrow" pitchFamily="34" charset="-122"/>
                <a:cs typeface="Liberation Sans Narrow" pitchFamily="34" charset="-120"/>
              </a:rPr>
              <a:t>11</a:t>
            </a:r>
            <a:endParaRPr lang="en-US" sz="800" dirty="0"/>
          </a:p>
        </p:txBody>
      </p:sp>
      <p:sp>
        <p:nvSpPr>
          <p:cNvPr id="67" name="Text 65"/>
          <p:cNvSpPr/>
          <p:nvPr/>
        </p:nvSpPr>
        <p:spPr>
          <a:xfrm>
            <a:off x="6664226" y="2412132"/>
            <a:ext cx="128588" cy="128588"/>
          </a:xfrm>
          <a:prstGeom prst="rect">
            <a:avLst/>
          </a:prstGeom>
          <a:noFill/>
          <a:ln/>
        </p:spPr>
        <p:txBody>
          <a:bodyPr wrap="none" lIns="0" tIns="0" rIns="0" bIns="0" rtlCol="0" anchor="ctr"/>
          <a:lstStyle/>
          <a:p>
            <a:pPr algn="ctr" indent="0" marL="0">
              <a:buNone/>
            </a:pPr>
            <a:r>
              <a:rPr lang="en-US" sz="1266" dirty="0">
                <a:solidFill>
                  <a:srgbClr val="0F1F3D"/>
                </a:solidFill>
                <a:latin typeface="Segoe UI Symbol" pitchFamily="34" charset="0"/>
                <a:ea typeface="Segoe UI Symbol" pitchFamily="34" charset="-122"/>
                <a:cs typeface="Segoe UI Symbol" pitchFamily="34" charset="-120"/>
              </a:rPr>
              <a:t>↗</a:t>
            </a:r>
            <a:endParaRPr lang="en-US" sz="1266" dirty="0"/>
          </a:p>
        </p:txBody>
      </p:sp>
      <p:sp>
        <p:nvSpPr>
          <p:cNvPr id="68" name="Text 66"/>
          <p:cNvSpPr/>
          <p:nvPr/>
        </p:nvSpPr>
        <p:spPr>
          <a:xfrm>
            <a:off x="5935563" y="2555007"/>
            <a:ext cx="857250" cy="120801"/>
          </a:xfrm>
          <a:prstGeom prst="rect">
            <a:avLst/>
          </a:prstGeom>
          <a:noFill/>
          <a:ln/>
        </p:spPr>
        <p:txBody>
          <a:bodyPr wrap="none" lIns="0" tIns="0" rIns="0" bIns="0" rtlCol="0" anchor="t">
            <a:normAutofit/>
          </a:bodyPr>
          <a:lstStyle/>
          <a:p>
            <a:pPr algn="l" indent="0" marL="0">
              <a:lnSpc>
                <a:spcPts val="1055"/>
              </a:lnSpc>
              <a:buNone/>
            </a:pPr>
            <a:r>
              <a:rPr lang="en-US" sz="800" b="1" spc="-4" kern="0" dirty="0">
                <a:solidFill>
                  <a:srgbClr val="0F1F3D"/>
                </a:solidFill>
                <a:latin typeface="Carlito" pitchFamily="34" charset="0"/>
                <a:ea typeface="Carlito" pitchFamily="34" charset="-122"/>
                <a:cs typeface="Carlito" pitchFamily="34" charset="-120"/>
              </a:rPr>
              <a:t>Calibrate</a:t>
            </a:r>
            <a:endParaRPr lang="en-US" sz="800" dirty="0"/>
          </a:p>
        </p:txBody>
      </p:sp>
      <p:sp>
        <p:nvSpPr>
          <p:cNvPr id="69" name="Text 67"/>
          <p:cNvSpPr/>
          <p:nvPr/>
        </p:nvSpPr>
        <p:spPr>
          <a:xfrm>
            <a:off x="5935563" y="2703240"/>
            <a:ext cx="908685" cy="266105"/>
          </a:xfrm>
          <a:prstGeom prst="rect">
            <a:avLst/>
          </a:prstGeom>
          <a:noFill/>
          <a:ln/>
        </p:spPr>
        <p:txBody>
          <a:bodyPr wrap="square" lIns="0" tIns="0" rIns="0" bIns="0" rtlCol="0" anchor="t"/>
          <a:lstStyle/>
          <a:p>
            <a:pPr algn="l" indent="0" marL="0">
              <a:lnSpc>
                <a:spcPts val="705"/>
              </a:lnSpc>
              <a:buNone/>
            </a:pPr>
            <a:r>
              <a:rPr lang="en-US" sz="800" dirty="0">
                <a:solidFill>
                  <a:srgbClr val="5B6B82"/>
                </a:solidFill>
                <a:latin typeface="Carlito" pitchFamily="34" charset="0"/>
                <a:ea typeface="Carlito" pitchFamily="34" charset="-122"/>
                <a:cs typeface="Carlito" pitchFamily="34" charset="-120"/>
              </a:rPr>
              <a:t>Isotonic regression · threshold [0.2, 0.8]</a:t>
            </a:r>
            <a:endParaRPr lang="en-US" sz="800" dirty="0"/>
          </a:p>
        </p:txBody>
      </p:sp>
      <p:sp>
        <p:nvSpPr>
          <p:cNvPr id="70" name="Text 68"/>
          <p:cNvSpPr/>
          <p:nvPr/>
        </p:nvSpPr>
        <p:spPr>
          <a:xfrm>
            <a:off x="6871395" y="2347838"/>
            <a:ext cx="180380" cy="740664"/>
          </a:xfrm>
          <a:prstGeom prst="rect">
            <a:avLst/>
          </a:prstGeom>
          <a:noFill/>
          <a:ln/>
        </p:spPr>
        <p:txBody>
          <a:bodyPr wrap="none" lIns="42863" tIns="0" rIns="42863" bIns="0" rtlCol="0" anchor="t"/>
          <a:lstStyle/>
          <a:p>
            <a:pPr algn="l" indent="0" marL="0">
              <a:lnSpc>
                <a:spcPts val="5400"/>
              </a:lnSpc>
              <a:buNone/>
            </a:pPr>
            <a:r>
              <a:rPr lang="en-US" sz="1238" dirty="0">
                <a:solidFill>
                  <a:srgbClr val="14B8A6"/>
                </a:solidFill>
                <a:latin typeface="Courier New" pitchFamily="34" charset="0"/>
                <a:ea typeface="Courier New" pitchFamily="34" charset="-122"/>
                <a:cs typeface="Courier New" pitchFamily="34" charset="-120"/>
              </a:rPr>
              <a:t>›</a:t>
            </a:r>
            <a:endParaRPr lang="en-US" sz="1238" dirty="0"/>
          </a:p>
        </p:txBody>
      </p:sp>
      <p:sp>
        <p:nvSpPr>
          <p:cNvPr id="71" name="Text 69"/>
          <p:cNvSpPr/>
          <p:nvPr/>
        </p:nvSpPr>
        <p:spPr>
          <a:xfrm>
            <a:off x="7055346" y="2351410"/>
            <a:ext cx="1007269" cy="678656"/>
          </a:xfrm>
          <a:prstGeom prst="roundRect">
            <a:avLst>
              <a:gd name="adj" fmla="val 11228"/>
            </a:avLst>
          </a:prstGeom>
          <a:solidFill>
            <a:srgbClr val="14B8A6">
              <a:alpha val="6000"/>
            </a:srgbClr>
          </a:solidFill>
          <a:ln w="7144">
            <a:solidFill>
              <a:srgbClr val="14B8A6"/>
            </a:solidFill>
            <a:prstDash val="solid"/>
          </a:ln>
          <a:effectLst>
            <a:outerShdw sx="100000" sy="100000" kx="0" ky="0" algn="bl" rotWithShape="0" blurRad="19050" dist="9525" dir="5400000">
              <a:srgbClr val="0F1F3D">
                <a:alpha val="4000"/>
              </a:srgbClr>
            </a:outerShdw>
          </a:effectLst>
        </p:spPr>
        <p:txBody>
          <a:bodyPr wrap="square" rtlCol="0" anchor="ctr"/>
          <a:lstStyle/>
          <a:p>
            <a:pPr indent="0" marL="0">
              <a:buNone/>
            </a:pPr>
            <a:endParaRPr lang="en-US" dirty="0"/>
          </a:p>
        </p:txBody>
      </p:sp>
      <p:sp>
        <p:nvSpPr>
          <p:cNvPr id="72" name="Text 70"/>
          <p:cNvSpPr/>
          <p:nvPr/>
        </p:nvSpPr>
        <p:spPr>
          <a:xfrm>
            <a:off x="7130355" y="2417490"/>
            <a:ext cx="714375" cy="164592"/>
          </a:xfrm>
          <a:prstGeom prst="rect">
            <a:avLst/>
          </a:prstGeom>
          <a:noFill/>
          <a:ln/>
        </p:spPr>
        <p:txBody>
          <a:bodyPr wrap="none" lIns="0" tIns="0" rIns="0" bIns="0" rtlCol="0" anchor="t"/>
          <a:lstStyle/>
          <a:p>
            <a:pPr algn="l" indent="0" marL="0">
              <a:lnSpc>
                <a:spcPts val="928"/>
              </a:lnSpc>
              <a:buNone/>
            </a:pPr>
            <a:r>
              <a:rPr lang="en-US" sz="800" b="1" spc="74" kern="0" dirty="0">
                <a:solidFill>
                  <a:srgbClr val="14B8A6"/>
                </a:solidFill>
                <a:latin typeface="Liberation Sans Narrow" pitchFamily="34" charset="0"/>
                <a:ea typeface="Liberation Sans Narrow" pitchFamily="34" charset="-122"/>
                <a:cs typeface="Liberation Sans Narrow" pitchFamily="34" charset="-120"/>
              </a:rPr>
              <a:t>12</a:t>
            </a:r>
            <a:endParaRPr lang="en-US" sz="800" dirty="0"/>
          </a:p>
        </p:txBody>
      </p:sp>
      <p:sp>
        <p:nvSpPr>
          <p:cNvPr id="73" name="Text 71"/>
          <p:cNvSpPr/>
          <p:nvPr/>
        </p:nvSpPr>
        <p:spPr>
          <a:xfrm>
            <a:off x="7859018" y="2412132"/>
            <a:ext cx="128588" cy="128588"/>
          </a:xfrm>
          <a:prstGeom prst="rect">
            <a:avLst/>
          </a:prstGeom>
          <a:noFill/>
          <a:ln/>
        </p:spPr>
        <p:txBody>
          <a:bodyPr wrap="none" lIns="0" tIns="0" rIns="0" bIns="0" rtlCol="0" anchor="ctr"/>
          <a:lstStyle/>
          <a:p>
            <a:pPr algn="ctr" indent="0" marL="0">
              <a:buNone/>
            </a:pPr>
            <a:r>
              <a:rPr lang="en-US" sz="1266" dirty="0">
                <a:solidFill>
                  <a:srgbClr val="0F766E"/>
                </a:solidFill>
                <a:latin typeface="Segoe UI Symbol" pitchFamily="34" charset="0"/>
                <a:ea typeface="Segoe UI Symbol" pitchFamily="34" charset="-122"/>
                <a:cs typeface="Segoe UI Symbol" pitchFamily="34" charset="-120"/>
              </a:rPr>
              <a:t>✦</a:t>
            </a:r>
            <a:endParaRPr lang="en-US" sz="1266" dirty="0"/>
          </a:p>
        </p:txBody>
      </p:sp>
      <p:sp>
        <p:nvSpPr>
          <p:cNvPr id="74" name="Text 72"/>
          <p:cNvSpPr/>
          <p:nvPr/>
        </p:nvSpPr>
        <p:spPr>
          <a:xfrm>
            <a:off x="7130355" y="2555007"/>
            <a:ext cx="857250" cy="120801"/>
          </a:xfrm>
          <a:prstGeom prst="rect">
            <a:avLst/>
          </a:prstGeom>
          <a:noFill/>
          <a:ln/>
        </p:spPr>
        <p:txBody>
          <a:bodyPr wrap="none" lIns="0" tIns="0" rIns="0" bIns="0" rtlCol="0" anchor="t">
            <a:normAutofit/>
          </a:bodyPr>
          <a:lstStyle/>
          <a:p>
            <a:pPr algn="l" indent="0" marL="0">
              <a:lnSpc>
                <a:spcPts val="1055"/>
              </a:lnSpc>
              <a:buNone/>
            </a:pPr>
            <a:r>
              <a:rPr lang="en-US" sz="800" b="1" spc="-4" kern="0" dirty="0">
                <a:solidFill>
                  <a:srgbClr val="0F1F3D"/>
                </a:solidFill>
                <a:latin typeface="Carlito" pitchFamily="34" charset="0"/>
                <a:ea typeface="Carlito" pitchFamily="34" charset="-122"/>
                <a:cs typeface="Carlito" pitchFamily="34" charset="-120"/>
              </a:rPr>
              <a:t>Output</a:t>
            </a:r>
            <a:endParaRPr lang="en-US" sz="800" dirty="0"/>
          </a:p>
        </p:txBody>
      </p:sp>
      <p:sp>
        <p:nvSpPr>
          <p:cNvPr id="75" name="Text 73"/>
          <p:cNvSpPr/>
          <p:nvPr/>
        </p:nvSpPr>
        <p:spPr>
          <a:xfrm>
            <a:off x="7130355" y="2703240"/>
            <a:ext cx="908685" cy="266105"/>
          </a:xfrm>
          <a:prstGeom prst="rect">
            <a:avLst/>
          </a:prstGeom>
          <a:noFill/>
          <a:ln/>
        </p:spPr>
        <p:txBody>
          <a:bodyPr wrap="square" lIns="0" tIns="0" rIns="0" bIns="0" rtlCol="0" anchor="t"/>
          <a:lstStyle/>
          <a:p>
            <a:pPr algn="l" indent="0" marL="0">
              <a:lnSpc>
                <a:spcPts val="705"/>
              </a:lnSpc>
              <a:buNone/>
            </a:pPr>
            <a:r>
              <a:rPr lang="en-US" sz="800" dirty="0">
                <a:solidFill>
                  <a:srgbClr val="5B6B82"/>
                </a:solidFill>
                <a:latin typeface="Carlito" pitchFamily="34" charset="0"/>
                <a:ea typeface="Carlito" pitchFamily="34" charset="-122"/>
                <a:cs typeface="Carlito" pitchFamily="34" charset="-120"/>
              </a:rPr>
              <a:t>4×3 probability matrix · Low/Med/High per state</a:t>
            </a:r>
            <a:endParaRPr lang="en-US" sz="800" dirty="0"/>
          </a:p>
        </p:txBody>
      </p:sp>
      <p:sp>
        <p:nvSpPr>
          <p:cNvPr id="76" name="Text 74"/>
          <p:cNvSpPr/>
          <p:nvPr/>
        </p:nvSpPr>
        <p:spPr>
          <a:xfrm>
            <a:off x="457200" y="3147938"/>
            <a:ext cx="4057650" cy="905470"/>
          </a:xfrm>
          <a:prstGeom prst="roundRect">
            <a:avLst>
              <a:gd name="adj" fmla="val 10519"/>
            </a:avLst>
          </a:prstGeom>
          <a:solidFill>
            <a:srgbClr val="F6F8FB"/>
          </a:solidFill>
          <a:ln/>
        </p:spPr>
        <p:txBody>
          <a:bodyPr wrap="square" rtlCol="0" anchor="ctr"/>
          <a:lstStyle/>
          <a:p>
            <a:pPr indent="0" marL="0">
              <a:buNone/>
            </a:pPr>
            <a:endParaRPr lang="en-US" dirty="0"/>
          </a:p>
        </p:txBody>
      </p:sp>
      <p:sp>
        <p:nvSpPr>
          <p:cNvPr id="77" name="Shape 75"/>
          <p:cNvSpPr/>
          <p:nvPr/>
        </p:nvSpPr>
        <p:spPr>
          <a:xfrm>
            <a:off x="467916" y="3147938"/>
            <a:ext cx="0" cy="905470"/>
          </a:xfrm>
          <a:prstGeom prst="line">
            <a:avLst/>
          </a:prstGeom>
          <a:noFill/>
          <a:ln w="21431">
            <a:solidFill>
              <a:srgbClr val="14B8A6"/>
            </a:solidFill>
            <a:prstDash val="solid"/>
          </a:ln>
        </p:spPr>
      </p:sp>
      <p:sp>
        <p:nvSpPr>
          <p:cNvPr id="78" name="Text 76"/>
          <p:cNvSpPr/>
          <p:nvPr/>
        </p:nvSpPr>
        <p:spPr>
          <a:xfrm>
            <a:off x="778669" y="3262238"/>
            <a:ext cx="1161210" cy="126609"/>
          </a:xfrm>
          <a:prstGeom prst="rect">
            <a:avLst/>
          </a:prstGeom>
          <a:noFill/>
          <a:ln/>
        </p:spPr>
        <p:txBody>
          <a:bodyPr wrap="none" lIns="0" tIns="0" rIns="0" bIns="0" rtlCol="0" anchor="t"/>
          <a:lstStyle/>
          <a:p>
            <a:pPr algn="l" indent="0" marL="0">
              <a:lnSpc>
                <a:spcPts val="1097"/>
              </a:lnSpc>
              <a:buNone/>
            </a:pPr>
            <a:r>
              <a:rPr lang="en-US" sz="800" b="1" spc="29" kern="0" dirty="0">
                <a:solidFill>
                  <a:srgbClr val="0F1F3D"/>
                </a:solidFill>
                <a:latin typeface="Carlito" pitchFamily="34" charset="0"/>
                <a:ea typeface="Carlito" pitchFamily="34" charset="-122"/>
                <a:cs typeface="Carlito" pitchFamily="34" charset="-120"/>
              </a:rPr>
              <a:t>DATA HANDLING</a:t>
            </a:r>
            <a:endParaRPr lang="en-US" sz="800" dirty="0"/>
          </a:p>
        </p:txBody>
      </p:sp>
      <p:sp>
        <p:nvSpPr>
          <p:cNvPr id="79" name="Text 77"/>
          <p:cNvSpPr/>
          <p:nvPr/>
        </p:nvSpPr>
        <p:spPr>
          <a:xfrm>
            <a:off x="607219" y="3444404"/>
            <a:ext cx="3779044" cy="539532"/>
          </a:xfrm>
          <a:prstGeom prst="rect">
            <a:avLst/>
          </a:prstGeom>
          <a:noFill/>
          <a:ln/>
        </p:spPr>
        <p:txBody>
          <a:bodyPr wrap="square" lIns="0" tIns="0" rIns="0" bIns="0" rtlCol="0" anchor="t"/>
          <a:lstStyle/>
          <a:p>
            <a:pPr algn="l" indent="0" marL="0">
              <a:lnSpc>
                <a:spcPts val="1003"/>
              </a:lnSpc>
              <a:buNone/>
            </a:pPr>
            <a:r>
              <a:rPr lang="en-US" sz="600" dirty="0">
                <a:solidFill>
                  <a:srgbClr val="14B8A6"/>
                </a:solidFill>
                <a:latin typeface="Carlito" pitchFamily="34" charset="0"/>
                <a:ea typeface="Carlito" pitchFamily="34" charset="-122"/>
                <a:cs typeface="Carlito" pitchFamily="34" charset="-120"/>
              </a:rPr>
              <a:t>●  </a:t>
            </a:r>
            <a:pPr algn="l" indent="0" marL="0">
              <a:lnSpc>
                <a:spcPts val="1003"/>
              </a:lnSpc>
              <a:buNone/>
            </a:pPr>
            <a:r>
              <a:rPr lang="en-US" sz="800" dirty="0">
                <a:solidFill>
                  <a:srgbClr val="5B6B82"/>
                </a:solidFill>
                <a:latin typeface="Liberation Sans Narrow" pitchFamily="34" charset="0"/>
                <a:ea typeface="Liberation Sans Narrow" pitchFamily="34" charset="-122"/>
                <a:cs typeface="Liberation Sans Narrow" pitchFamily="34" charset="-120"/>
              </a:rPr>
              <a:t>80/10/10 train/val/test split</a:t>
            </a:r>
            <a:endParaRPr lang="en-US" sz="800" dirty="0"/>
          </a:p>
          <a:p>
            <a:pPr algn="l" indent="0" marL="0">
              <a:lnSpc>
                <a:spcPts val="1003"/>
              </a:lnSpc>
              <a:buNone/>
            </a:pPr>
            <a:r>
              <a:rPr lang="en-US" sz="600" dirty="0">
                <a:solidFill>
                  <a:srgbClr val="14B8A6"/>
                </a:solidFill>
                <a:latin typeface="Carlito" pitchFamily="34" charset="0"/>
                <a:ea typeface="Carlito" pitchFamily="34" charset="-122"/>
                <a:cs typeface="Carlito" pitchFamily="34" charset="-120"/>
              </a:rPr>
              <a:t>●  </a:t>
            </a:r>
            <a:pPr algn="l" indent="0" marL="0">
              <a:lnSpc>
                <a:spcPts val="1003"/>
              </a:lnSpc>
              <a:buNone/>
            </a:pPr>
            <a:r>
              <a:rPr lang="en-US" sz="800" dirty="0">
                <a:solidFill>
                  <a:srgbClr val="5B6B82"/>
                </a:solidFill>
                <a:latin typeface="Carlito" pitchFamily="34" charset="0"/>
                <a:ea typeface="Carlito" pitchFamily="34" charset="-122"/>
                <a:cs typeface="Carlito" pitchFamily="34" charset="-120"/>
              </a:rPr>
              <a:t>Label transformation: 4 levels → 3 actionable classes</a:t>
            </a:r>
            <a:endParaRPr lang="en-US" sz="800" dirty="0"/>
          </a:p>
          <a:p>
            <a:pPr algn="l" indent="0" marL="0">
              <a:lnSpc>
                <a:spcPts val="1003"/>
              </a:lnSpc>
              <a:buNone/>
            </a:pPr>
            <a:r>
              <a:rPr lang="en-US" sz="600" dirty="0">
                <a:solidFill>
                  <a:srgbClr val="14B8A6"/>
                </a:solidFill>
                <a:latin typeface="Carlito" pitchFamily="34" charset="0"/>
                <a:ea typeface="Carlito" pitchFamily="34" charset="-122"/>
                <a:cs typeface="Carlito" pitchFamily="34" charset="-120"/>
              </a:rPr>
              <a:t>●  </a:t>
            </a:r>
            <a:pPr algn="l" indent="0" marL="0">
              <a:lnSpc>
                <a:spcPts val="1003"/>
              </a:lnSpc>
              <a:buNone/>
            </a:pPr>
            <a:r>
              <a:rPr lang="en-US" sz="800" dirty="0">
                <a:solidFill>
                  <a:srgbClr val="5B6B82"/>
                </a:solidFill>
                <a:latin typeface="Carlito" pitchFamily="34" charset="0"/>
                <a:ea typeface="Carlito" pitchFamily="34" charset="-122"/>
                <a:cs typeface="Carlito" pitchFamily="34" charset="-120"/>
              </a:rPr>
              <a:t>Imbalance handled via class weighting + sampling + post-training threshold optimization</a:t>
            </a:r>
            <a:endParaRPr lang="en-US" sz="800" dirty="0"/>
          </a:p>
        </p:txBody>
      </p:sp>
      <p:sp>
        <p:nvSpPr>
          <p:cNvPr id="80" name="Text 78"/>
          <p:cNvSpPr/>
          <p:nvPr/>
        </p:nvSpPr>
        <p:spPr>
          <a:xfrm>
            <a:off x="4629150" y="3147938"/>
            <a:ext cx="4057650" cy="905470"/>
          </a:xfrm>
          <a:prstGeom prst="roundRect">
            <a:avLst>
              <a:gd name="adj" fmla="val 10519"/>
            </a:avLst>
          </a:prstGeom>
          <a:solidFill>
            <a:srgbClr val="F6F8FB"/>
          </a:solidFill>
          <a:ln/>
        </p:spPr>
        <p:txBody>
          <a:bodyPr wrap="square" rtlCol="0" anchor="ctr"/>
          <a:lstStyle/>
          <a:p>
            <a:pPr indent="0" marL="0">
              <a:buNone/>
            </a:pPr>
            <a:endParaRPr lang="en-US" dirty="0"/>
          </a:p>
        </p:txBody>
      </p:sp>
      <p:sp>
        <p:nvSpPr>
          <p:cNvPr id="81" name="Shape 79"/>
          <p:cNvSpPr/>
          <p:nvPr/>
        </p:nvSpPr>
        <p:spPr>
          <a:xfrm>
            <a:off x="4639866" y="3147938"/>
            <a:ext cx="0" cy="905470"/>
          </a:xfrm>
          <a:prstGeom prst="line">
            <a:avLst/>
          </a:prstGeom>
          <a:noFill/>
          <a:ln w="21431">
            <a:solidFill>
              <a:srgbClr val="14B8A6"/>
            </a:solidFill>
            <a:prstDash val="solid"/>
          </a:ln>
        </p:spPr>
      </p:sp>
      <p:sp>
        <p:nvSpPr>
          <p:cNvPr id="82" name="Text 80"/>
          <p:cNvSpPr/>
          <p:nvPr/>
        </p:nvSpPr>
        <p:spPr>
          <a:xfrm>
            <a:off x="4950619" y="3262238"/>
            <a:ext cx="1775132" cy="126609"/>
          </a:xfrm>
          <a:prstGeom prst="rect">
            <a:avLst/>
          </a:prstGeom>
          <a:noFill/>
          <a:ln/>
        </p:spPr>
        <p:txBody>
          <a:bodyPr wrap="none" lIns="0" tIns="0" rIns="0" bIns="0" rtlCol="0" anchor="t"/>
          <a:lstStyle/>
          <a:p>
            <a:pPr algn="l" indent="0" marL="0">
              <a:lnSpc>
                <a:spcPts val="1097"/>
              </a:lnSpc>
              <a:buNone/>
            </a:pPr>
            <a:r>
              <a:rPr lang="en-US" sz="800" b="1" spc="29" kern="0" dirty="0">
                <a:solidFill>
                  <a:srgbClr val="0F1F3D"/>
                </a:solidFill>
                <a:latin typeface="Carlito" pitchFamily="34" charset="0"/>
                <a:ea typeface="Carlito" pitchFamily="34" charset="-122"/>
                <a:cs typeface="Carlito" pitchFamily="34" charset="-120"/>
              </a:rPr>
              <a:t>TRAINING &amp; EVALUATION</a:t>
            </a:r>
            <a:endParaRPr lang="en-US" sz="800" dirty="0"/>
          </a:p>
        </p:txBody>
      </p:sp>
      <p:sp>
        <p:nvSpPr>
          <p:cNvPr id="83" name="Text 81"/>
          <p:cNvSpPr/>
          <p:nvPr/>
        </p:nvSpPr>
        <p:spPr>
          <a:xfrm>
            <a:off x="4779169" y="3444404"/>
            <a:ext cx="3779044" cy="404649"/>
          </a:xfrm>
          <a:prstGeom prst="rect">
            <a:avLst/>
          </a:prstGeom>
          <a:noFill/>
          <a:ln/>
        </p:spPr>
        <p:txBody>
          <a:bodyPr wrap="square" lIns="0" tIns="0" rIns="0" bIns="0" rtlCol="0" anchor="t"/>
          <a:lstStyle/>
          <a:p>
            <a:pPr algn="l" indent="0" marL="0">
              <a:lnSpc>
                <a:spcPts val="1003"/>
              </a:lnSpc>
              <a:buNone/>
            </a:pPr>
            <a:r>
              <a:rPr lang="en-US" sz="600" dirty="0">
                <a:solidFill>
                  <a:srgbClr val="14B8A6"/>
                </a:solidFill>
                <a:latin typeface="Carlito" pitchFamily="34" charset="0"/>
                <a:ea typeface="Carlito" pitchFamily="34" charset="-122"/>
                <a:cs typeface="Carlito" pitchFamily="34" charset="-120"/>
              </a:rPr>
              <a:t>●  </a:t>
            </a:r>
            <a:pPr algn="l" indent="0" marL="0">
              <a:lnSpc>
                <a:spcPts val="1003"/>
              </a:lnSpc>
              <a:buNone/>
            </a:pPr>
            <a:r>
              <a:rPr lang="en-US" sz="800" dirty="0">
                <a:solidFill>
                  <a:srgbClr val="5B6B82"/>
                </a:solidFill>
                <a:latin typeface="Carlito" pitchFamily="34" charset="0"/>
                <a:ea typeface="Carlito" pitchFamily="34" charset="-122"/>
                <a:cs typeface="Carlito" pitchFamily="34" charset="-120"/>
              </a:rPr>
              <a:t>XGBoost with depth/learning-rate scan</a:t>
            </a:r>
            <a:endParaRPr lang="en-US" sz="800" dirty="0"/>
          </a:p>
          <a:p>
            <a:pPr algn="l" indent="0" marL="0">
              <a:lnSpc>
                <a:spcPts val="1003"/>
              </a:lnSpc>
              <a:buNone/>
            </a:pPr>
            <a:r>
              <a:rPr lang="en-US" sz="600" dirty="0">
                <a:solidFill>
                  <a:srgbClr val="14B8A6"/>
                </a:solidFill>
                <a:latin typeface="Carlito" pitchFamily="34" charset="0"/>
                <a:ea typeface="Carlito" pitchFamily="34" charset="-122"/>
                <a:cs typeface="Carlito" pitchFamily="34" charset="-120"/>
              </a:rPr>
              <a:t>●  </a:t>
            </a:r>
            <a:pPr algn="l" indent="0" marL="0">
              <a:lnSpc>
                <a:spcPts val="1003"/>
              </a:lnSpc>
              <a:buNone/>
            </a:pPr>
            <a:r>
              <a:rPr lang="en-US" sz="800" dirty="0">
                <a:solidFill>
                  <a:srgbClr val="5B6B82"/>
                </a:solidFill>
                <a:latin typeface="Carlito" pitchFamily="34" charset="0"/>
                <a:ea typeface="Carlito" pitchFamily="34" charset="-122"/>
                <a:cs typeface="Carlito" pitchFamily="34" charset="-120"/>
              </a:rPr>
              <a:t>5-fold cross-validation on training fold</a:t>
            </a:r>
            <a:endParaRPr lang="en-US" sz="800" dirty="0"/>
          </a:p>
          <a:p>
            <a:pPr algn="l" indent="0" marL="0">
              <a:lnSpc>
                <a:spcPts val="1003"/>
              </a:lnSpc>
              <a:buNone/>
            </a:pPr>
            <a:r>
              <a:rPr lang="en-US" sz="600" dirty="0">
                <a:solidFill>
                  <a:srgbClr val="14B8A6"/>
                </a:solidFill>
                <a:latin typeface="Carlito" pitchFamily="34" charset="0"/>
                <a:ea typeface="Carlito" pitchFamily="34" charset="-122"/>
                <a:cs typeface="Carlito" pitchFamily="34" charset="-120"/>
              </a:rPr>
              <a:t>●  </a:t>
            </a:r>
            <a:pPr algn="l" indent="0" marL="0">
              <a:lnSpc>
                <a:spcPts val="1003"/>
              </a:lnSpc>
              <a:buNone/>
            </a:pPr>
            <a:r>
              <a:rPr lang="en-US" sz="800" dirty="0">
                <a:solidFill>
                  <a:srgbClr val="5B6B82"/>
                </a:solidFill>
                <a:latin typeface="Carlito" pitchFamily="34" charset="0"/>
                <a:ea typeface="Carlito" pitchFamily="34" charset="-122"/>
                <a:cs typeface="Carlito" pitchFamily="34" charset="-120"/>
              </a:rPr>
              <a:t>Per-class Precision, Recall, F1, Accuracy reported</a:t>
            </a:r>
            <a:endParaRPr lang="en-US" sz="800" dirty="0"/>
          </a:p>
        </p:txBody>
      </p:sp>
      <p:sp>
        <p:nvSpPr>
          <p:cNvPr id="84" name="Text 82"/>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M-DAS ITC 2026</a:t>
            </a:r>
            <a:endParaRPr lang="en-US" sz="800" dirty="0"/>
          </a:p>
        </p:txBody>
      </p:sp>
      <p:sp>
        <p:nvSpPr>
          <p:cNvPr id="85" name="Text 83"/>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13 / 34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19015"/>
          </a:xfrm>
          <a:prstGeom prst="rect">
            <a:avLst/>
          </a:prstGeom>
          <a:noFill/>
          <a:ln/>
        </p:spPr>
        <p:txBody>
          <a:bodyPr wrap="square" lIns="0" tIns="0" rIns="0" bIns="0" rtlCol="0" anchor="t">
            <a:normAutofit/>
          </a:bodyPr>
          <a:lstStyle/>
          <a:p>
            <a:pPr algn="l" indent="0" marL="0">
              <a:lnSpc>
                <a:spcPts val="928"/>
              </a:lnSpc>
              <a:buNone/>
            </a:pPr>
            <a:r>
              <a:rPr lang="en-US" sz="800" b="1" spc="136" kern="0" dirty="0">
                <a:solidFill>
                  <a:srgbClr val="14B8A6"/>
                </a:solidFill>
                <a:latin typeface="Carlito" pitchFamily="34" charset="0"/>
                <a:ea typeface="Carlito" pitchFamily="34" charset="-122"/>
                <a:cs typeface="Carlito" pitchFamily="34" charset="-120"/>
              </a:rPr>
              <a:t>METHODOLOGY · FRAME SELECTION</a:t>
            </a:r>
            <a:endParaRPr lang="en-US" sz="800" dirty="0"/>
          </a:p>
        </p:txBody>
      </p:sp>
      <p:sp>
        <p:nvSpPr>
          <p:cNvPr id="3" name="Text 1"/>
          <p:cNvSpPr/>
          <p:nvPr/>
        </p:nvSpPr>
        <p:spPr>
          <a:xfrm>
            <a:off x="457200" y="546497"/>
            <a:ext cx="8636000" cy="303413"/>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How Frames Are Extracted and Selected Per Clip</a:t>
            </a:r>
            <a:endParaRPr lang="en-US" sz="2025" dirty="0"/>
          </a:p>
        </p:txBody>
      </p:sp>
      <p:sp>
        <p:nvSpPr>
          <p:cNvPr id="4" name="Text 2"/>
          <p:cNvSpPr/>
          <p:nvPr/>
        </p:nvSpPr>
        <p:spPr>
          <a:xfrm>
            <a:off x="457200" y="877342"/>
            <a:ext cx="6572250" cy="339999"/>
          </a:xfrm>
          <a:prstGeom prst="rect">
            <a:avLst/>
          </a:prstGeom>
          <a:noFill/>
          <a:ln/>
        </p:spPr>
        <p:txBody>
          <a:bodyPr wrap="square" lIns="0" tIns="0" rIns="0" bIns="0" rtlCol="0" anchor="t"/>
          <a:lstStyle/>
          <a:p>
            <a:pPr algn="l" indent="0" marL="0">
              <a:lnSpc>
                <a:spcPts val="1133"/>
              </a:lnSpc>
              <a:buNone/>
            </a:pPr>
            <a:r>
              <a:rPr lang="en-US" sz="800" dirty="0">
                <a:solidFill>
                  <a:srgbClr val="5B6B82"/>
                </a:solidFill>
                <a:latin typeface="Carlito" pitchFamily="34" charset="0"/>
                <a:ea typeface="Carlito" pitchFamily="34" charset="-122"/>
                <a:cs typeface="Carlito" pitchFamily="34" charset="-120"/>
              </a:rPr>
              <a:t>Raw DAiSEE video is 30 fps with variable clip duration. We downsample to 15 fps and standardize every clip to 150 frames — about 10 seconds of behavior — to balance temporal resolution against compute cost.</a:t>
            </a:r>
            <a:endParaRPr lang="en-US" sz="800" dirty="0"/>
          </a:p>
        </p:txBody>
      </p:sp>
      <p:sp>
        <p:nvSpPr>
          <p:cNvPr id="5" name="Text 3"/>
          <p:cNvSpPr/>
          <p:nvPr/>
        </p:nvSpPr>
        <p:spPr>
          <a:xfrm>
            <a:off x="460772" y="1282973"/>
            <a:ext cx="4432697" cy="598289"/>
          </a:xfrm>
          <a:prstGeom prst="roundRect">
            <a:avLst>
              <a:gd name="adj" fmla="val 1592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6" name="Text 4"/>
          <p:cNvSpPr/>
          <p:nvPr/>
        </p:nvSpPr>
        <p:spPr>
          <a:xfrm>
            <a:off x="564356" y="1372270"/>
            <a:ext cx="271463" cy="271463"/>
          </a:xfrm>
          <a:prstGeom prst="roundRect">
            <a:avLst>
              <a:gd name="adj" fmla="val 28070"/>
            </a:avLst>
          </a:prstGeom>
          <a:solidFill>
            <a:srgbClr val="EEF3F8"/>
          </a:solidFill>
          <a:ln/>
        </p:spPr>
        <p:txBody>
          <a:bodyPr wrap="square" rtlCol="0" anchor="ctr"/>
          <a:lstStyle/>
          <a:p>
            <a:pPr indent="0" marL="0">
              <a:buNone/>
            </a:pPr>
            <a:endParaRPr lang="en-US" dirty="0"/>
          </a:p>
        </p:txBody>
      </p:sp>
      <p:sp>
        <p:nvSpPr>
          <p:cNvPr id="7" name="Text 5"/>
          <p:cNvSpPr/>
          <p:nvPr/>
        </p:nvSpPr>
        <p:spPr>
          <a:xfrm>
            <a:off x="564356" y="1372270"/>
            <a:ext cx="271463" cy="271463"/>
          </a:xfrm>
          <a:prstGeom prst="rect">
            <a:avLst/>
          </a:prstGeom>
          <a:noFill/>
          <a:ln/>
        </p:spPr>
        <p:txBody>
          <a:bodyPr wrap="none" lIns="0" tIns="0" rIns="0" bIns="0" rtlCol="0" anchor="ctr"/>
          <a:lstStyle/>
          <a:p>
            <a:pPr algn="ctr" indent="0" marL="0">
              <a:lnSpc>
                <a:spcPts val="1181"/>
              </a:lnSpc>
              <a:buNone/>
            </a:pPr>
            <a:r>
              <a:rPr lang="en-US" sz="800" b="1" spc="39" kern="0" dirty="0">
                <a:solidFill>
                  <a:srgbClr val="0F766E"/>
                </a:solidFill>
                <a:latin typeface="Liberation Sans Narrow" pitchFamily="34" charset="0"/>
                <a:ea typeface="Liberation Sans Narrow" pitchFamily="34" charset="-122"/>
                <a:cs typeface="Liberation Sans Narrow" pitchFamily="34" charset="-120"/>
              </a:rPr>
              <a:t>01</a:t>
            </a:r>
            <a:endParaRPr lang="en-US" sz="800" dirty="0"/>
          </a:p>
        </p:txBody>
      </p:sp>
      <p:sp>
        <p:nvSpPr>
          <p:cNvPr id="8" name="Text 6"/>
          <p:cNvSpPr/>
          <p:nvPr/>
        </p:nvSpPr>
        <p:spPr>
          <a:xfrm>
            <a:off x="1092994" y="1386557"/>
            <a:ext cx="1906209" cy="130048"/>
          </a:xfrm>
          <a:prstGeom prst="rect">
            <a:avLst/>
          </a:prstGeom>
          <a:noFill/>
          <a:ln/>
        </p:spPr>
        <p:txBody>
          <a:bodyPr wrap="none" lIns="0" tIns="0" rIns="0" bIns="0" rtlCol="0" anchor="t"/>
          <a:lstStyle/>
          <a:p>
            <a:pPr algn="l" indent="0" marL="0">
              <a:lnSpc>
                <a:spcPts val="1139"/>
              </a:lnSpc>
              <a:buNone/>
            </a:pPr>
            <a:r>
              <a:rPr lang="en-US" sz="800" b="1" spc="-4" kern="0" dirty="0">
                <a:solidFill>
                  <a:srgbClr val="0F1F3D"/>
                </a:solidFill>
                <a:latin typeface="Liberation Sans Narrow" pitchFamily="34" charset="0"/>
                <a:ea typeface="Liberation Sans Narrow" pitchFamily="34" charset="-122"/>
                <a:cs typeface="Liberation Sans Narrow" pitchFamily="34" charset="-120"/>
              </a:rPr>
              <a:t>30 fps → 15 fps downsample</a:t>
            </a:r>
            <a:endParaRPr lang="en-US" sz="800" dirty="0"/>
          </a:p>
        </p:txBody>
      </p:sp>
      <p:sp>
        <p:nvSpPr>
          <p:cNvPr id="9" name="Text 7"/>
          <p:cNvSpPr/>
          <p:nvPr/>
        </p:nvSpPr>
        <p:spPr>
          <a:xfrm>
            <a:off x="921544" y="1545506"/>
            <a:ext cx="3868341" cy="246459"/>
          </a:xfrm>
          <a:prstGeom prst="rect">
            <a:avLst/>
          </a:prstGeom>
          <a:noFill/>
          <a:ln/>
        </p:spPr>
        <p:txBody>
          <a:bodyPr wrap="square" lIns="0" tIns="0" rIns="0" bIns="0" rtlCol="0" anchor="t"/>
          <a:lstStyle/>
          <a:p>
            <a:pPr algn="l" indent="0" marL="0">
              <a:lnSpc>
                <a:spcPts val="970"/>
              </a:lnSpc>
              <a:buNone/>
            </a:pPr>
            <a:r>
              <a:rPr lang="en-US" sz="800" dirty="0">
                <a:solidFill>
                  <a:srgbClr val="5B6B82"/>
                </a:solidFill>
                <a:latin typeface="Carlito" pitchFamily="34" charset="0"/>
                <a:ea typeface="Carlito" pitchFamily="34" charset="-122"/>
                <a:cs typeface="Carlito" pitchFamily="34" charset="-120"/>
              </a:rPr>
              <a:t>Skip every other frame from the original 30 fps recording. Halves compute without losing meaningful expression dynamics (most facial actions live below 5 Hz).</a:t>
            </a:r>
            <a:endParaRPr lang="en-US" sz="800" dirty="0"/>
          </a:p>
        </p:txBody>
      </p:sp>
      <p:sp>
        <p:nvSpPr>
          <p:cNvPr id="10" name="Text 8"/>
          <p:cNvSpPr/>
          <p:nvPr/>
        </p:nvSpPr>
        <p:spPr>
          <a:xfrm>
            <a:off x="2669977" y="1913409"/>
            <a:ext cx="14288" cy="100013"/>
          </a:xfrm>
          <a:prstGeom prst="rect">
            <a:avLst/>
          </a:prstGeom>
          <a:solidFill>
            <a:srgbClr val="14B8A6"/>
          </a:solidFill>
          <a:ln/>
        </p:spPr>
        <p:txBody>
          <a:bodyPr wrap="square" rtlCol="0" anchor="ctr"/>
          <a:lstStyle/>
          <a:p>
            <a:pPr indent="0" marL="0">
              <a:buNone/>
            </a:pPr>
            <a:endParaRPr lang="en-US" dirty="0"/>
          </a:p>
        </p:txBody>
      </p:sp>
      <p:sp>
        <p:nvSpPr>
          <p:cNvPr id="11" name="Text 9"/>
          <p:cNvSpPr/>
          <p:nvPr/>
        </p:nvSpPr>
        <p:spPr>
          <a:xfrm>
            <a:off x="460772" y="2045568"/>
            <a:ext cx="4432697" cy="598289"/>
          </a:xfrm>
          <a:prstGeom prst="roundRect">
            <a:avLst>
              <a:gd name="adj" fmla="val 1592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12" name="Text 10"/>
          <p:cNvSpPr/>
          <p:nvPr/>
        </p:nvSpPr>
        <p:spPr>
          <a:xfrm>
            <a:off x="564356" y="2134865"/>
            <a:ext cx="271463" cy="271463"/>
          </a:xfrm>
          <a:prstGeom prst="roundRect">
            <a:avLst>
              <a:gd name="adj" fmla="val 28070"/>
            </a:avLst>
          </a:prstGeom>
          <a:solidFill>
            <a:srgbClr val="EEF3F8"/>
          </a:solidFill>
          <a:ln/>
        </p:spPr>
        <p:txBody>
          <a:bodyPr wrap="square" rtlCol="0" anchor="ctr"/>
          <a:lstStyle/>
          <a:p>
            <a:pPr indent="0" marL="0">
              <a:buNone/>
            </a:pPr>
            <a:endParaRPr lang="en-US" dirty="0"/>
          </a:p>
        </p:txBody>
      </p:sp>
      <p:sp>
        <p:nvSpPr>
          <p:cNvPr id="13" name="Text 11"/>
          <p:cNvSpPr/>
          <p:nvPr/>
        </p:nvSpPr>
        <p:spPr>
          <a:xfrm>
            <a:off x="564356" y="2134865"/>
            <a:ext cx="271463" cy="271463"/>
          </a:xfrm>
          <a:prstGeom prst="rect">
            <a:avLst/>
          </a:prstGeom>
          <a:noFill/>
          <a:ln/>
        </p:spPr>
        <p:txBody>
          <a:bodyPr wrap="none" lIns="0" tIns="0" rIns="0" bIns="0" rtlCol="0" anchor="ctr"/>
          <a:lstStyle/>
          <a:p>
            <a:pPr algn="ctr" indent="0" marL="0">
              <a:lnSpc>
                <a:spcPts val="1181"/>
              </a:lnSpc>
              <a:buNone/>
            </a:pPr>
            <a:r>
              <a:rPr lang="en-US" sz="800" b="1" spc="39" kern="0" dirty="0">
                <a:solidFill>
                  <a:srgbClr val="0F766E"/>
                </a:solidFill>
                <a:latin typeface="Liberation Sans Narrow" pitchFamily="34" charset="0"/>
                <a:ea typeface="Liberation Sans Narrow" pitchFamily="34" charset="-122"/>
                <a:cs typeface="Liberation Sans Narrow" pitchFamily="34" charset="-120"/>
              </a:rPr>
              <a:t>02</a:t>
            </a:r>
            <a:endParaRPr lang="en-US" sz="800" dirty="0"/>
          </a:p>
        </p:txBody>
      </p:sp>
      <p:sp>
        <p:nvSpPr>
          <p:cNvPr id="14" name="Text 12"/>
          <p:cNvSpPr/>
          <p:nvPr/>
        </p:nvSpPr>
        <p:spPr>
          <a:xfrm>
            <a:off x="1092994" y="2149153"/>
            <a:ext cx="1836167" cy="130048"/>
          </a:xfrm>
          <a:prstGeom prst="rect">
            <a:avLst/>
          </a:prstGeom>
          <a:noFill/>
          <a:ln/>
        </p:spPr>
        <p:txBody>
          <a:bodyPr wrap="none" lIns="0" tIns="0" rIns="0" bIns="0" rtlCol="0" anchor="t"/>
          <a:lstStyle/>
          <a:p>
            <a:pPr algn="l" indent="0" marL="0">
              <a:lnSpc>
                <a:spcPts val="1139"/>
              </a:lnSpc>
              <a:buNone/>
            </a:pPr>
            <a:r>
              <a:rPr lang="en-US" sz="800" b="1" spc="-4" kern="0" dirty="0">
                <a:solidFill>
                  <a:srgbClr val="0F1F3D"/>
                </a:solidFill>
                <a:latin typeface="Liberation Sans Narrow" pitchFamily="34" charset="0"/>
                <a:ea typeface="Liberation Sans Narrow" pitchFamily="34" charset="-122"/>
                <a:cs typeface="Liberation Sans Narrow" pitchFamily="34" charset="-120"/>
              </a:rPr>
              <a:t>Uniform 150-frame window</a:t>
            </a:r>
            <a:endParaRPr lang="en-US" sz="800" dirty="0"/>
          </a:p>
        </p:txBody>
      </p:sp>
      <p:sp>
        <p:nvSpPr>
          <p:cNvPr id="15" name="Text 13"/>
          <p:cNvSpPr/>
          <p:nvPr/>
        </p:nvSpPr>
        <p:spPr>
          <a:xfrm>
            <a:off x="921544" y="2308101"/>
            <a:ext cx="3868341" cy="246459"/>
          </a:xfrm>
          <a:prstGeom prst="rect">
            <a:avLst/>
          </a:prstGeom>
          <a:noFill/>
          <a:ln/>
        </p:spPr>
        <p:txBody>
          <a:bodyPr wrap="square" lIns="0" tIns="0" rIns="0" bIns="0" rtlCol="0" anchor="t"/>
          <a:lstStyle/>
          <a:p>
            <a:pPr algn="l" indent="0" marL="0">
              <a:lnSpc>
                <a:spcPts val="970"/>
              </a:lnSpc>
              <a:buNone/>
            </a:pPr>
            <a:r>
              <a:rPr lang="en-US" sz="800" dirty="0">
                <a:solidFill>
                  <a:srgbClr val="5B6B82"/>
                </a:solidFill>
                <a:latin typeface="Carlito" pitchFamily="34" charset="0"/>
                <a:ea typeface="Carlito" pitchFamily="34" charset="-122"/>
                <a:cs typeface="Carlito" pitchFamily="34" charset="-120"/>
              </a:rPr>
              <a:t>For clips longer than 150 frames (~10 s at 15 fps), select frames at regular intervals to preserve temporal structure. 150 frames was chosen via ablation (see Slide 28).</a:t>
            </a:r>
            <a:endParaRPr lang="en-US" sz="800" dirty="0"/>
          </a:p>
        </p:txBody>
      </p:sp>
      <p:sp>
        <p:nvSpPr>
          <p:cNvPr id="16" name="Text 14"/>
          <p:cNvSpPr/>
          <p:nvPr/>
        </p:nvSpPr>
        <p:spPr>
          <a:xfrm>
            <a:off x="2669977" y="2676004"/>
            <a:ext cx="14288" cy="100013"/>
          </a:xfrm>
          <a:prstGeom prst="rect">
            <a:avLst/>
          </a:prstGeom>
          <a:solidFill>
            <a:srgbClr val="14B8A6"/>
          </a:solidFill>
          <a:ln/>
        </p:spPr>
        <p:txBody>
          <a:bodyPr wrap="square" rtlCol="0" anchor="ctr"/>
          <a:lstStyle/>
          <a:p>
            <a:pPr indent="0" marL="0">
              <a:buNone/>
            </a:pPr>
            <a:endParaRPr lang="en-US" dirty="0"/>
          </a:p>
        </p:txBody>
      </p:sp>
      <p:sp>
        <p:nvSpPr>
          <p:cNvPr id="17" name="Text 15"/>
          <p:cNvSpPr/>
          <p:nvPr/>
        </p:nvSpPr>
        <p:spPr>
          <a:xfrm>
            <a:off x="460772" y="2808163"/>
            <a:ext cx="4432697" cy="598289"/>
          </a:xfrm>
          <a:prstGeom prst="roundRect">
            <a:avLst>
              <a:gd name="adj" fmla="val 1592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18" name="Text 16"/>
          <p:cNvSpPr/>
          <p:nvPr/>
        </p:nvSpPr>
        <p:spPr>
          <a:xfrm>
            <a:off x="564356" y="2897460"/>
            <a:ext cx="271463" cy="271463"/>
          </a:xfrm>
          <a:prstGeom prst="roundRect">
            <a:avLst>
              <a:gd name="adj" fmla="val 28070"/>
            </a:avLst>
          </a:prstGeom>
          <a:solidFill>
            <a:srgbClr val="EEF3F8"/>
          </a:solidFill>
          <a:ln/>
        </p:spPr>
        <p:txBody>
          <a:bodyPr wrap="square" rtlCol="0" anchor="ctr"/>
          <a:lstStyle/>
          <a:p>
            <a:pPr indent="0" marL="0">
              <a:buNone/>
            </a:pPr>
            <a:endParaRPr lang="en-US" dirty="0"/>
          </a:p>
        </p:txBody>
      </p:sp>
      <p:sp>
        <p:nvSpPr>
          <p:cNvPr id="19" name="Text 17"/>
          <p:cNvSpPr/>
          <p:nvPr/>
        </p:nvSpPr>
        <p:spPr>
          <a:xfrm>
            <a:off x="564356" y="2897460"/>
            <a:ext cx="271463" cy="271463"/>
          </a:xfrm>
          <a:prstGeom prst="rect">
            <a:avLst/>
          </a:prstGeom>
          <a:noFill/>
          <a:ln/>
        </p:spPr>
        <p:txBody>
          <a:bodyPr wrap="none" lIns="0" tIns="0" rIns="0" bIns="0" rtlCol="0" anchor="ctr"/>
          <a:lstStyle/>
          <a:p>
            <a:pPr algn="ctr" indent="0" marL="0">
              <a:lnSpc>
                <a:spcPts val="1181"/>
              </a:lnSpc>
              <a:buNone/>
            </a:pPr>
            <a:r>
              <a:rPr lang="en-US" sz="800" b="1" spc="39" kern="0" dirty="0">
                <a:solidFill>
                  <a:srgbClr val="0F766E"/>
                </a:solidFill>
                <a:latin typeface="Liberation Sans Narrow" pitchFamily="34" charset="0"/>
                <a:ea typeface="Liberation Sans Narrow" pitchFamily="34" charset="-122"/>
                <a:cs typeface="Liberation Sans Narrow" pitchFamily="34" charset="-120"/>
              </a:rPr>
              <a:t>03</a:t>
            </a:r>
            <a:endParaRPr lang="en-US" sz="800" dirty="0"/>
          </a:p>
        </p:txBody>
      </p:sp>
      <p:sp>
        <p:nvSpPr>
          <p:cNvPr id="20" name="Text 18"/>
          <p:cNvSpPr/>
          <p:nvPr/>
        </p:nvSpPr>
        <p:spPr>
          <a:xfrm>
            <a:off x="1092994" y="2911748"/>
            <a:ext cx="2027273" cy="130048"/>
          </a:xfrm>
          <a:prstGeom prst="rect">
            <a:avLst/>
          </a:prstGeom>
          <a:noFill/>
          <a:ln/>
        </p:spPr>
        <p:txBody>
          <a:bodyPr wrap="square" lIns="0" tIns="0" rIns="0" bIns="0" rtlCol="0" anchor="t"/>
          <a:lstStyle/>
          <a:p>
            <a:pPr algn="l" indent="0" marL="0">
              <a:lnSpc>
                <a:spcPts val="1139"/>
              </a:lnSpc>
              <a:buNone/>
            </a:pPr>
            <a:r>
              <a:rPr lang="en-US" sz="800" b="1" spc="-4" kern="0" dirty="0">
                <a:solidFill>
                  <a:srgbClr val="0F1F3D"/>
                </a:solidFill>
                <a:latin typeface="Carlito" pitchFamily="34" charset="0"/>
                <a:ea typeface="Carlito" pitchFamily="34" charset="-122"/>
                <a:cs typeface="Carlito" pitchFamily="34" charset="-120"/>
              </a:rPr>
              <a:t>Last-frame padding for short clips</a:t>
            </a:r>
            <a:endParaRPr lang="en-US" sz="800" dirty="0"/>
          </a:p>
        </p:txBody>
      </p:sp>
      <p:sp>
        <p:nvSpPr>
          <p:cNvPr id="21" name="Text 19"/>
          <p:cNvSpPr/>
          <p:nvPr/>
        </p:nvSpPr>
        <p:spPr>
          <a:xfrm>
            <a:off x="921544" y="3070696"/>
            <a:ext cx="3868341" cy="246459"/>
          </a:xfrm>
          <a:prstGeom prst="rect">
            <a:avLst/>
          </a:prstGeom>
          <a:noFill/>
          <a:ln/>
        </p:spPr>
        <p:txBody>
          <a:bodyPr wrap="square" lIns="0" tIns="0" rIns="0" bIns="0" rtlCol="0" anchor="t"/>
          <a:lstStyle/>
          <a:p>
            <a:pPr algn="l" indent="0" marL="0">
              <a:lnSpc>
                <a:spcPts val="970"/>
              </a:lnSpc>
              <a:buNone/>
            </a:pPr>
            <a:r>
              <a:rPr lang="en-US" sz="800" dirty="0">
                <a:solidFill>
                  <a:srgbClr val="5B6B82"/>
                </a:solidFill>
                <a:latin typeface="Carlito" pitchFamily="34" charset="0"/>
                <a:ea typeface="Carlito" pitchFamily="34" charset="-122"/>
                <a:cs typeface="Carlito" pitchFamily="34" charset="-120"/>
              </a:rPr>
              <a:t>For clips shorter than 150 frames, repeat the final frame to maintain sequence length. This preserves the input dimensionality expected by downstream feature engineering.</a:t>
            </a:r>
            <a:endParaRPr lang="en-US" sz="800" dirty="0"/>
          </a:p>
        </p:txBody>
      </p:sp>
      <p:sp>
        <p:nvSpPr>
          <p:cNvPr id="22" name="Text 20"/>
          <p:cNvSpPr/>
          <p:nvPr/>
        </p:nvSpPr>
        <p:spPr>
          <a:xfrm>
            <a:off x="2669977" y="3438599"/>
            <a:ext cx="14288" cy="100013"/>
          </a:xfrm>
          <a:prstGeom prst="rect">
            <a:avLst/>
          </a:prstGeom>
          <a:solidFill>
            <a:srgbClr val="14B8A6"/>
          </a:solidFill>
          <a:ln/>
        </p:spPr>
        <p:txBody>
          <a:bodyPr wrap="square" rtlCol="0" anchor="ctr"/>
          <a:lstStyle/>
          <a:p>
            <a:pPr indent="0" marL="0">
              <a:buNone/>
            </a:pPr>
            <a:endParaRPr lang="en-US" dirty="0"/>
          </a:p>
        </p:txBody>
      </p:sp>
      <p:sp>
        <p:nvSpPr>
          <p:cNvPr id="23" name="Text 21"/>
          <p:cNvSpPr/>
          <p:nvPr/>
        </p:nvSpPr>
        <p:spPr>
          <a:xfrm>
            <a:off x="460772" y="3570759"/>
            <a:ext cx="4432697" cy="721519"/>
          </a:xfrm>
          <a:prstGeom prst="roundRect">
            <a:avLst>
              <a:gd name="adj" fmla="val 13201"/>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24" name="Text 22"/>
          <p:cNvSpPr/>
          <p:nvPr/>
        </p:nvSpPr>
        <p:spPr>
          <a:xfrm>
            <a:off x="564356" y="3660056"/>
            <a:ext cx="271463" cy="271463"/>
          </a:xfrm>
          <a:prstGeom prst="roundRect">
            <a:avLst>
              <a:gd name="adj" fmla="val 28070"/>
            </a:avLst>
          </a:prstGeom>
          <a:solidFill>
            <a:srgbClr val="EEF3F8"/>
          </a:solidFill>
          <a:ln/>
        </p:spPr>
        <p:txBody>
          <a:bodyPr wrap="square" rtlCol="0" anchor="ctr"/>
          <a:lstStyle/>
          <a:p>
            <a:pPr indent="0" marL="0">
              <a:buNone/>
            </a:pPr>
            <a:endParaRPr lang="en-US" dirty="0"/>
          </a:p>
        </p:txBody>
      </p:sp>
      <p:sp>
        <p:nvSpPr>
          <p:cNvPr id="25" name="Text 23"/>
          <p:cNvSpPr/>
          <p:nvPr/>
        </p:nvSpPr>
        <p:spPr>
          <a:xfrm>
            <a:off x="564356" y="3660056"/>
            <a:ext cx="271463" cy="271463"/>
          </a:xfrm>
          <a:prstGeom prst="rect">
            <a:avLst/>
          </a:prstGeom>
          <a:noFill/>
          <a:ln/>
        </p:spPr>
        <p:txBody>
          <a:bodyPr wrap="none" lIns="0" tIns="0" rIns="0" bIns="0" rtlCol="0" anchor="ctr"/>
          <a:lstStyle/>
          <a:p>
            <a:pPr algn="ctr" indent="0" marL="0">
              <a:lnSpc>
                <a:spcPts val="1181"/>
              </a:lnSpc>
              <a:buNone/>
            </a:pPr>
            <a:r>
              <a:rPr lang="en-US" sz="800" b="1" spc="39" kern="0" dirty="0">
                <a:solidFill>
                  <a:srgbClr val="0F766E"/>
                </a:solidFill>
                <a:latin typeface="Liberation Sans Narrow" pitchFamily="34" charset="0"/>
                <a:ea typeface="Liberation Sans Narrow" pitchFamily="34" charset="-122"/>
                <a:cs typeface="Liberation Sans Narrow" pitchFamily="34" charset="-120"/>
              </a:rPr>
              <a:t>04</a:t>
            </a:r>
            <a:endParaRPr lang="en-US" sz="800" dirty="0"/>
          </a:p>
        </p:txBody>
      </p:sp>
      <p:sp>
        <p:nvSpPr>
          <p:cNvPr id="26" name="Text 24"/>
          <p:cNvSpPr/>
          <p:nvPr/>
        </p:nvSpPr>
        <p:spPr>
          <a:xfrm>
            <a:off x="1092994" y="3674343"/>
            <a:ext cx="1585604" cy="130048"/>
          </a:xfrm>
          <a:prstGeom prst="rect">
            <a:avLst/>
          </a:prstGeom>
          <a:noFill/>
          <a:ln/>
        </p:spPr>
        <p:txBody>
          <a:bodyPr wrap="none" lIns="0" tIns="0" rIns="0" bIns="0" rtlCol="0" anchor="t"/>
          <a:lstStyle/>
          <a:p>
            <a:pPr algn="l" indent="0" marL="0">
              <a:lnSpc>
                <a:spcPts val="1139"/>
              </a:lnSpc>
              <a:buNone/>
            </a:pPr>
            <a:r>
              <a:rPr lang="en-US" sz="800" b="1" spc="-4" kern="0" dirty="0">
                <a:solidFill>
                  <a:srgbClr val="0F1F3D"/>
                </a:solidFill>
                <a:latin typeface="Carlito" pitchFamily="34" charset="0"/>
                <a:ea typeface="Carlito" pitchFamily="34" charset="-122"/>
                <a:cs typeface="Carlito" pitchFamily="34" charset="-120"/>
              </a:rPr>
              <a:t>Missing-detection handling</a:t>
            </a:r>
            <a:endParaRPr lang="en-US" sz="800" dirty="0"/>
          </a:p>
        </p:txBody>
      </p:sp>
      <p:sp>
        <p:nvSpPr>
          <p:cNvPr id="27" name="Text 25"/>
          <p:cNvSpPr/>
          <p:nvPr/>
        </p:nvSpPr>
        <p:spPr>
          <a:xfrm>
            <a:off x="921544" y="3833292"/>
            <a:ext cx="3868341" cy="369689"/>
          </a:xfrm>
          <a:prstGeom prst="rect">
            <a:avLst/>
          </a:prstGeom>
          <a:noFill/>
          <a:ln/>
        </p:spPr>
        <p:txBody>
          <a:bodyPr wrap="square" lIns="0" tIns="0" rIns="0" bIns="0" rtlCol="0" anchor="t"/>
          <a:lstStyle/>
          <a:p>
            <a:pPr algn="l" indent="0" marL="0">
              <a:lnSpc>
                <a:spcPts val="970"/>
              </a:lnSpc>
              <a:buNone/>
            </a:pPr>
            <a:r>
              <a:rPr lang="en-US" sz="800" dirty="0">
                <a:solidFill>
                  <a:srgbClr val="5B6B82"/>
                </a:solidFill>
                <a:latin typeface="Carlito" pitchFamily="34" charset="0"/>
                <a:ea typeface="Carlito" pitchFamily="34" charset="-122"/>
                <a:cs typeface="Carlito" pitchFamily="34" charset="-120"/>
              </a:rPr>
              <a:t>Clips with zero face detections are excluded. Clips with partial detections must retain at least 150 frames with valid face features — quality control that ensures reliable feature representations.</a:t>
            </a:r>
            <a:endParaRPr lang="en-US" sz="800" dirty="0"/>
          </a:p>
        </p:txBody>
      </p:sp>
      <p:sp>
        <p:nvSpPr>
          <p:cNvPr id="28" name="Text 26"/>
          <p:cNvSpPr/>
          <p:nvPr/>
        </p:nvSpPr>
        <p:spPr>
          <a:xfrm>
            <a:off x="5054203" y="1279401"/>
            <a:ext cx="3632597" cy="1257523"/>
          </a:xfrm>
          <a:prstGeom prst="roundRect">
            <a:avLst>
              <a:gd name="adj" fmla="val 9089"/>
            </a:avLst>
          </a:prstGeom>
          <a:solidFill>
            <a:srgbClr val="EEF3F8"/>
          </a:solidFill>
          <a:ln/>
        </p:spPr>
        <p:txBody>
          <a:bodyPr wrap="square" rtlCol="0" anchor="ctr"/>
          <a:lstStyle/>
          <a:p>
            <a:pPr indent="0" marL="0">
              <a:buNone/>
            </a:pPr>
            <a:endParaRPr lang="en-US" dirty="0"/>
          </a:p>
        </p:txBody>
      </p:sp>
      <p:sp>
        <p:nvSpPr>
          <p:cNvPr id="29" name="Shape 27"/>
          <p:cNvSpPr/>
          <p:nvPr/>
        </p:nvSpPr>
        <p:spPr>
          <a:xfrm>
            <a:off x="5054203" y="1282973"/>
            <a:ext cx="3632597" cy="0"/>
          </a:xfrm>
          <a:prstGeom prst="line">
            <a:avLst/>
          </a:prstGeom>
          <a:noFill/>
          <a:ln w="7144">
            <a:solidFill>
              <a:srgbClr val="D9E1EC"/>
            </a:solidFill>
            <a:prstDash val="solid"/>
          </a:ln>
        </p:spPr>
      </p:sp>
      <p:sp>
        <p:nvSpPr>
          <p:cNvPr id="30" name="Shape 28"/>
          <p:cNvSpPr/>
          <p:nvPr/>
        </p:nvSpPr>
        <p:spPr>
          <a:xfrm>
            <a:off x="8683228" y="1279401"/>
            <a:ext cx="0" cy="1257523"/>
          </a:xfrm>
          <a:prstGeom prst="line">
            <a:avLst/>
          </a:prstGeom>
          <a:noFill/>
          <a:ln w="7144">
            <a:solidFill>
              <a:srgbClr val="D9E1EC"/>
            </a:solidFill>
            <a:prstDash val="solid"/>
          </a:ln>
        </p:spPr>
      </p:sp>
      <p:sp>
        <p:nvSpPr>
          <p:cNvPr id="31" name="Shape 29"/>
          <p:cNvSpPr/>
          <p:nvPr/>
        </p:nvSpPr>
        <p:spPr>
          <a:xfrm>
            <a:off x="5054203" y="2533352"/>
            <a:ext cx="3632597" cy="0"/>
          </a:xfrm>
          <a:prstGeom prst="line">
            <a:avLst/>
          </a:prstGeom>
          <a:noFill/>
          <a:ln w="7144">
            <a:solidFill>
              <a:srgbClr val="D9E1EC"/>
            </a:solidFill>
            <a:prstDash val="solid"/>
          </a:ln>
        </p:spPr>
      </p:sp>
      <p:sp>
        <p:nvSpPr>
          <p:cNvPr id="32" name="Shape 30"/>
          <p:cNvSpPr/>
          <p:nvPr/>
        </p:nvSpPr>
        <p:spPr>
          <a:xfrm>
            <a:off x="5064919" y="1279401"/>
            <a:ext cx="0" cy="1257523"/>
          </a:xfrm>
          <a:prstGeom prst="line">
            <a:avLst/>
          </a:prstGeom>
          <a:noFill/>
          <a:ln w="21431">
            <a:solidFill>
              <a:srgbClr val="14B8A6"/>
            </a:solidFill>
            <a:prstDash val="solid"/>
          </a:ln>
        </p:spPr>
      </p:sp>
      <p:sp>
        <p:nvSpPr>
          <p:cNvPr id="33" name="Text 31"/>
          <p:cNvSpPr/>
          <p:nvPr/>
        </p:nvSpPr>
        <p:spPr>
          <a:xfrm>
            <a:off x="5232797" y="1443707"/>
            <a:ext cx="3289697" cy="133302"/>
          </a:xfrm>
          <a:prstGeom prst="rect">
            <a:avLst/>
          </a:prstGeom>
          <a:noFill/>
          <a:ln/>
        </p:spPr>
        <p:txBody>
          <a:bodyPr wrap="none" lIns="0" tIns="0" rIns="0" bIns="0" rtlCol="0" anchor="t">
            <a:normAutofit/>
          </a:bodyPr>
          <a:lstStyle/>
          <a:p>
            <a:pPr algn="l" indent="0" marL="0">
              <a:lnSpc>
                <a:spcPts val="928"/>
              </a:lnSpc>
              <a:buNone/>
            </a:pPr>
            <a:r>
              <a:rPr lang="en-US" sz="800" b="1" spc="136" kern="0" dirty="0">
                <a:solidFill>
                  <a:srgbClr val="0F766E"/>
                </a:solidFill>
                <a:latin typeface="Carlito" pitchFamily="34" charset="0"/>
                <a:ea typeface="Carlito" pitchFamily="34" charset="-122"/>
                <a:cs typeface="Carlito" pitchFamily="34" charset="-120"/>
              </a:rPr>
              <a:t>OUTPUT TENSOR</a:t>
            </a:r>
            <a:endParaRPr lang="en-US" sz="800" dirty="0"/>
          </a:p>
        </p:txBody>
      </p:sp>
      <p:sp>
        <p:nvSpPr>
          <p:cNvPr id="34" name="Text 32"/>
          <p:cNvSpPr/>
          <p:nvPr/>
        </p:nvSpPr>
        <p:spPr>
          <a:xfrm>
            <a:off x="5232797" y="1604442"/>
            <a:ext cx="3289697" cy="220608"/>
          </a:xfrm>
          <a:prstGeom prst="rect">
            <a:avLst/>
          </a:prstGeom>
          <a:noFill/>
          <a:ln/>
        </p:spPr>
        <p:txBody>
          <a:bodyPr wrap="none" lIns="0" tIns="0" rIns="0" bIns="0" rtlCol="0" anchor="t"/>
          <a:lstStyle/>
          <a:p>
            <a:pPr algn="l" indent="0" marL="0">
              <a:lnSpc>
                <a:spcPts val="1609"/>
              </a:lnSpc>
              <a:buNone/>
            </a:pPr>
            <a:r>
              <a:rPr lang="en-US" sz="1463" spc="29" kern="0" dirty="0">
                <a:solidFill>
                  <a:srgbClr val="0F1F3D"/>
                </a:solidFill>
                <a:latin typeface="Courier New" pitchFamily="34" charset="0"/>
                <a:ea typeface="Courier New" pitchFamily="34" charset="-122"/>
                <a:cs typeface="Courier New" pitchFamily="34" charset="-120"/>
              </a:rPr>
              <a:t>X ∈ ℝ</a:t>
            </a:r>
            <a:pPr algn="l" indent="0" marL="0">
              <a:lnSpc>
                <a:spcPts val="1609"/>
              </a:lnSpc>
              <a:buNone/>
            </a:pPr>
            <a:r>
              <a:rPr lang="en-US" sz="800" baseline="30000" spc="29" kern="0" dirty="0">
                <a:solidFill>
                  <a:srgbClr val="0F1F3D"/>
                </a:solidFill>
                <a:latin typeface="Liberation Sans Narrow" pitchFamily="34" charset="0"/>
                <a:ea typeface="Liberation Sans Narrow" pitchFamily="34" charset="-122"/>
                <a:cs typeface="Liberation Sans Narrow" pitchFamily="34" charset="-120"/>
              </a:rPr>
              <a:t>(N × 150 × 78)</a:t>
            </a:r>
            <a:endParaRPr lang="en-US" sz="1463" dirty="0"/>
          </a:p>
        </p:txBody>
      </p:sp>
      <p:sp>
        <p:nvSpPr>
          <p:cNvPr id="35" name="Text 33"/>
          <p:cNvSpPr/>
          <p:nvPr/>
        </p:nvSpPr>
        <p:spPr>
          <a:xfrm>
            <a:off x="5232797" y="1880146"/>
            <a:ext cx="3289697" cy="323951"/>
          </a:xfrm>
          <a:prstGeom prst="rect">
            <a:avLst/>
          </a:prstGeom>
          <a:noFill/>
          <a:ln/>
        </p:spPr>
        <p:txBody>
          <a:bodyPr wrap="square" lIns="0" tIns="0" rIns="0" bIns="0" rtlCol="0" anchor="t">
            <a:normAutofit/>
          </a:bodyPr>
          <a:lstStyle/>
          <a:p>
            <a:pPr algn="l" indent="0" marL="0">
              <a:lnSpc>
                <a:spcPts val="1046"/>
              </a:lnSpc>
              <a:buNone/>
            </a:pPr>
            <a:r>
              <a:rPr lang="en-US" sz="800" dirty="0">
                <a:solidFill>
                  <a:srgbClr val="5B6B82"/>
                </a:solidFill>
                <a:latin typeface="Carlito" pitchFamily="34" charset="0"/>
                <a:ea typeface="Carlito" pitchFamily="34" charset="-122"/>
                <a:cs typeface="Carlito" pitchFamily="34" charset="-120"/>
              </a:rPr>
              <a:t>Where </a:t>
            </a:r>
            <a:pPr algn="l" indent="0" marL="0">
              <a:lnSpc>
                <a:spcPts val="1046"/>
              </a:lnSpc>
              <a:buNone/>
            </a:pPr>
            <a:r>
              <a:rPr lang="en-US" sz="800" b="1" dirty="0">
                <a:solidFill>
                  <a:srgbClr val="14B8A6"/>
                </a:solidFill>
                <a:latin typeface="Carlito" pitchFamily="34" charset="0"/>
                <a:ea typeface="Carlito" pitchFamily="34" charset="-122"/>
                <a:cs typeface="Carlito" pitchFamily="34" charset="-120"/>
              </a:rPr>
              <a:t>N</a:t>
            </a:r>
            <a:pPr algn="l" indent="0" marL="0">
              <a:lnSpc>
                <a:spcPts val="1046"/>
              </a:lnSpc>
              <a:buNone/>
            </a:pPr>
            <a:r>
              <a:rPr lang="en-US" sz="800" dirty="0">
                <a:solidFill>
                  <a:srgbClr val="5B6B82"/>
                </a:solidFill>
                <a:latin typeface="Carlito" pitchFamily="34" charset="0"/>
                <a:ea typeface="Carlito" pitchFamily="34" charset="-122"/>
                <a:cs typeface="Carlito" pitchFamily="34" charset="-120"/>
              </a:rPr>
              <a:t> is the number of video clips, </a:t>
            </a:r>
            <a:pPr algn="l" indent="0" marL="0">
              <a:lnSpc>
                <a:spcPts val="1046"/>
              </a:lnSpc>
              <a:buNone/>
            </a:pPr>
            <a:r>
              <a:rPr lang="en-US" sz="800" b="1" dirty="0">
                <a:solidFill>
                  <a:srgbClr val="14B8A6"/>
                </a:solidFill>
                <a:latin typeface="Liberation Sans Narrow" pitchFamily="34" charset="0"/>
                <a:ea typeface="Liberation Sans Narrow" pitchFamily="34" charset="-122"/>
                <a:cs typeface="Liberation Sans Narrow" pitchFamily="34" charset="-120"/>
              </a:rPr>
              <a:t>T = 150</a:t>
            </a:r>
            <a:pPr algn="l" indent="0" marL="0">
              <a:lnSpc>
                <a:spcPts val="1046"/>
              </a:lnSpc>
              <a:buNone/>
            </a:pPr>
            <a:r>
              <a:rPr lang="en-US" sz="800" dirty="0">
                <a:solidFill>
                  <a:srgbClr val="5B6B82"/>
                </a:solidFill>
                <a:latin typeface="Carlito" pitchFamily="34" charset="0"/>
                <a:ea typeface="Carlito" pitchFamily="34" charset="-122"/>
                <a:cs typeface="Carlito" pitchFamily="34" charset="-120"/>
              </a:rPr>
              <a:t> is the sequence length, and </a:t>
            </a:r>
            <a:pPr algn="l" indent="0" marL="0">
              <a:lnSpc>
                <a:spcPts val="1046"/>
              </a:lnSpc>
              <a:buNone/>
            </a:pPr>
            <a:r>
              <a:rPr lang="en-US" sz="800" b="1" dirty="0">
                <a:solidFill>
                  <a:srgbClr val="14B8A6"/>
                </a:solidFill>
                <a:latin typeface="Liberation Sans Narrow" pitchFamily="34" charset="0"/>
                <a:ea typeface="Liberation Sans Narrow" pitchFamily="34" charset="-122"/>
                <a:cs typeface="Liberation Sans Narrow" pitchFamily="34" charset="-120"/>
              </a:rPr>
              <a:t>D = 78</a:t>
            </a:r>
            <a:pPr algn="l" indent="0" marL="0">
              <a:lnSpc>
                <a:spcPts val="1046"/>
              </a:lnSpc>
              <a:buNone/>
            </a:pPr>
            <a:r>
              <a:rPr lang="en-US" sz="800" dirty="0">
                <a:solidFill>
                  <a:srgbClr val="5B6B82"/>
                </a:solidFill>
                <a:latin typeface="Carlito" pitchFamily="34" charset="0"/>
                <a:ea typeface="Carlito" pitchFamily="34" charset="-122"/>
                <a:cs typeface="Carlito" pitchFamily="34" charset="-120"/>
              </a:rPr>
              <a:t> is the per-frame feature dimensionality.</a:t>
            </a:r>
            <a:endParaRPr lang="en-US" sz="800" dirty="0"/>
          </a:p>
        </p:txBody>
      </p:sp>
      <p:sp>
        <p:nvSpPr>
          <p:cNvPr id="36" name="Text 34"/>
          <p:cNvSpPr/>
          <p:nvPr/>
        </p:nvSpPr>
        <p:spPr>
          <a:xfrm>
            <a:off x="5232797" y="2230207"/>
            <a:ext cx="166985" cy="158020"/>
          </a:xfrm>
          <a:prstGeom prst="roundRect">
            <a:avLst>
              <a:gd name="adj" fmla="val 24111"/>
            </a:avLst>
          </a:prstGeom>
          <a:solidFill>
            <a:srgbClr val="14B8A6">
              <a:alpha val="18000"/>
            </a:srgbClr>
          </a:solidFill>
          <a:ln/>
        </p:spPr>
        <p:txBody>
          <a:bodyPr wrap="square" rtlCol="0" anchor="ctr"/>
          <a:lstStyle/>
          <a:p>
            <a:pPr indent="0" marL="0">
              <a:buNone/>
            </a:pPr>
            <a:endParaRPr lang="en-US" dirty="0"/>
          </a:p>
        </p:txBody>
      </p:sp>
      <p:sp>
        <p:nvSpPr>
          <p:cNvPr id="37" name="Text 35"/>
          <p:cNvSpPr/>
          <p:nvPr/>
        </p:nvSpPr>
        <p:spPr>
          <a:xfrm>
            <a:off x="5232797" y="2238673"/>
            <a:ext cx="166985" cy="141089"/>
          </a:xfrm>
          <a:prstGeom prst="rect">
            <a:avLst/>
          </a:prstGeom>
          <a:noFill/>
          <a:ln/>
        </p:spPr>
        <p:txBody>
          <a:bodyPr wrap="none" lIns="0" tIns="0" rIns="0" bIns="0" rtlCol="0" anchor="ctr"/>
          <a:lstStyle/>
          <a:p>
            <a:pPr algn="ctr" indent="0" marL="0">
              <a:lnSpc>
                <a:spcPts val="886"/>
              </a:lnSpc>
              <a:buNone/>
            </a:pPr>
            <a:r>
              <a:rPr lang="en-US" sz="800" spc="59" kern="0" dirty="0">
                <a:solidFill>
                  <a:srgbClr val="0F766E"/>
                </a:solidFill>
                <a:latin typeface="Courier New" pitchFamily="34" charset="0"/>
                <a:ea typeface="Courier New" pitchFamily="34" charset="-122"/>
                <a:cs typeface="Courier New" pitchFamily="34" charset="-120"/>
              </a:rPr>
              <a:t>N</a:t>
            </a:r>
            <a:endParaRPr lang="en-US" sz="800" dirty="0"/>
          </a:p>
        </p:txBody>
      </p:sp>
      <p:sp>
        <p:nvSpPr>
          <p:cNvPr id="38" name="Text 36"/>
          <p:cNvSpPr/>
          <p:nvPr/>
        </p:nvSpPr>
        <p:spPr>
          <a:xfrm>
            <a:off x="5456932" y="2222206"/>
            <a:ext cx="391902" cy="174022"/>
          </a:xfrm>
          <a:prstGeom prst="roundRect">
            <a:avLst>
              <a:gd name="adj" fmla="val 21894"/>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39" name="Text 37"/>
          <p:cNvSpPr/>
          <p:nvPr/>
        </p:nvSpPr>
        <p:spPr>
          <a:xfrm>
            <a:off x="5456932" y="2231529"/>
            <a:ext cx="391902" cy="155377"/>
          </a:xfrm>
          <a:prstGeom prst="rect">
            <a:avLst/>
          </a:prstGeom>
          <a:noFill/>
          <a:ln/>
        </p:spPr>
        <p:txBody>
          <a:bodyPr wrap="none" lIns="0" tIns="0" rIns="0" bIns="0" rtlCol="0" anchor="ctr"/>
          <a:lstStyle/>
          <a:p>
            <a:pPr algn="ctr" indent="0" marL="0">
              <a:lnSpc>
                <a:spcPts val="886"/>
              </a:lnSpc>
              <a:buNone/>
            </a:pPr>
            <a:r>
              <a:rPr lang="en-US" sz="800" spc="59" kern="0" dirty="0">
                <a:solidFill>
                  <a:srgbClr val="0F1F3D"/>
                </a:solidFill>
                <a:latin typeface="Liberation Sans Narrow" pitchFamily="34" charset="0"/>
                <a:ea typeface="Liberation Sans Narrow" pitchFamily="34" charset="-122"/>
                <a:cs typeface="Liberation Sans Narrow" pitchFamily="34" charset="-120"/>
              </a:rPr>
              <a:t>× 150</a:t>
            </a:r>
            <a:endParaRPr lang="en-US" sz="800" dirty="0"/>
          </a:p>
        </p:txBody>
      </p:sp>
      <p:sp>
        <p:nvSpPr>
          <p:cNvPr id="40" name="Text 38"/>
          <p:cNvSpPr/>
          <p:nvPr/>
        </p:nvSpPr>
        <p:spPr>
          <a:xfrm>
            <a:off x="5905984" y="2222206"/>
            <a:ext cx="339328" cy="174022"/>
          </a:xfrm>
          <a:prstGeom prst="roundRect">
            <a:avLst>
              <a:gd name="adj" fmla="val 21894"/>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41" name="Text 39"/>
          <p:cNvSpPr/>
          <p:nvPr/>
        </p:nvSpPr>
        <p:spPr>
          <a:xfrm>
            <a:off x="5905984" y="2231529"/>
            <a:ext cx="339328" cy="155377"/>
          </a:xfrm>
          <a:prstGeom prst="rect">
            <a:avLst/>
          </a:prstGeom>
          <a:noFill/>
          <a:ln/>
        </p:spPr>
        <p:txBody>
          <a:bodyPr wrap="none" lIns="0" tIns="0" rIns="0" bIns="0" rtlCol="0" anchor="ctr"/>
          <a:lstStyle/>
          <a:p>
            <a:pPr algn="ctr" indent="0" marL="0">
              <a:lnSpc>
                <a:spcPts val="886"/>
              </a:lnSpc>
              <a:buNone/>
            </a:pPr>
            <a:r>
              <a:rPr lang="en-US" sz="800" spc="59" kern="0" dirty="0">
                <a:solidFill>
                  <a:srgbClr val="0F1F3D"/>
                </a:solidFill>
                <a:latin typeface="Liberation Sans Narrow" pitchFamily="34" charset="0"/>
                <a:ea typeface="Liberation Sans Narrow" pitchFamily="34" charset="-122"/>
                <a:cs typeface="Liberation Sans Narrow" pitchFamily="34" charset="-120"/>
              </a:rPr>
              <a:t>× 78</a:t>
            </a:r>
            <a:endParaRPr lang="en-US" sz="800" dirty="0"/>
          </a:p>
        </p:txBody>
      </p:sp>
      <p:sp>
        <p:nvSpPr>
          <p:cNvPr id="42" name="Text 40"/>
          <p:cNvSpPr/>
          <p:nvPr/>
        </p:nvSpPr>
        <p:spPr>
          <a:xfrm>
            <a:off x="5054203" y="2622649"/>
            <a:ext cx="3632597" cy="646509"/>
          </a:xfrm>
          <a:prstGeom prst="roundRect">
            <a:avLst>
              <a:gd name="adj" fmla="val 8840"/>
            </a:avLst>
          </a:prstGeom>
          <a:solidFill>
            <a:srgbClr val="FFFFFF"/>
          </a:solidFill>
          <a:ln/>
        </p:spPr>
        <p:txBody>
          <a:bodyPr wrap="square" rtlCol="0" anchor="ctr"/>
          <a:lstStyle/>
          <a:p>
            <a:pPr indent="0" marL="0">
              <a:buNone/>
            </a:pPr>
            <a:endParaRPr lang="en-US" dirty="0"/>
          </a:p>
        </p:txBody>
      </p:sp>
      <p:sp>
        <p:nvSpPr>
          <p:cNvPr id="43" name="Shape 41"/>
          <p:cNvSpPr/>
          <p:nvPr/>
        </p:nvSpPr>
        <p:spPr>
          <a:xfrm>
            <a:off x="5054203" y="2626221"/>
            <a:ext cx="3632597" cy="0"/>
          </a:xfrm>
          <a:prstGeom prst="line">
            <a:avLst/>
          </a:prstGeom>
          <a:noFill/>
          <a:ln w="7144">
            <a:solidFill>
              <a:srgbClr val="D9E1EC"/>
            </a:solidFill>
            <a:prstDash val="solid"/>
          </a:ln>
        </p:spPr>
      </p:sp>
      <p:sp>
        <p:nvSpPr>
          <p:cNvPr id="44" name="Shape 42"/>
          <p:cNvSpPr/>
          <p:nvPr/>
        </p:nvSpPr>
        <p:spPr>
          <a:xfrm>
            <a:off x="8683228" y="2622649"/>
            <a:ext cx="0" cy="646509"/>
          </a:xfrm>
          <a:prstGeom prst="line">
            <a:avLst/>
          </a:prstGeom>
          <a:noFill/>
          <a:ln w="7144">
            <a:solidFill>
              <a:srgbClr val="D9E1EC"/>
            </a:solidFill>
            <a:prstDash val="solid"/>
          </a:ln>
        </p:spPr>
      </p:sp>
      <p:sp>
        <p:nvSpPr>
          <p:cNvPr id="45" name="Shape 43"/>
          <p:cNvSpPr/>
          <p:nvPr/>
        </p:nvSpPr>
        <p:spPr>
          <a:xfrm>
            <a:off x="5054203" y="3265587"/>
            <a:ext cx="3632597" cy="0"/>
          </a:xfrm>
          <a:prstGeom prst="line">
            <a:avLst/>
          </a:prstGeom>
          <a:noFill/>
          <a:ln w="7144">
            <a:solidFill>
              <a:srgbClr val="D9E1EC"/>
            </a:solidFill>
            <a:prstDash val="solid"/>
          </a:ln>
        </p:spPr>
      </p:sp>
      <p:sp>
        <p:nvSpPr>
          <p:cNvPr id="46" name="Shape 44"/>
          <p:cNvSpPr/>
          <p:nvPr/>
        </p:nvSpPr>
        <p:spPr>
          <a:xfrm>
            <a:off x="5064919" y="2622649"/>
            <a:ext cx="0" cy="646509"/>
          </a:xfrm>
          <a:prstGeom prst="line">
            <a:avLst/>
          </a:prstGeom>
          <a:noFill/>
          <a:ln w="21431">
            <a:solidFill>
              <a:srgbClr val="14B8A6"/>
            </a:solidFill>
            <a:prstDash val="solid"/>
          </a:ln>
        </p:spPr>
      </p:sp>
      <p:sp>
        <p:nvSpPr>
          <p:cNvPr id="47" name="Text 45"/>
          <p:cNvSpPr/>
          <p:nvPr/>
        </p:nvSpPr>
        <p:spPr>
          <a:xfrm>
            <a:off x="5175647" y="2701230"/>
            <a:ext cx="3403997" cy="108299"/>
          </a:xfrm>
          <a:prstGeom prst="rect">
            <a:avLst/>
          </a:prstGeom>
          <a:noFill/>
          <a:ln/>
        </p:spPr>
        <p:txBody>
          <a:bodyPr wrap="none" lIns="0" tIns="0" rIns="0" bIns="0" rtlCol="0" anchor="t">
            <a:normAutofit/>
          </a:bodyPr>
          <a:lstStyle/>
          <a:p>
            <a:pPr algn="l" indent="0" marL="0">
              <a:lnSpc>
                <a:spcPts val="844"/>
              </a:lnSpc>
              <a:buNone/>
            </a:pPr>
            <a:r>
              <a:rPr lang="en-US" sz="800" b="1" spc="79" kern="0" dirty="0">
                <a:solidFill>
                  <a:srgbClr val="0F766E"/>
                </a:solidFill>
                <a:latin typeface="Liberation Sans Narrow" pitchFamily="34" charset="0"/>
                <a:ea typeface="Liberation Sans Narrow" pitchFamily="34" charset="-122"/>
                <a:cs typeface="Liberation Sans Narrow" pitchFamily="34" charset="-120"/>
              </a:rPr>
              <a:t>WHY 150 FRAMES?</a:t>
            </a:r>
            <a:endParaRPr lang="en-US" sz="800" dirty="0"/>
          </a:p>
        </p:txBody>
      </p:sp>
      <p:sp>
        <p:nvSpPr>
          <p:cNvPr id="48" name="Text 46"/>
          <p:cNvSpPr/>
          <p:nvPr/>
        </p:nvSpPr>
        <p:spPr>
          <a:xfrm>
            <a:off x="5175647" y="2836962"/>
            <a:ext cx="3403997" cy="374833"/>
          </a:xfrm>
          <a:prstGeom prst="rect">
            <a:avLst/>
          </a:prstGeom>
          <a:noFill/>
          <a:ln/>
        </p:spPr>
        <p:txBody>
          <a:bodyPr wrap="square" lIns="0" tIns="0" rIns="0" bIns="0" rtlCol="0" anchor="t"/>
          <a:lstStyle/>
          <a:p>
            <a:pPr algn="l" indent="0" marL="0">
              <a:lnSpc>
                <a:spcPts val="928"/>
              </a:lnSpc>
              <a:buNone/>
            </a:pPr>
            <a:r>
              <a:rPr lang="en-US" sz="600" dirty="0">
                <a:solidFill>
                  <a:srgbClr val="14B8A6"/>
                </a:solidFill>
                <a:latin typeface="Carlito" pitchFamily="34" charset="0"/>
                <a:ea typeface="Carlito" pitchFamily="34" charset="-122"/>
                <a:cs typeface="Carlito" pitchFamily="34" charset="-120"/>
              </a:rPr>
              <a:t>●  </a:t>
            </a:r>
            <a:pPr algn="l" indent="0" marL="0">
              <a:lnSpc>
                <a:spcPts val="928"/>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30 frames</a:t>
            </a:r>
            <a:pPr algn="l" indent="0" marL="0">
              <a:lnSpc>
                <a:spcPts val="928"/>
              </a:lnSpc>
              <a:buNone/>
            </a:pPr>
            <a:r>
              <a:rPr lang="en-US" sz="800" dirty="0">
                <a:solidFill>
                  <a:srgbClr val="5B6B82"/>
                </a:solidFill>
                <a:latin typeface="Carlito" pitchFamily="34" charset="0"/>
                <a:ea typeface="Carlito" pitchFamily="34" charset="-122"/>
                <a:cs typeface="Carlito" pitchFamily="34" charset="-120"/>
              </a:rPr>
              <a:t> → too short, misses slow boredom drift</a:t>
            </a:r>
            <a:endParaRPr lang="en-US" sz="800" dirty="0"/>
          </a:p>
          <a:p>
            <a:pPr algn="l" indent="0" marL="0">
              <a:lnSpc>
                <a:spcPts val="928"/>
              </a:lnSpc>
              <a:buNone/>
            </a:pPr>
            <a:r>
              <a:rPr lang="en-US" sz="600" dirty="0">
                <a:solidFill>
                  <a:srgbClr val="14B8A6"/>
                </a:solidFill>
                <a:latin typeface="Carlito" pitchFamily="34" charset="0"/>
                <a:ea typeface="Carlito" pitchFamily="34" charset="-122"/>
                <a:cs typeface="Carlito" pitchFamily="34" charset="-120"/>
              </a:rPr>
              <a:t>●  </a:t>
            </a:r>
            <a:pPr algn="l" indent="0" marL="0">
              <a:lnSpc>
                <a:spcPts val="928"/>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150 frames</a:t>
            </a:r>
            <a:pPr algn="l" indent="0" marL="0">
              <a:lnSpc>
                <a:spcPts val="928"/>
              </a:lnSpc>
              <a:buNone/>
            </a:pPr>
            <a:r>
              <a:rPr lang="en-US" sz="800" dirty="0">
                <a:solidFill>
                  <a:srgbClr val="5B6B82"/>
                </a:solidFill>
                <a:latin typeface="Carlito" pitchFamily="34" charset="0"/>
                <a:ea typeface="Carlito" pitchFamily="34" charset="-122"/>
                <a:cs typeface="Carlito" pitchFamily="34" charset="-120"/>
              </a:rPr>
              <a:t> → elbow point (see Slide 28 ablation)</a:t>
            </a:r>
            <a:endParaRPr lang="en-US" sz="800" dirty="0"/>
          </a:p>
          <a:p>
            <a:pPr algn="l" indent="0" marL="0">
              <a:lnSpc>
                <a:spcPts val="928"/>
              </a:lnSpc>
              <a:buNone/>
            </a:pPr>
            <a:r>
              <a:rPr lang="en-US" sz="600" dirty="0">
                <a:solidFill>
                  <a:srgbClr val="14B8A6"/>
                </a:solidFill>
                <a:latin typeface="Carlito" pitchFamily="34" charset="0"/>
                <a:ea typeface="Carlito" pitchFamily="34" charset="-122"/>
                <a:cs typeface="Carlito" pitchFamily="34" charset="-120"/>
              </a:rPr>
              <a:t>●  </a:t>
            </a:r>
            <a:pPr algn="l" indent="0" marL="0">
              <a:lnSpc>
                <a:spcPts val="928"/>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300 frames</a:t>
            </a:r>
            <a:pPr algn="l" indent="0" marL="0">
              <a:lnSpc>
                <a:spcPts val="928"/>
              </a:lnSpc>
              <a:buNone/>
            </a:pPr>
            <a:r>
              <a:rPr lang="en-US" sz="800" dirty="0">
                <a:solidFill>
                  <a:srgbClr val="5B6B82"/>
                </a:solidFill>
                <a:latin typeface="Carlito" pitchFamily="34" charset="0"/>
                <a:ea typeface="Carlito" pitchFamily="34" charset="-122"/>
                <a:cs typeface="Carlito" pitchFamily="34" charset="-120"/>
              </a:rPr>
              <a:t> → plateau, adds transition noise</a:t>
            </a:r>
            <a:endParaRPr lang="en-US" sz="800" dirty="0"/>
          </a:p>
        </p:txBody>
      </p:sp>
      <p:sp>
        <p:nvSpPr>
          <p:cNvPr id="49" name="Text 47"/>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M-DAS ITC 2026</a:t>
            </a:r>
            <a:endParaRPr lang="en-US" sz="800" dirty="0"/>
          </a:p>
        </p:txBody>
      </p:sp>
      <p:sp>
        <p:nvSpPr>
          <p:cNvPr id="50" name="Text 48"/>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14 / 34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19015"/>
          </a:xfrm>
          <a:prstGeom prst="rect">
            <a:avLst/>
          </a:prstGeom>
          <a:noFill/>
          <a:ln/>
        </p:spPr>
        <p:txBody>
          <a:bodyPr wrap="square" lIns="0" tIns="0" rIns="0" bIns="0" rtlCol="0" anchor="t">
            <a:normAutofit/>
          </a:bodyPr>
          <a:lstStyle/>
          <a:p>
            <a:pPr algn="l" indent="0" marL="0">
              <a:lnSpc>
                <a:spcPts val="928"/>
              </a:lnSpc>
              <a:buNone/>
            </a:pPr>
            <a:r>
              <a:rPr lang="en-US" sz="800" b="1" spc="136" kern="0" dirty="0">
                <a:solidFill>
                  <a:srgbClr val="14B8A6"/>
                </a:solidFill>
                <a:latin typeface="Liberation Sans Narrow" pitchFamily="34" charset="0"/>
                <a:ea typeface="Liberation Sans Narrow" pitchFamily="34" charset="-122"/>
                <a:cs typeface="Liberation Sans Narrow" pitchFamily="34" charset="-120"/>
              </a:rPr>
              <a:t>METHODOLOGY · MEDIAPIPE 78D</a:t>
            </a:r>
            <a:endParaRPr lang="en-US" sz="800" dirty="0"/>
          </a:p>
        </p:txBody>
      </p:sp>
      <p:sp>
        <p:nvSpPr>
          <p:cNvPr id="3" name="Text 1"/>
          <p:cNvSpPr/>
          <p:nvPr/>
        </p:nvSpPr>
        <p:spPr>
          <a:xfrm>
            <a:off x="457200" y="546497"/>
            <a:ext cx="8636000" cy="303413"/>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Facial Feature Extraction — 78 Dimensions Per Frame</a:t>
            </a:r>
            <a:endParaRPr lang="en-US" sz="2025" dirty="0"/>
          </a:p>
        </p:txBody>
      </p:sp>
      <p:sp>
        <p:nvSpPr>
          <p:cNvPr id="4" name="Text 2"/>
          <p:cNvSpPr/>
          <p:nvPr/>
        </p:nvSpPr>
        <p:spPr>
          <a:xfrm>
            <a:off x="457200" y="877342"/>
            <a:ext cx="6572250" cy="339999"/>
          </a:xfrm>
          <a:prstGeom prst="rect">
            <a:avLst/>
          </a:prstGeom>
          <a:noFill/>
          <a:ln/>
        </p:spPr>
        <p:txBody>
          <a:bodyPr wrap="square" lIns="0" tIns="0" rIns="0" bIns="0" rtlCol="0" anchor="t"/>
          <a:lstStyle/>
          <a:p>
            <a:pPr algn="l" indent="0" marL="0">
              <a:lnSpc>
                <a:spcPts val="1133"/>
              </a:lnSpc>
              <a:buNone/>
            </a:pPr>
            <a:r>
              <a:rPr lang="en-US" sz="800" dirty="0">
                <a:solidFill>
                  <a:srgbClr val="5B6B82"/>
                </a:solidFill>
                <a:latin typeface="Carlito" pitchFamily="34" charset="0"/>
                <a:ea typeface="Carlito" pitchFamily="34" charset="-122"/>
                <a:cs typeface="Carlito" pitchFamily="34" charset="-120"/>
              </a:rPr>
              <a:t>MediaPipe Face Landmarker provides 468 landmarks + 52 blendshape coefficients. We compose them into a 78-dimensional per-frame vector organized into five semantic groups.</a:t>
            </a:r>
            <a:endParaRPr lang="en-US" sz="800" dirty="0"/>
          </a:p>
        </p:txBody>
      </p:sp>
      <p:sp>
        <p:nvSpPr>
          <p:cNvPr id="5" name="Text 3"/>
          <p:cNvSpPr/>
          <p:nvPr/>
        </p:nvSpPr>
        <p:spPr>
          <a:xfrm>
            <a:off x="460772" y="1282973"/>
            <a:ext cx="1570174" cy="1078706"/>
          </a:xfrm>
          <a:prstGeom prst="roundRect">
            <a:avLst>
              <a:gd name="adj" fmla="val 883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6" name="Text 4"/>
          <p:cNvSpPr/>
          <p:nvPr/>
        </p:nvSpPr>
        <p:spPr>
          <a:xfrm>
            <a:off x="541496" y="1362733"/>
            <a:ext cx="920941" cy="178022"/>
          </a:xfrm>
          <a:prstGeom prst="roundRect">
            <a:avLst>
              <a:gd name="adj" fmla="val 5345112"/>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7" name="Text 5"/>
          <p:cNvSpPr/>
          <p:nvPr/>
        </p:nvSpPr>
        <p:spPr>
          <a:xfrm>
            <a:off x="739168" y="1407988"/>
            <a:ext cx="639897" cy="127053"/>
          </a:xfrm>
          <a:prstGeom prst="rect">
            <a:avLst/>
          </a:prstGeom>
          <a:noFill/>
          <a:ln/>
        </p:spPr>
        <p:txBody>
          <a:bodyPr wrap="none" lIns="0" tIns="0" rIns="0" bIns="0" rtlCol="0" anchor="t"/>
          <a:lstStyle/>
          <a:p>
            <a:pPr algn="l" indent="0" marL="0">
              <a:lnSpc>
                <a:spcPts val="802"/>
              </a:lnSpc>
              <a:buNone/>
            </a:pPr>
            <a:r>
              <a:rPr lang="en-US" sz="600" b="1" spc="53" kern="0" dirty="0">
                <a:solidFill>
                  <a:srgbClr val="0F1F3D"/>
                </a:solidFill>
                <a:latin typeface="Carlito" pitchFamily="34" charset="0"/>
                <a:ea typeface="Carlito" pitchFamily="34" charset="-122"/>
                <a:cs typeface="Carlito" pitchFamily="34" charset="-120"/>
              </a:rPr>
              <a:t>BLENDSHAPES</a:t>
            </a:r>
            <a:endParaRPr lang="en-US" sz="600" dirty="0"/>
          </a:p>
        </p:txBody>
      </p:sp>
      <p:sp>
        <p:nvSpPr>
          <p:cNvPr id="8" name="Text 6"/>
          <p:cNvSpPr/>
          <p:nvPr/>
        </p:nvSpPr>
        <p:spPr>
          <a:xfrm>
            <a:off x="628650" y="1412453"/>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9" name="Text 7"/>
          <p:cNvSpPr/>
          <p:nvPr/>
        </p:nvSpPr>
        <p:spPr>
          <a:xfrm>
            <a:off x="564356" y="1588368"/>
            <a:ext cx="1363005" cy="229743"/>
          </a:xfrm>
          <a:prstGeom prst="rect">
            <a:avLst/>
          </a:prstGeom>
          <a:noFill/>
          <a:ln/>
        </p:spPr>
        <p:txBody>
          <a:bodyPr wrap="none" lIns="0" tIns="0" rIns="0" bIns="0" rtlCol="0" anchor="t">
            <a:normAutofit/>
          </a:bodyPr>
          <a:lstStyle/>
          <a:p>
            <a:pPr algn="l" indent="0" marL="0">
              <a:lnSpc>
                <a:spcPts val="1688"/>
              </a:lnSpc>
              <a:buNone/>
            </a:pPr>
            <a:r>
              <a:rPr lang="en-US" sz="1688" b="1" spc="-34" kern="0" dirty="0">
                <a:solidFill>
                  <a:srgbClr val="0F766E"/>
                </a:solidFill>
                <a:latin typeface="Liberation Sans Narrow" pitchFamily="34" charset="0"/>
                <a:ea typeface="Liberation Sans Narrow" pitchFamily="34" charset="-122"/>
                <a:cs typeface="Liberation Sans Narrow" pitchFamily="34" charset="-120"/>
              </a:rPr>
              <a:t>52D</a:t>
            </a:r>
            <a:endParaRPr lang="en-US" sz="1688" dirty="0"/>
          </a:p>
        </p:txBody>
      </p:sp>
      <p:sp>
        <p:nvSpPr>
          <p:cNvPr id="10" name="Text 8"/>
          <p:cNvSpPr/>
          <p:nvPr/>
        </p:nvSpPr>
        <p:spPr>
          <a:xfrm>
            <a:off x="564356" y="1845543"/>
            <a:ext cx="1363005" cy="135088"/>
          </a:xfrm>
          <a:prstGeom prst="rect">
            <a:avLst/>
          </a:prstGeom>
          <a:noFill/>
          <a:ln/>
        </p:spPr>
        <p:txBody>
          <a:bodyPr wrap="none" lIns="0" tIns="0" rIns="0" bIns="0" rtlCol="0" anchor="t">
            <a:normAutofit/>
          </a:bodyPr>
          <a:lstStyle/>
          <a:p>
            <a:pPr algn="l" indent="0" marL="0">
              <a:lnSpc>
                <a:spcPts val="1055"/>
              </a:lnSpc>
              <a:buNone/>
            </a:pPr>
            <a:r>
              <a:rPr lang="en-US" sz="800" b="1" spc="-4" kern="0" dirty="0">
                <a:solidFill>
                  <a:srgbClr val="0F1F3D"/>
                </a:solidFill>
                <a:latin typeface="Carlito" pitchFamily="34" charset="0"/>
                <a:ea typeface="Carlito" pitchFamily="34" charset="-122"/>
                <a:cs typeface="Carlito" pitchFamily="34" charset="-120"/>
              </a:rPr>
              <a:t>Blendshapes</a:t>
            </a:r>
            <a:endParaRPr lang="en-US" sz="800" dirty="0"/>
          </a:p>
        </p:txBody>
      </p:sp>
      <p:sp>
        <p:nvSpPr>
          <p:cNvPr id="11" name="Text 9"/>
          <p:cNvSpPr/>
          <p:nvPr/>
        </p:nvSpPr>
        <p:spPr>
          <a:xfrm>
            <a:off x="564356" y="2008063"/>
            <a:ext cx="1444785" cy="264319"/>
          </a:xfrm>
          <a:prstGeom prst="rect">
            <a:avLst/>
          </a:prstGeom>
          <a:noFill/>
          <a:ln/>
        </p:spPr>
        <p:txBody>
          <a:bodyPr wrap="square" lIns="0" tIns="0" rIns="0" bIns="0" rtlCol="0" anchor="t"/>
          <a:lstStyle/>
          <a:p>
            <a:pPr algn="l" indent="0" marL="0">
              <a:lnSpc>
                <a:spcPts val="856"/>
              </a:lnSpc>
              <a:buNone/>
            </a:pPr>
            <a:r>
              <a:rPr lang="en-US" sz="800" dirty="0">
                <a:solidFill>
                  <a:srgbClr val="5B6B82"/>
                </a:solidFill>
                <a:latin typeface="Carlito" pitchFamily="34" charset="0"/>
                <a:ea typeface="Carlito" pitchFamily="34" charset="-122"/>
                <a:cs typeface="Carlito" pitchFamily="34" charset="-120"/>
              </a:rPr>
              <a:t>Per-AU facial muscle activations (eyebrow, eye, jaw, mouth, nose, cheek).</a:t>
            </a:r>
            <a:endParaRPr lang="en-US" sz="800" dirty="0"/>
          </a:p>
        </p:txBody>
      </p:sp>
      <p:sp>
        <p:nvSpPr>
          <p:cNvPr id="12" name="Text 10"/>
          <p:cNvSpPr/>
          <p:nvPr/>
        </p:nvSpPr>
        <p:spPr>
          <a:xfrm>
            <a:off x="2123815" y="1282973"/>
            <a:ext cx="1570174" cy="1078706"/>
          </a:xfrm>
          <a:prstGeom prst="roundRect">
            <a:avLst>
              <a:gd name="adj" fmla="val 883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13" name="Text 11"/>
          <p:cNvSpPr/>
          <p:nvPr/>
        </p:nvSpPr>
        <p:spPr>
          <a:xfrm>
            <a:off x="2204539" y="1362733"/>
            <a:ext cx="788000" cy="178022"/>
          </a:xfrm>
          <a:prstGeom prst="roundRect">
            <a:avLst>
              <a:gd name="adj" fmla="val 5345112"/>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14" name="Text 12"/>
          <p:cNvSpPr/>
          <p:nvPr/>
        </p:nvSpPr>
        <p:spPr>
          <a:xfrm>
            <a:off x="2405993" y="1407988"/>
            <a:ext cx="499393" cy="127053"/>
          </a:xfrm>
          <a:prstGeom prst="rect">
            <a:avLst/>
          </a:prstGeom>
          <a:noFill/>
          <a:ln/>
        </p:spPr>
        <p:txBody>
          <a:bodyPr wrap="none" lIns="0" tIns="0" rIns="0" bIns="0" rtlCol="0" anchor="t"/>
          <a:lstStyle/>
          <a:p>
            <a:pPr algn="l" indent="0" marL="0">
              <a:lnSpc>
                <a:spcPts val="802"/>
              </a:lnSpc>
              <a:buNone/>
            </a:pPr>
            <a:r>
              <a:rPr lang="en-US" sz="600" b="1" spc="53" kern="0" dirty="0">
                <a:solidFill>
                  <a:srgbClr val="0F1F3D"/>
                </a:solidFill>
                <a:latin typeface="Carlito" pitchFamily="34" charset="0"/>
                <a:ea typeface="Carlito" pitchFamily="34" charset="-122"/>
                <a:cs typeface="Carlito" pitchFamily="34" charset="-120"/>
              </a:rPr>
              <a:t>HEAD POSE</a:t>
            </a:r>
            <a:endParaRPr lang="en-US" sz="600" dirty="0"/>
          </a:p>
        </p:txBody>
      </p:sp>
      <p:sp>
        <p:nvSpPr>
          <p:cNvPr id="15" name="Text 13"/>
          <p:cNvSpPr/>
          <p:nvPr/>
        </p:nvSpPr>
        <p:spPr>
          <a:xfrm>
            <a:off x="2291693" y="1412453"/>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16" name="Text 14"/>
          <p:cNvSpPr/>
          <p:nvPr/>
        </p:nvSpPr>
        <p:spPr>
          <a:xfrm>
            <a:off x="2227399" y="1588368"/>
            <a:ext cx="1363005" cy="229743"/>
          </a:xfrm>
          <a:prstGeom prst="rect">
            <a:avLst/>
          </a:prstGeom>
          <a:noFill/>
          <a:ln/>
        </p:spPr>
        <p:txBody>
          <a:bodyPr wrap="none" lIns="0" tIns="0" rIns="0" bIns="0" rtlCol="0" anchor="t">
            <a:normAutofit/>
          </a:bodyPr>
          <a:lstStyle/>
          <a:p>
            <a:pPr algn="l" indent="0" marL="0">
              <a:lnSpc>
                <a:spcPts val="1688"/>
              </a:lnSpc>
              <a:buNone/>
            </a:pPr>
            <a:r>
              <a:rPr lang="en-US" sz="1688" b="1" spc="-34" kern="0" dirty="0">
                <a:solidFill>
                  <a:srgbClr val="0F766E"/>
                </a:solidFill>
                <a:latin typeface="Liberation Sans Narrow" pitchFamily="34" charset="0"/>
                <a:ea typeface="Liberation Sans Narrow" pitchFamily="34" charset="-122"/>
                <a:cs typeface="Liberation Sans Narrow" pitchFamily="34" charset="-120"/>
              </a:rPr>
              <a:t>6D</a:t>
            </a:r>
            <a:endParaRPr lang="en-US" sz="1688" dirty="0"/>
          </a:p>
        </p:txBody>
      </p:sp>
      <p:sp>
        <p:nvSpPr>
          <p:cNvPr id="17" name="Text 15"/>
          <p:cNvSpPr/>
          <p:nvPr/>
        </p:nvSpPr>
        <p:spPr>
          <a:xfrm>
            <a:off x="2227399" y="1845543"/>
            <a:ext cx="1363005" cy="135088"/>
          </a:xfrm>
          <a:prstGeom prst="rect">
            <a:avLst/>
          </a:prstGeom>
          <a:noFill/>
          <a:ln/>
        </p:spPr>
        <p:txBody>
          <a:bodyPr wrap="none" lIns="0" tIns="0" rIns="0" bIns="0" rtlCol="0" anchor="t">
            <a:normAutofit/>
          </a:bodyPr>
          <a:lstStyle/>
          <a:p>
            <a:pPr algn="l" indent="0" marL="0">
              <a:lnSpc>
                <a:spcPts val="1055"/>
              </a:lnSpc>
              <a:buNone/>
            </a:pPr>
            <a:r>
              <a:rPr lang="en-US" sz="800" b="1" spc="-4" kern="0" dirty="0">
                <a:solidFill>
                  <a:srgbClr val="0F1F3D"/>
                </a:solidFill>
                <a:latin typeface="Carlito" pitchFamily="34" charset="0"/>
                <a:ea typeface="Carlito" pitchFamily="34" charset="-122"/>
                <a:cs typeface="Carlito" pitchFamily="34" charset="-120"/>
              </a:rPr>
              <a:t>Head Pose</a:t>
            </a:r>
            <a:endParaRPr lang="en-US" sz="800" dirty="0"/>
          </a:p>
        </p:txBody>
      </p:sp>
      <p:sp>
        <p:nvSpPr>
          <p:cNvPr id="18" name="Text 16"/>
          <p:cNvSpPr/>
          <p:nvPr/>
        </p:nvSpPr>
        <p:spPr>
          <a:xfrm>
            <a:off x="2227399" y="2008063"/>
            <a:ext cx="1444785" cy="264319"/>
          </a:xfrm>
          <a:prstGeom prst="rect">
            <a:avLst/>
          </a:prstGeom>
          <a:noFill/>
          <a:ln/>
        </p:spPr>
        <p:txBody>
          <a:bodyPr wrap="square" lIns="0" tIns="0" rIns="0" bIns="0" rtlCol="0" anchor="t"/>
          <a:lstStyle/>
          <a:p>
            <a:pPr algn="l" indent="0" marL="0">
              <a:lnSpc>
                <a:spcPts val="856"/>
              </a:lnSpc>
              <a:buNone/>
            </a:pPr>
            <a:r>
              <a:rPr lang="en-US" sz="800" dirty="0">
                <a:solidFill>
                  <a:srgbClr val="5B6B82"/>
                </a:solidFill>
                <a:latin typeface="Carlito" pitchFamily="34" charset="0"/>
                <a:ea typeface="Carlito" pitchFamily="34" charset="-122"/>
                <a:cs typeface="Carlito" pitchFamily="34" charset="-120"/>
              </a:rPr>
              <a:t>Pitch, yaw, roll + 3D position. Normalized to [-1, 1].</a:t>
            </a:r>
            <a:endParaRPr lang="en-US" sz="800" dirty="0"/>
          </a:p>
        </p:txBody>
      </p:sp>
      <p:sp>
        <p:nvSpPr>
          <p:cNvPr id="19" name="Text 17"/>
          <p:cNvSpPr/>
          <p:nvPr/>
        </p:nvSpPr>
        <p:spPr>
          <a:xfrm>
            <a:off x="3786857" y="1282973"/>
            <a:ext cx="1570174" cy="1078706"/>
          </a:xfrm>
          <a:prstGeom prst="roundRect">
            <a:avLst>
              <a:gd name="adj" fmla="val 883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20" name="Text 18"/>
          <p:cNvSpPr/>
          <p:nvPr/>
        </p:nvSpPr>
        <p:spPr>
          <a:xfrm>
            <a:off x="3867582" y="1362733"/>
            <a:ext cx="712210" cy="178022"/>
          </a:xfrm>
          <a:prstGeom prst="roundRect">
            <a:avLst>
              <a:gd name="adj" fmla="val 5345112"/>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21" name="Text 19"/>
          <p:cNvSpPr/>
          <p:nvPr/>
        </p:nvSpPr>
        <p:spPr>
          <a:xfrm>
            <a:off x="4059795" y="1407988"/>
            <a:ext cx="442082" cy="127053"/>
          </a:xfrm>
          <a:prstGeom prst="rect">
            <a:avLst/>
          </a:prstGeom>
          <a:noFill/>
          <a:ln/>
        </p:spPr>
        <p:txBody>
          <a:bodyPr wrap="none" lIns="0" tIns="0" rIns="0" bIns="0" rtlCol="0" anchor="t"/>
          <a:lstStyle/>
          <a:p>
            <a:pPr algn="l" indent="0" marL="0">
              <a:lnSpc>
                <a:spcPts val="802"/>
              </a:lnSpc>
              <a:buNone/>
            </a:pPr>
            <a:r>
              <a:rPr lang="en-US" sz="600" b="1" spc="53" kern="0" dirty="0">
                <a:solidFill>
                  <a:srgbClr val="0F1F3D"/>
                </a:solidFill>
                <a:latin typeface="Carlito" pitchFamily="34" charset="0"/>
                <a:ea typeface="Carlito" pitchFamily="34" charset="-122"/>
                <a:cs typeface="Carlito" pitchFamily="34" charset="-120"/>
              </a:rPr>
              <a:t>EYE GAZE</a:t>
            </a:r>
            <a:endParaRPr lang="en-US" sz="600" dirty="0"/>
          </a:p>
        </p:txBody>
      </p:sp>
      <p:sp>
        <p:nvSpPr>
          <p:cNvPr id="22" name="Text 20"/>
          <p:cNvSpPr/>
          <p:nvPr/>
        </p:nvSpPr>
        <p:spPr>
          <a:xfrm>
            <a:off x="3954735" y="1412453"/>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23" name="Text 21"/>
          <p:cNvSpPr/>
          <p:nvPr/>
        </p:nvSpPr>
        <p:spPr>
          <a:xfrm>
            <a:off x="3890442" y="1588368"/>
            <a:ext cx="1363005" cy="229743"/>
          </a:xfrm>
          <a:prstGeom prst="rect">
            <a:avLst/>
          </a:prstGeom>
          <a:noFill/>
          <a:ln/>
        </p:spPr>
        <p:txBody>
          <a:bodyPr wrap="none" lIns="0" tIns="0" rIns="0" bIns="0" rtlCol="0" anchor="t">
            <a:normAutofit/>
          </a:bodyPr>
          <a:lstStyle/>
          <a:p>
            <a:pPr algn="l" indent="0" marL="0">
              <a:lnSpc>
                <a:spcPts val="1688"/>
              </a:lnSpc>
              <a:buNone/>
            </a:pPr>
            <a:r>
              <a:rPr lang="en-US" sz="1688" b="1" spc="-34" kern="0" dirty="0">
                <a:solidFill>
                  <a:srgbClr val="0F766E"/>
                </a:solidFill>
                <a:latin typeface="Liberation Sans Narrow" pitchFamily="34" charset="0"/>
                <a:ea typeface="Liberation Sans Narrow" pitchFamily="34" charset="-122"/>
                <a:cs typeface="Liberation Sans Narrow" pitchFamily="34" charset="-120"/>
              </a:rPr>
              <a:t>6D</a:t>
            </a:r>
            <a:endParaRPr lang="en-US" sz="1688" dirty="0"/>
          </a:p>
        </p:txBody>
      </p:sp>
      <p:sp>
        <p:nvSpPr>
          <p:cNvPr id="24" name="Text 22"/>
          <p:cNvSpPr/>
          <p:nvPr/>
        </p:nvSpPr>
        <p:spPr>
          <a:xfrm>
            <a:off x="3890442" y="1845543"/>
            <a:ext cx="1363005" cy="135088"/>
          </a:xfrm>
          <a:prstGeom prst="rect">
            <a:avLst/>
          </a:prstGeom>
          <a:noFill/>
          <a:ln/>
        </p:spPr>
        <p:txBody>
          <a:bodyPr wrap="none" lIns="0" tIns="0" rIns="0" bIns="0" rtlCol="0" anchor="t">
            <a:normAutofit/>
          </a:bodyPr>
          <a:lstStyle/>
          <a:p>
            <a:pPr algn="l" indent="0" marL="0">
              <a:lnSpc>
                <a:spcPts val="1055"/>
              </a:lnSpc>
              <a:buNone/>
            </a:pPr>
            <a:r>
              <a:rPr lang="en-US" sz="800" b="1" spc="-4" kern="0" dirty="0">
                <a:solidFill>
                  <a:srgbClr val="0F1F3D"/>
                </a:solidFill>
                <a:latin typeface="Carlito" pitchFamily="34" charset="0"/>
                <a:ea typeface="Carlito" pitchFamily="34" charset="-122"/>
                <a:cs typeface="Carlito" pitchFamily="34" charset="-120"/>
              </a:rPr>
              <a:t>Eye Gaze</a:t>
            </a:r>
            <a:endParaRPr lang="en-US" sz="800" dirty="0"/>
          </a:p>
        </p:txBody>
      </p:sp>
      <p:sp>
        <p:nvSpPr>
          <p:cNvPr id="25" name="Text 23"/>
          <p:cNvSpPr/>
          <p:nvPr/>
        </p:nvSpPr>
        <p:spPr>
          <a:xfrm>
            <a:off x="3890442" y="2008063"/>
            <a:ext cx="1444785" cy="264319"/>
          </a:xfrm>
          <a:prstGeom prst="rect">
            <a:avLst/>
          </a:prstGeom>
          <a:noFill/>
          <a:ln/>
        </p:spPr>
        <p:txBody>
          <a:bodyPr wrap="square" lIns="0" tIns="0" rIns="0" bIns="0" rtlCol="0" anchor="t"/>
          <a:lstStyle/>
          <a:p>
            <a:pPr algn="l" indent="0" marL="0">
              <a:lnSpc>
                <a:spcPts val="856"/>
              </a:lnSpc>
              <a:buNone/>
            </a:pPr>
            <a:r>
              <a:rPr lang="en-US" sz="800" dirty="0">
                <a:solidFill>
                  <a:srgbClr val="5B6B82"/>
                </a:solidFill>
                <a:latin typeface="Carlito" pitchFamily="34" charset="0"/>
                <a:ea typeface="Carlito" pitchFamily="34" charset="-122"/>
                <a:cs typeface="Carlito" pitchFamily="34" charset="-120"/>
              </a:rPr>
              <a:t>Horizontal/vertical gaze for left, right, combined. Computed from blendshapes.</a:t>
            </a:r>
            <a:endParaRPr lang="en-US" sz="800" dirty="0"/>
          </a:p>
        </p:txBody>
      </p:sp>
      <p:sp>
        <p:nvSpPr>
          <p:cNvPr id="26" name="Text 24"/>
          <p:cNvSpPr/>
          <p:nvPr/>
        </p:nvSpPr>
        <p:spPr>
          <a:xfrm>
            <a:off x="5449900" y="1282973"/>
            <a:ext cx="1570174" cy="1078706"/>
          </a:xfrm>
          <a:prstGeom prst="roundRect">
            <a:avLst>
              <a:gd name="adj" fmla="val 883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27" name="Text 25"/>
          <p:cNvSpPr/>
          <p:nvPr/>
        </p:nvSpPr>
        <p:spPr>
          <a:xfrm>
            <a:off x="5530624" y="1362733"/>
            <a:ext cx="798939" cy="178022"/>
          </a:xfrm>
          <a:prstGeom prst="roundRect">
            <a:avLst>
              <a:gd name="adj" fmla="val 5345112"/>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28" name="Text 26"/>
          <p:cNvSpPr/>
          <p:nvPr/>
        </p:nvSpPr>
        <p:spPr>
          <a:xfrm>
            <a:off x="5723043" y="1407988"/>
            <a:ext cx="528401" cy="127053"/>
          </a:xfrm>
          <a:prstGeom prst="rect">
            <a:avLst/>
          </a:prstGeom>
          <a:noFill/>
          <a:ln/>
        </p:spPr>
        <p:txBody>
          <a:bodyPr wrap="none" lIns="0" tIns="0" rIns="0" bIns="0" rtlCol="0" anchor="t"/>
          <a:lstStyle/>
          <a:p>
            <a:pPr algn="l" indent="0" marL="0">
              <a:lnSpc>
                <a:spcPts val="802"/>
              </a:lnSpc>
              <a:buNone/>
            </a:pPr>
            <a:r>
              <a:rPr lang="en-US" sz="600" b="1" spc="53" kern="0" dirty="0">
                <a:solidFill>
                  <a:srgbClr val="0F1F3D"/>
                </a:solidFill>
                <a:latin typeface="Carlito" pitchFamily="34" charset="0"/>
                <a:ea typeface="Carlito" pitchFamily="34" charset="-122"/>
                <a:cs typeface="Carlito" pitchFamily="34" charset="-120"/>
              </a:rPr>
              <a:t>COMPOSITE</a:t>
            </a:r>
            <a:endParaRPr lang="en-US" sz="600" dirty="0"/>
          </a:p>
        </p:txBody>
      </p:sp>
      <p:sp>
        <p:nvSpPr>
          <p:cNvPr id="29" name="Text 27"/>
          <p:cNvSpPr/>
          <p:nvPr/>
        </p:nvSpPr>
        <p:spPr>
          <a:xfrm>
            <a:off x="5617778" y="1412453"/>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30" name="Text 28"/>
          <p:cNvSpPr/>
          <p:nvPr/>
        </p:nvSpPr>
        <p:spPr>
          <a:xfrm>
            <a:off x="5553484" y="1588368"/>
            <a:ext cx="1363005" cy="229743"/>
          </a:xfrm>
          <a:prstGeom prst="rect">
            <a:avLst/>
          </a:prstGeom>
          <a:noFill/>
          <a:ln/>
        </p:spPr>
        <p:txBody>
          <a:bodyPr wrap="none" lIns="0" tIns="0" rIns="0" bIns="0" rtlCol="0" anchor="t">
            <a:normAutofit/>
          </a:bodyPr>
          <a:lstStyle/>
          <a:p>
            <a:pPr algn="l" indent="0" marL="0">
              <a:lnSpc>
                <a:spcPts val="1688"/>
              </a:lnSpc>
              <a:buNone/>
            </a:pPr>
            <a:r>
              <a:rPr lang="en-US" sz="1688" b="1" spc="-34" kern="0" dirty="0">
                <a:solidFill>
                  <a:srgbClr val="0F766E"/>
                </a:solidFill>
                <a:latin typeface="Liberation Sans Narrow" pitchFamily="34" charset="0"/>
                <a:ea typeface="Liberation Sans Narrow" pitchFamily="34" charset="-122"/>
                <a:cs typeface="Liberation Sans Narrow" pitchFamily="34" charset="-120"/>
              </a:rPr>
              <a:t>10D</a:t>
            </a:r>
            <a:endParaRPr lang="en-US" sz="1688" dirty="0"/>
          </a:p>
        </p:txBody>
      </p:sp>
      <p:sp>
        <p:nvSpPr>
          <p:cNvPr id="31" name="Text 29"/>
          <p:cNvSpPr/>
          <p:nvPr/>
        </p:nvSpPr>
        <p:spPr>
          <a:xfrm>
            <a:off x="5553484" y="1845543"/>
            <a:ext cx="1363005" cy="135088"/>
          </a:xfrm>
          <a:prstGeom prst="rect">
            <a:avLst/>
          </a:prstGeom>
          <a:noFill/>
          <a:ln/>
        </p:spPr>
        <p:txBody>
          <a:bodyPr wrap="none" lIns="0" tIns="0" rIns="0" bIns="0" rtlCol="0" anchor="t">
            <a:normAutofit/>
          </a:bodyPr>
          <a:lstStyle/>
          <a:p>
            <a:pPr algn="l" indent="0" marL="0">
              <a:lnSpc>
                <a:spcPts val="1055"/>
              </a:lnSpc>
              <a:buNone/>
            </a:pPr>
            <a:r>
              <a:rPr lang="en-US" sz="800" b="1" spc="-4" kern="0" dirty="0">
                <a:solidFill>
                  <a:srgbClr val="0F1F3D"/>
                </a:solidFill>
                <a:latin typeface="Carlito" pitchFamily="34" charset="0"/>
                <a:ea typeface="Carlito" pitchFamily="34" charset="-122"/>
                <a:cs typeface="Carlito" pitchFamily="34" charset="-120"/>
              </a:rPr>
              <a:t>Composite</a:t>
            </a:r>
            <a:endParaRPr lang="en-US" sz="800" dirty="0"/>
          </a:p>
        </p:txBody>
      </p:sp>
      <p:sp>
        <p:nvSpPr>
          <p:cNvPr id="32" name="Text 30"/>
          <p:cNvSpPr/>
          <p:nvPr/>
        </p:nvSpPr>
        <p:spPr>
          <a:xfrm>
            <a:off x="5553484" y="2008063"/>
            <a:ext cx="1444785" cy="264319"/>
          </a:xfrm>
          <a:prstGeom prst="rect">
            <a:avLst/>
          </a:prstGeom>
          <a:noFill/>
          <a:ln/>
        </p:spPr>
        <p:txBody>
          <a:bodyPr wrap="square" lIns="0" tIns="0" rIns="0" bIns="0" rtlCol="0" anchor="t"/>
          <a:lstStyle/>
          <a:p>
            <a:pPr algn="l" indent="0" marL="0">
              <a:lnSpc>
                <a:spcPts val="856"/>
              </a:lnSpc>
              <a:buNone/>
            </a:pPr>
            <a:r>
              <a:rPr lang="en-US" sz="800" dirty="0">
                <a:solidFill>
                  <a:srgbClr val="5B6B82"/>
                </a:solidFill>
                <a:latin typeface="Carlito" pitchFamily="34" charset="0"/>
                <a:ea typeface="Carlito" pitchFamily="34" charset="-122"/>
                <a:cs typeface="Carlito" pitchFamily="34" charset="-120"/>
              </a:rPr>
              <a:t>Regional activity levels, symmetry, state-specific indicators.</a:t>
            </a:r>
            <a:endParaRPr lang="en-US" sz="800" dirty="0"/>
          </a:p>
        </p:txBody>
      </p:sp>
      <p:sp>
        <p:nvSpPr>
          <p:cNvPr id="33" name="Text 31"/>
          <p:cNvSpPr/>
          <p:nvPr/>
        </p:nvSpPr>
        <p:spPr>
          <a:xfrm>
            <a:off x="7112943" y="1282973"/>
            <a:ext cx="1570286" cy="1078706"/>
          </a:xfrm>
          <a:prstGeom prst="roundRect">
            <a:avLst>
              <a:gd name="adj" fmla="val 883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34" name="Text 32"/>
          <p:cNvSpPr/>
          <p:nvPr/>
        </p:nvSpPr>
        <p:spPr>
          <a:xfrm>
            <a:off x="7193667" y="1362733"/>
            <a:ext cx="745584" cy="178022"/>
          </a:xfrm>
          <a:prstGeom prst="roundRect">
            <a:avLst>
              <a:gd name="adj" fmla="val 5345112"/>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35" name="Text 33"/>
          <p:cNvSpPr/>
          <p:nvPr/>
        </p:nvSpPr>
        <p:spPr>
          <a:xfrm>
            <a:off x="7387282" y="1407988"/>
            <a:ext cx="472653" cy="127053"/>
          </a:xfrm>
          <a:prstGeom prst="rect">
            <a:avLst/>
          </a:prstGeom>
          <a:noFill/>
          <a:ln/>
        </p:spPr>
        <p:txBody>
          <a:bodyPr wrap="none" lIns="0" tIns="0" rIns="0" bIns="0" rtlCol="0" anchor="t"/>
          <a:lstStyle/>
          <a:p>
            <a:pPr algn="l" indent="0" marL="0">
              <a:lnSpc>
                <a:spcPts val="802"/>
              </a:lnSpc>
              <a:buNone/>
            </a:pPr>
            <a:r>
              <a:rPr lang="en-US" sz="600" b="1" spc="53" kern="0" dirty="0">
                <a:solidFill>
                  <a:srgbClr val="0F1F3D"/>
                </a:solidFill>
                <a:latin typeface="Carlito" pitchFamily="34" charset="0"/>
                <a:ea typeface="Carlito" pitchFamily="34" charset="-122"/>
                <a:cs typeface="Carlito" pitchFamily="34" charset="-120"/>
              </a:rPr>
              <a:t>DYNAMICS</a:t>
            </a:r>
            <a:endParaRPr lang="en-US" sz="600" dirty="0"/>
          </a:p>
        </p:txBody>
      </p:sp>
      <p:sp>
        <p:nvSpPr>
          <p:cNvPr id="36" name="Text 34"/>
          <p:cNvSpPr/>
          <p:nvPr/>
        </p:nvSpPr>
        <p:spPr>
          <a:xfrm>
            <a:off x="7280821" y="1412453"/>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37" name="Text 35"/>
          <p:cNvSpPr/>
          <p:nvPr/>
        </p:nvSpPr>
        <p:spPr>
          <a:xfrm>
            <a:off x="7216527" y="1588368"/>
            <a:ext cx="1363117" cy="229743"/>
          </a:xfrm>
          <a:prstGeom prst="rect">
            <a:avLst/>
          </a:prstGeom>
          <a:noFill/>
          <a:ln/>
        </p:spPr>
        <p:txBody>
          <a:bodyPr wrap="none" lIns="0" tIns="0" rIns="0" bIns="0" rtlCol="0" anchor="t">
            <a:normAutofit/>
          </a:bodyPr>
          <a:lstStyle/>
          <a:p>
            <a:pPr algn="l" indent="0" marL="0">
              <a:lnSpc>
                <a:spcPts val="1688"/>
              </a:lnSpc>
              <a:buNone/>
            </a:pPr>
            <a:r>
              <a:rPr lang="en-US" sz="1688" b="1" spc="-34" kern="0" dirty="0">
                <a:solidFill>
                  <a:srgbClr val="0F766E"/>
                </a:solidFill>
                <a:latin typeface="Liberation Sans Narrow" pitchFamily="34" charset="0"/>
                <a:ea typeface="Liberation Sans Narrow" pitchFamily="34" charset="-122"/>
                <a:cs typeface="Liberation Sans Narrow" pitchFamily="34" charset="-120"/>
              </a:rPr>
              <a:t>4D</a:t>
            </a:r>
            <a:endParaRPr lang="en-US" sz="1688" dirty="0"/>
          </a:p>
        </p:txBody>
      </p:sp>
      <p:sp>
        <p:nvSpPr>
          <p:cNvPr id="38" name="Text 36"/>
          <p:cNvSpPr/>
          <p:nvPr/>
        </p:nvSpPr>
        <p:spPr>
          <a:xfrm>
            <a:off x="7216527" y="1845543"/>
            <a:ext cx="1363117" cy="135088"/>
          </a:xfrm>
          <a:prstGeom prst="rect">
            <a:avLst/>
          </a:prstGeom>
          <a:noFill/>
          <a:ln/>
        </p:spPr>
        <p:txBody>
          <a:bodyPr wrap="none" lIns="0" tIns="0" rIns="0" bIns="0" rtlCol="0" anchor="t">
            <a:normAutofit/>
          </a:bodyPr>
          <a:lstStyle/>
          <a:p>
            <a:pPr algn="l" indent="0" marL="0">
              <a:lnSpc>
                <a:spcPts val="1055"/>
              </a:lnSpc>
              <a:buNone/>
            </a:pPr>
            <a:r>
              <a:rPr lang="en-US" sz="800" b="1" spc="-4" kern="0" dirty="0">
                <a:solidFill>
                  <a:srgbClr val="0F1F3D"/>
                </a:solidFill>
                <a:latin typeface="Carlito" pitchFamily="34" charset="0"/>
                <a:ea typeface="Carlito" pitchFamily="34" charset="-122"/>
                <a:cs typeface="Carlito" pitchFamily="34" charset="-120"/>
              </a:rPr>
              <a:t>Dynamics</a:t>
            </a:r>
            <a:endParaRPr lang="en-US" sz="800" dirty="0"/>
          </a:p>
        </p:txBody>
      </p:sp>
      <p:sp>
        <p:nvSpPr>
          <p:cNvPr id="39" name="Text 37"/>
          <p:cNvSpPr/>
          <p:nvPr/>
        </p:nvSpPr>
        <p:spPr>
          <a:xfrm>
            <a:off x="7216527" y="2008063"/>
            <a:ext cx="1444904" cy="264319"/>
          </a:xfrm>
          <a:prstGeom prst="rect">
            <a:avLst/>
          </a:prstGeom>
          <a:noFill/>
          <a:ln/>
        </p:spPr>
        <p:txBody>
          <a:bodyPr wrap="square" lIns="0" tIns="0" rIns="0" bIns="0" rtlCol="0" anchor="t"/>
          <a:lstStyle/>
          <a:p>
            <a:pPr algn="l" indent="0" marL="0">
              <a:lnSpc>
                <a:spcPts val="856"/>
              </a:lnSpc>
              <a:buNone/>
            </a:pPr>
            <a:r>
              <a:rPr lang="en-US" sz="800" dirty="0">
                <a:solidFill>
                  <a:srgbClr val="5B6B82"/>
                </a:solidFill>
                <a:latin typeface="Carlito" pitchFamily="34" charset="0"/>
                <a:ea typeface="Carlito" pitchFamily="34" charset="-122"/>
                <a:cs typeface="Carlito" pitchFamily="34" charset="-120"/>
              </a:rPr>
              <a:t>Animation level, expression intensity, active region count, facial tension.</a:t>
            </a:r>
            <a:endParaRPr lang="en-US" sz="800" dirty="0"/>
          </a:p>
        </p:txBody>
      </p:sp>
      <p:sp>
        <p:nvSpPr>
          <p:cNvPr id="40" name="Text 38"/>
          <p:cNvSpPr/>
          <p:nvPr/>
        </p:nvSpPr>
        <p:spPr>
          <a:xfrm>
            <a:off x="457200" y="2450976"/>
            <a:ext cx="4071938" cy="914846"/>
          </a:xfrm>
          <a:prstGeom prst="roundRect">
            <a:avLst>
              <a:gd name="adj" fmla="val 10412"/>
            </a:avLst>
          </a:prstGeom>
          <a:solidFill>
            <a:srgbClr val="F6F8FB"/>
          </a:solidFill>
          <a:ln/>
        </p:spPr>
        <p:txBody>
          <a:bodyPr wrap="square" rtlCol="0" anchor="ctr"/>
          <a:lstStyle/>
          <a:p>
            <a:pPr indent="0" marL="0">
              <a:buNone/>
            </a:pPr>
            <a:endParaRPr lang="en-US" dirty="0"/>
          </a:p>
        </p:txBody>
      </p:sp>
      <p:sp>
        <p:nvSpPr>
          <p:cNvPr id="41" name="Text 39"/>
          <p:cNvSpPr/>
          <p:nvPr/>
        </p:nvSpPr>
        <p:spPr>
          <a:xfrm>
            <a:off x="692944" y="2550988"/>
            <a:ext cx="1615890" cy="120701"/>
          </a:xfrm>
          <a:prstGeom prst="rect">
            <a:avLst/>
          </a:prstGeom>
          <a:noFill/>
          <a:ln/>
        </p:spPr>
        <p:txBody>
          <a:bodyPr wrap="none" lIns="0" tIns="0" rIns="0" bIns="0" rtlCol="0" anchor="t"/>
          <a:lstStyle/>
          <a:p>
            <a:pPr algn="l" indent="0" marL="0">
              <a:lnSpc>
                <a:spcPts val="844"/>
              </a:lnSpc>
              <a:buNone/>
            </a:pPr>
            <a:r>
              <a:rPr lang="en-US" sz="800" b="1" spc="90" kern="0" dirty="0">
                <a:solidFill>
                  <a:srgbClr val="0F766E"/>
                </a:solidFill>
                <a:latin typeface="Carlito" pitchFamily="34" charset="0"/>
                <a:ea typeface="Carlito" pitchFamily="34" charset="-122"/>
                <a:cs typeface="Carlito" pitchFamily="34" charset="-120"/>
              </a:rPr>
              <a:t>SEMANTIC SUB-GROUPS</a:t>
            </a:r>
            <a:endParaRPr lang="en-US" sz="800" dirty="0"/>
          </a:p>
        </p:txBody>
      </p:sp>
      <p:sp>
        <p:nvSpPr>
          <p:cNvPr id="42" name="Text 40"/>
          <p:cNvSpPr/>
          <p:nvPr/>
        </p:nvSpPr>
        <p:spPr>
          <a:xfrm>
            <a:off x="557213" y="2543845"/>
            <a:ext cx="92869" cy="92869"/>
          </a:xfrm>
          <a:prstGeom prst="rect">
            <a:avLst/>
          </a:prstGeom>
          <a:noFill/>
          <a:ln/>
        </p:spPr>
        <p:txBody>
          <a:bodyPr wrap="none" lIns="0" tIns="0" rIns="0" bIns="0" rtlCol="0" anchor="ctr"/>
          <a:lstStyle/>
          <a:p>
            <a:pPr algn="ctr" indent="0" marL="0">
              <a:buNone/>
            </a:pPr>
            <a:r>
              <a:rPr lang="en-US" sz="914" dirty="0">
                <a:solidFill>
                  <a:srgbClr val="0F766E"/>
                </a:solidFill>
                <a:latin typeface="Segoe UI Symbol" pitchFamily="34" charset="0"/>
                <a:ea typeface="Segoe UI Symbol" pitchFamily="34" charset="-122"/>
                <a:cs typeface="Segoe UI Symbol" pitchFamily="34" charset="-120"/>
              </a:rPr>
              <a:t>▦</a:t>
            </a:r>
            <a:endParaRPr lang="en-US" sz="914" dirty="0"/>
          </a:p>
        </p:txBody>
      </p:sp>
      <p:sp>
        <p:nvSpPr>
          <p:cNvPr id="43" name="Text 41"/>
          <p:cNvSpPr/>
          <p:nvPr/>
        </p:nvSpPr>
        <p:spPr>
          <a:xfrm>
            <a:off x="557213" y="2691149"/>
            <a:ext cx="884039" cy="184023"/>
          </a:xfrm>
          <a:prstGeom prst="roundRect">
            <a:avLst>
              <a:gd name="adj" fmla="val 20704"/>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44" name="Text 42"/>
          <p:cNvSpPr/>
          <p:nvPr/>
        </p:nvSpPr>
        <p:spPr>
          <a:xfrm>
            <a:off x="557213" y="2701007"/>
            <a:ext cx="884039" cy="164306"/>
          </a:xfrm>
          <a:prstGeom prst="rect">
            <a:avLst/>
          </a:prstGeom>
          <a:noFill/>
          <a:ln/>
        </p:spPr>
        <p:txBody>
          <a:bodyPr wrap="none" lIns="0" tIns="0" rIns="0" bIns="0" rtlCol="0" anchor="ctr"/>
          <a:lstStyle/>
          <a:p>
            <a:pPr algn="ctr" indent="0" marL="0">
              <a:lnSpc>
                <a:spcPts val="844"/>
              </a:lnSpc>
              <a:buNone/>
            </a:pPr>
            <a:r>
              <a:rPr lang="en-US" sz="800" spc="11" kern="0" dirty="0">
                <a:solidFill>
                  <a:srgbClr val="0F1F3D"/>
                </a:solidFill>
                <a:latin typeface="Liberation Sans Narrow" pitchFamily="34" charset="0"/>
                <a:ea typeface="Liberation Sans Narrow" pitchFamily="34" charset="-122"/>
                <a:cs typeface="Liberation Sans Narrow" pitchFamily="34" charset="-120"/>
              </a:rPr>
              <a:t>Eyebrow (idx 0–4)</a:t>
            </a:r>
            <a:endParaRPr lang="en-US" sz="800" dirty="0"/>
          </a:p>
        </p:txBody>
      </p:sp>
      <p:sp>
        <p:nvSpPr>
          <p:cNvPr id="45" name="Text 43"/>
          <p:cNvSpPr/>
          <p:nvPr/>
        </p:nvSpPr>
        <p:spPr>
          <a:xfrm>
            <a:off x="1484114" y="2691149"/>
            <a:ext cx="573063" cy="184023"/>
          </a:xfrm>
          <a:prstGeom prst="roundRect">
            <a:avLst>
              <a:gd name="adj" fmla="val 20704"/>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46" name="Text 44"/>
          <p:cNvSpPr/>
          <p:nvPr/>
        </p:nvSpPr>
        <p:spPr>
          <a:xfrm>
            <a:off x="1444154" y="2701007"/>
            <a:ext cx="652983" cy="164306"/>
          </a:xfrm>
          <a:prstGeom prst="rect">
            <a:avLst/>
          </a:prstGeom>
          <a:noFill/>
          <a:ln/>
        </p:spPr>
        <p:txBody>
          <a:bodyPr wrap="none" lIns="0" tIns="0" rIns="0" bIns="0" rtlCol="0" anchor="ctr"/>
          <a:lstStyle/>
          <a:p>
            <a:pPr algn="ctr" indent="0" marL="0">
              <a:lnSpc>
                <a:spcPts val="844"/>
              </a:lnSpc>
              <a:buNone/>
            </a:pPr>
            <a:r>
              <a:rPr lang="en-US" sz="800" spc="11" kern="0" dirty="0">
                <a:solidFill>
                  <a:srgbClr val="0F1F3D"/>
                </a:solidFill>
                <a:latin typeface="Liberation Sans Narrow" pitchFamily="34" charset="0"/>
                <a:ea typeface="Liberation Sans Narrow" pitchFamily="34" charset="-122"/>
                <a:cs typeface="Liberation Sans Narrow" pitchFamily="34" charset="-120"/>
              </a:rPr>
              <a:t>Eye (8–21)</a:t>
            </a:r>
            <a:endParaRPr lang="en-US" sz="800" dirty="0"/>
          </a:p>
        </p:txBody>
      </p:sp>
      <p:sp>
        <p:nvSpPr>
          <p:cNvPr id="47" name="Text 45"/>
          <p:cNvSpPr/>
          <p:nvPr/>
        </p:nvSpPr>
        <p:spPr>
          <a:xfrm>
            <a:off x="2100039" y="2691149"/>
            <a:ext cx="617488" cy="184023"/>
          </a:xfrm>
          <a:prstGeom prst="roundRect">
            <a:avLst>
              <a:gd name="adj" fmla="val 20704"/>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48" name="Text 46"/>
          <p:cNvSpPr/>
          <p:nvPr/>
        </p:nvSpPr>
        <p:spPr>
          <a:xfrm>
            <a:off x="2045126" y="2701007"/>
            <a:ext cx="727314" cy="164306"/>
          </a:xfrm>
          <a:prstGeom prst="rect">
            <a:avLst/>
          </a:prstGeom>
          <a:noFill/>
          <a:ln/>
        </p:spPr>
        <p:txBody>
          <a:bodyPr wrap="none" lIns="0" tIns="0" rIns="0" bIns="0" rtlCol="0" anchor="ctr"/>
          <a:lstStyle/>
          <a:p>
            <a:pPr algn="ctr" indent="0" marL="0">
              <a:lnSpc>
                <a:spcPts val="844"/>
              </a:lnSpc>
              <a:buNone/>
            </a:pPr>
            <a:r>
              <a:rPr lang="en-US" sz="800" spc="11" kern="0" dirty="0">
                <a:solidFill>
                  <a:srgbClr val="0F1F3D"/>
                </a:solidFill>
                <a:latin typeface="Liberation Sans Narrow" pitchFamily="34" charset="0"/>
                <a:ea typeface="Liberation Sans Narrow" pitchFamily="34" charset="-122"/>
                <a:cs typeface="Liberation Sans Narrow" pitchFamily="34" charset="-120"/>
              </a:rPr>
              <a:t>Jaw (21–24)</a:t>
            </a:r>
            <a:endParaRPr lang="en-US" sz="800" dirty="0"/>
          </a:p>
        </p:txBody>
      </p:sp>
      <p:sp>
        <p:nvSpPr>
          <p:cNvPr id="49" name="Text 47"/>
          <p:cNvSpPr/>
          <p:nvPr/>
        </p:nvSpPr>
        <p:spPr>
          <a:xfrm>
            <a:off x="2760390" y="2691149"/>
            <a:ext cx="706338" cy="184023"/>
          </a:xfrm>
          <a:prstGeom prst="roundRect">
            <a:avLst>
              <a:gd name="adj" fmla="val 20704"/>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50" name="Text 48"/>
          <p:cNvSpPr/>
          <p:nvPr/>
        </p:nvSpPr>
        <p:spPr>
          <a:xfrm>
            <a:off x="2687560" y="2701007"/>
            <a:ext cx="851997" cy="164306"/>
          </a:xfrm>
          <a:prstGeom prst="rect">
            <a:avLst/>
          </a:prstGeom>
          <a:noFill/>
          <a:ln/>
        </p:spPr>
        <p:txBody>
          <a:bodyPr wrap="none" lIns="0" tIns="0" rIns="0" bIns="0" rtlCol="0" anchor="ctr"/>
          <a:lstStyle/>
          <a:p>
            <a:pPr algn="ctr" indent="0" marL="0">
              <a:lnSpc>
                <a:spcPts val="844"/>
              </a:lnSpc>
              <a:buNone/>
            </a:pPr>
            <a:r>
              <a:rPr lang="en-US" sz="800" spc="11" kern="0" dirty="0">
                <a:solidFill>
                  <a:srgbClr val="0F1F3D"/>
                </a:solidFill>
                <a:latin typeface="Liberation Sans Narrow" pitchFamily="34" charset="0"/>
                <a:ea typeface="Liberation Sans Narrow" pitchFamily="34" charset="-122"/>
                <a:cs typeface="Liberation Sans Narrow" pitchFamily="34" charset="-120"/>
              </a:rPr>
              <a:t>Mouth (25–49)</a:t>
            </a:r>
            <a:endParaRPr lang="en-US" sz="800" dirty="0"/>
          </a:p>
        </p:txBody>
      </p:sp>
      <p:sp>
        <p:nvSpPr>
          <p:cNvPr id="51" name="Text 49"/>
          <p:cNvSpPr/>
          <p:nvPr/>
        </p:nvSpPr>
        <p:spPr>
          <a:xfrm>
            <a:off x="3509590" y="2691149"/>
            <a:ext cx="661913" cy="184023"/>
          </a:xfrm>
          <a:prstGeom prst="roundRect">
            <a:avLst>
              <a:gd name="adj" fmla="val 20704"/>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52" name="Text 50"/>
          <p:cNvSpPr/>
          <p:nvPr/>
        </p:nvSpPr>
        <p:spPr>
          <a:xfrm>
            <a:off x="3445719" y="2701007"/>
            <a:ext cx="789656" cy="164306"/>
          </a:xfrm>
          <a:prstGeom prst="rect">
            <a:avLst/>
          </a:prstGeom>
          <a:noFill/>
          <a:ln/>
        </p:spPr>
        <p:txBody>
          <a:bodyPr wrap="none" lIns="0" tIns="0" rIns="0" bIns="0" rtlCol="0" anchor="ctr"/>
          <a:lstStyle/>
          <a:p>
            <a:pPr algn="ctr" indent="0" marL="0">
              <a:lnSpc>
                <a:spcPts val="844"/>
              </a:lnSpc>
              <a:buNone/>
            </a:pPr>
            <a:r>
              <a:rPr lang="en-US" sz="800" spc="11" kern="0" dirty="0">
                <a:solidFill>
                  <a:srgbClr val="0F1F3D"/>
                </a:solidFill>
                <a:latin typeface="Liberation Sans Narrow" pitchFamily="34" charset="0"/>
                <a:ea typeface="Liberation Sans Narrow" pitchFamily="34" charset="-122"/>
                <a:cs typeface="Liberation Sans Narrow" pitchFamily="34" charset="-120"/>
              </a:rPr>
              <a:t>Nose (50–51)</a:t>
            </a:r>
            <a:endParaRPr lang="en-US" sz="800" dirty="0"/>
          </a:p>
        </p:txBody>
      </p:sp>
      <p:sp>
        <p:nvSpPr>
          <p:cNvPr id="53" name="Text 51"/>
          <p:cNvSpPr/>
          <p:nvPr/>
        </p:nvSpPr>
        <p:spPr>
          <a:xfrm>
            <a:off x="534353" y="2898318"/>
            <a:ext cx="663208" cy="184023"/>
          </a:xfrm>
          <a:prstGeom prst="roundRect">
            <a:avLst>
              <a:gd name="adj" fmla="val 20704"/>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54" name="Text 52"/>
          <p:cNvSpPr/>
          <p:nvPr/>
        </p:nvSpPr>
        <p:spPr>
          <a:xfrm>
            <a:off x="514288" y="2908176"/>
            <a:ext cx="703336" cy="164306"/>
          </a:xfrm>
          <a:prstGeom prst="rect">
            <a:avLst/>
          </a:prstGeom>
          <a:noFill/>
          <a:ln/>
        </p:spPr>
        <p:txBody>
          <a:bodyPr wrap="none" lIns="0" tIns="0" rIns="0" bIns="0" rtlCol="0" anchor="ctr"/>
          <a:lstStyle/>
          <a:p>
            <a:pPr algn="ctr" indent="0" marL="0">
              <a:lnSpc>
                <a:spcPts val="844"/>
              </a:lnSpc>
              <a:buNone/>
            </a:pPr>
            <a:r>
              <a:rPr lang="en-US" sz="800" spc="11" kern="0" dirty="0">
                <a:solidFill>
                  <a:srgbClr val="0F1F3D"/>
                </a:solidFill>
                <a:latin typeface="Liberation Sans Narrow" pitchFamily="34" charset="0"/>
                <a:ea typeface="Liberation Sans Narrow" pitchFamily="34" charset="-122"/>
                <a:cs typeface="Liberation Sans Narrow" pitchFamily="34" charset="-120"/>
              </a:rPr>
              <a:t>Cheek (5–6)</a:t>
            </a:r>
            <a:endParaRPr lang="en-US" sz="800" dirty="0"/>
          </a:p>
        </p:txBody>
      </p:sp>
      <p:sp>
        <p:nvSpPr>
          <p:cNvPr id="55" name="Text 53"/>
          <p:cNvSpPr/>
          <p:nvPr/>
        </p:nvSpPr>
        <p:spPr>
          <a:xfrm>
            <a:off x="4614863" y="2450976"/>
            <a:ext cx="4071938" cy="914846"/>
          </a:xfrm>
          <a:prstGeom prst="roundRect">
            <a:avLst>
              <a:gd name="adj" fmla="val 10412"/>
            </a:avLst>
          </a:prstGeom>
          <a:solidFill>
            <a:srgbClr val="F6F8FB"/>
          </a:solidFill>
          <a:ln/>
        </p:spPr>
        <p:txBody>
          <a:bodyPr wrap="square" rtlCol="0" anchor="ctr"/>
          <a:lstStyle/>
          <a:p>
            <a:pPr indent="0" marL="0">
              <a:buNone/>
            </a:pPr>
            <a:endParaRPr lang="en-US" dirty="0"/>
          </a:p>
        </p:txBody>
      </p:sp>
      <p:sp>
        <p:nvSpPr>
          <p:cNvPr id="56" name="Text 54"/>
          <p:cNvSpPr/>
          <p:nvPr/>
        </p:nvSpPr>
        <p:spPr>
          <a:xfrm>
            <a:off x="4850606" y="2550988"/>
            <a:ext cx="1589100" cy="120701"/>
          </a:xfrm>
          <a:prstGeom prst="rect">
            <a:avLst/>
          </a:prstGeom>
          <a:noFill/>
          <a:ln/>
        </p:spPr>
        <p:txBody>
          <a:bodyPr wrap="none" lIns="0" tIns="0" rIns="0" bIns="0" rtlCol="0" anchor="t"/>
          <a:lstStyle/>
          <a:p>
            <a:pPr algn="l" indent="0" marL="0">
              <a:lnSpc>
                <a:spcPts val="844"/>
              </a:lnSpc>
              <a:buNone/>
            </a:pPr>
            <a:r>
              <a:rPr lang="en-US" sz="600" b="1" spc="90" kern="0" dirty="0">
                <a:solidFill>
                  <a:srgbClr val="0F766E"/>
                </a:solidFill>
                <a:latin typeface="Carlito" pitchFamily="34" charset="0"/>
                <a:ea typeface="Carlito" pitchFamily="34" charset="-122"/>
                <a:cs typeface="Carlito" pitchFamily="34" charset="-120"/>
              </a:rPr>
              <a:t>STATE-SPECIFIC SUB-GROUPS</a:t>
            </a:r>
            <a:endParaRPr lang="en-US" sz="600" dirty="0"/>
          </a:p>
        </p:txBody>
      </p:sp>
      <p:sp>
        <p:nvSpPr>
          <p:cNvPr id="57" name="Text 55"/>
          <p:cNvSpPr/>
          <p:nvPr/>
        </p:nvSpPr>
        <p:spPr>
          <a:xfrm>
            <a:off x="4714875" y="2543845"/>
            <a:ext cx="92869" cy="92869"/>
          </a:xfrm>
          <a:prstGeom prst="rect">
            <a:avLst/>
          </a:prstGeom>
          <a:noFill/>
          <a:ln/>
        </p:spPr>
        <p:txBody>
          <a:bodyPr wrap="none" lIns="0" tIns="0" rIns="0" bIns="0" rtlCol="0" anchor="ctr"/>
          <a:lstStyle/>
          <a:p>
            <a:pPr algn="ctr" indent="0" marL="0">
              <a:buNone/>
            </a:pPr>
            <a:r>
              <a:rPr lang="en-US" sz="914" dirty="0">
                <a:solidFill>
                  <a:srgbClr val="0F766E"/>
                </a:solidFill>
                <a:latin typeface="Segoe UI Symbol" pitchFamily="34" charset="0"/>
                <a:ea typeface="Segoe UI Symbol" pitchFamily="34" charset="-122"/>
                <a:cs typeface="Segoe UI Symbol" pitchFamily="34" charset="-120"/>
              </a:rPr>
              <a:t>◯</a:t>
            </a:r>
            <a:endParaRPr lang="en-US" sz="914" dirty="0"/>
          </a:p>
        </p:txBody>
      </p:sp>
      <p:sp>
        <p:nvSpPr>
          <p:cNvPr id="58" name="Text 56"/>
          <p:cNvSpPr/>
          <p:nvPr/>
        </p:nvSpPr>
        <p:spPr>
          <a:xfrm>
            <a:off x="4714875" y="2643857"/>
            <a:ext cx="3981640" cy="131628"/>
          </a:xfrm>
          <a:prstGeom prst="rect">
            <a:avLst/>
          </a:prstGeom>
          <a:noFill/>
          <a:ln/>
        </p:spPr>
        <p:txBody>
          <a:bodyPr wrap="square" lIns="0" tIns="21431" rIns="0" bIns="21431" rtlCol="0" anchor="t">
            <a:normAutofit/>
          </a:bodyPr>
          <a:lstStyle/>
          <a:p>
            <a:pPr algn="l" indent="0" marL="0">
              <a:lnSpc>
                <a:spcPts val="915"/>
              </a:lnSpc>
              <a:buNone/>
            </a:pPr>
            <a:r>
              <a:rPr lang="en-US" sz="800" b="1" dirty="0">
                <a:solidFill>
                  <a:srgbClr val="0F1F3D"/>
                </a:solidFill>
                <a:latin typeface="Carlito" pitchFamily="34" charset="0"/>
                <a:ea typeface="Carlito" pitchFamily="34" charset="-122"/>
                <a:cs typeface="Carlito" pitchFamily="34" charset="-120"/>
              </a:rPr>
              <a:t>Boredom:</a:t>
            </a:r>
            <a:pPr algn="l" indent="0" marL="0">
              <a:lnSpc>
                <a:spcPts val="915"/>
              </a:lnSpc>
              <a:buNone/>
            </a:pPr>
            <a:r>
              <a:rPr lang="en-US" sz="800" dirty="0">
                <a:solidFill>
                  <a:srgbClr val="5B6B82"/>
                </a:solidFill>
                <a:latin typeface="Carlito" pitchFamily="34" charset="0"/>
                <a:ea typeface="Carlito" pitchFamily="34" charset="-122"/>
                <a:cs typeface="Carlito" pitchFamily="34" charset="-120"/>
              </a:rPr>
              <a:t> eyeBlink, eyeLookDown, jawOpen</a:t>
            </a:r>
            <a:endParaRPr lang="en-US" sz="800" dirty="0"/>
          </a:p>
        </p:txBody>
      </p:sp>
      <p:sp>
        <p:nvSpPr>
          <p:cNvPr id="59" name="Text 57"/>
          <p:cNvSpPr/>
          <p:nvPr/>
        </p:nvSpPr>
        <p:spPr>
          <a:xfrm>
            <a:off x="4714875" y="2802917"/>
            <a:ext cx="3981640" cy="131628"/>
          </a:xfrm>
          <a:prstGeom prst="rect">
            <a:avLst/>
          </a:prstGeom>
          <a:noFill/>
          <a:ln/>
        </p:spPr>
        <p:txBody>
          <a:bodyPr wrap="square" lIns="0" tIns="21431" rIns="0" bIns="21431" rtlCol="0" anchor="t">
            <a:normAutofit/>
          </a:bodyPr>
          <a:lstStyle/>
          <a:p>
            <a:pPr algn="l" indent="0" marL="0">
              <a:lnSpc>
                <a:spcPts val="915"/>
              </a:lnSpc>
              <a:buNone/>
            </a:pPr>
            <a:r>
              <a:rPr lang="en-US" sz="800" b="1" dirty="0">
                <a:solidFill>
                  <a:srgbClr val="0F1F3D"/>
                </a:solidFill>
                <a:latin typeface="Carlito" pitchFamily="34" charset="0"/>
                <a:ea typeface="Carlito" pitchFamily="34" charset="-122"/>
                <a:cs typeface="Carlito" pitchFamily="34" charset="-120"/>
              </a:rPr>
              <a:t>Engagement:</a:t>
            </a:r>
            <a:pPr algn="l" indent="0" marL="0">
              <a:lnSpc>
                <a:spcPts val="915"/>
              </a:lnSpc>
              <a:buNone/>
            </a:pPr>
            <a:r>
              <a:rPr lang="en-US" sz="800" dirty="0">
                <a:solidFill>
                  <a:srgbClr val="5B6B82"/>
                </a:solidFill>
                <a:latin typeface="Carlito" pitchFamily="34" charset="0"/>
                <a:ea typeface="Carlito" pitchFamily="34" charset="-122"/>
                <a:cs typeface="Carlito" pitchFamily="34" charset="-120"/>
              </a:rPr>
              <a:t> eyeWide, browInnerUp, mouthSmile</a:t>
            </a:r>
            <a:endParaRPr lang="en-US" sz="800" dirty="0"/>
          </a:p>
        </p:txBody>
      </p:sp>
      <p:sp>
        <p:nvSpPr>
          <p:cNvPr id="60" name="Text 58"/>
          <p:cNvSpPr/>
          <p:nvPr/>
        </p:nvSpPr>
        <p:spPr>
          <a:xfrm>
            <a:off x="4714875" y="2961977"/>
            <a:ext cx="3981640" cy="131628"/>
          </a:xfrm>
          <a:prstGeom prst="rect">
            <a:avLst/>
          </a:prstGeom>
          <a:noFill/>
          <a:ln/>
        </p:spPr>
        <p:txBody>
          <a:bodyPr wrap="square" lIns="0" tIns="21431" rIns="0" bIns="21431" rtlCol="0" anchor="t">
            <a:normAutofit/>
          </a:bodyPr>
          <a:lstStyle/>
          <a:p>
            <a:pPr algn="l" indent="0" marL="0">
              <a:lnSpc>
                <a:spcPts val="915"/>
              </a:lnSpc>
              <a:buNone/>
            </a:pPr>
            <a:r>
              <a:rPr lang="en-US" sz="800" b="1" dirty="0">
                <a:solidFill>
                  <a:srgbClr val="0F1F3D"/>
                </a:solidFill>
                <a:latin typeface="Carlito" pitchFamily="34" charset="0"/>
                <a:ea typeface="Carlito" pitchFamily="34" charset="-122"/>
                <a:cs typeface="Carlito" pitchFamily="34" charset="-120"/>
              </a:rPr>
              <a:t>Confusion:</a:t>
            </a:r>
            <a:pPr algn="l" indent="0" marL="0">
              <a:lnSpc>
                <a:spcPts val="915"/>
              </a:lnSpc>
              <a:buNone/>
            </a:pPr>
            <a:r>
              <a:rPr lang="en-US" sz="800" dirty="0">
                <a:solidFill>
                  <a:srgbClr val="5B6B82"/>
                </a:solidFill>
                <a:latin typeface="Carlito" pitchFamily="34" charset="0"/>
                <a:ea typeface="Carlito" pitchFamily="34" charset="-122"/>
                <a:cs typeface="Carlito" pitchFamily="34" charset="-120"/>
              </a:rPr>
              <a:t> browDown, eyeSquint, mouthFrown</a:t>
            </a:r>
            <a:endParaRPr lang="en-US" sz="800" dirty="0"/>
          </a:p>
        </p:txBody>
      </p:sp>
      <p:sp>
        <p:nvSpPr>
          <p:cNvPr id="61" name="Text 59"/>
          <p:cNvSpPr/>
          <p:nvPr/>
        </p:nvSpPr>
        <p:spPr>
          <a:xfrm>
            <a:off x="4714875" y="3121037"/>
            <a:ext cx="3871913" cy="159060"/>
          </a:xfrm>
          <a:prstGeom prst="rect">
            <a:avLst/>
          </a:prstGeom>
          <a:noFill/>
          <a:ln/>
        </p:spPr>
        <p:txBody>
          <a:bodyPr wrap="square" lIns="0" tIns="21431" rIns="0" bIns="21431" rtlCol="0" anchor="t"/>
          <a:lstStyle/>
          <a:p>
            <a:pPr algn="l" indent="0" marL="0">
              <a:lnSpc>
                <a:spcPts val="915"/>
              </a:lnSpc>
              <a:buNone/>
            </a:pPr>
            <a:r>
              <a:rPr lang="en-US" sz="800" b="1" dirty="0">
                <a:solidFill>
                  <a:srgbClr val="0F1F3D"/>
                </a:solidFill>
                <a:latin typeface="Carlito" pitchFamily="34" charset="0"/>
                <a:ea typeface="Carlito" pitchFamily="34" charset="-122"/>
                <a:cs typeface="Carlito" pitchFamily="34" charset="-120"/>
              </a:rPr>
              <a:t>Frustration:</a:t>
            </a:r>
            <a:pPr algn="l" indent="0" marL="0">
              <a:lnSpc>
                <a:spcPts val="915"/>
              </a:lnSpc>
              <a:buNone/>
            </a:pPr>
            <a:r>
              <a:rPr lang="en-US" sz="800" dirty="0">
                <a:solidFill>
                  <a:srgbClr val="5B6B82"/>
                </a:solidFill>
                <a:latin typeface="Carlito" pitchFamily="34" charset="0"/>
                <a:ea typeface="Carlito" pitchFamily="34" charset="-122"/>
                <a:cs typeface="Carlito" pitchFamily="34" charset="-120"/>
              </a:rPr>
              <a:t> browInnerUp, mouthPress, jawForward</a:t>
            </a:r>
            <a:endParaRPr lang="en-US" sz="800" dirty="0"/>
          </a:p>
        </p:txBody>
      </p:sp>
      <p:sp>
        <p:nvSpPr>
          <p:cNvPr id="62" name="Text 60"/>
          <p:cNvSpPr/>
          <p:nvPr/>
        </p:nvSpPr>
        <p:spPr>
          <a:xfrm>
            <a:off x="457200" y="3437260"/>
            <a:ext cx="8229600" cy="246459"/>
          </a:xfrm>
          <a:prstGeom prst="roundRect">
            <a:avLst>
              <a:gd name="adj" fmla="val 30918"/>
            </a:avLst>
          </a:prstGeom>
          <a:solidFill>
            <a:srgbClr val="F6F8FB"/>
          </a:solidFill>
          <a:ln/>
        </p:spPr>
        <p:txBody>
          <a:bodyPr wrap="square" rtlCol="0" anchor="ctr"/>
          <a:lstStyle/>
          <a:p>
            <a:pPr indent="0" marL="0">
              <a:buNone/>
            </a:pPr>
            <a:endParaRPr lang="en-US" dirty="0"/>
          </a:p>
        </p:txBody>
      </p:sp>
      <p:sp>
        <p:nvSpPr>
          <p:cNvPr id="63" name="Shape 61"/>
          <p:cNvSpPr/>
          <p:nvPr/>
        </p:nvSpPr>
        <p:spPr>
          <a:xfrm>
            <a:off x="457200" y="3440832"/>
            <a:ext cx="8229600" cy="0"/>
          </a:xfrm>
          <a:prstGeom prst="line">
            <a:avLst/>
          </a:prstGeom>
          <a:noFill/>
          <a:ln w="7144">
            <a:solidFill>
              <a:srgbClr val="D9E1EC"/>
            </a:solidFill>
            <a:prstDash val="solid"/>
          </a:ln>
        </p:spPr>
      </p:sp>
      <p:sp>
        <p:nvSpPr>
          <p:cNvPr id="64" name="Shape 62"/>
          <p:cNvSpPr/>
          <p:nvPr/>
        </p:nvSpPr>
        <p:spPr>
          <a:xfrm>
            <a:off x="8683228" y="3437260"/>
            <a:ext cx="0" cy="246459"/>
          </a:xfrm>
          <a:prstGeom prst="line">
            <a:avLst/>
          </a:prstGeom>
          <a:noFill/>
          <a:ln w="7144">
            <a:solidFill>
              <a:srgbClr val="D9E1EC"/>
            </a:solidFill>
            <a:prstDash val="solid"/>
          </a:ln>
        </p:spPr>
      </p:sp>
      <p:sp>
        <p:nvSpPr>
          <p:cNvPr id="65" name="Shape 63"/>
          <p:cNvSpPr/>
          <p:nvPr/>
        </p:nvSpPr>
        <p:spPr>
          <a:xfrm>
            <a:off x="457200" y="3680147"/>
            <a:ext cx="8229600" cy="0"/>
          </a:xfrm>
          <a:prstGeom prst="line">
            <a:avLst/>
          </a:prstGeom>
          <a:noFill/>
          <a:ln w="7144">
            <a:solidFill>
              <a:srgbClr val="D9E1EC"/>
            </a:solidFill>
            <a:prstDash val="solid"/>
          </a:ln>
        </p:spPr>
      </p:sp>
      <p:sp>
        <p:nvSpPr>
          <p:cNvPr id="66" name="Shape 64"/>
          <p:cNvSpPr/>
          <p:nvPr/>
        </p:nvSpPr>
        <p:spPr>
          <a:xfrm>
            <a:off x="467916" y="3437260"/>
            <a:ext cx="0" cy="246459"/>
          </a:xfrm>
          <a:prstGeom prst="line">
            <a:avLst/>
          </a:prstGeom>
          <a:noFill/>
          <a:ln w="21431">
            <a:solidFill>
              <a:srgbClr val="14B8A6"/>
            </a:solidFill>
            <a:prstDash val="solid"/>
          </a:ln>
        </p:spPr>
      </p:sp>
      <p:sp>
        <p:nvSpPr>
          <p:cNvPr id="67" name="Text 65"/>
          <p:cNvSpPr/>
          <p:nvPr/>
        </p:nvSpPr>
        <p:spPr>
          <a:xfrm>
            <a:off x="592931" y="3509590"/>
            <a:ext cx="1072465" cy="109835"/>
          </a:xfrm>
          <a:prstGeom prst="rect">
            <a:avLst/>
          </a:prstGeom>
          <a:noFill/>
          <a:ln/>
        </p:spPr>
        <p:txBody>
          <a:bodyPr wrap="none" lIns="0" tIns="0" rIns="0" bIns="0" rtlCol="0" anchor="t"/>
          <a:lstStyle/>
          <a:p>
            <a:pPr algn="l" indent="0" marL="0">
              <a:lnSpc>
                <a:spcPts val="802"/>
              </a:lnSpc>
              <a:buNone/>
            </a:pPr>
            <a:r>
              <a:rPr lang="en-US" sz="800" b="1" spc="96" kern="0" dirty="0">
                <a:solidFill>
                  <a:srgbClr val="0F766E"/>
                </a:solidFill>
                <a:latin typeface="Segoe UI Symbol" pitchFamily="34" charset="0"/>
                <a:ea typeface="Segoe UI Symbol" pitchFamily="34" charset="-122"/>
                <a:cs typeface="Segoe UI Symbol" pitchFamily="34" charset="-120"/>
              </a:rPr>
              <a:t>⚡</a:t>
            </a:r>
            <a:pPr algn="l" indent="0" marL="0">
              <a:lnSpc>
                <a:spcPts val="802"/>
              </a:lnSpc>
              <a:buNone/>
            </a:pPr>
            <a:r>
              <a:rPr lang="en-US" sz="800" b="1" spc="96" kern="0" dirty="0">
                <a:solidFill>
                  <a:srgbClr val="0F766E"/>
                </a:solidFill>
                <a:latin typeface="Carlito" pitchFamily="34" charset="0"/>
                <a:ea typeface="Carlito" pitchFamily="34" charset="-122"/>
                <a:cs typeface="Carlito" pitchFamily="34" charset="-120"/>
              </a:rPr>
              <a:t> THROUGHPUT</a:t>
            </a:r>
            <a:endParaRPr lang="en-US" sz="800" dirty="0"/>
          </a:p>
        </p:txBody>
      </p:sp>
      <p:sp>
        <p:nvSpPr>
          <p:cNvPr id="68" name="Text 66"/>
          <p:cNvSpPr/>
          <p:nvPr/>
        </p:nvSpPr>
        <p:spPr>
          <a:xfrm>
            <a:off x="1475631" y="3501554"/>
            <a:ext cx="516121" cy="117872"/>
          </a:xfrm>
          <a:prstGeom prst="rect">
            <a:avLst/>
          </a:prstGeom>
          <a:noFill/>
          <a:ln/>
        </p:spPr>
        <p:txBody>
          <a:bodyPr wrap="none" lIns="0" tIns="0" rIns="0" bIns="0" rtlCol="0" anchor="t"/>
          <a:lstStyle/>
          <a:p>
            <a:pPr algn="l" indent="0" marL="0">
              <a:lnSpc>
                <a:spcPts val="928"/>
              </a:lnSpc>
              <a:buNone/>
            </a:pPr>
            <a:r>
              <a:rPr lang="en-US" sz="800" spc="25" kern="0" dirty="0">
                <a:solidFill>
                  <a:srgbClr val="0F1F3D"/>
                </a:solidFill>
                <a:latin typeface="Liberation Sans Narrow" pitchFamily="34" charset="0"/>
                <a:ea typeface="Liberation Sans Narrow" pitchFamily="34" charset="-122"/>
                <a:cs typeface="Liberation Sans Narrow" pitchFamily="34" charset="-120"/>
              </a:rPr>
              <a:t>30+ FPS</a:t>
            </a:r>
            <a:endParaRPr lang="en-US" sz="800" dirty="0"/>
          </a:p>
        </p:txBody>
      </p:sp>
      <p:sp>
        <p:nvSpPr>
          <p:cNvPr id="69" name="Text 67"/>
          <p:cNvSpPr/>
          <p:nvPr/>
        </p:nvSpPr>
        <p:spPr>
          <a:xfrm>
            <a:off x="1928924" y="3501554"/>
            <a:ext cx="794629" cy="117872"/>
          </a:xfrm>
          <a:prstGeom prst="rect">
            <a:avLst/>
          </a:prstGeom>
          <a:noFill/>
          <a:ln/>
        </p:spPr>
        <p:txBody>
          <a:bodyPr wrap="none" lIns="0" tIns="0" rIns="0" bIns="0" rtlCol="0" anchor="t"/>
          <a:lstStyle/>
          <a:p>
            <a:pPr algn="l" indent="0" marL="0">
              <a:lnSpc>
                <a:spcPts val="928"/>
              </a:lnSpc>
              <a:buNone/>
            </a:pPr>
            <a:r>
              <a:rPr lang="en-US" sz="619" spc="25" kern="0" dirty="0">
                <a:solidFill>
                  <a:srgbClr val="5B6B82"/>
                </a:solidFill>
                <a:latin typeface="Carlito" pitchFamily="34" charset="0"/>
                <a:ea typeface="Carlito" pitchFamily="34" charset="-122"/>
                <a:cs typeface="Carlito" pitchFamily="34" charset="-120"/>
              </a:rPr>
              <a:t>on a single CPU</a:t>
            </a:r>
            <a:endParaRPr lang="en-US" sz="619" dirty="0"/>
          </a:p>
        </p:txBody>
      </p:sp>
      <p:sp>
        <p:nvSpPr>
          <p:cNvPr id="70" name="Text 68"/>
          <p:cNvSpPr/>
          <p:nvPr/>
        </p:nvSpPr>
        <p:spPr>
          <a:xfrm>
            <a:off x="2689510" y="3501554"/>
            <a:ext cx="91440" cy="117872"/>
          </a:xfrm>
          <a:prstGeom prst="rect">
            <a:avLst/>
          </a:prstGeom>
          <a:noFill/>
          <a:ln/>
        </p:spPr>
        <p:txBody>
          <a:bodyPr wrap="square" lIns="0" tIns="0" rIns="0" bIns="0" rtlCol="0" anchor="t"/>
          <a:lstStyle/>
          <a:p>
            <a:pPr algn="l" indent="0" marL="0">
              <a:lnSpc>
                <a:spcPts val="928"/>
              </a:lnSpc>
              <a:buNone/>
            </a:pPr>
            <a:r>
              <a:rPr lang="en-US" sz="800" spc="25" kern="0" dirty="0">
                <a:solidFill>
                  <a:srgbClr val="5B6B82"/>
                </a:solidFill>
                <a:latin typeface="Carlito" pitchFamily="34" charset="0"/>
                <a:ea typeface="Carlito" pitchFamily="34" charset="-122"/>
                <a:cs typeface="Carlito" pitchFamily="34" charset="-120"/>
              </a:rPr>
              <a:t>·</a:t>
            </a:r>
            <a:endParaRPr lang="en-US" sz="800" dirty="0"/>
          </a:p>
        </p:txBody>
      </p:sp>
      <p:sp>
        <p:nvSpPr>
          <p:cNvPr id="71" name="Text 69"/>
          <p:cNvSpPr/>
          <p:nvPr/>
        </p:nvSpPr>
        <p:spPr>
          <a:xfrm>
            <a:off x="2809551" y="3501554"/>
            <a:ext cx="258552" cy="117872"/>
          </a:xfrm>
          <a:prstGeom prst="rect">
            <a:avLst/>
          </a:prstGeom>
          <a:noFill/>
          <a:ln/>
        </p:spPr>
        <p:txBody>
          <a:bodyPr wrap="none" lIns="0" tIns="0" rIns="0" bIns="0" rtlCol="0" anchor="t"/>
          <a:lstStyle/>
          <a:p>
            <a:pPr algn="l" indent="0" marL="0">
              <a:lnSpc>
                <a:spcPts val="928"/>
              </a:lnSpc>
              <a:buNone/>
            </a:pPr>
            <a:r>
              <a:rPr lang="en-US" sz="800" spc="25" kern="0" dirty="0">
                <a:solidFill>
                  <a:srgbClr val="0F1F3D"/>
                </a:solidFill>
                <a:latin typeface="Liberation Sans Narrow" pitchFamily="34" charset="0"/>
                <a:ea typeface="Liberation Sans Narrow" pitchFamily="34" charset="-122"/>
                <a:cs typeface="Liberation Sans Narrow" pitchFamily="34" charset="-120"/>
              </a:rPr>
              <a:t>78D</a:t>
            </a:r>
            <a:endParaRPr lang="en-US" sz="800" dirty="0"/>
          </a:p>
        </p:txBody>
      </p:sp>
      <p:sp>
        <p:nvSpPr>
          <p:cNvPr id="72" name="Text 70"/>
          <p:cNvSpPr/>
          <p:nvPr/>
        </p:nvSpPr>
        <p:spPr>
          <a:xfrm>
            <a:off x="3058470" y="3501554"/>
            <a:ext cx="567863" cy="117872"/>
          </a:xfrm>
          <a:prstGeom prst="rect">
            <a:avLst/>
          </a:prstGeom>
          <a:noFill/>
          <a:ln/>
        </p:spPr>
        <p:txBody>
          <a:bodyPr wrap="none" lIns="0" tIns="0" rIns="0" bIns="0" rtlCol="0" anchor="t"/>
          <a:lstStyle/>
          <a:p>
            <a:pPr algn="l" indent="0" marL="0">
              <a:lnSpc>
                <a:spcPts val="928"/>
              </a:lnSpc>
              <a:buNone/>
            </a:pPr>
            <a:r>
              <a:rPr lang="en-US" sz="800" spc="25" kern="0" dirty="0">
                <a:solidFill>
                  <a:srgbClr val="5B6B82"/>
                </a:solidFill>
                <a:latin typeface="Carlito" pitchFamily="34" charset="0"/>
                <a:ea typeface="Carlito" pitchFamily="34" charset="-122"/>
                <a:cs typeface="Carlito" pitchFamily="34" charset="-120"/>
              </a:rPr>
              <a:t>per frame</a:t>
            </a:r>
            <a:endParaRPr lang="en-US" sz="800" dirty="0"/>
          </a:p>
        </p:txBody>
      </p:sp>
      <p:sp>
        <p:nvSpPr>
          <p:cNvPr id="73" name="Text 71"/>
          <p:cNvSpPr/>
          <p:nvPr/>
        </p:nvSpPr>
        <p:spPr>
          <a:xfrm>
            <a:off x="3586051" y="3501554"/>
            <a:ext cx="91440" cy="117872"/>
          </a:xfrm>
          <a:prstGeom prst="rect">
            <a:avLst/>
          </a:prstGeom>
          <a:noFill/>
          <a:ln/>
        </p:spPr>
        <p:txBody>
          <a:bodyPr wrap="square" lIns="0" tIns="0" rIns="0" bIns="0" rtlCol="0" anchor="t"/>
          <a:lstStyle/>
          <a:p>
            <a:pPr algn="l" indent="0" marL="0">
              <a:lnSpc>
                <a:spcPts val="928"/>
              </a:lnSpc>
              <a:buNone/>
            </a:pPr>
            <a:r>
              <a:rPr lang="en-US" sz="800" spc="25" kern="0" dirty="0">
                <a:solidFill>
                  <a:srgbClr val="5B6B82"/>
                </a:solidFill>
                <a:latin typeface="Carlito" pitchFamily="34" charset="0"/>
                <a:ea typeface="Carlito" pitchFamily="34" charset="-122"/>
                <a:cs typeface="Carlito" pitchFamily="34" charset="-120"/>
              </a:rPr>
              <a:t>·</a:t>
            </a:r>
            <a:endParaRPr lang="en-US" sz="800" dirty="0"/>
          </a:p>
        </p:txBody>
      </p:sp>
      <p:sp>
        <p:nvSpPr>
          <p:cNvPr id="74" name="Text 72"/>
          <p:cNvSpPr/>
          <p:nvPr/>
        </p:nvSpPr>
        <p:spPr>
          <a:xfrm>
            <a:off x="3714192" y="3501554"/>
            <a:ext cx="403800" cy="117872"/>
          </a:xfrm>
          <a:prstGeom prst="rect">
            <a:avLst/>
          </a:prstGeom>
          <a:noFill/>
          <a:ln/>
        </p:spPr>
        <p:txBody>
          <a:bodyPr wrap="none" lIns="0" tIns="0" rIns="0" bIns="0" rtlCol="0" anchor="t"/>
          <a:lstStyle/>
          <a:p>
            <a:pPr algn="l" indent="0" marL="0">
              <a:lnSpc>
                <a:spcPts val="928"/>
              </a:lnSpc>
              <a:buNone/>
            </a:pPr>
            <a:r>
              <a:rPr lang="en-US" sz="800" spc="25" kern="0" dirty="0">
                <a:solidFill>
                  <a:srgbClr val="0F1F3D"/>
                </a:solidFill>
                <a:latin typeface="Liberation Sans Narrow" pitchFamily="34" charset="0"/>
                <a:ea typeface="Liberation Sans Narrow" pitchFamily="34" charset="-122"/>
                <a:cs typeface="Liberation Sans Narrow" pitchFamily="34" charset="-120"/>
              </a:rPr>
              <a:t>~3 ms</a:t>
            </a:r>
            <a:endParaRPr lang="en-US" sz="800" dirty="0"/>
          </a:p>
        </p:txBody>
      </p:sp>
      <p:sp>
        <p:nvSpPr>
          <p:cNvPr id="75" name="Text 73"/>
          <p:cNvSpPr/>
          <p:nvPr/>
        </p:nvSpPr>
        <p:spPr>
          <a:xfrm>
            <a:off x="4066580" y="3501554"/>
            <a:ext cx="4505920" cy="117872"/>
          </a:xfrm>
          <a:prstGeom prst="rect">
            <a:avLst/>
          </a:prstGeom>
          <a:noFill/>
          <a:ln/>
        </p:spPr>
        <p:txBody>
          <a:bodyPr wrap="square" lIns="0" tIns="0" rIns="0" bIns="0" rtlCol="0" anchor="t"/>
          <a:lstStyle/>
          <a:p>
            <a:pPr algn="l" indent="0" marL="0">
              <a:lnSpc>
                <a:spcPts val="928"/>
              </a:lnSpc>
              <a:buNone/>
            </a:pPr>
            <a:r>
              <a:rPr lang="en-US" sz="800" spc="25" kern="0" dirty="0">
                <a:solidFill>
                  <a:srgbClr val="5B6B82"/>
                </a:solidFill>
                <a:latin typeface="Carlito" pitchFamily="34" charset="0"/>
                <a:ea typeface="Carlito" pitchFamily="34" charset="-122"/>
                <a:cs typeface="Carlito" pitchFamily="34" charset="-120"/>
              </a:rPr>
              <a:t>per frame including MediaPipe inference</a:t>
            </a:r>
            <a:endParaRPr lang="en-US" sz="800" dirty="0"/>
          </a:p>
        </p:txBody>
      </p:sp>
      <p:sp>
        <p:nvSpPr>
          <p:cNvPr id="76" name="Text 74"/>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M-DAS ITC 2026</a:t>
            </a:r>
            <a:endParaRPr lang="en-US" sz="800" dirty="0"/>
          </a:p>
        </p:txBody>
      </p:sp>
      <p:sp>
        <p:nvSpPr>
          <p:cNvPr id="77" name="Text 75"/>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15 / 34</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92931"/>
            <a:ext cx="8229600" cy="0"/>
          </a:xfrm>
          <a:prstGeom prst="line">
            <a:avLst/>
          </a:prstGeom>
          <a:noFill/>
          <a:ln w="7144">
            <a:solidFill>
              <a:srgbClr val="E8EDF4"/>
            </a:solidFill>
            <a:prstDash val="solid"/>
          </a:ln>
        </p:spPr>
      </p:sp>
      <p:sp>
        <p:nvSpPr>
          <p:cNvPr id="3" name="Text 1"/>
          <p:cNvSpPr/>
          <p:nvPr/>
        </p:nvSpPr>
        <p:spPr>
          <a:xfrm>
            <a:off x="457200" y="400050"/>
            <a:ext cx="7818053" cy="117872"/>
          </a:xfrm>
          <a:prstGeom prst="rect">
            <a:avLst/>
          </a:prstGeom>
          <a:noFill/>
          <a:ln/>
        </p:spPr>
        <p:txBody>
          <a:bodyPr wrap="none" lIns="0" tIns="0" rIns="0" bIns="0" rtlCol="0" anchor="t"/>
          <a:lstStyle/>
          <a:p>
            <a:pPr algn="l" indent="0" marL="0">
              <a:lnSpc>
                <a:spcPts val="928"/>
              </a:lnSpc>
              <a:buNone/>
            </a:pPr>
            <a:r>
              <a:rPr lang="en-US" sz="800" spc="74" kern="0" dirty="0">
                <a:solidFill>
                  <a:srgbClr val="0F1F3D"/>
                </a:solidFill>
                <a:latin typeface="Liberation Sans Narrow" pitchFamily="34" charset="0"/>
                <a:ea typeface="Liberation Sans Narrow" pitchFamily="34" charset="-122"/>
                <a:cs typeface="Liberation Sans Narrow" pitchFamily="34" charset="-120"/>
              </a:rPr>
              <a:t>02 METHODOLOGY</a:t>
            </a:r>
            <a:pPr algn="l" indent="0" marL="0">
              <a:lnSpc>
                <a:spcPts val="928"/>
              </a:lnSpc>
              <a:buNone/>
            </a:pPr>
            <a:r>
              <a:rPr lang="en-US" sz="800" spc="74" kern="0" dirty="0">
                <a:solidFill>
                  <a:srgbClr val="14B8A6"/>
                </a:solidFill>
                <a:latin typeface="Carlito" pitchFamily="34" charset="0"/>
                <a:ea typeface="Carlito" pitchFamily="34" charset="-122"/>
                <a:cs typeface="Carlito" pitchFamily="34" charset="-120"/>
              </a:rPr>
              <a:t>·</a:t>
            </a:r>
            <a:pPr algn="l" indent="0" marL="0">
              <a:lnSpc>
                <a:spcPts val="928"/>
              </a:lnSpc>
              <a:buNone/>
            </a:pPr>
            <a:r>
              <a:rPr lang="en-US" sz="800" spc="74" kern="0" dirty="0">
                <a:solidFill>
                  <a:srgbClr val="0F1F3D"/>
                </a:solidFill>
                <a:latin typeface="Carlito" pitchFamily="34" charset="0"/>
                <a:ea typeface="Carlito" pitchFamily="34" charset="-122"/>
                <a:cs typeface="Carlito" pitchFamily="34" charset="-120"/>
              </a:rPr>
              <a:t>FEATURE ENGINEERING</a:t>
            </a:r>
            <a:endParaRPr lang="en-US" sz="800" dirty="0"/>
          </a:p>
        </p:txBody>
      </p:sp>
      <p:sp>
        <p:nvSpPr>
          <p:cNvPr id="4" name="Text 2"/>
          <p:cNvSpPr/>
          <p:nvPr/>
        </p:nvSpPr>
        <p:spPr>
          <a:xfrm>
            <a:off x="8261186" y="400050"/>
            <a:ext cx="453969" cy="117872"/>
          </a:xfrm>
          <a:prstGeom prst="rect">
            <a:avLst/>
          </a:prstGeom>
          <a:noFill/>
          <a:ln/>
        </p:spPr>
        <p:txBody>
          <a:bodyPr wrap="none" lIns="0" tIns="0" rIns="0" bIns="0" rtlCol="0" anchor="t"/>
          <a:lstStyle/>
          <a:p>
            <a:pPr algn="l" indent="0" marL="0">
              <a:lnSpc>
                <a:spcPts val="928"/>
              </a:lnSpc>
              <a:buNone/>
            </a:pPr>
            <a:r>
              <a:rPr lang="en-US" sz="800" spc="74" kern="0" dirty="0">
                <a:solidFill>
                  <a:srgbClr val="8A97AB"/>
                </a:solidFill>
                <a:latin typeface="Liberation Sans Narrow" pitchFamily="34" charset="0"/>
                <a:ea typeface="Liberation Sans Narrow" pitchFamily="34" charset="-122"/>
                <a:cs typeface="Liberation Sans Narrow" pitchFamily="34" charset="-120"/>
              </a:rPr>
              <a:t>16 / 34</a:t>
            </a:r>
            <a:endParaRPr lang="en-US" sz="800" dirty="0"/>
          </a:p>
        </p:txBody>
      </p:sp>
      <p:sp>
        <p:nvSpPr>
          <p:cNvPr id="5" name="Text 3"/>
          <p:cNvSpPr/>
          <p:nvPr/>
        </p:nvSpPr>
        <p:spPr>
          <a:xfrm>
            <a:off x="457200" y="725091"/>
            <a:ext cx="8636000" cy="119015"/>
          </a:xfrm>
          <a:prstGeom prst="rect">
            <a:avLst/>
          </a:prstGeom>
          <a:noFill/>
          <a:ln/>
        </p:spPr>
        <p:txBody>
          <a:bodyPr wrap="square" lIns="0" tIns="0" rIns="0" bIns="0" rtlCol="0" anchor="t">
            <a:normAutofit/>
          </a:bodyPr>
          <a:lstStyle/>
          <a:p>
            <a:pPr algn="l" indent="0" marL="0">
              <a:lnSpc>
                <a:spcPts val="928"/>
              </a:lnSpc>
              <a:buNone/>
            </a:pPr>
            <a:r>
              <a:rPr lang="en-US" sz="800" b="1" spc="136" kern="0" dirty="0">
                <a:solidFill>
                  <a:srgbClr val="14B8A6"/>
                </a:solidFill>
                <a:latin typeface="Carlito" pitchFamily="34" charset="0"/>
                <a:ea typeface="Carlito" pitchFamily="34" charset="-122"/>
                <a:cs typeface="Carlito" pitchFamily="34" charset="-120"/>
              </a:rPr>
              <a:t>METHODOLOGY · FEATURE ENGINEERING</a:t>
            </a:r>
            <a:endParaRPr lang="en-US" sz="800" dirty="0"/>
          </a:p>
        </p:txBody>
      </p:sp>
      <p:sp>
        <p:nvSpPr>
          <p:cNvPr id="6" name="Text 4"/>
          <p:cNvSpPr/>
          <p:nvPr/>
        </p:nvSpPr>
        <p:spPr>
          <a:xfrm>
            <a:off x="457200" y="871538"/>
            <a:ext cx="8636000" cy="289125"/>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How 150 Frames Become One Feature Row</a:t>
            </a:r>
            <a:endParaRPr lang="en-US" sz="2025" dirty="0"/>
          </a:p>
        </p:txBody>
      </p:sp>
      <p:sp>
        <p:nvSpPr>
          <p:cNvPr id="7" name="Text 5"/>
          <p:cNvSpPr/>
          <p:nvPr/>
        </p:nvSpPr>
        <p:spPr>
          <a:xfrm>
            <a:off x="457200" y="1188095"/>
            <a:ext cx="6572250" cy="335113"/>
          </a:xfrm>
          <a:prstGeom prst="rect">
            <a:avLst/>
          </a:prstGeom>
          <a:noFill/>
          <a:ln/>
        </p:spPr>
        <p:txBody>
          <a:bodyPr wrap="square" lIns="0" tIns="0" rIns="0" bIns="0" rtlCol="0" anchor="t">
            <a:normAutofit/>
          </a:bodyPr>
          <a:lstStyle/>
          <a:p>
            <a:pPr algn="l" indent="0" marL="0">
              <a:lnSpc>
                <a:spcPts val="1090"/>
              </a:lnSpc>
              <a:buNone/>
            </a:pPr>
            <a:r>
              <a:rPr lang="en-US" sz="800" dirty="0">
                <a:solidFill>
                  <a:srgbClr val="5B6B82"/>
                </a:solidFill>
                <a:latin typeface="Carlito" pitchFamily="34" charset="0"/>
                <a:ea typeface="Carlito" pitchFamily="34" charset="-122"/>
                <a:cs typeface="Carlito" pitchFamily="34" charset="-120"/>
              </a:rPr>
              <a:t>Raw MediaPipe output is a (150 × 78) matrix. Per-frame spatial information alone cannot separate boredom from confusion — temporal dynamics must be encoded explicitly. A 5-category pipeline transforms it into a fixed-length 2,152-dimensional feature vector.</a:t>
            </a:r>
            <a:endParaRPr lang="en-US" sz="800" dirty="0"/>
          </a:p>
        </p:txBody>
      </p:sp>
      <p:sp>
        <p:nvSpPr>
          <p:cNvPr id="8" name="Text 6"/>
          <p:cNvSpPr/>
          <p:nvPr/>
        </p:nvSpPr>
        <p:spPr>
          <a:xfrm>
            <a:off x="2995129" y="1550640"/>
            <a:ext cx="3153631" cy="416123"/>
          </a:xfrm>
          <a:prstGeom prst="roundRect">
            <a:avLst>
              <a:gd name="adj" fmla="val 22890"/>
            </a:avLst>
          </a:prstGeom>
          <a:solidFill>
            <a:srgbClr val="EEF3F8"/>
          </a:solidFill>
          <a:ln/>
        </p:spPr>
        <p:txBody>
          <a:bodyPr wrap="square" rtlCol="0" anchor="ctr"/>
          <a:lstStyle/>
          <a:p>
            <a:pPr indent="0" marL="0">
              <a:buNone/>
            </a:pPr>
            <a:endParaRPr lang="en-US" dirty="0"/>
          </a:p>
        </p:txBody>
      </p:sp>
      <p:sp>
        <p:nvSpPr>
          <p:cNvPr id="9" name="Shape 7"/>
          <p:cNvSpPr/>
          <p:nvPr/>
        </p:nvSpPr>
        <p:spPr>
          <a:xfrm>
            <a:off x="2995129" y="1554212"/>
            <a:ext cx="3153631" cy="0"/>
          </a:xfrm>
          <a:prstGeom prst="line">
            <a:avLst/>
          </a:prstGeom>
          <a:noFill/>
          <a:ln w="7144">
            <a:solidFill>
              <a:srgbClr val="D9E1EC"/>
            </a:solidFill>
            <a:prstDash val="solid"/>
          </a:ln>
        </p:spPr>
      </p:sp>
      <p:sp>
        <p:nvSpPr>
          <p:cNvPr id="10" name="Shape 8"/>
          <p:cNvSpPr/>
          <p:nvPr/>
        </p:nvSpPr>
        <p:spPr>
          <a:xfrm>
            <a:off x="6145188" y="1550640"/>
            <a:ext cx="0" cy="416123"/>
          </a:xfrm>
          <a:prstGeom prst="line">
            <a:avLst/>
          </a:prstGeom>
          <a:noFill/>
          <a:ln w="7144">
            <a:solidFill>
              <a:srgbClr val="D9E1EC"/>
            </a:solidFill>
            <a:prstDash val="solid"/>
          </a:ln>
        </p:spPr>
      </p:sp>
      <p:sp>
        <p:nvSpPr>
          <p:cNvPr id="11" name="Shape 9"/>
          <p:cNvSpPr/>
          <p:nvPr/>
        </p:nvSpPr>
        <p:spPr>
          <a:xfrm>
            <a:off x="2995129" y="1963192"/>
            <a:ext cx="3153631" cy="0"/>
          </a:xfrm>
          <a:prstGeom prst="line">
            <a:avLst/>
          </a:prstGeom>
          <a:noFill/>
          <a:ln w="7144">
            <a:solidFill>
              <a:srgbClr val="D9E1EC"/>
            </a:solidFill>
            <a:prstDash val="solid"/>
          </a:ln>
        </p:spPr>
      </p:sp>
      <p:sp>
        <p:nvSpPr>
          <p:cNvPr id="12" name="Shape 10"/>
          <p:cNvSpPr/>
          <p:nvPr/>
        </p:nvSpPr>
        <p:spPr>
          <a:xfrm>
            <a:off x="3005844" y="1550640"/>
            <a:ext cx="0" cy="416123"/>
          </a:xfrm>
          <a:prstGeom prst="line">
            <a:avLst/>
          </a:prstGeom>
          <a:noFill/>
          <a:ln w="21431">
            <a:solidFill>
              <a:srgbClr val="14B8A6"/>
            </a:solidFill>
            <a:prstDash val="solid"/>
          </a:ln>
        </p:spPr>
      </p:sp>
      <p:sp>
        <p:nvSpPr>
          <p:cNvPr id="13" name="Text 11"/>
          <p:cNvSpPr/>
          <p:nvPr/>
        </p:nvSpPr>
        <p:spPr>
          <a:xfrm>
            <a:off x="3145148" y="1629221"/>
            <a:ext cx="1513939" cy="91440"/>
          </a:xfrm>
          <a:prstGeom prst="rect">
            <a:avLst/>
          </a:prstGeom>
          <a:noFill/>
          <a:ln/>
        </p:spPr>
        <p:txBody>
          <a:bodyPr wrap="none" lIns="0" tIns="0" rIns="0" bIns="0" rtlCol="0" anchor="t">
            <a:normAutofit/>
          </a:bodyPr>
          <a:lstStyle/>
          <a:p>
            <a:pPr algn="l" indent="0" marL="0">
              <a:lnSpc>
                <a:spcPts val="802"/>
              </a:lnSpc>
              <a:buNone/>
            </a:pPr>
            <a:r>
              <a:rPr lang="en-US" sz="800" b="1" spc="107" kern="0" dirty="0">
                <a:solidFill>
                  <a:srgbClr val="0F766E"/>
                </a:solidFill>
                <a:latin typeface="Carlito" pitchFamily="34" charset="0"/>
                <a:ea typeface="Carlito" pitchFamily="34" charset="-122"/>
                <a:cs typeface="Carlito" pitchFamily="34" charset="-120"/>
              </a:rPr>
              <a:t>INPUT</a:t>
            </a:r>
            <a:endParaRPr lang="en-US" sz="800" dirty="0"/>
          </a:p>
        </p:txBody>
      </p:sp>
      <p:sp>
        <p:nvSpPr>
          <p:cNvPr id="14" name="Text 12"/>
          <p:cNvSpPr/>
          <p:nvPr/>
        </p:nvSpPr>
        <p:spPr>
          <a:xfrm>
            <a:off x="3145148" y="1731020"/>
            <a:ext cx="1108960" cy="157163"/>
          </a:xfrm>
          <a:prstGeom prst="rect">
            <a:avLst/>
          </a:prstGeom>
          <a:noFill/>
          <a:ln/>
        </p:spPr>
        <p:txBody>
          <a:bodyPr wrap="none" lIns="0" tIns="0" rIns="0" bIns="0" rtlCol="0" anchor="t"/>
          <a:lstStyle/>
          <a:p>
            <a:pPr algn="l" indent="0" marL="0">
              <a:lnSpc>
                <a:spcPts val="1238"/>
              </a:lnSpc>
              <a:buNone/>
            </a:pPr>
            <a:r>
              <a:rPr lang="en-US" sz="1238" dirty="0">
                <a:solidFill>
                  <a:srgbClr val="0F1F3D"/>
                </a:solidFill>
                <a:latin typeface="Liberation Sans Narrow" pitchFamily="34" charset="0"/>
                <a:ea typeface="Liberation Sans Narrow" pitchFamily="34" charset="-122"/>
                <a:cs typeface="Liberation Sans Narrow" pitchFamily="34" charset="-120"/>
              </a:rPr>
              <a:t>(150 × 78)</a:t>
            </a:r>
            <a:endParaRPr lang="en-US" sz="1238" dirty="0"/>
          </a:p>
        </p:txBody>
      </p:sp>
      <p:sp>
        <p:nvSpPr>
          <p:cNvPr id="15" name="Text 13"/>
          <p:cNvSpPr/>
          <p:nvPr/>
        </p:nvSpPr>
        <p:spPr>
          <a:xfrm>
            <a:off x="4191372" y="1644402"/>
            <a:ext cx="7144" cy="228600"/>
          </a:xfrm>
          <a:prstGeom prst="rect">
            <a:avLst/>
          </a:prstGeom>
          <a:solidFill>
            <a:srgbClr val="D9E1EC"/>
          </a:solidFill>
          <a:ln/>
        </p:spPr>
        <p:txBody>
          <a:bodyPr wrap="square" rtlCol="0" anchor="ctr"/>
          <a:lstStyle/>
          <a:p>
            <a:pPr indent="0" marL="0">
              <a:buNone/>
            </a:pPr>
            <a:endParaRPr lang="en-US" dirty="0"/>
          </a:p>
        </p:txBody>
      </p:sp>
      <p:sp>
        <p:nvSpPr>
          <p:cNvPr id="16" name="Text 14"/>
          <p:cNvSpPr/>
          <p:nvPr/>
        </p:nvSpPr>
        <p:spPr>
          <a:xfrm>
            <a:off x="4298528" y="1640830"/>
            <a:ext cx="1714500" cy="247352"/>
          </a:xfrm>
          <a:prstGeom prst="rect">
            <a:avLst/>
          </a:prstGeom>
          <a:noFill/>
          <a:ln/>
        </p:spPr>
        <p:txBody>
          <a:bodyPr wrap="square" lIns="0" tIns="0" rIns="0" bIns="0" rtlCol="0" anchor="t"/>
          <a:lstStyle/>
          <a:p>
            <a:pPr algn="l" indent="0" marL="0">
              <a:lnSpc>
                <a:spcPts val="928"/>
              </a:lnSpc>
              <a:buNone/>
            </a:pPr>
            <a:r>
              <a:rPr lang="en-US" sz="800" dirty="0">
                <a:solidFill>
                  <a:srgbClr val="5B6B82"/>
                </a:solidFill>
                <a:latin typeface="Carlito" pitchFamily="34" charset="0"/>
                <a:ea typeface="Carlito" pitchFamily="34" charset="-122"/>
                <a:cs typeface="Carlito" pitchFamily="34" charset="-120"/>
              </a:rPr>
              <a:t>Raw MediaPipe matrix — blendshapes, head pose, gaze, composites, dynamics.</a:t>
            </a:r>
            <a:endParaRPr lang="en-US" sz="800" dirty="0"/>
          </a:p>
        </p:txBody>
      </p:sp>
      <p:sp>
        <p:nvSpPr>
          <p:cNvPr id="17" name="Text 15"/>
          <p:cNvSpPr/>
          <p:nvPr/>
        </p:nvSpPr>
        <p:spPr>
          <a:xfrm>
            <a:off x="4507706" y="1981051"/>
            <a:ext cx="128588" cy="128588"/>
          </a:xfrm>
          <a:prstGeom prst="rect">
            <a:avLst/>
          </a:prstGeom>
          <a:noFill/>
          <a:ln/>
        </p:spPr>
        <p:txBody>
          <a:bodyPr wrap="none" lIns="0" tIns="0" rIns="0" bIns="0" rtlCol="0" anchor="ctr"/>
          <a:lstStyle/>
          <a:p>
            <a:pPr algn="ctr" indent="0" marL="0">
              <a:buNone/>
            </a:pPr>
            <a:r>
              <a:rPr lang="en-US" sz="1266" dirty="0">
                <a:solidFill>
                  <a:srgbClr val="14B8A6"/>
                </a:solidFill>
                <a:latin typeface="Segoe UI Symbol" pitchFamily="34" charset="0"/>
                <a:ea typeface="Segoe UI Symbol" pitchFamily="34" charset="-122"/>
                <a:cs typeface="Segoe UI Symbol" pitchFamily="34" charset="-120"/>
              </a:rPr>
              <a:t>▼</a:t>
            </a:r>
            <a:endParaRPr lang="en-US" sz="1266" dirty="0"/>
          </a:p>
        </p:txBody>
      </p:sp>
      <p:sp>
        <p:nvSpPr>
          <p:cNvPr id="18" name="Text 16"/>
          <p:cNvSpPr/>
          <p:nvPr/>
        </p:nvSpPr>
        <p:spPr>
          <a:xfrm>
            <a:off x="460772" y="2127498"/>
            <a:ext cx="1581559" cy="1287884"/>
          </a:xfrm>
          <a:prstGeom prst="roundRect">
            <a:avLst>
              <a:gd name="adj" fmla="val 7396"/>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19" name="Text 17"/>
          <p:cNvSpPr/>
          <p:nvPr/>
        </p:nvSpPr>
        <p:spPr>
          <a:xfrm>
            <a:off x="550069" y="2216795"/>
            <a:ext cx="228600" cy="228600"/>
          </a:xfrm>
          <a:prstGeom prst="roundRect">
            <a:avLst>
              <a:gd name="adj" fmla="val 33333"/>
            </a:avLst>
          </a:prstGeom>
          <a:solidFill>
            <a:srgbClr val="14B8A6">
              <a:alpha val="10000"/>
            </a:srgbClr>
          </a:solidFill>
          <a:ln/>
        </p:spPr>
        <p:txBody>
          <a:bodyPr wrap="square" rtlCol="0" anchor="ctr"/>
          <a:lstStyle/>
          <a:p>
            <a:pPr indent="0" marL="0">
              <a:buNone/>
            </a:pPr>
            <a:endParaRPr lang="en-US" dirty="0"/>
          </a:p>
        </p:txBody>
      </p:sp>
      <p:sp>
        <p:nvSpPr>
          <p:cNvPr id="20" name="Text 18"/>
          <p:cNvSpPr/>
          <p:nvPr/>
        </p:nvSpPr>
        <p:spPr>
          <a:xfrm>
            <a:off x="571143" y="2237869"/>
            <a:ext cx="186452" cy="186452"/>
          </a:xfrm>
          <a:prstGeom prst="rect">
            <a:avLst/>
          </a:prstGeom>
          <a:noFill/>
          <a:ln/>
        </p:spPr>
        <p:txBody>
          <a:bodyPr wrap="none" lIns="0" tIns="0" rIns="0" bIns="0" rtlCol="0" anchor="ctr"/>
          <a:lstStyle/>
          <a:p>
            <a:pPr algn="ctr" indent="0" marL="0">
              <a:buNone/>
            </a:pPr>
            <a:r>
              <a:rPr lang="en-US" sz="1266" dirty="0">
                <a:solidFill>
                  <a:srgbClr val="0F766E"/>
                </a:solidFill>
                <a:latin typeface="Segoe UI Symbol" pitchFamily="34" charset="0"/>
                <a:ea typeface="Segoe UI Symbol" pitchFamily="34" charset="-122"/>
                <a:cs typeface="Segoe UI Symbol" pitchFamily="34" charset="-120"/>
              </a:rPr>
              <a:t>▦</a:t>
            </a:r>
            <a:endParaRPr lang="en-US" sz="1266" dirty="0"/>
          </a:p>
        </p:txBody>
      </p:sp>
      <p:sp>
        <p:nvSpPr>
          <p:cNvPr id="21" name="Text 19"/>
          <p:cNvSpPr/>
          <p:nvPr/>
        </p:nvSpPr>
        <p:spPr>
          <a:xfrm>
            <a:off x="1404760" y="2235083"/>
            <a:ext cx="569361" cy="192024"/>
          </a:xfrm>
          <a:prstGeom prst="roundRect">
            <a:avLst>
              <a:gd name="adj" fmla="val 4955357"/>
            </a:avLst>
          </a:prstGeom>
          <a:solidFill>
            <a:srgbClr val="14B8A6">
              <a:alpha val="10000"/>
            </a:srgbClr>
          </a:solidFill>
          <a:ln/>
        </p:spPr>
        <p:txBody>
          <a:bodyPr wrap="square" rtlCol="0" anchor="ctr"/>
          <a:lstStyle/>
          <a:p>
            <a:pPr indent="0" marL="0">
              <a:buNone/>
            </a:pPr>
            <a:endParaRPr lang="en-US" dirty="0"/>
          </a:p>
        </p:txBody>
      </p:sp>
      <p:sp>
        <p:nvSpPr>
          <p:cNvPr id="22" name="Text 20"/>
          <p:cNvSpPr/>
          <p:nvPr/>
        </p:nvSpPr>
        <p:spPr>
          <a:xfrm>
            <a:off x="1418697" y="2245370"/>
            <a:ext cx="541487" cy="171450"/>
          </a:xfrm>
          <a:prstGeom prst="rect">
            <a:avLst/>
          </a:prstGeom>
          <a:noFill/>
          <a:ln/>
        </p:spPr>
        <p:txBody>
          <a:bodyPr wrap="none" lIns="0" tIns="0" rIns="0" bIns="0" rtlCol="0" anchor="ctr"/>
          <a:lstStyle/>
          <a:p>
            <a:pPr algn="ctr" indent="0" marL="0">
              <a:lnSpc>
                <a:spcPts val="1013"/>
              </a:lnSpc>
              <a:buNone/>
            </a:pPr>
            <a:r>
              <a:rPr lang="en-US" sz="800" b="1" dirty="0">
                <a:solidFill>
                  <a:srgbClr val="0F766E"/>
                </a:solidFill>
                <a:latin typeface="Liberation Sans Narrow" pitchFamily="34" charset="0"/>
                <a:ea typeface="Liberation Sans Narrow" pitchFamily="34" charset="-122"/>
                <a:cs typeface="Liberation Sans Narrow" pitchFamily="34" charset="-120"/>
              </a:rPr>
              <a:t>780 dims</a:t>
            </a:r>
            <a:endParaRPr lang="en-US" sz="800" dirty="0"/>
          </a:p>
        </p:txBody>
      </p:sp>
      <p:sp>
        <p:nvSpPr>
          <p:cNvPr id="23" name="Text 21"/>
          <p:cNvSpPr/>
          <p:nvPr/>
        </p:nvSpPr>
        <p:spPr>
          <a:xfrm>
            <a:off x="550069" y="2502545"/>
            <a:ext cx="1402966" cy="110085"/>
          </a:xfrm>
          <a:prstGeom prst="rect">
            <a:avLst/>
          </a:prstGeom>
          <a:noFill/>
          <a:ln/>
        </p:spPr>
        <p:txBody>
          <a:bodyPr wrap="none" lIns="0" tIns="0" rIns="0" bIns="0" rtlCol="0" anchor="t">
            <a:normAutofit/>
          </a:bodyPr>
          <a:lstStyle/>
          <a:p>
            <a:pPr algn="l" indent="0" marL="0">
              <a:lnSpc>
                <a:spcPts val="970"/>
              </a:lnSpc>
              <a:buNone/>
            </a:pPr>
            <a:r>
              <a:rPr lang="en-US" sz="800" b="1" spc="65" kern="0" dirty="0">
                <a:solidFill>
                  <a:srgbClr val="0F1F3D"/>
                </a:solidFill>
                <a:latin typeface="Carlito" pitchFamily="34" charset="0"/>
                <a:ea typeface="Carlito" pitchFamily="34" charset="-122"/>
                <a:cs typeface="Carlito" pitchFamily="34" charset="-120"/>
              </a:rPr>
              <a:t>STATISTICAL</a:t>
            </a:r>
            <a:endParaRPr lang="en-US" sz="800" dirty="0"/>
          </a:p>
        </p:txBody>
      </p:sp>
      <p:sp>
        <p:nvSpPr>
          <p:cNvPr id="24" name="Text 22"/>
          <p:cNvSpPr/>
          <p:nvPr/>
        </p:nvSpPr>
        <p:spPr>
          <a:xfrm>
            <a:off x="550069" y="2640062"/>
            <a:ext cx="1402966" cy="154305"/>
          </a:xfrm>
          <a:prstGeom prst="rect">
            <a:avLst/>
          </a:prstGeom>
          <a:noFill/>
          <a:ln/>
        </p:spPr>
        <p:txBody>
          <a:bodyPr wrap="none" lIns="0" tIns="0" rIns="0" bIns="0" rtlCol="0" anchor="t"/>
          <a:lstStyle/>
          <a:p>
            <a:pPr algn="l" indent="0" marL="0">
              <a:lnSpc>
                <a:spcPts val="1125"/>
              </a:lnSpc>
              <a:buNone/>
            </a:pPr>
            <a:r>
              <a:rPr lang="en-US" sz="1125" b="1" dirty="0">
                <a:solidFill>
                  <a:srgbClr val="0F1F3D"/>
                </a:solidFill>
                <a:latin typeface="Liberation Sans Narrow" pitchFamily="34" charset="0"/>
                <a:ea typeface="Liberation Sans Narrow" pitchFamily="34" charset="-122"/>
                <a:cs typeface="Liberation Sans Narrow" pitchFamily="34" charset="-120"/>
              </a:rPr>
              <a:t>780D</a:t>
            </a:r>
            <a:endParaRPr lang="en-US" sz="1125" dirty="0"/>
          </a:p>
        </p:txBody>
      </p:sp>
      <p:sp>
        <p:nvSpPr>
          <p:cNvPr id="25" name="Shape 23"/>
          <p:cNvSpPr/>
          <p:nvPr/>
        </p:nvSpPr>
        <p:spPr>
          <a:xfrm>
            <a:off x="550069" y="2829371"/>
            <a:ext cx="1402966" cy="0"/>
          </a:xfrm>
          <a:prstGeom prst="line">
            <a:avLst/>
          </a:prstGeom>
          <a:noFill/>
          <a:ln w="7144">
            <a:solidFill>
              <a:srgbClr val="E8EDF4"/>
            </a:solidFill>
            <a:prstDash val="solid"/>
          </a:ln>
        </p:spPr>
      </p:sp>
      <p:sp>
        <p:nvSpPr>
          <p:cNvPr id="26" name="Text 24"/>
          <p:cNvSpPr/>
          <p:nvPr/>
        </p:nvSpPr>
        <p:spPr>
          <a:xfrm>
            <a:off x="550069" y="2825800"/>
            <a:ext cx="1402966" cy="163663"/>
          </a:xfrm>
          <a:prstGeom prst="rect">
            <a:avLst/>
          </a:prstGeom>
          <a:noFill/>
          <a:ln/>
        </p:spPr>
        <p:txBody>
          <a:bodyPr wrap="none" lIns="0" tIns="42863" rIns="0" bIns="0" rtlCol="0" anchor="t">
            <a:normAutofit/>
          </a:bodyPr>
          <a:lstStyle/>
          <a:p>
            <a:pPr algn="l" indent="0" marL="0">
              <a:lnSpc>
                <a:spcPts val="886"/>
              </a:lnSpc>
              <a:buNone/>
            </a:pPr>
            <a:r>
              <a:rPr lang="en-US" sz="800" dirty="0">
                <a:solidFill>
                  <a:srgbClr val="5B6B82"/>
                </a:solidFill>
                <a:latin typeface="Liberation Sans Narrow" pitchFamily="34" charset="0"/>
                <a:ea typeface="Liberation Sans Narrow" pitchFamily="34" charset="-122"/>
                <a:cs typeface="Liberation Sans Narrow" pitchFamily="34" charset="-120"/>
              </a:rPr>
              <a:t>78 × 10 descriptors</a:t>
            </a:r>
            <a:endParaRPr lang="en-US" sz="800" dirty="0"/>
          </a:p>
        </p:txBody>
      </p:sp>
      <p:sp>
        <p:nvSpPr>
          <p:cNvPr id="27" name="Text 25"/>
          <p:cNvSpPr/>
          <p:nvPr/>
        </p:nvSpPr>
        <p:spPr>
          <a:xfrm>
            <a:off x="550069" y="3016895"/>
            <a:ext cx="1487143" cy="309190"/>
          </a:xfrm>
          <a:prstGeom prst="rect">
            <a:avLst/>
          </a:prstGeom>
          <a:noFill/>
          <a:ln/>
        </p:spPr>
        <p:txBody>
          <a:bodyPr wrap="square" lIns="0" tIns="0" rIns="0" bIns="0" rtlCol="0" anchor="t"/>
          <a:lstStyle/>
          <a:p>
            <a:pPr algn="l" indent="0" marL="0">
              <a:lnSpc>
                <a:spcPts val="775"/>
              </a:lnSpc>
              <a:buNone/>
            </a:pPr>
            <a:r>
              <a:rPr lang="en-US" sz="800" dirty="0">
                <a:solidFill>
                  <a:srgbClr val="8A97AB"/>
                </a:solidFill>
                <a:latin typeface="Courier New" pitchFamily="34" charset="0"/>
                <a:ea typeface="Courier New" pitchFamily="34" charset="-122"/>
                <a:cs typeface="Courier New" pitchFamily="34" charset="-120"/>
              </a:rPr>
              <a:t>μ, σ, min, max, median, P25, P75, range, IQR, skewness, kurtosis</a:t>
            </a:r>
            <a:endParaRPr lang="en-US" sz="800" dirty="0"/>
          </a:p>
        </p:txBody>
      </p:sp>
      <p:sp>
        <p:nvSpPr>
          <p:cNvPr id="28" name="Text 26"/>
          <p:cNvSpPr/>
          <p:nvPr/>
        </p:nvSpPr>
        <p:spPr>
          <a:xfrm>
            <a:off x="2120912" y="2127498"/>
            <a:ext cx="1581671" cy="1287884"/>
          </a:xfrm>
          <a:prstGeom prst="roundRect">
            <a:avLst>
              <a:gd name="adj" fmla="val 7396"/>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29" name="Text 27"/>
          <p:cNvSpPr/>
          <p:nvPr/>
        </p:nvSpPr>
        <p:spPr>
          <a:xfrm>
            <a:off x="2210209" y="2216795"/>
            <a:ext cx="228600" cy="228600"/>
          </a:xfrm>
          <a:prstGeom prst="roundRect">
            <a:avLst>
              <a:gd name="adj" fmla="val 33333"/>
            </a:avLst>
          </a:prstGeom>
          <a:solidFill>
            <a:srgbClr val="14B8A6">
              <a:alpha val="10000"/>
            </a:srgbClr>
          </a:solidFill>
          <a:ln/>
        </p:spPr>
        <p:txBody>
          <a:bodyPr wrap="square" rtlCol="0" anchor="ctr"/>
          <a:lstStyle/>
          <a:p>
            <a:pPr indent="0" marL="0">
              <a:buNone/>
            </a:pPr>
            <a:endParaRPr lang="en-US" dirty="0"/>
          </a:p>
        </p:txBody>
      </p:sp>
      <p:sp>
        <p:nvSpPr>
          <p:cNvPr id="30" name="Text 28"/>
          <p:cNvSpPr/>
          <p:nvPr/>
        </p:nvSpPr>
        <p:spPr>
          <a:xfrm>
            <a:off x="2231283" y="2237869"/>
            <a:ext cx="186452" cy="186452"/>
          </a:xfrm>
          <a:prstGeom prst="rect">
            <a:avLst/>
          </a:prstGeom>
          <a:noFill/>
          <a:ln/>
        </p:spPr>
        <p:txBody>
          <a:bodyPr wrap="none" lIns="0" tIns="0" rIns="0" bIns="0" rtlCol="0" anchor="ctr"/>
          <a:lstStyle/>
          <a:p>
            <a:pPr algn="ctr" indent="0" marL="0">
              <a:buNone/>
            </a:pPr>
            <a:r>
              <a:rPr lang="en-US" sz="1266" dirty="0">
                <a:solidFill>
                  <a:srgbClr val="0F766E"/>
                </a:solidFill>
                <a:latin typeface="Segoe UI Symbol" pitchFamily="34" charset="0"/>
                <a:ea typeface="Segoe UI Symbol" pitchFamily="34" charset="-122"/>
                <a:cs typeface="Segoe UI Symbol" pitchFamily="34" charset="-120"/>
              </a:rPr>
              <a:t>⌇</a:t>
            </a:r>
            <a:endParaRPr lang="en-US" sz="1266" dirty="0"/>
          </a:p>
        </p:txBody>
      </p:sp>
      <p:sp>
        <p:nvSpPr>
          <p:cNvPr id="31" name="Text 29"/>
          <p:cNvSpPr/>
          <p:nvPr/>
        </p:nvSpPr>
        <p:spPr>
          <a:xfrm>
            <a:off x="3065013" y="2235083"/>
            <a:ext cx="569361" cy="192024"/>
          </a:xfrm>
          <a:prstGeom prst="roundRect">
            <a:avLst>
              <a:gd name="adj" fmla="val 4955357"/>
            </a:avLst>
          </a:prstGeom>
          <a:solidFill>
            <a:srgbClr val="14B8A6">
              <a:alpha val="10000"/>
            </a:srgbClr>
          </a:solidFill>
          <a:ln/>
        </p:spPr>
        <p:txBody>
          <a:bodyPr wrap="square" rtlCol="0" anchor="ctr"/>
          <a:lstStyle/>
          <a:p>
            <a:pPr indent="0" marL="0">
              <a:buNone/>
            </a:pPr>
            <a:endParaRPr lang="en-US" dirty="0"/>
          </a:p>
        </p:txBody>
      </p:sp>
      <p:sp>
        <p:nvSpPr>
          <p:cNvPr id="32" name="Text 30"/>
          <p:cNvSpPr/>
          <p:nvPr/>
        </p:nvSpPr>
        <p:spPr>
          <a:xfrm>
            <a:off x="3078950" y="2245370"/>
            <a:ext cx="541487" cy="171450"/>
          </a:xfrm>
          <a:prstGeom prst="rect">
            <a:avLst/>
          </a:prstGeom>
          <a:noFill/>
          <a:ln/>
        </p:spPr>
        <p:txBody>
          <a:bodyPr wrap="none" lIns="0" tIns="0" rIns="0" bIns="0" rtlCol="0" anchor="ctr"/>
          <a:lstStyle/>
          <a:p>
            <a:pPr algn="ctr" indent="0" marL="0">
              <a:lnSpc>
                <a:spcPts val="1013"/>
              </a:lnSpc>
              <a:buNone/>
            </a:pPr>
            <a:r>
              <a:rPr lang="en-US" sz="800" b="1" dirty="0">
                <a:solidFill>
                  <a:srgbClr val="0F766E"/>
                </a:solidFill>
                <a:latin typeface="Liberation Sans Narrow" pitchFamily="34" charset="0"/>
                <a:ea typeface="Liberation Sans Narrow" pitchFamily="34" charset="-122"/>
                <a:cs typeface="Liberation Sans Narrow" pitchFamily="34" charset="-120"/>
              </a:rPr>
              <a:t>624 dims</a:t>
            </a:r>
            <a:endParaRPr lang="en-US" sz="800" dirty="0"/>
          </a:p>
        </p:txBody>
      </p:sp>
      <p:sp>
        <p:nvSpPr>
          <p:cNvPr id="33" name="Text 31"/>
          <p:cNvSpPr/>
          <p:nvPr/>
        </p:nvSpPr>
        <p:spPr>
          <a:xfrm>
            <a:off x="2210209" y="2502545"/>
            <a:ext cx="1403077" cy="110085"/>
          </a:xfrm>
          <a:prstGeom prst="rect">
            <a:avLst/>
          </a:prstGeom>
          <a:noFill/>
          <a:ln/>
        </p:spPr>
        <p:txBody>
          <a:bodyPr wrap="none" lIns="0" tIns="0" rIns="0" bIns="0" rtlCol="0" anchor="t">
            <a:normAutofit/>
          </a:bodyPr>
          <a:lstStyle/>
          <a:p>
            <a:pPr algn="l" indent="0" marL="0">
              <a:lnSpc>
                <a:spcPts val="970"/>
              </a:lnSpc>
              <a:buNone/>
            </a:pPr>
            <a:r>
              <a:rPr lang="en-US" sz="800" b="1" spc="65" kern="0" dirty="0">
                <a:solidFill>
                  <a:srgbClr val="0F1F3D"/>
                </a:solidFill>
                <a:latin typeface="Carlito" pitchFamily="34" charset="0"/>
                <a:ea typeface="Carlito" pitchFamily="34" charset="-122"/>
                <a:cs typeface="Carlito" pitchFamily="34" charset="-120"/>
              </a:rPr>
              <a:t>TEMPORAL DYNAMICS</a:t>
            </a:r>
            <a:endParaRPr lang="en-US" sz="800" dirty="0"/>
          </a:p>
        </p:txBody>
      </p:sp>
      <p:sp>
        <p:nvSpPr>
          <p:cNvPr id="34" name="Text 32"/>
          <p:cNvSpPr/>
          <p:nvPr/>
        </p:nvSpPr>
        <p:spPr>
          <a:xfrm>
            <a:off x="2210209" y="2640062"/>
            <a:ext cx="1403077" cy="154305"/>
          </a:xfrm>
          <a:prstGeom prst="rect">
            <a:avLst/>
          </a:prstGeom>
          <a:noFill/>
          <a:ln/>
        </p:spPr>
        <p:txBody>
          <a:bodyPr wrap="none" lIns="0" tIns="0" rIns="0" bIns="0" rtlCol="0" anchor="t"/>
          <a:lstStyle/>
          <a:p>
            <a:pPr algn="l" indent="0" marL="0">
              <a:lnSpc>
                <a:spcPts val="1125"/>
              </a:lnSpc>
              <a:buNone/>
            </a:pPr>
            <a:r>
              <a:rPr lang="en-US" sz="1125" b="1" dirty="0">
                <a:solidFill>
                  <a:srgbClr val="0F1F3D"/>
                </a:solidFill>
                <a:latin typeface="Liberation Sans Narrow" pitchFamily="34" charset="0"/>
                <a:ea typeface="Liberation Sans Narrow" pitchFamily="34" charset="-122"/>
                <a:cs typeface="Liberation Sans Narrow" pitchFamily="34" charset="-120"/>
              </a:rPr>
              <a:t>624D</a:t>
            </a:r>
            <a:endParaRPr lang="en-US" sz="1125" dirty="0"/>
          </a:p>
        </p:txBody>
      </p:sp>
      <p:sp>
        <p:nvSpPr>
          <p:cNvPr id="35" name="Shape 33"/>
          <p:cNvSpPr/>
          <p:nvPr/>
        </p:nvSpPr>
        <p:spPr>
          <a:xfrm>
            <a:off x="2210209" y="2829371"/>
            <a:ext cx="1403077" cy="0"/>
          </a:xfrm>
          <a:prstGeom prst="line">
            <a:avLst/>
          </a:prstGeom>
          <a:noFill/>
          <a:ln w="7144">
            <a:solidFill>
              <a:srgbClr val="E8EDF4"/>
            </a:solidFill>
            <a:prstDash val="solid"/>
          </a:ln>
        </p:spPr>
      </p:sp>
      <p:sp>
        <p:nvSpPr>
          <p:cNvPr id="36" name="Text 34"/>
          <p:cNvSpPr/>
          <p:nvPr/>
        </p:nvSpPr>
        <p:spPr>
          <a:xfrm>
            <a:off x="2210209" y="2825800"/>
            <a:ext cx="1403077" cy="163663"/>
          </a:xfrm>
          <a:prstGeom prst="rect">
            <a:avLst/>
          </a:prstGeom>
          <a:noFill/>
          <a:ln/>
        </p:spPr>
        <p:txBody>
          <a:bodyPr wrap="none" lIns="0" tIns="42863" rIns="0" bIns="0" rtlCol="0" anchor="t">
            <a:normAutofit/>
          </a:bodyPr>
          <a:lstStyle/>
          <a:p>
            <a:pPr algn="l" indent="0" marL="0">
              <a:lnSpc>
                <a:spcPts val="886"/>
              </a:lnSpc>
              <a:buNone/>
            </a:pPr>
            <a:r>
              <a:rPr lang="en-US" sz="800" dirty="0">
                <a:solidFill>
                  <a:srgbClr val="5B6B82"/>
                </a:solidFill>
                <a:latin typeface="Liberation Sans Narrow" pitchFamily="34" charset="0"/>
                <a:ea typeface="Liberation Sans Narrow" pitchFamily="34" charset="-122"/>
                <a:cs typeface="Liberation Sans Narrow" pitchFamily="34" charset="-120"/>
              </a:rPr>
              <a:t>78 × 8 descriptors</a:t>
            </a:r>
            <a:endParaRPr lang="en-US" sz="800" dirty="0"/>
          </a:p>
        </p:txBody>
      </p:sp>
      <p:sp>
        <p:nvSpPr>
          <p:cNvPr id="37" name="Text 35"/>
          <p:cNvSpPr/>
          <p:nvPr/>
        </p:nvSpPr>
        <p:spPr>
          <a:xfrm>
            <a:off x="2210209" y="3016895"/>
            <a:ext cx="1487262" cy="309190"/>
          </a:xfrm>
          <a:prstGeom prst="rect">
            <a:avLst/>
          </a:prstGeom>
          <a:noFill/>
          <a:ln/>
        </p:spPr>
        <p:txBody>
          <a:bodyPr wrap="square" lIns="0" tIns="0" rIns="0" bIns="0" rtlCol="0" anchor="t"/>
          <a:lstStyle/>
          <a:p>
            <a:pPr algn="l" indent="0" marL="0">
              <a:lnSpc>
                <a:spcPts val="775"/>
              </a:lnSpc>
              <a:buNone/>
            </a:pPr>
            <a:r>
              <a:rPr lang="en-US" sz="800" dirty="0">
                <a:solidFill>
                  <a:srgbClr val="8A97AB"/>
                </a:solidFill>
                <a:latin typeface="Courier New" pitchFamily="34" charset="0"/>
                <a:ea typeface="Courier New" pitchFamily="34" charset="-122"/>
                <a:cs typeface="Courier New" pitchFamily="34" charset="-120"/>
              </a:rPr>
              <a:t>Velocity &amp; acceleration: mean, std, max|v|, ZCR, peak rate, slope β</a:t>
            </a:r>
            <a:endParaRPr lang="en-US" sz="800" dirty="0"/>
          </a:p>
        </p:txBody>
      </p:sp>
      <p:sp>
        <p:nvSpPr>
          <p:cNvPr id="38" name="Text 36"/>
          <p:cNvSpPr/>
          <p:nvPr/>
        </p:nvSpPr>
        <p:spPr>
          <a:xfrm>
            <a:off x="3781165" y="2127498"/>
            <a:ext cx="1581559" cy="1287884"/>
          </a:xfrm>
          <a:prstGeom prst="roundRect">
            <a:avLst>
              <a:gd name="adj" fmla="val 7396"/>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39" name="Text 37"/>
          <p:cNvSpPr/>
          <p:nvPr/>
        </p:nvSpPr>
        <p:spPr>
          <a:xfrm>
            <a:off x="3870461" y="2216795"/>
            <a:ext cx="228600" cy="228600"/>
          </a:xfrm>
          <a:prstGeom prst="roundRect">
            <a:avLst>
              <a:gd name="adj" fmla="val 33333"/>
            </a:avLst>
          </a:prstGeom>
          <a:solidFill>
            <a:srgbClr val="14B8A6">
              <a:alpha val="10000"/>
            </a:srgbClr>
          </a:solidFill>
          <a:ln/>
        </p:spPr>
        <p:txBody>
          <a:bodyPr wrap="square" rtlCol="0" anchor="ctr"/>
          <a:lstStyle/>
          <a:p>
            <a:pPr indent="0" marL="0">
              <a:buNone/>
            </a:pPr>
            <a:endParaRPr lang="en-US" dirty="0"/>
          </a:p>
        </p:txBody>
      </p:sp>
      <p:sp>
        <p:nvSpPr>
          <p:cNvPr id="40" name="Text 38"/>
          <p:cNvSpPr/>
          <p:nvPr/>
        </p:nvSpPr>
        <p:spPr>
          <a:xfrm>
            <a:off x="3891535" y="2237869"/>
            <a:ext cx="186452" cy="186452"/>
          </a:xfrm>
          <a:prstGeom prst="rect">
            <a:avLst/>
          </a:prstGeom>
          <a:noFill/>
          <a:ln/>
        </p:spPr>
        <p:txBody>
          <a:bodyPr wrap="none" lIns="0" tIns="0" rIns="0" bIns="0" rtlCol="0" anchor="ctr"/>
          <a:lstStyle/>
          <a:p>
            <a:pPr algn="ctr" indent="0" marL="0">
              <a:buNone/>
            </a:pPr>
            <a:r>
              <a:rPr lang="en-US" sz="1266" dirty="0">
                <a:solidFill>
                  <a:srgbClr val="0F766E"/>
                </a:solidFill>
                <a:latin typeface="Segoe UI Symbol" pitchFamily="34" charset="0"/>
                <a:ea typeface="Segoe UI Symbol" pitchFamily="34" charset="-122"/>
                <a:cs typeface="Segoe UI Symbol" pitchFamily="34" charset="-120"/>
              </a:rPr>
              <a:t>▦</a:t>
            </a:r>
            <a:endParaRPr lang="en-US" sz="1266" dirty="0"/>
          </a:p>
        </p:txBody>
      </p:sp>
      <p:sp>
        <p:nvSpPr>
          <p:cNvPr id="41" name="Text 39"/>
          <p:cNvSpPr/>
          <p:nvPr/>
        </p:nvSpPr>
        <p:spPr>
          <a:xfrm>
            <a:off x="4725153" y="2235083"/>
            <a:ext cx="569361" cy="192024"/>
          </a:xfrm>
          <a:prstGeom prst="roundRect">
            <a:avLst>
              <a:gd name="adj" fmla="val 4955357"/>
            </a:avLst>
          </a:prstGeom>
          <a:solidFill>
            <a:srgbClr val="14B8A6">
              <a:alpha val="10000"/>
            </a:srgbClr>
          </a:solidFill>
          <a:ln/>
        </p:spPr>
        <p:txBody>
          <a:bodyPr wrap="square" rtlCol="0" anchor="ctr"/>
          <a:lstStyle/>
          <a:p>
            <a:pPr indent="0" marL="0">
              <a:buNone/>
            </a:pPr>
            <a:endParaRPr lang="en-US" dirty="0"/>
          </a:p>
        </p:txBody>
      </p:sp>
      <p:sp>
        <p:nvSpPr>
          <p:cNvPr id="42" name="Text 40"/>
          <p:cNvSpPr/>
          <p:nvPr/>
        </p:nvSpPr>
        <p:spPr>
          <a:xfrm>
            <a:off x="4739090" y="2245370"/>
            <a:ext cx="541487" cy="171450"/>
          </a:xfrm>
          <a:prstGeom prst="rect">
            <a:avLst/>
          </a:prstGeom>
          <a:noFill/>
          <a:ln/>
        </p:spPr>
        <p:txBody>
          <a:bodyPr wrap="none" lIns="0" tIns="0" rIns="0" bIns="0" rtlCol="0" anchor="ctr"/>
          <a:lstStyle/>
          <a:p>
            <a:pPr algn="ctr" indent="0" marL="0">
              <a:lnSpc>
                <a:spcPts val="1013"/>
              </a:lnSpc>
              <a:buNone/>
            </a:pPr>
            <a:r>
              <a:rPr lang="en-US" sz="800" b="1" dirty="0">
                <a:solidFill>
                  <a:srgbClr val="0F766E"/>
                </a:solidFill>
                <a:latin typeface="Liberation Sans Narrow" pitchFamily="34" charset="0"/>
                <a:ea typeface="Liberation Sans Narrow" pitchFamily="34" charset="-122"/>
                <a:cs typeface="Liberation Sans Narrow" pitchFamily="34" charset="-120"/>
              </a:rPr>
              <a:t>546 dims</a:t>
            </a:r>
            <a:endParaRPr lang="en-US" sz="800" dirty="0"/>
          </a:p>
        </p:txBody>
      </p:sp>
      <p:sp>
        <p:nvSpPr>
          <p:cNvPr id="43" name="Text 41"/>
          <p:cNvSpPr/>
          <p:nvPr/>
        </p:nvSpPr>
        <p:spPr>
          <a:xfrm>
            <a:off x="3870461" y="2502545"/>
            <a:ext cx="1402966" cy="110085"/>
          </a:xfrm>
          <a:prstGeom prst="rect">
            <a:avLst/>
          </a:prstGeom>
          <a:noFill/>
          <a:ln/>
        </p:spPr>
        <p:txBody>
          <a:bodyPr wrap="none" lIns="0" tIns="0" rIns="0" bIns="0" rtlCol="0" anchor="t">
            <a:normAutofit/>
          </a:bodyPr>
          <a:lstStyle/>
          <a:p>
            <a:pPr algn="l" indent="0" marL="0">
              <a:lnSpc>
                <a:spcPts val="970"/>
              </a:lnSpc>
              <a:buNone/>
            </a:pPr>
            <a:r>
              <a:rPr lang="en-US" sz="800" b="1" spc="65" kern="0" dirty="0">
                <a:solidFill>
                  <a:srgbClr val="0F1F3D"/>
                </a:solidFill>
                <a:latin typeface="Carlito" pitchFamily="34" charset="0"/>
                <a:ea typeface="Carlito" pitchFamily="34" charset="-122"/>
                <a:cs typeface="Carlito" pitchFamily="34" charset="-120"/>
              </a:rPr>
              <a:t>FREQUENCY DOMAIN</a:t>
            </a:r>
            <a:endParaRPr lang="en-US" sz="800" dirty="0"/>
          </a:p>
        </p:txBody>
      </p:sp>
      <p:sp>
        <p:nvSpPr>
          <p:cNvPr id="44" name="Text 42"/>
          <p:cNvSpPr/>
          <p:nvPr/>
        </p:nvSpPr>
        <p:spPr>
          <a:xfrm>
            <a:off x="3870461" y="2640062"/>
            <a:ext cx="1402966" cy="154305"/>
          </a:xfrm>
          <a:prstGeom prst="rect">
            <a:avLst/>
          </a:prstGeom>
          <a:noFill/>
          <a:ln/>
        </p:spPr>
        <p:txBody>
          <a:bodyPr wrap="none" lIns="0" tIns="0" rIns="0" bIns="0" rtlCol="0" anchor="t"/>
          <a:lstStyle/>
          <a:p>
            <a:pPr algn="l" indent="0" marL="0">
              <a:lnSpc>
                <a:spcPts val="1125"/>
              </a:lnSpc>
              <a:buNone/>
            </a:pPr>
            <a:r>
              <a:rPr lang="en-US" sz="1125" b="1" dirty="0">
                <a:solidFill>
                  <a:srgbClr val="0F1F3D"/>
                </a:solidFill>
                <a:latin typeface="Liberation Sans Narrow" pitchFamily="34" charset="0"/>
                <a:ea typeface="Liberation Sans Narrow" pitchFamily="34" charset="-122"/>
                <a:cs typeface="Liberation Sans Narrow" pitchFamily="34" charset="-120"/>
              </a:rPr>
              <a:t>546D</a:t>
            </a:r>
            <a:endParaRPr lang="en-US" sz="1125" dirty="0"/>
          </a:p>
        </p:txBody>
      </p:sp>
      <p:sp>
        <p:nvSpPr>
          <p:cNvPr id="45" name="Shape 43"/>
          <p:cNvSpPr/>
          <p:nvPr/>
        </p:nvSpPr>
        <p:spPr>
          <a:xfrm>
            <a:off x="3870461" y="2829371"/>
            <a:ext cx="1402966" cy="0"/>
          </a:xfrm>
          <a:prstGeom prst="line">
            <a:avLst/>
          </a:prstGeom>
          <a:noFill/>
          <a:ln w="7144">
            <a:solidFill>
              <a:srgbClr val="E8EDF4"/>
            </a:solidFill>
            <a:prstDash val="solid"/>
          </a:ln>
        </p:spPr>
      </p:sp>
      <p:sp>
        <p:nvSpPr>
          <p:cNvPr id="46" name="Text 44"/>
          <p:cNvSpPr/>
          <p:nvPr/>
        </p:nvSpPr>
        <p:spPr>
          <a:xfrm>
            <a:off x="3870461" y="2825800"/>
            <a:ext cx="1402966" cy="163663"/>
          </a:xfrm>
          <a:prstGeom prst="rect">
            <a:avLst/>
          </a:prstGeom>
          <a:noFill/>
          <a:ln/>
        </p:spPr>
        <p:txBody>
          <a:bodyPr wrap="none" lIns="0" tIns="42863" rIns="0" bIns="0" rtlCol="0" anchor="t">
            <a:normAutofit/>
          </a:bodyPr>
          <a:lstStyle/>
          <a:p>
            <a:pPr algn="l" indent="0" marL="0">
              <a:lnSpc>
                <a:spcPts val="886"/>
              </a:lnSpc>
              <a:buNone/>
            </a:pPr>
            <a:r>
              <a:rPr lang="en-US" sz="800" dirty="0">
                <a:solidFill>
                  <a:srgbClr val="5B6B82"/>
                </a:solidFill>
                <a:latin typeface="Liberation Sans Narrow" pitchFamily="34" charset="0"/>
                <a:ea typeface="Liberation Sans Narrow" pitchFamily="34" charset="-122"/>
                <a:cs typeface="Liberation Sans Narrow" pitchFamily="34" charset="-120"/>
              </a:rPr>
              <a:t>78 × 7 descriptors</a:t>
            </a:r>
            <a:endParaRPr lang="en-US" sz="800" dirty="0"/>
          </a:p>
        </p:txBody>
      </p:sp>
      <p:sp>
        <p:nvSpPr>
          <p:cNvPr id="47" name="Text 45"/>
          <p:cNvSpPr/>
          <p:nvPr/>
        </p:nvSpPr>
        <p:spPr>
          <a:xfrm>
            <a:off x="3870461" y="3016895"/>
            <a:ext cx="1487143" cy="309190"/>
          </a:xfrm>
          <a:prstGeom prst="rect">
            <a:avLst/>
          </a:prstGeom>
          <a:noFill/>
          <a:ln/>
        </p:spPr>
        <p:txBody>
          <a:bodyPr wrap="square" lIns="0" tIns="0" rIns="0" bIns="0" rtlCol="0" anchor="t"/>
          <a:lstStyle/>
          <a:p>
            <a:pPr algn="l" indent="0" marL="0">
              <a:lnSpc>
                <a:spcPts val="775"/>
              </a:lnSpc>
              <a:buNone/>
            </a:pPr>
            <a:r>
              <a:rPr lang="en-US" sz="800" dirty="0">
                <a:solidFill>
                  <a:srgbClr val="8A97AB"/>
                </a:solidFill>
                <a:latin typeface="Courier New" pitchFamily="34" charset="0"/>
                <a:ea typeface="Courier New" pitchFamily="34" charset="-122"/>
                <a:cs typeface="Courier New" pitchFamily="34" charset="-120"/>
              </a:rPr>
              <a:t>FFT: dominant freq, spectral centroid, spread, entropy, E_low/mid/high bands</a:t>
            </a:r>
            <a:endParaRPr lang="en-US" sz="800" dirty="0"/>
          </a:p>
        </p:txBody>
      </p:sp>
      <p:sp>
        <p:nvSpPr>
          <p:cNvPr id="48" name="Text 46"/>
          <p:cNvSpPr/>
          <p:nvPr/>
        </p:nvSpPr>
        <p:spPr>
          <a:xfrm>
            <a:off x="5441305" y="2127498"/>
            <a:ext cx="1581671" cy="1287884"/>
          </a:xfrm>
          <a:prstGeom prst="roundRect">
            <a:avLst>
              <a:gd name="adj" fmla="val 7396"/>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49" name="Text 47"/>
          <p:cNvSpPr/>
          <p:nvPr/>
        </p:nvSpPr>
        <p:spPr>
          <a:xfrm>
            <a:off x="5530602" y="2216795"/>
            <a:ext cx="228600" cy="228600"/>
          </a:xfrm>
          <a:prstGeom prst="roundRect">
            <a:avLst>
              <a:gd name="adj" fmla="val 33333"/>
            </a:avLst>
          </a:prstGeom>
          <a:solidFill>
            <a:srgbClr val="14B8A6">
              <a:alpha val="10000"/>
            </a:srgbClr>
          </a:solidFill>
          <a:ln/>
        </p:spPr>
        <p:txBody>
          <a:bodyPr wrap="square" rtlCol="0" anchor="ctr"/>
          <a:lstStyle/>
          <a:p>
            <a:pPr indent="0" marL="0">
              <a:buNone/>
            </a:pPr>
            <a:endParaRPr lang="en-US" dirty="0"/>
          </a:p>
        </p:txBody>
      </p:sp>
      <p:sp>
        <p:nvSpPr>
          <p:cNvPr id="50" name="Text 48"/>
          <p:cNvSpPr/>
          <p:nvPr/>
        </p:nvSpPr>
        <p:spPr>
          <a:xfrm>
            <a:off x="5551676" y="2237869"/>
            <a:ext cx="186452" cy="186452"/>
          </a:xfrm>
          <a:prstGeom prst="rect">
            <a:avLst/>
          </a:prstGeom>
          <a:noFill/>
          <a:ln/>
        </p:spPr>
        <p:txBody>
          <a:bodyPr wrap="none" lIns="0" tIns="0" rIns="0" bIns="0" rtlCol="0" anchor="ctr"/>
          <a:lstStyle/>
          <a:p>
            <a:pPr algn="ctr" indent="0" marL="0">
              <a:buNone/>
            </a:pPr>
            <a:r>
              <a:rPr lang="en-US" sz="1266" dirty="0">
                <a:solidFill>
                  <a:srgbClr val="0F766E"/>
                </a:solidFill>
                <a:latin typeface="Segoe UI Symbol" pitchFamily="34" charset="0"/>
                <a:ea typeface="Segoe UI Symbol" pitchFamily="34" charset="-122"/>
                <a:cs typeface="Segoe UI Symbol" pitchFamily="34" charset="-120"/>
              </a:rPr>
              <a:t>✦</a:t>
            </a:r>
            <a:endParaRPr lang="en-US" sz="1266" dirty="0"/>
          </a:p>
        </p:txBody>
      </p:sp>
      <p:sp>
        <p:nvSpPr>
          <p:cNvPr id="51" name="Text 49"/>
          <p:cNvSpPr/>
          <p:nvPr/>
        </p:nvSpPr>
        <p:spPr>
          <a:xfrm>
            <a:off x="6385405" y="2235083"/>
            <a:ext cx="569361" cy="192024"/>
          </a:xfrm>
          <a:prstGeom prst="roundRect">
            <a:avLst>
              <a:gd name="adj" fmla="val 4955357"/>
            </a:avLst>
          </a:prstGeom>
          <a:solidFill>
            <a:srgbClr val="14B8A6">
              <a:alpha val="10000"/>
            </a:srgbClr>
          </a:solidFill>
          <a:ln/>
        </p:spPr>
        <p:txBody>
          <a:bodyPr wrap="square" rtlCol="0" anchor="ctr"/>
          <a:lstStyle/>
          <a:p>
            <a:pPr indent="0" marL="0">
              <a:buNone/>
            </a:pPr>
            <a:endParaRPr lang="en-US" dirty="0"/>
          </a:p>
        </p:txBody>
      </p:sp>
      <p:sp>
        <p:nvSpPr>
          <p:cNvPr id="52" name="Text 50"/>
          <p:cNvSpPr/>
          <p:nvPr/>
        </p:nvSpPr>
        <p:spPr>
          <a:xfrm>
            <a:off x="6399342" y="2245370"/>
            <a:ext cx="541487" cy="171450"/>
          </a:xfrm>
          <a:prstGeom prst="rect">
            <a:avLst/>
          </a:prstGeom>
          <a:noFill/>
          <a:ln/>
        </p:spPr>
        <p:txBody>
          <a:bodyPr wrap="none" lIns="0" tIns="0" rIns="0" bIns="0" rtlCol="0" anchor="ctr"/>
          <a:lstStyle/>
          <a:p>
            <a:pPr algn="ctr" indent="0" marL="0">
              <a:lnSpc>
                <a:spcPts val="1013"/>
              </a:lnSpc>
              <a:buNone/>
            </a:pPr>
            <a:r>
              <a:rPr lang="en-US" sz="800" b="1" dirty="0">
                <a:solidFill>
                  <a:srgbClr val="0F766E"/>
                </a:solidFill>
                <a:latin typeface="Liberation Sans Narrow" pitchFamily="34" charset="0"/>
                <a:ea typeface="Liberation Sans Narrow" pitchFamily="34" charset="-122"/>
                <a:cs typeface="Liberation Sans Narrow" pitchFamily="34" charset="-120"/>
              </a:rPr>
              <a:t>111 dims</a:t>
            </a:r>
            <a:endParaRPr lang="en-US" sz="800" dirty="0"/>
          </a:p>
        </p:txBody>
      </p:sp>
      <p:sp>
        <p:nvSpPr>
          <p:cNvPr id="53" name="Text 51"/>
          <p:cNvSpPr/>
          <p:nvPr/>
        </p:nvSpPr>
        <p:spPr>
          <a:xfrm>
            <a:off x="5530602" y="2502545"/>
            <a:ext cx="1403077" cy="110085"/>
          </a:xfrm>
          <a:prstGeom prst="rect">
            <a:avLst/>
          </a:prstGeom>
          <a:noFill/>
          <a:ln/>
        </p:spPr>
        <p:txBody>
          <a:bodyPr wrap="none" lIns="0" tIns="0" rIns="0" bIns="0" rtlCol="0" anchor="t">
            <a:normAutofit/>
          </a:bodyPr>
          <a:lstStyle/>
          <a:p>
            <a:pPr algn="l" indent="0" marL="0">
              <a:lnSpc>
                <a:spcPts val="970"/>
              </a:lnSpc>
              <a:buNone/>
            </a:pPr>
            <a:r>
              <a:rPr lang="en-US" sz="800" b="1" spc="65" kern="0" dirty="0">
                <a:solidFill>
                  <a:srgbClr val="0F1F3D"/>
                </a:solidFill>
                <a:latin typeface="Carlito" pitchFamily="34" charset="0"/>
                <a:ea typeface="Carlito" pitchFamily="34" charset="-122"/>
                <a:cs typeface="Carlito" pitchFamily="34" charset="-120"/>
              </a:rPr>
              <a:t>INTERACTION</a:t>
            </a:r>
            <a:endParaRPr lang="en-US" sz="800" dirty="0"/>
          </a:p>
        </p:txBody>
      </p:sp>
      <p:sp>
        <p:nvSpPr>
          <p:cNvPr id="54" name="Text 52"/>
          <p:cNvSpPr/>
          <p:nvPr/>
        </p:nvSpPr>
        <p:spPr>
          <a:xfrm>
            <a:off x="5530602" y="2640062"/>
            <a:ext cx="1403077" cy="154305"/>
          </a:xfrm>
          <a:prstGeom prst="rect">
            <a:avLst/>
          </a:prstGeom>
          <a:noFill/>
          <a:ln/>
        </p:spPr>
        <p:txBody>
          <a:bodyPr wrap="none" lIns="0" tIns="0" rIns="0" bIns="0" rtlCol="0" anchor="t"/>
          <a:lstStyle/>
          <a:p>
            <a:pPr algn="l" indent="0" marL="0">
              <a:lnSpc>
                <a:spcPts val="1125"/>
              </a:lnSpc>
              <a:buNone/>
            </a:pPr>
            <a:r>
              <a:rPr lang="en-US" sz="1125" b="1" dirty="0">
                <a:solidFill>
                  <a:srgbClr val="0F1F3D"/>
                </a:solidFill>
                <a:latin typeface="Liberation Sans Narrow" pitchFamily="34" charset="0"/>
                <a:ea typeface="Liberation Sans Narrow" pitchFamily="34" charset="-122"/>
                <a:cs typeface="Liberation Sans Narrow" pitchFamily="34" charset="-120"/>
              </a:rPr>
              <a:t>111D</a:t>
            </a:r>
            <a:endParaRPr lang="en-US" sz="1125" dirty="0"/>
          </a:p>
        </p:txBody>
      </p:sp>
      <p:sp>
        <p:nvSpPr>
          <p:cNvPr id="55" name="Shape 53"/>
          <p:cNvSpPr/>
          <p:nvPr/>
        </p:nvSpPr>
        <p:spPr>
          <a:xfrm>
            <a:off x="5530602" y="2829371"/>
            <a:ext cx="1403077" cy="0"/>
          </a:xfrm>
          <a:prstGeom prst="line">
            <a:avLst/>
          </a:prstGeom>
          <a:noFill/>
          <a:ln w="7144">
            <a:solidFill>
              <a:srgbClr val="E8EDF4"/>
            </a:solidFill>
            <a:prstDash val="solid"/>
          </a:ln>
        </p:spPr>
      </p:sp>
      <p:sp>
        <p:nvSpPr>
          <p:cNvPr id="56" name="Text 54"/>
          <p:cNvSpPr/>
          <p:nvPr/>
        </p:nvSpPr>
        <p:spPr>
          <a:xfrm>
            <a:off x="5530602" y="2825800"/>
            <a:ext cx="1487262" cy="276177"/>
          </a:xfrm>
          <a:prstGeom prst="rect">
            <a:avLst/>
          </a:prstGeom>
          <a:noFill/>
          <a:ln/>
        </p:spPr>
        <p:txBody>
          <a:bodyPr wrap="square" lIns="0" tIns="42863" rIns="0" bIns="0" rtlCol="0" anchor="t">
            <a:normAutofit/>
          </a:bodyPr>
          <a:lstStyle/>
          <a:p>
            <a:pPr algn="l" indent="0" marL="0">
              <a:lnSpc>
                <a:spcPts val="886"/>
              </a:lnSpc>
              <a:buNone/>
            </a:pPr>
            <a:r>
              <a:rPr lang="en-US" sz="800" dirty="0">
                <a:solidFill>
                  <a:srgbClr val="5B6B82"/>
                </a:solidFill>
                <a:latin typeface="Carlito" pitchFamily="34" charset="0"/>
                <a:ea typeface="Carlito" pitchFamily="34" charset="-122"/>
                <a:cs typeface="Carlito" pitchFamily="34" charset="-120"/>
              </a:rPr>
              <a:t>cross-group correlations + 6 state-specific ratios</a:t>
            </a:r>
            <a:endParaRPr lang="en-US" sz="800" dirty="0"/>
          </a:p>
        </p:txBody>
      </p:sp>
      <p:sp>
        <p:nvSpPr>
          <p:cNvPr id="57" name="Text 55"/>
          <p:cNvSpPr/>
          <p:nvPr/>
        </p:nvSpPr>
        <p:spPr>
          <a:xfrm>
            <a:off x="5530602" y="3129409"/>
            <a:ext cx="1487262" cy="196676"/>
          </a:xfrm>
          <a:prstGeom prst="rect">
            <a:avLst/>
          </a:prstGeom>
          <a:noFill/>
          <a:ln/>
        </p:spPr>
        <p:txBody>
          <a:bodyPr wrap="square" lIns="0" tIns="0" rIns="0" bIns="0" rtlCol="0" anchor="t"/>
          <a:lstStyle/>
          <a:p>
            <a:pPr algn="l" indent="0" marL="0">
              <a:lnSpc>
                <a:spcPts val="775"/>
              </a:lnSpc>
              <a:buNone/>
            </a:pPr>
            <a:r>
              <a:rPr lang="en-US" sz="800" dirty="0">
                <a:solidFill>
                  <a:srgbClr val="8A97AB"/>
                </a:solidFill>
                <a:latin typeface="Courier New" pitchFamily="34" charset="0"/>
                <a:ea typeface="Courier New" pitchFamily="34" charset="-122"/>
                <a:cs typeface="Courier New" pitchFamily="34" charset="-120"/>
              </a:rPr>
              <a:t>e.g., boredom_ratio = eyeBlink / eyeWide</a:t>
            </a:r>
            <a:endParaRPr lang="en-US" sz="800" dirty="0"/>
          </a:p>
        </p:txBody>
      </p:sp>
      <p:sp>
        <p:nvSpPr>
          <p:cNvPr id="58" name="Text 56"/>
          <p:cNvSpPr/>
          <p:nvPr/>
        </p:nvSpPr>
        <p:spPr>
          <a:xfrm>
            <a:off x="7101557" y="2127498"/>
            <a:ext cx="1581559" cy="1287884"/>
          </a:xfrm>
          <a:prstGeom prst="roundRect">
            <a:avLst>
              <a:gd name="adj" fmla="val 7396"/>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59" name="Text 57"/>
          <p:cNvSpPr/>
          <p:nvPr/>
        </p:nvSpPr>
        <p:spPr>
          <a:xfrm>
            <a:off x="7190854" y="2216795"/>
            <a:ext cx="228600" cy="228600"/>
          </a:xfrm>
          <a:prstGeom prst="roundRect">
            <a:avLst>
              <a:gd name="adj" fmla="val 33333"/>
            </a:avLst>
          </a:prstGeom>
          <a:solidFill>
            <a:srgbClr val="14B8A6">
              <a:alpha val="10000"/>
            </a:srgbClr>
          </a:solidFill>
          <a:ln/>
        </p:spPr>
        <p:txBody>
          <a:bodyPr wrap="square" rtlCol="0" anchor="ctr"/>
          <a:lstStyle/>
          <a:p>
            <a:pPr indent="0" marL="0">
              <a:buNone/>
            </a:pPr>
            <a:endParaRPr lang="en-US" dirty="0"/>
          </a:p>
        </p:txBody>
      </p:sp>
      <p:sp>
        <p:nvSpPr>
          <p:cNvPr id="60" name="Text 58"/>
          <p:cNvSpPr/>
          <p:nvPr/>
        </p:nvSpPr>
        <p:spPr>
          <a:xfrm>
            <a:off x="7211928" y="2237869"/>
            <a:ext cx="186452" cy="186452"/>
          </a:xfrm>
          <a:prstGeom prst="rect">
            <a:avLst/>
          </a:prstGeom>
          <a:noFill/>
          <a:ln/>
        </p:spPr>
        <p:txBody>
          <a:bodyPr wrap="none" lIns="0" tIns="0" rIns="0" bIns="0" rtlCol="0" anchor="ctr"/>
          <a:lstStyle/>
          <a:p>
            <a:pPr algn="ctr" indent="0" marL="0">
              <a:buNone/>
            </a:pPr>
            <a:r>
              <a:rPr lang="en-US" sz="1266" dirty="0">
                <a:solidFill>
                  <a:srgbClr val="0F766E"/>
                </a:solidFill>
                <a:latin typeface="Segoe UI Symbol" pitchFamily="34" charset="0"/>
                <a:ea typeface="Segoe UI Symbol" pitchFamily="34" charset="-122"/>
                <a:cs typeface="Segoe UI Symbol" pitchFamily="34" charset="-120"/>
              </a:rPr>
              <a:t>◯</a:t>
            </a:r>
            <a:endParaRPr lang="en-US" sz="1266" dirty="0"/>
          </a:p>
        </p:txBody>
      </p:sp>
      <p:sp>
        <p:nvSpPr>
          <p:cNvPr id="61" name="Text 59"/>
          <p:cNvSpPr/>
          <p:nvPr/>
        </p:nvSpPr>
        <p:spPr>
          <a:xfrm>
            <a:off x="8099177" y="2235083"/>
            <a:ext cx="513667" cy="192024"/>
          </a:xfrm>
          <a:prstGeom prst="roundRect">
            <a:avLst>
              <a:gd name="adj" fmla="val 4955357"/>
            </a:avLst>
          </a:prstGeom>
          <a:solidFill>
            <a:srgbClr val="14B8A6">
              <a:alpha val="10000"/>
            </a:srgbClr>
          </a:solidFill>
          <a:ln/>
        </p:spPr>
        <p:txBody>
          <a:bodyPr wrap="square" rtlCol="0" anchor="ctr"/>
          <a:lstStyle/>
          <a:p>
            <a:pPr indent="0" marL="0">
              <a:buNone/>
            </a:pPr>
            <a:endParaRPr lang="en-US" dirty="0"/>
          </a:p>
        </p:txBody>
      </p:sp>
      <p:sp>
        <p:nvSpPr>
          <p:cNvPr id="62" name="Text 60"/>
          <p:cNvSpPr/>
          <p:nvPr/>
        </p:nvSpPr>
        <p:spPr>
          <a:xfrm>
            <a:off x="8118202" y="2245370"/>
            <a:ext cx="475617" cy="171450"/>
          </a:xfrm>
          <a:prstGeom prst="rect">
            <a:avLst/>
          </a:prstGeom>
          <a:noFill/>
          <a:ln/>
        </p:spPr>
        <p:txBody>
          <a:bodyPr wrap="none" lIns="0" tIns="0" rIns="0" bIns="0" rtlCol="0" anchor="ctr"/>
          <a:lstStyle/>
          <a:p>
            <a:pPr algn="ctr" indent="0" marL="0">
              <a:lnSpc>
                <a:spcPts val="1013"/>
              </a:lnSpc>
              <a:buNone/>
            </a:pPr>
            <a:r>
              <a:rPr lang="en-US" sz="800" b="1" dirty="0">
                <a:solidFill>
                  <a:srgbClr val="0F766E"/>
                </a:solidFill>
                <a:latin typeface="Liberation Sans Narrow" pitchFamily="34" charset="0"/>
                <a:ea typeface="Liberation Sans Narrow" pitchFamily="34" charset="-122"/>
                <a:cs typeface="Liberation Sans Narrow" pitchFamily="34" charset="-120"/>
              </a:rPr>
              <a:t>13 dims</a:t>
            </a:r>
            <a:endParaRPr lang="en-US" sz="800" dirty="0"/>
          </a:p>
        </p:txBody>
      </p:sp>
      <p:sp>
        <p:nvSpPr>
          <p:cNvPr id="63" name="Text 61"/>
          <p:cNvSpPr/>
          <p:nvPr/>
        </p:nvSpPr>
        <p:spPr>
          <a:xfrm>
            <a:off x="7190854" y="2502545"/>
            <a:ext cx="1402966" cy="110085"/>
          </a:xfrm>
          <a:prstGeom prst="rect">
            <a:avLst/>
          </a:prstGeom>
          <a:noFill/>
          <a:ln/>
        </p:spPr>
        <p:txBody>
          <a:bodyPr wrap="none" lIns="0" tIns="0" rIns="0" bIns="0" rtlCol="0" anchor="t">
            <a:normAutofit/>
          </a:bodyPr>
          <a:lstStyle/>
          <a:p>
            <a:pPr algn="l" indent="0" marL="0">
              <a:lnSpc>
                <a:spcPts val="970"/>
              </a:lnSpc>
              <a:buNone/>
            </a:pPr>
            <a:r>
              <a:rPr lang="en-US" sz="800" b="1" spc="65" kern="0" dirty="0">
                <a:solidFill>
                  <a:srgbClr val="0F1F3D"/>
                </a:solidFill>
                <a:latin typeface="Carlito" pitchFamily="34" charset="0"/>
                <a:ea typeface="Carlito" pitchFamily="34" charset="-122"/>
                <a:cs typeface="Carlito" pitchFamily="34" charset="-120"/>
              </a:rPr>
              <a:t>DOMAIN-SPECIFIC</a:t>
            </a:r>
            <a:endParaRPr lang="en-US" sz="800" dirty="0"/>
          </a:p>
        </p:txBody>
      </p:sp>
      <p:sp>
        <p:nvSpPr>
          <p:cNvPr id="64" name="Text 62"/>
          <p:cNvSpPr/>
          <p:nvPr/>
        </p:nvSpPr>
        <p:spPr>
          <a:xfrm>
            <a:off x="7190854" y="2640062"/>
            <a:ext cx="1402966" cy="154305"/>
          </a:xfrm>
          <a:prstGeom prst="rect">
            <a:avLst/>
          </a:prstGeom>
          <a:noFill/>
          <a:ln/>
        </p:spPr>
        <p:txBody>
          <a:bodyPr wrap="none" lIns="0" tIns="0" rIns="0" bIns="0" rtlCol="0" anchor="t"/>
          <a:lstStyle/>
          <a:p>
            <a:pPr algn="l" indent="0" marL="0">
              <a:lnSpc>
                <a:spcPts val="1125"/>
              </a:lnSpc>
              <a:buNone/>
            </a:pPr>
            <a:r>
              <a:rPr lang="en-US" sz="1125" b="1" dirty="0">
                <a:solidFill>
                  <a:srgbClr val="0F1F3D"/>
                </a:solidFill>
                <a:latin typeface="Liberation Sans Narrow" pitchFamily="34" charset="0"/>
                <a:ea typeface="Liberation Sans Narrow" pitchFamily="34" charset="-122"/>
                <a:cs typeface="Liberation Sans Narrow" pitchFamily="34" charset="-120"/>
              </a:rPr>
              <a:t>13D</a:t>
            </a:r>
            <a:endParaRPr lang="en-US" sz="1125" dirty="0"/>
          </a:p>
        </p:txBody>
      </p:sp>
      <p:sp>
        <p:nvSpPr>
          <p:cNvPr id="65" name="Shape 63"/>
          <p:cNvSpPr/>
          <p:nvPr/>
        </p:nvSpPr>
        <p:spPr>
          <a:xfrm>
            <a:off x="7190854" y="2829371"/>
            <a:ext cx="1402966" cy="0"/>
          </a:xfrm>
          <a:prstGeom prst="line">
            <a:avLst/>
          </a:prstGeom>
          <a:noFill/>
          <a:ln w="7144">
            <a:solidFill>
              <a:srgbClr val="E8EDF4"/>
            </a:solidFill>
            <a:prstDash val="solid"/>
          </a:ln>
        </p:spPr>
      </p:sp>
      <p:sp>
        <p:nvSpPr>
          <p:cNvPr id="66" name="Text 64"/>
          <p:cNvSpPr/>
          <p:nvPr/>
        </p:nvSpPr>
        <p:spPr>
          <a:xfrm>
            <a:off x="7190854" y="2825800"/>
            <a:ext cx="1487143" cy="163663"/>
          </a:xfrm>
          <a:prstGeom prst="rect">
            <a:avLst/>
          </a:prstGeom>
          <a:noFill/>
          <a:ln/>
        </p:spPr>
        <p:txBody>
          <a:bodyPr wrap="square" lIns="0" tIns="42863" rIns="0" bIns="0" rtlCol="0" anchor="t">
            <a:normAutofit/>
          </a:bodyPr>
          <a:lstStyle/>
          <a:p>
            <a:pPr algn="l" indent="0" marL="0">
              <a:lnSpc>
                <a:spcPts val="886"/>
              </a:lnSpc>
              <a:buNone/>
            </a:pPr>
            <a:r>
              <a:rPr lang="en-US" sz="600" dirty="0">
                <a:solidFill>
                  <a:srgbClr val="5B6B82"/>
                </a:solidFill>
                <a:latin typeface="Carlito" pitchFamily="34" charset="0"/>
                <a:ea typeface="Carlito" pitchFamily="34" charset="-122"/>
                <a:cs typeface="Carlito" pitchFamily="34" charset="-120"/>
              </a:rPr>
              <a:t>composite affective constructs</a:t>
            </a:r>
            <a:endParaRPr lang="en-US" sz="600" dirty="0"/>
          </a:p>
        </p:txBody>
      </p:sp>
      <p:sp>
        <p:nvSpPr>
          <p:cNvPr id="67" name="Text 65"/>
          <p:cNvSpPr/>
          <p:nvPr/>
        </p:nvSpPr>
        <p:spPr>
          <a:xfrm>
            <a:off x="7190854" y="3016895"/>
            <a:ext cx="1487143" cy="309190"/>
          </a:xfrm>
          <a:prstGeom prst="rect">
            <a:avLst/>
          </a:prstGeom>
          <a:noFill/>
          <a:ln/>
        </p:spPr>
        <p:txBody>
          <a:bodyPr wrap="square" lIns="0" tIns="0" rIns="0" bIns="0" rtlCol="0" anchor="t"/>
          <a:lstStyle/>
          <a:p>
            <a:pPr algn="l" indent="0" marL="0">
              <a:lnSpc>
                <a:spcPts val="775"/>
              </a:lnSpc>
              <a:buNone/>
            </a:pPr>
            <a:r>
              <a:rPr lang="en-US" sz="800" dirty="0">
                <a:solidFill>
                  <a:srgbClr val="8A97AB"/>
                </a:solidFill>
                <a:latin typeface="Courier New" pitchFamily="34" charset="0"/>
                <a:ea typeface="Courier New" pitchFamily="34" charset="-122"/>
                <a:cs typeface="Courier New" pitchFamily="34" charset="-120"/>
              </a:rPr>
              <a:t>Attention, arousal, valence, cognitive load, fatigue, 4 state scores, 3 temporal patterns</a:t>
            </a:r>
            <a:endParaRPr lang="en-US" sz="800" dirty="0"/>
          </a:p>
        </p:txBody>
      </p:sp>
      <p:pic>
        <p:nvPicPr>
          <p:cNvPr id="68" name="Image 0" descr="preencoded.png">    </p:cNvPr>
          <p:cNvPicPr>
            <a:picLocks noChangeAspect="1"/>
          </p:cNvPicPr>
          <p:nvPr/>
        </p:nvPicPr>
        <p:blipFill>
          <a:blip r:embed="rId1"/>
          <a:stretch>
            <a:fillRect/>
          </a:stretch>
        </p:blipFill>
        <p:spPr>
          <a:xfrm>
            <a:off x="457200" y="3586832"/>
            <a:ext cx="3900488" cy="7144"/>
          </a:xfrm>
          <a:prstGeom prst="rect">
            <a:avLst/>
          </a:prstGeom>
        </p:spPr>
      </p:pic>
      <p:sp>
        <p:nvSpPr>
          <p:cNvPr id="69" name="Text 66"/>
          <p:cNvSpPr/>
          <p:nvPr/>
        </p:nvSpPr>
        <p:spPr>
          <a:xfrm>
            <a:off x="4443413" y="3461817"/>
            <a:ext cx="257175" cy="257175"/>
          </a:xfrm>
          <a:prstGeom prst="ellipse">
            <a:avLst/>
          </a:prstGeom>
          <a:solidFill>
            <a:srgbClr val="14B8A6"/>
          </a:solidFill>
          <a:ln/>
          <a:effectLst>
            <a:outerShdw sx="100000" sy="100000" kx="0" ky="0" algn="bl" rotWithShape="0" blurRad="114300" dist="38100" dir="5400000">
              <a:srgbClr val="14B8A6">
                <a:alpha val="30000"/>
              </a:srgbClr>
            </a:outerShdw>
          </a:effectLst>
        </p:spPr>
        <p:txBody>
          <a:bodyPr wrap="square" rtlCol="0" anchor="ctr"/>
          <a:lstStyle/>
          <a:p>
            <a:pPr indent="0" marL="0">
              <a:buNone/>
            </a:pPr>
            <a:endParaRPr lang="en-US" dirty="0"/>
          </a:p>
        </p:txBody>
      </p:sp>
      <p:sp>
        <p:nvSpPr>
          <p:cNvPr id="70" name="Text 67"/>
          <p:cNvSpPr/>
          <p:nvPr/>
        </p:nvSpPr>
        <p:spPr>
          <a:xfrm>
            <a:off x="4443413" y="3461817"/>
            <a:ext cx="300038" cy="257175"/>
          </a:xfrm>
          <a:prstGeom prst="rect">
            <a:avLst/>
          </a:prstGeom>
          <a:noFill/>
          <a:ln/>
        </p:spPr>
        <p:txBody>
          <a:bodyPr wrap="none" lIns="0" tIns="0" rIns="0" bIns="0" rtlCol="0" anchor="ctr"/>
          <a:lstStyle/>
          <a:p>
            <a:pPr algn="ctr" indent="0" marL="0">
              <a:lnSpc>
                <a:spcPts val="1856"/>
              </a:lnSpc>
              <a:buNone/>
            </a:pPr>
            <a:r>
              <a:rPr lang="en-US" sz="1238" b="1" dirty="0">
                <a:solidFill>
                  <a:srgbClr val="FFFFFF"/>
                </a:solidFill>
                <a:latin typeface="Courier New" pitchFamily="34" charset="0"/>
                <a:ea typeface="Courier New" pitchFamily="34" charset="-122"/>
                <a:cs typeface="Courier New" pitchFamily="34" charset="-120"/>
              </a:rPr>
              <a:t>+</a:t>
            </a:r>
            <a:endParaRPr lang="en-US" sz="1238" dirty="0"/>
          </a:p>
        </p:txBody>
      </p:sp>
      <p:pic>
        <p:nvPicPr>
          <p:cNvPr id="71" name="Image 1" descr="preencoded.png">    </p:cNvPr>
          <p:cNvPicPr>
            <a:picLocks noChangeAspect="1"/>
          </p:cNvPicPr>
          <p:nvPr/>
        </p:nvPicPr>
        <p:blipFill>
          <a:blip r:embed="rId2"/>
          <a:stretch>
            <a:fillRect/>
          </a:stretch>
        </p:blipFill>
        <p:spPr>
          <a:xfrm>
            <a:off x="4786313" y="3586832"/>
            <a:ext cx="3900488" cy="7144"/>
          </a:xfrm>
          <a:prstGeom prst="rect">
            <a:avLst/>
          </a:prstGeom>
        </p:spPr>
      </p:pic>
      <p:sp>
        <p:nvSpPr>
          <p:cNvPr id="72" name="Text 68"/>
          <p:cNvSpPr/>
          <p:nvPr/>
        </p:nvSpPr>
        <p:spPr>
          <a:xfrm>
            <a:off x="2655689" y="3768998"/>
            <a:ext cx="3832510" cy="458986"/>
          </a:xfrm>
          <a:prstGeom prst="roundRect">
            <a:avLst>
              <a:gd name="adj" fmla="val 20752"/>
            </a:avLst>
          </a:prstGeom>
          <a:solidFill>
            <a:srgbClr val="FFFFFF"/>
          </a:solidFill>
          <a:ln w="14288">
            <a:solidFill>
              <a:srgbClr val="14B8A6"/>
            </a:solidFill>
            <a:prstDash val="solid"/>
          </a:ln>
        </p:spPr>
        <p:txBody>
          <a:bodyPr wrap="square" rtlCol="0" anchor="ctr"/>
          <a:lstStyle/>
          <a:p>
            <a:pPr indent="0" marL="0">
              <a:buNone/>
            </a:pPr>
            <a:endParaRPr lang="en-US" dirty="0"/>
          </a:p>
        </p:txBody>
      </p:sp>
      <p:sp>
        <p:nvSpPr>
          <p:cNvPr id="73" name="Text 69"/>
          <p:cNvSpPr/>
          <p:nvPr/>
        </p:nvSpPr>
        <p:spPr>
          <a:xfrm>
            <a:off x="2819995" y="3847579"/>
            <a:ext cx="1718451" cy="91440"/>
          </a:xfrm>
          <a:prstGeom prst="rect">
            <a:avLst/>
          </a:prstGeom>
          <a:noFill/>
          <a:ln/>
        </p:spPr>
        <p:txBody>
          <a:bodyPr wrap="none" lIns="0" tIns="0" rIns="0" bIns="0" rtlCol="0" anchor="t">
            <a:normAutofit/>
          </a:bodyPr>
          <a:lstStyle/>
          <a:p>
            <a:pPr algn="l" indent="0" marL="0">
              <a:lnSpc>
                <a:spcPts val="802"/>
              </a:lnSpc>
              <a:buNone/>
            </a:pPr>
            <a:r>
              <a:rPr lang="en-US" sz="800" b="1" spc="118" kern="0" dirty="0">
                <a:solidFill>
                  <a:srgbClr val="0F766E"/>
                </a:solidFill>
                <a:latin typeface="Carlito" pitchFamily="34" charset="0"/>
                <a:ea typeface="Carlito" pitchFamily="34" charset="-122"/>
                <a:cs typeface="Carlito" pitchFamily="34" charset="-120"/>
              </a:rPr>
              <a:t>OUTPUT</a:t>
            </a:r>
            <a:endParaRPr lang="en-US" sz="800" dirty="0"/>
          </a:p>
        </p:txBody>
      </p:sp>
      <p:sp>
        <p:nvSpPr>
          <p:cNvPr id="74" name="Text 70"/>
          <p:cNvSpPr/>
          <p:nvPr/>
        </p:nvSpPr>
        <p:spPr>
          <a:xfrm>
            <a:off x="2819995" y="3949378"/>
            <a:ext cx="1411416" cy="200025"/>
          </a:xfrm>
          <a:prstGeom prst="rect">
            <a:avLst/>
          </a:prstGeom>
          <a:noFill/>
          <a:ln/>
        </p:spPr>
        <p:txBody>
          <a:bodyPr wrap="none" lIns="0" tIns="0" rIns="0" bIns="0" rtlCol="0" anchor="t"/>
          <a:lstStyle/>
          <a:p>
            <a:pPr algn="l" indent="0" marL="0">
              <a:lnSpc>
                <a:spcPts val="1575"/>
              </a:lnSpc>
              <a:buNone/>
            </a:pPr>
            <a:r>
              <a:rPr lang="en-US" sz="1575" b="1" dirty="0">
                <a:solidFill>
                  <a:srgbClr val="0F766E"/>
                </a:solidFill>
                <a:latin typeface="Liberation Sans Narrow" pitchFamily="34" charset="0"/>
                <a:ea typeface="Liberation Sans Narrow" pitchFamily="34" charset="-122"/>
                <a:cs typeface="Liberation Sans Narrow" pitchFamily="34" charset="-120"/>
              </a:rPr>
              <a:t>2,152 dims</a:t>
            </a:r>
            <a:endParaRPr lang="en-US" sz="1575" dirty="0"/>
          </a:p>
        </p:txBody>
      </p:sp>
      <p:sp>
        <p:nvSpPr>
          <p:cNvPr id="75" name="Text 71"/>
          <p:cNvSpPr/>
          <p:nvPr/>
        </p:nvSpPr>
        <p:spPr>
          <a:xfrm>
            <a:off x="4152863" y="3884191"/>
            <a:ext cx="7144" cy="228600"/>
          </a:xfrm>
          <a:prstGeom prst="rect">
            <a:avLst/>
          </a:prstGeom>
          <a:solidFill>
            <a:srgbClr val="D9E1EC"/>
          </a:solidFill>
          <a:ln/>
        </p:spPr>
        <p:txBody>
          <a:bodyPr wrap="square" rtlCol="0" anchor="ctr"/>
          <a:lstStyle/>
          <a:p>
            <a:pPr indent="0" marL="0">
              <a:buNone/>
            </a:pPr>
            <a:endParaRPr lang="en-US" dirty="0"/>
          </a:p>
        </p:txBody>
      </p:sp>
      <p:sp>
        <p:nvSpPr>
          <p:cNvPr id="76" name="Text 72"/>
          <p:cNvSpPr/>
          <p:nvPr/>
        </p:nvSpPr>
        <p:spPr>
          <a:xfrm>
            <a:off x="4288594" y="3939555"/>
            <a:ext cx="1889513" cy="164592"/>
          </a:xfrm>
          <a:prstGeom prst="rect">
            <a:avLst/>
          </a:prstGeom>
          <a:noFill/>
          <a:ln/>
        </p:spPr>
        <p:txBody>
          <a:bodyPr wrap="square" lIns="0" tIns="0" rIns="0" bIns="0" rtlCol="0" anchor="t"/>
          <a:lstStyle/>
          <a:p>
            <a:pPr algn="l" indent="0" marL="0">
              <a:lnSpc>
                <a:spcPts val="928"/>
              </a:lnSpc>
              <a:buNone/>
            </a:pPr>
            <a:r>
              <a:rPr lang="en-US" sz="619" dirty="0">
                <a:solidFill>
                  <a:srgbClr val="5B6B82"/>
                </a:solidFill>
                <a:latin typeface="Carlito" pitchFamily="34" charset="0"/>
                <a:ea typeface="Carlito" pitchFamily="34" charset="-122"/>
                <a:cs typeface="Carlito" pitchFamily="34" charset="-120"/>
              </a:rPr>
              <a:t>Concatenated flat feature vector → classifier</a:t>
            </a:r>
            <a:endParaRPr lang="en-US" sz="619" dirty="0"/>
          </a:p>
        </p:txBody>
      </p:sp>
      <p:sp>
        <p:nvSpPr>
          <p:cNvPr id="77" name="Text 73"/>
          <p:cNvSpPr/>
          <p:nvPr/>
        </p:nvSpPr>
        <p:spPr>
          <a:xfrm>
            <a:off x="6166731" y="3919910"/>
            <a:ext cx="157163" cy="157163"/>
          </a:xfrm>
          <a:prstGeom prst="rect">
            <a:avLst/>
          </a:prstGeom>
          <a:noFill/>
          <a:ln/>
        </p:spPr>
        <p:txBody>
          <a:bodyPr wrap="none" lIns="0" tIns="0" rIns="0" bIns="0" rtlCol="0" anchor="ctr"/>
          <a:lstStyle/>
          <a:p>
            <a:pPr algn="ctr" indent="0" marL="0">
              <a:buNone/>
            </a:pPr>
            <a:r>
              <a:rPr lang="en-US" sz="1547" dirty="0">
                <a:solidFill>
                  <a:srgbClr val="14B8A6"/>
                </a:solidFill>
                <a:latin typeface="Segoe UI Symbol" pitchFamily="34" charset="0"/>
                <a:ea typeface="Segoe UI Symbol" pitchFamily="34" charset="-122"/>
                <a:cs typeface="Segoe UI Symbol" pitchFamily="34" charset="-120"/>
              </a:rPr>
              <a:t>→</a:t>
            </a:r>
            <a:endParaRPr lang="en-US" sz="1547" dirty="0"/>
          </a:p>
        </p:txBody>
      </p:sp>
      <p:sp>
        <p:nvSpPr>
          <p:cNvPr id="78" name="Text 74"/>
          <p:cNvSpPr/>
          <p:nvPr/>
        </p:nvSpPr>
        <p:spPr>
          <a:xfrm>
            <a:off x="457200" y="4292278"/>
            <a:ext cx="8229600" cy="203597"/>
          </a:xfrm>
          <a:prstGeom prst="roundRect">
            <a:avLst>
              <a:gd name="adj" fmla="val 18713"/>
            </a:avLst>
          </a:prstGeom>
          <a:solidFill>
            <a:srgbClr val="14B8A6">
              <a:alpha val="8000"/>
            </a:srgbClr>
          </a:solidFill>
          <a:ln/>
        </p:spPr>
        <p:txBody>
          <a:bodyPr wrap="square" rtlCol="0" anchor="ctr"/>
          <a:lstStyle/>
          <a:p>
            <a:pPr indent="0" marL="0">
              <a:buNone/>
            </a:pPr>
            <a:endParaRPr lang="en-US" dirty="0"/>
          </a:p>
        </p:txBody>
      </p:sp>
      <p:sp>
        <p:nvSpPr>
          <p:cNvPr id="79" name="Shape 75"/>
          <p:cNvSpPr/>
          <p:nvPr/>
        </p:nvSpPr>
        <p:spPr>
          <a:xfrm>
            <a:off x="467916" y="4292278"/>
            <a:ext cx="0" cy="203597"/>
          </a:xfrm>
          <a:prstGeom prst="line">
            <a:avLst/>
          </a:prstGeom>
          <a:noFill/>
          <a:ln w="21431">
            <a:solidFill>
              <a:srgbClr val="14B8A6"/>
            </a:solidFill>
            <a:prstDash val="solid"/>
          </a:ln>
        </p:spPr>
      </p:sp>
      <p:sp>
        <p:nvSpPr>
          <p:cNvPr id="80" name="Text 76"/>
          <p:cNvSpPr/>
          <p:nvPr/>
        </p:nvSpPr>
        <p:spPr>
          <a:xfrm>
            <a:off x="564356" y="4344070"/>
            <a:ext cx="100013" cy="100013"/>
          </a:xfrm>
          <a:prstGeom prst="rect">
            <a:avLst/>
          </a:prstGeom>
          <a:noFill/>
          <a:ln/>
        </p:spPr>
        <p:txBody>
          <a:bodyPr wrap="none" lIns="0" tIns="0" rIns="0" bIns="0" rtlCol="0" anchor="ctr"/>
          <a:lstStyle/>
          <a:p>
            <a:pPr algn="ctr" indent="0" marL="0">
              <a:buNone/>
            </a:pPr>
            <a:r>
              <a:rPr lang="en-US" sz="984" dirty="0">
                <a:solidFill>
                  <a:srgbClr val="14B8A6"/>
                </a:solidFill>
                <a:latin typeface="Segoe UI Symbol" pitchFamily="34" charset="0"/>
                <a:ea typeface="Segoe UI Symbol" pitchFamily="34" charset="-122"/>
                <a:cs typeface="Segoe UI Symbol" pitchFamily="34" charset="-120"/>
              </a:rPr>
              <a:t>✓</a:t>
            </a:r>
            <a:endParaRPr lang="en-US" sz="984" dirty="0"/>
          </a:p>
        </p:txBody>
      </p:sp>
      <p:sp>
        <p:nvSpPr>
          <p:cNvPr id="81" name="Text 77"/>
          <p:cNvSpPr/>
          <p:nvPr/>
        </p:nvSpPr>
        <p:spPr>
          <a:xfrm>
            <a:off x="721519" y="4335140"/>
            <a:ext cx="7879556" cy="117872"/>
          </a:xfrm>
          <a:prstGeom prst="rect">
            <a:avLst/>
          </a:prstGeom>
          <a:noFill/>
          <a:ln/>
        </p:spPr>
        <p:txBody>
          <a:bodyPr wrap="square" lIns="0" tIns="0" rIns="0" bIns="0" rtlCol="0" anchor="t"/>
          <a:lstStyle/>
          <a:p>
            <a:pPr algn="l" indent="0" marL="0">
              <a:lnSpc>
                <a:spcPts val="928"/>
              </a:lnSpc>
              <a:buNone/>
            </a:pPr>
            <a:r>
              <a:rPr lang="en-US" sz="800" b="1" dirty="0">
                <a:solidFill>
                  <a:srgbClr val="0F766E"/>
                </a:solidFill>
                <a:latin typeface="Carlito" pitchFamily="34" charset="0"/>
                <a:ea typeface="Carlito" pitchFamily="34" charset="-122"/>
                <a:cs typeface="Carlito" pitchFamily="34" charset="-120"/>
              </a:rPr>
              <a:t>Numerical stability:</a:t>
            </a:r>
            <a:pPr algn="l" indent="0" marL="0">
              <a:lnSpc>
                <a:spcPts val="928"/>
              </a:lnSpc>
              <a:buNone/>
            </a:pPr>
            <a:r>
              <a:rPr lang="en-US" sz="800" dirty="0">
                <a:solidFill>
                  <a:srgbClr val="5B6B82"/>
                </a:solidFill>
                <a:latin typeface="Carlito" pitchFamily="34" charset="0"/>
                <a:ea typeface="Carlito" pitchFamily="34" charset="-122"/>
                <a:cs typeface="Carlito" pitchFamily="34" charset="-120"/>
              </a:rPr>
              <a:t> NaN/Inf → 0; cast to float32; no feature dropped.</a:t>
            </a:r>
            <a:endParaRPr lang="en-US" sz="800" dirty="0"/>
          </a:p>
        </p:txBody>
      </p:sp>
      <p:sp>
        <p:nvSpPr>
          <p:cNvPr id="82" name="Text 78"/>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M-DAS ITC 2026</a:t>
            </a:r>
            <a:endParaRPr lang="en-US" sz="800" dirty="0"/>
          </a:p>
        </p:txBody>
      </p:sp>
      <p:sp>
        <p:nvSpPr>
          <p:cNvPr id="83" name="Text 79"/>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16 / 34</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92931"/>
            <a:ext cx="8229600" cy="0"/>
          </a:xfrm>
          <a:prstGeom prst="line">
            <a:avLst/>
          </a:prstGeom>
          <a:noFill/>
          <a:ln w="7144">
            <a:solidFill>
              <a:srgbClr val="E8EDF4"/>
            </a:solidFill>
            <a:prstDash val="solid"/>
          </a:ln>
        </p:spPr>
      </p:sp>
      <p:sp>
        <p:nvSpPr>
          <p:cNvPr id="3" name="Text 1"/>
          <p:cNvSpPr/>
          <p:nvPr/>
        </p:nvSpPr>
        <p:spPr>
          <a:xfrm>
            <a:off x="457200" y="400050"/>
            <a:ext cx="7818053" cy="117872"/>
          </a:xfrm>
          <a:prstGeom prst="rect">
            <a:avLst/>
          </a:prstGeom>
          <a:noFill/>
          <a:ln/>
        </p:spPr>
        <p:txBody>
          <a:bodyPr wrap="none" lIns="0" tIns="0" rIns="0" bIns="0" rtlCol="0" anchor="t"/>
          <a:lstStyle/>
          <a:p>
            <a:pPr algn="l" indent="0" marL="0">
              <a:lnSpc>
                <a:spcPts val="928"/>
              </a:lnSpc>
              <a:buNone/>
            </a:pPr>
            <a:r>
              <a:rPr lang="en-US" sz="800" spc="74" kern="0" dirty="0">
                <a:solidFill>
                  <a:srgbClr val="0F1F3D"/>
                </a:solidFill>
                <a:latin typeface="Liberation Sans Narrow" pitchFamily="34" charset="0"/>
                <a:ea typeface="Liberation Sans Narrow" pitchFamily="34" charset="-122"/>
                <a:cs typeface="Liberation Sans Narrow" pitchFamily="34" charset="-120"/>
              </a:rPr>
              <a:t>02 METHODOLOGY</a:t>
            </a:r>
            <a:pPr algn="l" indent="0" marL="0">
              <a:lnSpc>
                <a:spcPts val="928"/>
              </a:lnSpc>
              <a:buNone/>
            </a:pPr>
            <a:r>
              <a:rPr lang="en-US" sz="800" spc="74" kern="0" dirty="0">
                <a:solidFill>
                  <a:srgbClr val="14B8A6"/>
                </a:solidFill>
                <a:latin typeface="Carlito" pitchFamily="34" charset="0"/>
                <a:ea typeface="Carlito" pitchFamily="34" charset="-122"/>
                <a:cs typeface="Carlito" pitchFamily="34" charset="-120"/>
              </a:rPr>
              <a:t>·</a:t>
            </a:r>
            <a:pPr algn="l" indent="0" marL="0">
              <a:lnSpc>
                <a:spcPts val="928"/>
              </a:lnSpc>
              <a:buNone/>
            </a:pPr>
            <a:r>
              <a:rPr lang="en-US" sz="800" spc="74" kern="0" dirty="0">
                <a:solidFill>
                  <a:srgbClr val="0F1F3D"/>
                </a:solidFill>
                <a:latin typeface="Carlito" pitchFamily="34" charset="0"/>
                <a:ea typeface="Carlito" pitchFamily="34" charset="-122"/>
                <a:cs typeface="Carlito" pitchFamily="34" charset="-120"/>
              </a:rPr>
              <a:t>FEATURE → STATE MAP</a:t>
            </a:r>
            <a:endParaRPr lang="en-US" sz="800" dirty="0"/>
          </a:p>
        </p:txBody>
      </p:sp>
      <p:sp>
        <p:nvSpPr>
          <p:cNvPr id="4" name="Text 2"/>
          <p:cNvSpPr/>
          <p:nvPr/>
        </p:nvSpPr>
        <p:spPr>
          <a:xfrm>
            <a:off x="8261186" y="400050"/>
            <a:ext cx="453969" cy="117872"/>
          </a:xfrm>
          <a:prstGeom prst="rect">
            <a:avLst/>
          </a:prstGeom>
          <a:noFill/>
          <a:ln/>
        </p:spPr>
        <p:txBody>
          <a:bodyPr wrap="none" lIns="0" tIns="0" rIns="0" bIns="0" rtlCol="0" anchor="t"/>
          <a:lstStyle/>
          <a:p>
            <a:pPr algn="l" indent="0" marL="0">
              <a:lnSpc>
                <a:spcPts val="928"/>
              </a:lnSpc>
              <a:buNone/>
            </a:pPr>
            <a:r>
              <a:rPr lang="en-US" sz="800" spc="74" kern="0" dirty="0">
                <a:solidFill>
                  <a:srgbClr val="8A97AB"/>
                </a:solidFill>
                <a:latin typeface="Liberation Sans Narrow" pitchFamily="34" charset="0"/>
                <a:ea typeface="Liberation Sans Narrow" pitchFamily="34" charset="-122"/>
                <a:cs typeface="Liberation Sans Narrow" pitchFamily="34" charset="-120"/>
              </a:rPr>
              <a:t>17 / 34</a:t>
            </a:r>
            <a:endParaRPr lang="en-US" sz="800" dirty="0"/>
          </a:p>
        </p:txBody>
      </p:sp>
      <p:sp>
        <p:nvSpPr>
          <p:cNvPr id="5" name="Text 3"/>
          <p:cNvSpPr/>
          <p:nvPr/>
        </p:nvSpPr>
        <p:spPr>
          <a:xfrm>
            <a:off x="457200" y="725091"/>
            <a:ext cx="8636000" cy="119015"/>
          </a:xfrm>
          <a:prstGeom prst="rect">
            <a:avLst/>
          </a:prstGeom>
          <a:noFill/>
          <a:ln/>
        </p:spPr>
        <p:txBody>
          <a:bodyPr wrap="square" lIns="0" tIns="0" rIns="0" bIns="0" rtlCol="0" anchor="t">
            <a:normAutofit/>
          </a:bodyPr>
          <a:lstStyle/>
          <a:p>
            <a:pPr algn="l" indent="0" marL="0">
              <a:lnSpc>
                <a:spcPts val="928"/>
              </a:lnSpc>
              <a:buNone/>
            </a:pPr>
            <a:r>
              <a:rPr lang="en-US" sz="800" b="1" spc="136" kern="0" dirty="0">
                <a:solidFill>
                  <a:srgbClr val="14B8A6"/>
                </a:solidFill>
                <a:latin typeface="Carlito" pitchFamily="34" charset="0"/>
                <a:ea typeface="Carlito" pitchFamily="34" charset="-122"/>
                <a:cs typeface="Carlito" pitchFamily="34" charset="-120"/>
              </a:rPr>
              <a:t>METHODOLOGY · FEATURE CONTRIBUTION</a:t>
            </a:r>
            <a:endParaRPr lang="en-US" sz="800" dirty="0"/>
          </a:p>
        </p:txBody>
      </p:sp>
      <p:sp>
        <p:nvSpPr>
          <p:cNvPr id="6" name="Text 4"/>
          <p:cNvSpPr/>
          <p:nvPr/>
        </p:nvSpPr>
        <p:spPr>
          <a:xfrm>
            <a:off x="457200" y="871538"/>
            <a:ext cx="8636000" cy="577108"/>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How Each Feature Category Contributes to Each Affective State</a:t>
            </a:r>
            <a:endParaRPr lang="en-US" sz="2025" dirty="0"/>
          </a:p>
        </p:txBody>
      </p:sp>
      <p:sp>
        <p:nvSpPr>
          <p:cNvPr id="7" name="Text 5"/>
          <p:cNvSpPr/>
          <p:nvPr/>
        </p:nvSpPr>
        <p:spPr>
          <a:xfrm>
            <a:off x="457200" y="1476077"/>
            <a:ext cx="6572250" cy="335113"/>
          </a:xfrm>
          <a:prstGeom prst="rect">
            <a:avLst/>
          </a:prstGeom>
          <a:noFill/>
          <a:ln/>
        </p:spPr>
        <p:txBody>
          <a:bodyPr wrap="square" lIns="0" tIns="0" rIns="0" bIns="0" rtlCol="0" anchor="t">
            <a:normAutofit/>
          </a:bodyPr>
          <a:lstStyle/>
          <a:p>
            <a:pPr algn="l" indent="0" marL="0">
              <a:lnSpc>
                <a:spcPts val="1090"/>
              </a:lnSpc>
              <a:buNone/>
            </a:pPr>
            <a:r>
              <a:rPr lang="en-US" sz="800" dirty="0">
                <a:solidFill>
                  <a:srgbClr val="5B6B82"/>
                </a:solidFill>
                <a:latin typeface="Carlito" pitchFamily="34" charset="0"/>
                <a:ea typeface="Carlito" pitchFamily="34" charset="-122"/>
                <a:cs typeface="Carlito" pitchFamily="34" charset="-120"/>
              </a:rPr>
              <a:t>Domain-specific sub-groups pre-define which signals we expect to drive each state. The SHAP analysis on slides 22-25 validates this mapping empirically — and reveals unexpected cross-state bridges.</a:t>
            </a:r>
            <a:endParaRPr lang="en-US" sz="800" dirty="0"/>
          </a:p>
        </p:txBody>
      </p:sp>
      <p:sp>
        <p:nvSpPr>
          <p:cNvPr id="8" name="Text 6"/>
          <p:cNvSpPr/>
          <p:nvPr/>
        </p:nvSpPr>
        <p:spPr>
          <a:xfrm>
            <a:off x="460772" y="1842195"/>
            <a:ext cx="1985963" cy="3136106"/>
          </a:xfrm>
          <a:prstGeom prst="roundRect">
            <a:avLst>
              <a:gd name="adj" fmla="val 5755"/>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9" name="Text 7"/>
          <p:cNvSpPr/>
          <p:nvPr/>
        </p:nvSpPr>
        <p:spPr>
          <a:xfrm>
            <a:off x="464344" y="1845766"/>
            <a:ext cx="1978819" cy="42863"/>
          </a:xfrm>
          <a:prstGeom prst="rect">
            <a:avLst/>
          </a:prstGeom>
          <a:solidFill>
            <a:srgbClr val="4A5F8C"/>
          </a:solidFill>
          <a:ln/>
        </p:spPr>
        <p:txBody>
          <a:bodyPr wrap="square" rtlCol="0" anchor="ctr"/>
          <a:lstStyle/>
          <a:p>
            <a:pPr indent="0" marL="0">
              <a:buNone/>
            </a:pPr>
            <a:endParaRPr lang="en-US" dirty="0"/>
          </a:p>
        </p:txBody>
      </p:sp>
      <p:sp>
        <p:nvSpPr>
          <p:cNvPr id="10" name="Text 8"/>
          <p:cNvSpPr/>
          <p:nvPr/>
        </p:nvSpPr>
        <p:spPr>
          <a:xfrm>
            <a:off x="564356" y="1988641"/>
            <a:ext cx="1878806"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4A5F8C"/>
                </a:solidFill>
                <a:latin typeface="Tinos" pitchFamily="34" charset="0"/>
                <a:ea typeface="Tinos" pitchFamily="34" charset="-122"/>
                <a:cs typeface="Tinos" pitchFamily="34" charset="-120"/>
              </a:rPr>
              <a:t>Boredom</a:t>
            </a:r>
            <a:endParaRPr lang="en-US" sz="1463" dirty="0"/>
          </a:p>
        </p:txBody>
      </p:sp>
      <p:sp>
        <p:nvSpPr>
          <p:cNvPr id="11" name="Text 9"/>
          <p:cNvSpPr/>
          <p:nvPr/>
        </p:nvSpPr>
        <p:spPr>
          <a:xfrm>
            <a:off x="564356" y="2231529"/>
            <a:ext cx="1878806"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5B6B82"/>
                </a:solidFill>
                <a:latin typeface="Carlito" pitchFamily="34" charset="0"/>
                <a:ea typeface="Carlito" pitchFamily="34" charset="-122"/>
                <a:cs typeface="Carlito" pitchFamily="34" charset="-120"/>
              </a:rPr>
              <a:t>Sustained disengagement</a:t>
            </a:r>
            <a:endParaRPr lang="en-US" sz="800" dirty="0"/>
          </a:p>
        </p:txBody>
      </p:sp>
      <p:sp>
        <p:nvSpPr>
          <p:cNvPr id="12" name="Text 10"/>
          <p:cNvSpPr/>
          <p:nvPr/>
        </p:nvSpPr>
        <p:spPr>
          <a:xfrm>
            <a:off x="564356" y="2435126"/>
            <a:ext cx="1878806" cy="131516"/>
          </a:xfrm>
          <a:prstGeom prst="rect">
            <a:avLst/>
          </a:prstGeom>
          <a:noFill/>
          <a:ln/>
        </p:spPr>
        <p:txBody>
          <a:bodyPr wrap="none" lIns="0" tIns="0" rIns="0" bIns="0" rtlCol="0" anchor="t">
            <a:normAutofit/>
          </a:bodyPr>
          <a:lstStyle/>
          <a:p>
            <a:pPr algn="l" indent="0" marL="0">
              <a:lnSpc>
                <a:spcPts val="802"/>
              </a:lnSpc>
              <a:buNone/>
            </a:pPr>
            <a:r>
              <a:rPr lang="en-US" sz="800" b="1" spc="96" kern="0" dirty="0">
                <a:solidFill>
                  <a:srgbClr val="8A97AB"/>
                </a:solidFill>
                <a:latin typeface="Carlito" pitchFamily="34" charset="0"/>
                <a:ea typeface="Carlito" pitchFamily="34" charset="-122"/>
                <a:cs typeface="Carlito" pitchFamily="34" charset="-120"/>
              </a:rPr>
              <a:t>PRIMARY FEATURES</a:t>
            </a:r>
            <a:endParaRPr lang="en-US" sz="800" dirty="0"/>
          </a:p>
        </p:txBody>
      </p:sp>
      <p:sp>
        <p:nvSpPr>
          <p:cNvPr id="13" name="Text 11"/>
          <p:cNvSpPr/>
          <p:nvPr/>
        </p:nvSpPr>
        <p:spPr>
          <a:xfrm>
            <a:off x="541496" y="2584216"/>
            <a:ext cx="893594" cy="184023"/>
          </a:xfrm>
          <a:prstGeom prst="roundRect">
            <a:avLst>
              <a:gd name="adj" fmla="val 5170807"/>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14" name="Text 12"/>
          <p:cNvSpPr/>
          <p:nvPr/>
        </p:nvSpPr>
        <p:spPr>
          <a:xfrm>
            <a:off x="735806" y="2636937"/>
            <a:ext cx="821978" cy="120701"/>
          </a:xfrm>
          <a:prstGeom prst="rect">
            <a:avLst/>
          </a:prstGeom>
          <a:noFill/>
          <a:ln/>
        </p:spPr>
        <p:txBody>
          <a:bodyPr wrap="none" lIns="0" tIns="0" rIns="0" bIns="0" rtlCol="0" anchor="t"/>
          <a:lstStyle/>
          <a:p>
            <a:pPr algn="l" indent="0" marL="0">
              <a:lnSpc>
                <a:spcPts val="844"/>
              </a:lnSpc>
              <a:buNone/>
            </a:pPr>
            <a:r>
              <a:rPr lang="en-US" sz="800" spc="6" kern="0" dirty="0">
                <a:solidFill>
                  <a:srgbClr val="0F1F3D"/>
                </a:solidFill>
                <a:latin typeface="Courier New" pitchFamily="34" charset="0"/>
                <a:ea typeface="Courier New" pitchFamily="34" charset="-122"/>
                <a:cs typeface="Courier New" pitchFamily="34" charset="-120"/>
              </a:rPr>
              <a:t>eyeBlink (L/R)</a:t>
            </a:r>
            <a:endParaRPr lang="en-US" sz="800" dirty="0"/>
          </a:p>
        </p:txBody>
      </p:sp>
      <p:sp>
        <p:nvSpPr>
          <p:cNvPr id="15" name="Text 13"/>
          <p:cNvSpPr/>
          <p:nvPr/>
        </p:nvSpPr>
        <p:spPr>
          <a:xfrm>
            <a:off x="628650" y="2636937"/>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16" name="Text 14"/>
          <p:cNvSpPr/>
          <p:nvPr/>
        </p:nvSpPr>
        <p:spPr>
          <a:xfrm>
            <a:off x="564356" y="2777097"/>
            <a:ext cx="979140" cy="184023"/>
          </a:xfrm>
          <a:prstGeom prst="roundRect">
            <a:avLst>
              <a:gd name="adj" fmla="val 5170807"/>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17" name="Text 15"/>
          <p:cNvSpPr/>
          <p:nvPr/>
        </p:nvSpPr>
        <p:spPr>
          <a:xfrm>
            <a:off x="735806" y="2829818"/>
            <a:ext cx="821978" cy="120701"/>
          </a:xfrm>
          <a:prstGeom prst="rect">
            <a:avLst/>
          </a:prstGeom>
          <a:noFill/>
          <a:ln/>
        </p:spPr>
        <p:txBody>
          <a:bodyPr wrap="none" lIns="0" tIns="0" rIns="0" bIns="0" rtlCol="0" anchor="t"/>
          <a:lstStyle/>
          <a:p>
            <a:pPr algn="l" indent="0" marL="0">
              <a:lnSpc>
                <a:spcPts val="844"/>
              </a:lnSpc>
              <a:buNone/>
            </a:pPr>
            <a:r>
              <a:rPr lang="en-US" sz="600" spc="6" kern="0" dirty="0">
                <a:solidFill>
                  <a:srgbClr val="0F1F3D"/>
                </a:solidFill>
                <a:latin typeface="Courier New" pitchFamily="34" charset="0"/>
                <a:ea typeface="Courier New" pitchFamily="34" charset="-122"/>
                <a:cs typeface="Courier New" pitchFamily="34" charset="-120"/>
              </a:rPr>
              <a:t>eyeLookDown (L/R)</a:t>
            </a:r>
            <a:endParaRPr lang="en-US" sz="600" dirty="0"/>
          </a:p>
        </p:txBody>
      </p:sp>
      <p:sp>
        <p:nvSpPr>
          <p:cNvPr id="18" name="Text 16"/>
          <p:cNvSpPr/>
          <p:nvPr/>
        </p:nvSpPr>
        <p:spPr>
          <a:xfrm>
            <a:off x="628650" y="2829818"/>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19" name="Text 17"/>
          <p:cNvSpPr/>
          <p:nvPr/>
        </p:nvSpPr>
        <p:spPr>
          <a:xfrm>
            <a:off x="1572071" y="2777097"/>
            <a:ext cx="541809" cy="184023"/>
          </a:xfrm>
          <a:prstGeom prst="roundRect">
            <a:avLst>
              <a:gd name="adj" fmla="val 5170807"/>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20" name="Text 18"/>
          <p:cNvSpPr/>
          <p:nvPr/>
        </p:nvSpPr>
        <p:spPr>
          <a:xfrm>
            <a:off x="1743521" y="2829818"/>
            <a:ext cx="599629" cy="120701"/>
          </a:xfrm>
          <a:prstGeom prst="rect">
            <a:avLst/>
          </a:prstGeom>
          <a:noFill/>
          <a:ln/>
        </p:spPr>
        <p:txBody>
          <a:bodyPr wrap="none" lIns="0" tIns="0" rIns="0" bIns="0" rtlCol="0" anchor="t"/>
          <a:lstStyle/>
          <a:p>
            <a:pPr algn="l" indent="0" marL="0">
              <a:lnSpc>
                <a:spcPts val="844"/>
              </a:lnSpc>
              <a:buNone/>
            </a:pPr>
            <a:r>
              <a:rPr lang="en-US" sz="800" spc="6" kern="0" dirty="0">
                <a:solidFill>
                  <a:srgbClr val="0F1F3D"/>
                </a:solidFill>
                <a:latin typeface="Courier New" pitchFamily="34" charset="0"/>
                <a:ea typeface="Courier New" pitchFamily="34" charset="-122"/>
                <a:cs typeface="Courier New" pitchFamily="34" charset="-120"/>
              </a:rPr>
              <a:t>jawOpen</a:t>
            </a:r>
            <a:endParaRPr lang="en-US" sz="800" dirty="0"/>
          </a:p>
        </p:txBody>
      </p:sp>
      <p:sp>
        <p:nvSpPr>
          <p:cNvPr id="21" name="Text 19"/>
          <p:cNvSpPr/>
          <p:nvPr/>
        </p:nvSpPr>
        <p:spPr>
          <a:xfrm>
            <a:off x="1636365" y="2829818"/>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22" name="Text 20"/>
          <p:cNvSpPr/>
          <p:nvPr/>
        </p:nvSpPr>
        <p:spPr>
          <a:xfrm>
            <a:off x="567928" y="2983409"/>
            <a:ext cx="1365461" cy="157163"/>
          </a:xfrm>
          <a:prstGeom prst="roundRect">
            <a:avLst>
              <a:gd name="adj" fmla="val 6054526"/>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23" name="Text 21"/>
          <p:cNvSpPr/>
          <p:nvPr/>
        </p:nvSpPr>
        <p:spPr>
          <a:xfrm>
            <a:off x="735806" y="3022699"/>
            <a:ext cx="1136861" cy="120701"/>
          </a:xfrm>
          <a:prstGeom prst="rect">
            <a:avLst/>
          </a:prstGeom>
          <a:noFill/>
          <a:ln/>
        </p:spPr>
        <p:txBody>
          <a:bodyPr wrap="none" lIns="57150" tIns="21431" rIns="57150" bIns="21431" rtlCol="0" anchor="t"/>
          <a:lstStyle/>
          <a:p>
            <a:pPr algn="l" indent="0" marL="0">
              <a:lnSpc>
                <a:spcPts val="844"/>
              </a:lnSpc>
              <a:buNone/>
            </a:pPr>
            <a:r>
              <a:rPr lang="en-US" sz="600" spc="6" kern="0" dirty="0">
                <a:solidFill>
                  <a:srgbClr val="0F1F3D"/>
                </a:solidFill>
                <a:latin typeface="Liberation Sans Narrow" pitchFamily="34" charset="0"/>
                <a:ea typeface="Liberation Sans Narrow" pitchFamily="34" charset="-122"/>
                <a:cs typeface="Liberation Sans Narrow" pitchFamily="34" charset="-120"/>
              </a:rPr>
              <a:t>boredom_indicator (idx 72)</a:t>
            </a:r>
            <a:endParaRPr lang="en-US" sz="600" dirty="0"/>
          </a:p>
        </p:txBody>
      </p:sp>
      <p:sp>
        <p:nvSpPr>
          <p:cNvPr id="24" name="Text 22"/>
          <p:cNvSpPr/>
          <p:nvPr/>
        </p:nvSpPr>
        <p:spPr>
          <a:xfrm>
            <a:off x="628650" y="3022699"/>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25" name="Shape 23"/>
          <p:cNvSpPr/>
          <p:nvPr/>
        </p:nvSpPr>
        <p:spPr>
          <a:xfrm>
            <a:off x="564356" y="3233440"/>
            <a:ext cx="1778794" cy="0"/>
          </a:xfrm>
          <a:prstGeom prst="line">
            <a:avLst/>
          </a:prstGeom>
          <a:noFill/>
          <a:ln w="7144">
            <a:solidFill>
              <a:srgbClr val="E8EDF4"/>
            </a:solidFill>
            <a:prstDash val="solid"/>
          </a:ln>
        </p:spPr>
      </p:sp>
      <p:sp>
        <p:nvSpPr>
          <p:cNvPr id="26" name="Text 24"/>
          <p:cNvSpPr/>
          <p:nvPr/>
        </p:nvSpPr>
        <p:spPr>
          <a:xfrm>
            <a:off x="564356" y="3229868"/>
            <a:ext cx="1778794" cy="750016"/>
          </a:xfrm>
          <a:prstGeom prst="rect">
            <a:avLst/>
          </a:prstGeom>
          <a:noFill/>
          <a:ln/>
        </p:spPr>
        <p:txBody>
          <a:bodyPr wrap="square" lIns="0" tIns="42863" rIns="0" bIns="0" rtlCol="0" anchor="t"/>
          <a:lstStyle/>
          <a:p>
            <a:pPr algn="l" indent="0" marL="0">
              <a:lnSpc>
                <a:spcPts val="959"/>
              </a:lnSpc>
              <a:buNone/>
            </a:pPr>
            <a:r>
              <a:rPr lang="en-US" sz="800" b="1" dirty="0">
                <a:solidFill>
                  <a:srgbClr val="0F1F3D"/>
                </a:solidFill>
                <a:latin typeface="Carlito" pitchFamily="34" charset="0"/>
                <a:ea typeface="Carlito" pitchFamily="34" charset="-122"/>
                <a:cs typeface="Carlito" pitchFamily="34" charset="-120"/>
              </a:rPr>
              <a:t>Expected signature:</a:t>
            </a:r>
            <a:pPr algn="l" indent="0" marL="0">
              <a:lnSpc>
                <a:spcPts val="959"/>
              </a:lnSpc>
              <a:buNone/>
            </a:pPr>
            <a:r>
              <a:rPr lang="en-US" sz="800" dirty="0">
                <a:solidFill>
                  <a:srgbClr val="5B6B82"/>
                </a:solidFill>
                <a:latin typeface="Carlito" pitchFamily="34" charset="0"/>
                <a:ea typeface="Carlito" pitchFamily="34" charset="-122"/>
                <a:cs typeface="Carlito" pitchFamily="34" charset="-120"/>
              </a:rPr>
              <a:t> Reduced facial animation, downward gaze drift, slow head roll, flat expression distribution (low kurtosis).</a:t>
            </a:r>
            <a:endParaRPr lang="en-US" sz="800" dirty="0"/>
          </a:p>
        </p:txBody>
      </p:sp>
      <p:sp>
        <p:nvSpPr>
          <p:cNvPr id="27" name="Text 25"/>
          <p:cNvSpPr/>
          <p:nvPr/>
        </p:nvSpPr>
        <p:spPr>
          <a:xfrm>
            <a:off x="2539603" y="1842195"/>
            <a:ext cx="1985963" cy="3136106"/>
          </a:xfrm>
          <a:prstGeom prst="roundRect">
            <a:avLst>
              <a:gd name="adj" fmla="val 5755"/>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28" name="Text 26"/>
          <p:cNvSpPr/>
          <p:nvPr/>
        </p:nvSpPr>
        <p:spPr>
          <a:xfrm>
            <a:off x="2543175" y="1845766"/>
            <a:ext cx="1978819" cy="42863"/>
          </a:xfrm>
          <a:prstGeom prst="rect">
            <a:avLst/>
          </a:prstGeom>
          <a:solidFill>
            <a:srgbClr val="14B8A6"/>
          </a:solidFill>
          <a:ln/>
        </p:spPr>
        <p:txBody>
          <a:bodyPr wrap="square" rtlCol="0" anchor="ctr"/>
          <a:lstStyle/>
          <a:p>
            <a:pPr indent="0" marL="0">
              <a:buNone/>
            </a:pPr>
            <a:endParaRPr lang="en-US" dirty="0"/>
          </a:p>
        </p:txBody>
      </p:sp>
      <p:sp>
        <p:nvSpPr>
          <p:cNvPr id="29" name="Text 27"/>
          <p:cNvSpPr/>
          <p:nvPr/>
        </p:nvSpPr>
        <p:spPr>
          <a:xfrm>
            <a:off x="2643188" y="1988641"/>
            <a:ext cx="1878806"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0F766E"/>
                </a:solidFill>
                <a:latin typeface="Tinos" pitchFamily="34" charset="0"/>
                <a:ea typeface="Tinos" pitchFamily="34" charset="-122"/>
                <a:cs typeface="Tinos" pitchFamily="34" charset="-120"/>
              </a:rPr>
              <a:t>Engagement</a:t>
            </a:r>
            <a:endParaRPr lang="en-US" sz="1463" dirty="0"/>
          </a:p>
        </p:txBody>
      </p:sp>
      <p:sp>
        <p:nvSpPr>
          <p:cNvPr id="30" name="Text 28"/>
          <p:cNvSpPr/>
          <p:nvPr/>
        </p:nvSpPr>
        <p:spPr>
          <a:xfrm>
            <a:off x="2643188" y="2231529"/>
            <a:ext cx="1878806"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5B6B82"/>
                </a:solidFill>
                <a:latin typeface="Carlito" pitchFamily="34" charset="0"/>
                <a:ea typeface="Carlito" pitchFamily="34" charset="-122"/>
                <a:cs typeface="Carlito" pitchFamily="34" charset="-120"/>
              </a:rPr>
              <a:t>Active attention</a:t>
            </a:r>
            <a:endParaRPr lang="en-US" sz="800" dirty="0"/>
          </a:p>
        </p:txBody>
      </p:sp>
      <p:sp>
        <p:nvSpPr>
          <p:cNvPr id="31" name="Text 29"/>
          <p:cNvSpPr/>
          <p:nvPr/>
        </p:nvSpPr>
        <p:spPr>
          <a:xfrm>
            <a:off x="2643188" y="2435126"/>
            <a:ext cx="1878806" cy="131516"/>
          </a:xfrm>
          <a:prstGeom prst="rect">
            <a:avLst/>
          </a:prstGeom>
          <a:noFill/>
          <a:ln/>
        </p:spPr>
        <p:txBody>
          <a:bodyPr wrap="none" lIns="0" tIns="0" rIns="0" bIns="0" rtlCol="0" anchor="t">
            <a:normAutofit/>
          </a:bodyPr>
          <a:lstStyle/>
          <a:p>
            <a:pPr algn="l" indent="0" marL="0">
              <a:lnSpc>
                <a:spcPts val="802"/>
              </a:lnSpc>
              <a:buNone/>
            </a:pPr>
            <a:r>
              <a:rPr lang="en-US" sz="800" b="1" spc="96" kern="0" dirty="0">
                <a:solidFill>
                  <a:srgbClr val="8A97AB"/>
                </a:solidFill>
                <a:latin typeface="Carlito" pitchFamily="34" charset="0"/>
                <a:ea typeface="Carlito" pitchFamily="34" charset="-122"/>
                <a:cs typeface="Carlito" pitchFamily="34" charset="-120"/>
              </a:rPr>
              <a:t>PRIMARY FEATURES</a:t>
            </a:r>
            <a:endParaRPr lang="en-US" sz="800" dirty="0"/>
          </a:p>
        </p:txBody>
      </p:sp>
      <p:sp>
        <p:nvSpPr>
          <p:cNvPr id="32" name="Text 30"/>
          <p:cNvSpPr/>
          <p:nvPr/>
        </p:nvSpPr>
        <p:spPr>
          <a:xfrm>
            <a:off x="2643188" y="2584216"/>
            <a:ext cx="804230" cy="184023"/>
          </a:xfrm>
          <a:prstGeom prst="roundRect">
            <a:avLst>
              <a:gd name="adj" fmla="val 5170807"/>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33" name="Text 31"/>
          <p:cNvSpPr/>
          <p:nvPr/>
        </p:nvSpPr>
        <p:spPr>
          <a:xfrm>
            <a:off x="2814638" y="2636937"/>
            <a:ext cx="647067" cy="120701"/>
          </a:xfrm>
          <a:prstGeom prst="rect">
            <a:avLst/>
          </a:prstGeom>
          <a:noFill/>
          <a:ln/>
        </p:spPr>
        <p:txBody>
          <a:bodyPr wrap="none" lIns="0" tIns="0" rIns="0" bIns="0" rtlCol="0" anchor="t"/>
          <a:lstStyle/>
          <a:p>
            <a:pPr algn="l" indent="0" marL="0">
              <a:lnSpc>
                <a:spcPts val="844"/>
              </a:lnSpc>
              <a:buNone/>
            </a:pPr>
            <a:r>
              <a:rPr lang="en-US" sz="600" spc="6" kern="0" dirty="0">
                <a:solidFill>
                  <a:srgbClr val="0F1F3D"/>
                </a:solidFill>
                <a:latin typeface="Courier New" pitchFamily="34" charset="0"/>
                <a:ea typeface="Courier New" pitchFamily="34" charset="-122"/>
                <a:cs typeface="Courier New" pitchFamily="34" charset="-120"/>
              </a:rPr>
              <a:t>eyeWide (L/R)</a:t>
            </a:r>
            <a:endParaRPr lang="en-US" sz="600" dirty="0"/>
          </a:p>
        </p:txBody>
      </p:sp>
      <p:sp>
        <p:nvSpPr>
          <p:cNvPr id="34" name="Text 32"/>
          <p:cNvSpPr/>
          <p:nvPr/>
        </p:nvSpPr>
        <p:spPr>
          <a:xfrm>
            <a:off x="2707481" y="2636937"/>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35" name="Text 33"/>
          <p:cNvSpPr/>
          <p:nvPr/>
        </p:nvSpPr>
        <p:spPr>
          <a:xfrm>
            <a:off x="3475992" y="2584216"/>
            <a:ext cx="716719" cy="184023"/>
          </a:xfrm>
          <a:prstGeom prst="roundRect">
            <a:avLst>
              <a:gd name="adj" fmla="val 5170807"/>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36" name="Text 34"/>
          <p:cNvSpPr/>
          <p:nvPr/>
        </p:nvSpPr>
        <p:spPr>
          <a:xfrm>
            <a:off x="3647442" y="2636937"/>
            <a:ext cx="774539" cy="120701"/>
          </a:xfrm>
          <a:prstGeom prst="rect">
            <a:avLst/>
          </a:prstGeom>
          <a:noFill/>
          <a:ln/>
        </p:spPr>
        <p:txBody>
          <a:bodyPr wrap="none" lIns="0" tIns="0" rIns="0" bIns="0" rtlCol="0" anchor="t"/>
          <a:lstStyle/>
          <a:p>
            <a:pPr algn="l" indent="0" marL="0">
              <a:lnSpc>
                <a:spcPts val="844"/>
              </a:lnSpc>
              <a:buNone/>
            </a:pPr>
            <a:r>
              <a:rPr lang="en-US" sz="800" spc="6" kern="0" dirty="0">
                <a:solidFill>
                  <a:srgbClr val="0F1F3D"/>
                </a:solidFill>
                <a:latin typeface="Courier New" pitchFamily="34" charset="0"/>
                <a:ea typeface="Courier New" pitchFamily="34" charset="-122"/>
                <a:cs typeface="Courier New" pitchFamily="34" charset="-120"/>
              </a:rPr>
              <a:t>browInnerUp</a:t>
            </a:r>
            <a:endParaRPr lang="en-US" sz="800" dirty="0"/>
          </a:p>
        </p:txBody>
      </p:sp>
      <p:sp>
        <p:nvSpPr>
          <p:cNvPr id="37" name="Text 35"/>
          <p:cNvSpPr/>
          <p:nvPr/>
        </p:nvSpPr>
        <p:spPr>
          <a:xfrm>
            <a:off x="3540286" y="2636937"/>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38" name="Text 36"/>
          <p:cNvSpPr/>
          <p:nvPr/>
        </p:nvSpPr>
        <p:spPr>
          <a:xfrm>
            <a:off x="2620328" y="2777097"/>
            <a:ext cx="981105" cy="184023"/>
          </a:xfrm>
          <a:prstGeom prst="roundRect">
            <a:avLst>
              <a:gd name="adj" fmla="val 5170807"/>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39" name="Text 37"/>
          <p:cNvSpPr/>
          <p:nvPr/>
        </p:nvSpPr>
        <p:spPr>
          <a:xfrm>
            <a:off x="2814638" y="2829818"/>
            <a:ext cx="699641" cy="120701"/>
          </a:xfrm>
          <a:prstGeom prst="rect">
            <a:avLst/>
          </a:prstGeom>
          <a:noFill/>
          <a:ln/>
        </p:spPr>
        <p:txBody>
          <a:bodyPr wrap="none" lIns="0" tIns="0" rIns="0" bIns="0" rtlCol="0" anchor="t"/>
          <a:lstStyle/>
          <a:p>
            <a:pPr algn="l" indent="0" marL="0">
              <a:lnSpc>
                <a:spcPts val="844"/>
              </a:lnSpc>
              <a:buNone/>
            </a:pPr>
            <a:r>
              <a:rPr lang="en-US" sz="600" spc="6" kern="0" dirty="0">
                <a:solidFill>
                  <a:srgbClr val="0F1F3D"/>
                </a:solidFill>
                <a:latin typeface="Courier New" pitchFamily="34" charset="0"/>
                <a:ea typeface="Courier New" pitchFamily="34" charset="-122"/>
                <a:cs typeface="Courier New" pitchFamily="34" charset="-120"/>
              </a:rPr>
              <a:t>mouthSmile (L/R)</a:t>
            </a:r>
            <a:endParaRPr lang="en-US" sz="600" dirty="0"/>
          </a:p>
        </p:txBody>
      </p:sp>
      <p:sp>
        <p:nvSpPr>
          <p:cNvPr id="40" name="Text 38"/>
          <p:cNvSpPr/>
          <p:nvPr/>
        </p:nvSpPr>
        <p:spPr>
          <a:xfrm>
            <a:off x="2707481" y="2829818"/>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41" name="Text 39"/>
          <p:cNvSpPr/>
          <p:nvPr/>
        </p:nvSpPr>
        <p:spPr>
          <a:xfrm>
            <a:off x="2646759" y="2983409"/>
            <a:ext cx="1496616" cy="157163"/>
          </a:xfrm>
          <a:prstGeom prst="roundRect">
            <a:avLst>
              <a:gd name="adj" fmla="val 6054526"/>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42" name="Text 40"/>
          <p:cNvSpPr/>
          <p:nvPr/>
        </p:nvSpPr>
        <p:spPr>
          <a:xfrm>
            <a:off x="2814638" y="3022699"/>
            <a:ext cx="1268016" cy="120701"/>
          </a:xfrm>
          <a:prstGeom prst="rect">
            <a:avLst/>
          </a:prstGeom>
          <a:noFill/>
          <a:ln/>
        </p:spPr>
        <p:txBody>
          <a:bodyPr wrap="none" lIns="57150" tIns="21431" rIns="57150" bIns="21431" rtlCol="0" anchor="t"/>
          <a:lstStyle/>
          <a:p>
            <a:pPr algn="l" indent="0" marL="0">
              <a:lnSpc>
                <a:spcPts val="844"/>
              </a:lnSpc>
              <a:buNone/>
            </a:pPr>
            <a:r>
              <a:rPr lang="en-US" sz="600" spc="6" kern="0" dirty="0">
                <a:solidFill>
                  <a:srgbClr val="0F1F3D"/>
                </a:solidFill>
                <a:latin typeface="Liberation Sans Narrow" pitchFamily="34" charset="0"/>
                <a:ea typeface="Liberation Sans Narrow" pitchFamily="34" charset="-122"/>
                <a:cs typeface="Liberation Sans Narrow" pitchFamily="34" charset="-120"/>
              </a:rPr>
              <a:t>engagement_indicator (idx 73)</a:t>
            </a:r>
            <a:endParaRPr lang="en-US" sz="600" dirty="0"/>
          </a:p>
        </p:txBody>
      </p:sp>
      <p:sp>
        <p:nvSpPr>
          <p:cNvPr id="43" name="Text 41"/>
          <p:cNvSpPr/>
          <p:nvPr/>
        </p:nvSpPr>
        <p:spPr>
          <a:xfrm>
            <a:off x="2707481" y="3022699"/>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44" name="Shape 42"/>
          <p:cNvSpPr/>
          <p:nvPr/>
        </p:nvSpPr>
        <p:spPr>
          <a:xfrm>
            <a:off x="2643188" y="3233440"/>
            <a:ext cx="1778794" cy="0"/>
          </a:xfrm>
          <a:prstGeom prst="line">
            <a:avLst/>
          </a:prstGeom>
          <a:noFill/>
          <a:ln w="7144">
            <a:solidFill>
              <a:srgbClr val="E8EDF4"/>
            </a:solidFill>
            <a:prstDash val="solid"/>
          </a:ln>
        </p:spPr>
      </p:sp>
      <p:sp>
        <p:nvSpPr>
          <p:cNvPr id="45" name="Text 43"/>
          <p:cNvSpPr/>
          <p:nvPr/>
        </p:nvSpPr>
        <p:spPr>
          <a:xfrm>
            <a:off x="2643188" y="3229868"/>
            <a:ext cx="1778794" cy="579969"/>
          </a:xfrm>
          <a:prstGeom prst="rect">
            <a:avLst/>
          </a:prstGeom>
          <a:noFill/>
          <a:ln/>
        </p:spPr>
        <p:txBody>
          <a:bodyPr wrap="square" lIns="0" tIns="42863" rIns="0" bIns="0" rtlCol="0" anchor="t"/>
          <a:lstStyle/>
          <a:p>
            <a:pPr algn="l" indent="0" marL="0">
              <a:lnSpc>
                <a:spcPts val="959"/>
              </a:lnSpc>
              <a:buNone/>
            </a:pPr>
            <a:r>
              <a:rPr lang="en-US" sz="800" b="1" dirty="0">
                <a:solidFill>
                  <a:srgbClr val="0F1F3D"/>
                </a:solidFill>
                <a:latin typeface="Carlito" pitchFamily="34" charset="0"/>
                <a:ea typeface="Carlito" pitchFamily="34" charset="-122"/>
                <a:cs typeface="Carlito" pitchFamily="34" charset="-120"/>
              </a:rPr>
              <a:t>Expected signature:</a:t>
            </a:r>
            <a:pPr algn="l" indent="0" marL="0">
              <a:lnSpc>
                <a:spcPts val="959"/>
              </a:lnSpc>
              <a:buNone/>
            </a:pPr>
            <a:r>
              <a:rPr lang="en-US" sz="800" dirty="0">
                <a:solidFill>
                  <a:srgbClr val="5B6B82"/>
                </a:solidFill>
                <a:latin typeface="Carlito" pitchFamily="34" charset="0"/>
                <a:ea typeface="Carlito" pitchFamily="34" charset="-122"/>
                <a:cs typeface="Carlito" pitchFamily="34" charset="-120"/>
              </a:rPr>
              <a:t> Active vertical gaze scanning, elevated eye activity peaks, coordinated multi-region expressiveness.</a:t>
            </a:r>
            <a:endParaRPr lang="en-US" sz="800" dirty="0"/>
          </a:p>
        </p:txBody>
      </p:sp>
      <p:sp>
        <p:nvSpPr>
          <p:cNvPr id="46" name="Text 44"/>
          <p:cNvSpPr/>
          <p:nvPr/>
        </p:nvSpPr>
        <p:spPr>
          <a:xfrm>
            <a:off x="4618434" y="1842195"/>
            <a:ext cx="1985963" cy="3136106"/>
          </a:xfrm>
          <a:prstGeom prst="roundRect">
            <a:avLst>
              <a:gd name="adj" fmla="val 5755"/>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47" name="Text 45"/>
          <p:cNvSpPr/>
          <p:nvPr/>
        </p:nvSpPr>
        <p:spPr>
          <a:xfrm>
            <a:off x="4622006" y="1845766"/>
            <a:ext cx="1978819" cy="42863"/>
          </a:xfrm>
          <a:prstGeom prst="rect">
            <a:avLst/>
          </a:prstGeom>
          <a:solidFill>
            <a:srgbClr val="C77B2C"/>
          </a:solidFill>
          <a:ln/>
        </p:spPr>
        <p:txBody>
          <a:bodyPr wrap="square" rtlCol="0" anchor="ctr"/>
          <a:lstStyle/>
          <a:p>
            <a:pPr indent="0" marL="0">
              <a:buNone/>
            </a:pPr>
            <a:endParaRPr lang="en-US" dirty="0"/>
          </a:p>
        </p:txBody>
      </p:sp>
      <p:sp>
        <p:nvSpPr>
          <p:cNvPr id="48" name="Text 46"/>
          <p:cNvSpPr/>
          <p:nvPr/>
        </p:nvSpPr>
        <p:spPr>
          <a:xfrm>
            <a:off x="4722019" y="1988641"/>
            <a:ext cx="1878806"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C77B2C"/>
                </a:solidFill>
                <a:latin typeface="Tinos" pitchFamily="34" charset="0"/>
                <a:ea typeface="Tinos" pitchFamily="34" charset="-122"/>
                <a:cs typeface="Tinos" pitchFamily="34" charset="-120"/>
              </a:rPr>
              <a:t>Confusion</a:t>
            </a:r>
            <a:endParaRPr lang="en-US" sz="1463" dirty="0"/>
          </a:p>
        </p:txBody>
      </p:sp>
      <p:sp>
        <p:nvSpPr>
          <p:cNvPr id="49" name="Text 47"/>
          <p:cNvSpPr/>
          <p:nvPr/>
        </p:nvSpPr>
        <p:spPr>
          <a:xfrm>
            <a:off x="4722019" y="2231529"/>
            <a:ext cx="1878806"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5B6B82"/>
                </a:solidFill>
                <a:latin typeface="Carlito" pitchFamily="34" charset="0"/>
                <a:ea typeface="Carlito" pitchFamily="34" charset="-122"/>
                <a:cs typeface="Carlito" pitchFamily="34" charset="-120"/>
              </a:rPr>
              <a:t>Cognitive overload</a:t>
            </a:r>
            <a:endParaRPr lang="en-US" sz="800" dirty="0"/>
          </a:p>
        </p:txBody>
      </p:sp>
      <p:sp>
        <p:nvSpPr>
          <p:cNvPr id="50" name="Text 48"/>
          <p:cNvSpPr/>
          <p:nvPr/>
        </p:nvSpPr>
        <p:spPr>
          <a:xfrm>
            <a:off x="4722019" y="2435126"/>
            <a:ext cx="1878806" cy="131516"/>
          </a:xfrm>
          <a:prstGeom prst="rect">
            <a:avLst/>
          </a:prstGeom>
          <a:noFill/>
          <a:ln/>
        </p:spPr>
        <p:txBody>
          <a:bodyPr wrap="none" lIns="0" tIns="0" rIns="0" bIns="0" rtlCol="0" anchor="t">
            <a:normAutofit/>
          </a:bodyPr>
          <a:lstStyle/>
          <a:p>
            <a:pPr algn="l" indent="0" marL="0">
              <a:lnSpc>
                <a:spcPts val="802"/>
              </a:lnSpc>
              <a:buNone/>
            </a:pPr>
            <a:r>
              <a:rPr lang="en-US" sz="800" b="1" spc="96" kern="0" dirty="0">
                <a:solidFill>
                  <a:srgbClr val="8A97AB"/>
                </a:solidFill>
                <a:latin typeface="Carlito" pitchFamily="34" charset="0"/>
                <a:ea typeface="Carlito" pitchFamily="34" charset="-122"/>
                <a:cs typeface="Carlito" pitchFamily="34" charset="-120"/>
              </a:rPr>
              <a:t>PRIMARY FEATURES</a:t>
            </a:r>
            <a:endParaRPr lang="en-US" sz="800" dirty="0"/>
          </a:p>
        </p:txBody>
      </p:sp>
      <p:sp>
        <p:nvSpPr>
          <p:cNvPr id="51" name="Text 49"/>
          <p:cNvSpPr/>
          <p:nvPr/>
        </p:nvSpPr>
        <p:spPr>
          <a:xfrm>
            <a:off x="4722019" y="2584216"/>
            <a:ext cx="847874" cy="184023"/>
          </a:xfrm>
          <a:prstGeom prst="roundRect">
            <a:avLst>
              <a:gd name="adj" fmla="val 5170807"/>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52" name="Text 50"/>
          <p:cNvSpPr/>
          <p:nvPr/>
        </p:nvSpPr>
        <p:spPr>
          <a:xfrm>
            <a:off x="4893469" y="2636937"/>
            <a:ext cx="690711" cy="120701"/>
          </a:xfrm>
          <a:prstGeom prst="rect">
            <a:avLst/>
          </a:prstGeom>
          <a:noFill/>
          <a:ln/>
        </p:spPr>
        <p:txBody>
          <a:bodyPr wrap="none" lIns="0" tIns="0" rIns="0" bIns="0" rtlCol="0" anchor="t"/>
          <a:lstStyle/>
          <a:p>
            <a:pPr algn="l" indent="0" marL="0">
              <a:lnSpc>
                <a:spcPts val="844"/>
              </a:lnSpc>
              <a:buNone/>
            </a:pPr>
            <a:r>
              <a:rPr lang="en-US" sz="600" spc="6" kern="0" dirty="0">
                <a:solidFill>
                  <a:srgbClr val="0F1F3D"/>
                </a:solidFill>
                <a:latin typeface="Courier New" pitchFamily="34" charset="0"/>
                <a:ea typeface="Courier New" pitchFamily="34" charset="-122"/>
                <a:cs typeface="Courier New" pitchFamily="34" charset="-120"/>
              </a:rPr>
              <a:t>browDown (L/R)</a:t>
            </a:r>
            <a:endParaRPr lang="en-US" sz="600" dirty="0"/>
          </a:p>
        </p:txBody>
      </p:sp>
      <p:sp>
        <p:nvSpPr>
          <p:cNvPr id="53" name="Text 51"/>
          <p:cNvSpPr/>
          <p:nvPr/>
        </p:nvSpPr>
        <p:spPr>
          <a:xfrm>
            <a:off x="4786313" y="2636937"/>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54" name="Text 52"/>
          <p:cNvSpPr/>
          <p:nvPr/>
        </p:nvSpPr>
        <p:spPr>
          <a:xfrm>
            <a:off x="5598468" y="2584216"/>
            <a:ext cx="891629" cy="184023"/>
          </a:xfrm>
          <a:prstGeom prst="roundRect">
            <a:avLst>
              <a:gd name="adj" fmla="val 5170807"/>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55" name="Text 53"/>
          <p:cNvSpPr/>
          <p:nvPr/>
        </p:nvSpPr>
        <p:spPr>
          <a:xfrm>
            <a:off x="5769918" y="2636937"/>
            <a:ext cx="730895" cy="120701"/>
          </a:xfrm>
          <a:prstGeom prst="rect">
            <a:avLst/>
          </a:prstGeom>
          <a:noFill/>
          <a:ln/>
        </p:spPr>
        <p:txBody>
          <a:bodyPr wrap="none" lIns="0" tIns="0" rIns="0" bIns="0" rtlCol="0" anchor="t"/>
          <a:lstStyle/>
          <a:p>
            <a:pPr algn="l" indent="0" marL="0">
              <a:lnSpc>
                <a:spcPts val="844"/>
              </a:lnSpc>
              <a:buNone/>
            </a:pPr>
            <a:r>
              <a:rPr lang="en-US" sz="600" spc="6" kern="0" dirty="0">
                <a:solidFill>
                  <a:srgbClr val="0F1F3D"/>
                </a:solidFill>
                <a:latin typeface="Courier New" pitchFamily="34" charset="0"/>
                <a:ea typeface="Courier New" pitchFamily="34" charset="-122"/>
                <a:cs typeface="Courier New" pitchFamily="34" charset="-120"/>
              </a:rPr>
              <a:t>eyeSquint (L/R)</a:t>
            </a:r>
            <a:endParaRPr lang="en-US" sz="600" dirty="0"/>
          </a:p>
        </p:txBody>
      </p:sp>
      <p:sp>
        <p:nvSpPr>
          <p:cNvPr id="56" name="Text 54"/>
          <p:cNvSpPr/>
          <p:nvPr/>
        </p:nvSpPr>
        <p:spPr>
          <a:xfrm>
            <a:off x="5662761" y="2636937"/>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57" name="Text 55"/>
          <p:cNvSpPr/>
          <p:nvPr/>
        </p:nvSpPr>
        <p:spPr>
          <a:xfrm>
            <a:off x="4699159" y="2777097"/>
            <a:ext cx="981105" cy="184023"/>
          </a:xfrm>
          <a:prstGeom prst="roundRect">
            <a:avLst>
              <a:gd name="adj" fmla="val 5170807"/>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58" name="Text 56"/>
          <p:cNvSpPr/>
          <p:nvPr/>
        </p:nvSpPr>
        <p:spPr>
          <a:xfrm>
            <a:off x="4893469" y="2829818"/>
            <a:ext cx="699641" cy="120701"/>
          </a:xfrm>
          <a:prstGeom prst="rect">
            <a:avLst/>
          </a:prstGeom>
          <a:noFill/>
          <a:ln/>
        </p:spPr>
        <p:txBody>
          <a:bodyPr wrap="none" lIns="0" tIns="0" rIns="0" bIns="0" rtlCol="0" anchor="t"/>
          <a:lstStyle/>
          <a:p>
            <a:pPr algn="l" indent="0" marL="0">
              <a:lnSpc>
                <a:spcPts val="844"/>
              </a:lnSpc>
              <a:buNone/>
            </a:pPr>
            <a:r>
              <a:rPr lang="en-US" sz="600" spc="6" kern="0" dirty="0">
                <a:solidFill>
                  <a:srgbClr val="0F1F3D"/>
                </a:solidFill>
                <a:latin typeface="Courier New" pitchFamily="34" charset="0"/>
                <a:ea typeface="Courier New" pitchFamily="34" charset="-122"/>
                <a:cs typeface="Courier New" pitchFamily="34" charset="-120"/>
              </a:rPr>
              <a:t>mouthFrown (L/R)</a:t>
            </a:r>
            <a:endParaRPr lang="en-US" sz="600" dirty="0"/>
          </a:p>
        </p:txBody>
      </p:sp>
      <p:sp>
        <p:nvSpPr>
          <p:cNvPr id="59" name="Text 57"/>
          <p:cNvSpPr/>
          <p:nvPr/>
        </p:nvSpPr>
        <p:spPr>
          <a:xfrm>
            <a:off x="4786313" y="2829818"/>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60" name="Text 58"/>
          <p:cNvSpPr/>
          <p:nvPr/>
        </p:nvSpPr>
        <p:spPr>
          <a:xfrm>
            <a:off x="4725591" y="2983409"/>
            <a:ext cx="1452860" cy="157163"/>
          </a:xfrm>
          <a:prstGeom prst="roundRect">
            <a:avLst>
              <a:gd name="adj" fmla="val 6054526"/>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61" name="Text 59"/>
          <p:cNvSpPr/>
          <p:nvPr/>
        </p:nvSpPr>
        <p:spPr>
          <a:xfrm>
            <a:off x="4893469" y="3022699"/>
            <a:ext cx="1224260" cy="120701"/>
          </a:xfrm>
          <a:prstGeom prst="rect">
            <a:avLst/>
          </a:prstGeom>
          <a:noFill/>
          <a:ln/>
        </p:spPr>
        <p:txBody>
          <a:bodyPr wrap="none" lIns="57150" tIns="21431" rIns="57150" bIns="21431" rtlCol="0" anchor="t"/>
          <a:lstStyle/>
          <a:p>
            <a:pPr algn="l" indent="0" marL="0">
              <a:lnSpc>
                <a:spcPts val="844"/>
              </a:lnSpc>
              <a:buNone/>
            </a:pPr>
            <a:r>
              <a:rPr lang="en-US" sz="600" spc="6" kern="0" dirty="0">
                <a:solidFill>
                  <a:srgbClr val="0F1F3D"/>
                </a:solidFill>
                <a:latin typeface="Liberation Sans Narrow" pitchFamily="34" charset="0"/>
                <a:ea typeface="Liberation Sans Narrow" pitchFamily="34" charset="-122"/>
                <a:cs typeface="Liberation Sans Narrow" pitchFamily="34" charset="-120"/>
              </a:rPr>
              <a:t>confusion_indicator (idx 70)</a:t>
            </a:r>
            <a:endParaRPr lang="en-US" sz="600" dirty="0"/>
          </a:p>
        </p:txBody>
      </p:sp>
      <p:sp>
        <p:nvSpPr>
          <p:cNvPr id="62" name="Text 60"/>
          <p:cNvSpPr/>
          <p:nvPr/>
        </p:nvSpPr>
        <p:spPr>
          <a:xfrm>
            <a:off x="4786313" y="3022699"/>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63" name="Shape 61"/>
          <p:cNvSpPr/>
          <p:nvPr/>
        </p:nvSpPr>
        <p:spPr>
          <a:xfrm>
            <a:off x="4722019" y="3233440"/>
            <a:ext cx="1778794" cy="0"/>
          </a:xfrm>
          <a:prstGeom prst="line">
            <a:avLst/>
          </a:prstGeom>
          <a:noFill/>
          <a:ln w="7144">
            <a:solidFill>
              <a:srgbClr val="E8EDF4"/>
            </a:solidFill>
            <a:prstDash val="solid"/>
          </a:ln>
        </p:spPr>
      </p:sp>
      <p:sp>
        <p:nvSpPr>
          <p:cNvPr id="64" name="Text 62"/>
          <p:cNvSpPr/>
          <p:nvPr/>
        </p:nvSpPr>
        <p:spPr>
          <a:xfrm>
            <a:off x="4722019" y="3229868"/>
            <a:ext cx="1778794" cy="579969"/>
          </a:xfrm>
          <a:prstGeom prst="rect">
            <a:avLst/>
          </a:prstGeom>
          <a:noFill/>
          <a:ln/>
        </p:spPr>
        <p:txBody>
          <a:bodyPr wrap="square" lIns="0" tIns="42863" rIns="0" bIns="0" rtlCol="0" anchor="t"/>
          <a:lstStyle/>
          <a:p>
            <a:pPr algn="l" indent="0" marL="0">
              <a:lnSpc>
                <a:spcPts val="959"/>
              </a:lnSpc>
              <a:buNone/>
            </a:pPr>
            <a:r>
              <a:rPr lang="en-US" sz="800" b="1" dirty="0">
                <a:solidFill>
                  <a:srgbClr val="0F1F3D"/>
                </a:solidFill>
                <a:latin typeface="Carlito" pitchFamily="34" charset="0"/>
                <a:ea typeface="Carlito" pitchFamily="34" charset="-122"/>
                <a:cs typeface="Carlito" pitchFamily="34" charset="-120"/>
              </a:rPr>
              <a:t>Expected signature:</a:t>
            </a:r>
            <a:pPr algn="l" indent="0" marL="0">
              <a:lnSpc>
                <a:spcPts val="959"/>
              </a:lnSpc>
              <a:buNone/>
            </a:pPr>
            <a:r>
              <a:rPr lang="en-US" sz="800" dirty="0">
                <a:solidFill>
                  <a:srgbClr val="5B6B82"/>
                </a:solidFill>
                <a:latin typeface="Carlito" pitchFamily="34" charset="0"/>
                <a:ea typeface="Carlito" pitchFamily="34" charset="-122"/>
                <a:cs typeface="Carlito" pitchFamily="34" charset="-120"/>
              </a:rPr>
              <a:t> Furrowed brow, narrowed eyes, frown, lateral gaze scanning for additional information.</a:t>
            </a:r>
            <a:endParaRPr lang="en-US" sz="800" dirty="0"/>
          </a:p>
        </p:txBody>
      </p:sp>
      <p:sp>
        <p:nvSpPr>
          <p:cNvPr id="65" name="Text 63"/>
          <p:cNvSpPr/>
          <p:nvPr/>
        </p:nvSpPr>
        <p:spPr>
          <a:xfrm>
            <a:off x="6697266" y="1842195"/>
            <a:ext cx="1985963" cy="3136106"/>
          </a:xfrm>
          <a:prstGeom prst="roundRect">
            <a:avLst>
              <a:gd name="adj" fmla="val 5755"/>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66" name="Text 64"/>
          <p:cNvSpPr/>
          <p:nvPr/>
        </p:nvSpPr>
        <p:spPr>
          <a:xfrm>
            <a:off x="6700838" y="1845766"/>
            <a:ext cx="1978819" cy="42863"/>
          </a:xfrm>
          <a:prstGeom prst="rect">
            <a:avLst/>
          </a:prstGeom>
          <a:solidFill>
            <a:srgbClr val="A14545"/>
          </a:solidFill>
          <a:ln/>
        </p:spPr>
        <p:txBody>
          <a:bodyPr wrap="square" rtlCol="0" anchor="ctr"/>
          <a:lstStyle/>
          <a:p>
            <a:pPr indent="0" marL="0">
              <a:buNone/>
            </a:pPr>
            <a:endParaRPr lang="en-US" dirty="0"/>
          </a:p>
        </p:txBody>
      </p:sp>
      <p:sp>
        <p:nvSpPr>
          <p:cNvPr id="67" name="Text 65"/>
          <p:cNvSpPr/>
          <p:nvPr/>
        </p:nvSpPr>
        <p:spPr>
          <a:xfrm>
            <a:off x="6800850" y="1988641"/>
            <a:ext cx="1878806"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A14545"/>
                </a:solidFill>
                <a:latin typeface="Tinos" pitchFamily="34" charset="0"/>
                <a:ea typeface="Tinos" pitchFamily="34" charset="-122"/>
                <a:cs typeface="Tinos" pitchFamily="34" charset="-120"/>
              </a:rPr>
              <a:t>Frustration</a:t>
            </a:r>
            <a:endParaRPr lang="en-US" sz="1463" dirty="0"/>
          </a:p>
        </p:txBody>
      </p:sp>
      <p:sp>
        <p:nvSpPr>
          <p:cNvPr id="68" name="Text 66"/>
          <p:cNvSpPr/>
          <p:nvPr/>
        </p:nvSpPr>
        <p:spPr>
          <a:xfrm>
            <a:off x="6800850" y="2231529"/>
            <a:ext cx="1878806"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5B6B82"/>
                </a:solidFill>
                <a:latin typeface="Carlito" pitchFamily="34" charset="0"/>
                <a:ea typeface="Carlito" pitchFamily="34" charset="-122"/>
                <a:cs typeface="Carlito" pitchFamily="34" charset="-120"/>
              </a:rPr>
              <a:t>Affective barrier</a:t>
            </a:r>
            <a:endParaRPr lang="en-US" sz="800" dirty="0"/>
          </a:p>
        </p:txBody>
      </p:sp>
      <p:sp>
        <p:nvSpPr>
          <p:cNvPr id="69" name="Text 67"/>
          <p:cNvSpPr/>
          <p:nvPr/>
        </p:nvSpPr>
        <p:spPr>
          <a:xfrm>
            <a:off x="6800850" y="2435126"/>
            <a:ext cx="1878806" cy="131516"/>
          </a:xfrm>
          <a:prstGeom prst="rect">
            <a:avLst/>
          </a:prstGeom>
          <a:noFill/>
          <a:ln/>
        </p:spPr>
        <p:txBody>
          <a:bodyPr wrap="none" lIns="0" tIns="0" rIns="0" bIns="0" rtlCol="0" anchor="t">
            <a:normAutofit/>
          </a:bodyPr>
          <a:lstStyle/>
          <a:p>
            <a:pPr algn="l" indent="0" marL="0">
              <a:lnSpc>
                <a:spcPts val="802"/>
              </a:lnSpc>
              <a:buNone/>
            </a:pPr>
            <a:r>
              <a:rPr lang="en-US" sz="800" b="1" spc="96" kern="0" dirty="0">
                <a:solidFill>
                  <a:srgbClr val="8A97AB"/>
                </a:solidFill>
                <a:latin typeface="Carlito" pitchFamily="34" charset="0"/>
                <a:ea typeface="Carlito" pitchFamily="34" charset="-122"/>
                <a:cs typeface="Carlito" pitchFamily="34" charset="-120"/>
              </a:rPr>
              <a:t>PRIMARY FEATURES</a:t>
            </a:r>
            <a:endParaRPr lang="en-US" sz="800" dirty="0"/>
          </a:p>
        </p:txBody>
      </p:sp>
      <p:sp>
        <p:nvSpPr>
          <p:cNvPr id="70" name="Text 68"/>
          <p:cNvSpPr/>
          <p:nvPr/>
        </p:nvSpPr>
        <p:spPr>
          <a:xfrm>
            <a:off x="6800850" y="2584216"/>
            <a:ext cx="716719" cy="184023"/>
          </a:xfrm>
          <a:prstGeom prst="roundRect">
            <a:avLst>
              <a:gd name="adj" fmla="val 5170807"/>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71" name="Text 69"/>
          <p:cNvSpPr/>
          <p:nvPr/>
        </p:nvSpPr>
        <p:spPr>
          <a:xfrm>
            <a:off x="6972300" y="2636937"/>
            <a:ext cx="559557" cy="120701"/>
          </a:xfrm>
          <a:prstGeom prst="rect">
            <a:avLst/>
          </a:prstGeom>
          <a:noFill/>
          <a:ln/>
        </p:spPr>
        <p:txBody>
          <a:bodyPr wrap="none" lIns="0" tIns="0" rIns="0" bIns="0" rtlCol="0" anchor="t"/>
          <a:lstStyle/>
          <a:p>
            <a:pPr algn="l" indent="0" marL="0">
              <a:lnSpc>
                <a:spcPts val="844"/>
              </a:lnSpc>
              <a:buNone/>
            </a:pPr>
            <a:r>
              <a:rPr lang="en-US" sz="600" spc="6" kern="0" dirty="0">
                <a:solidFill>
                  <a:srgbClr val="0F1F3D"/>
                </a:solidFill>
                <a:latin typeface="Courier New" pitchFamily="34" charset="0"/>
                <a:ea typeface="Courier New" pitchFamily="34" charset="-122"/>
                <a:cs typeface="Courier New" pitchFamily="34" charset="-120"/>
              </a:rPr>
              <a:t>browInnerUp</a:t>
            </a:r>
            <a:endParaRPr lang="en-US" sz="600" dirty="0"/>
          </a:p>
        </p:txBody>
      </p:sp>
      <p:sp>
        <p:nvSpPr>
          <p:cNvPr id="72" name="Text 70"/>
          <p:cNvSpPr/>
          <p:nvPr/>
        </p:nvSpPr>
        <p:spPr>
          <a:xfrm>
            <a:off x="6865144" y="2636937"/>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73" name="Text 71"/>
          <p:cNvSpPr/>
          <p:nvPr/>
        </p:nvSpPr>
        <p:spPr>
          <a:xfrm>
            <a:off x="7546144" y="2584216"/>
            <a:ext cx="935385" cy="184023"/>
          </a:xfrm>
          <a:prstGeom prst="roundRect">
            <a:avLst>
              <a:gd name="adj" fmla="val 5170807"/>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74" name="Text 72"/>
          <p:cNvSpPr/>
          <p:nvPr/>
        </p:nvSpPr>
        <p:spPr>
          <a:xfrm>
            <a:off x="7717594" y="2636937"/>
            <a:ext cx="862050" cy="120701"/>
          </a:xfrm>
          <a:prstGeom prst="rect">
            <a:avLst/>
          </a:prstGeom>
          <a:noFill/>
          <a:ln/>
        </p:spPr>
        <p:txBody>
          <a:bodyPr wrap="none" lIns="0" tIns="0" rIns="0" bIns="0" rtlCol="0" anchor="t"/>
          <a:lstStyle/>
          <a:p>
            <a:pPr algn="l" indent="0" marL="0">
              <a:lnSpc>
                <a:spcPts val="844"/>
              </a:lnSpc>
              <a:buNone/>
            </a:pPr>
            <a:r>
              <a:rPr lang="en-US" sz="600" spc="6" kern="0" dirty="0">
                <a:solidFill>
                  <a:srgbClr val="0F1F3D"/>
                </a:solidFill>
                <a:latin typeface="Courier New" pitchFamily="34" charset="0"/>
                <a:ea typeface="Courier New" pitchFamily="34" charset="-122"/>
                <a:cs typeface="Courier New" pitchFamily="34" charset="-120"/>
              </a:rPr>
              <a:t>mouthPress (L/R)</a:t>
            </a:r>
            <a:endParaRPr lang="en-US" sz="600" dirty="0"/>
          </a:p>
        </p:txBody>
      </p:sp>
      <p:sp>
        <p:nvSpPr>
          <p:cNvPr id="75" name="Text 73"/>
          <p:cNvSpPr/>
          <p:nvPr/>
        </p:nvSpPr>
        <p:spPr>
          <a:xfrm>
            <a:off x="7610438" y="2636937"/>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76" name="Text 74"/>
          <p:cNvSpPr/>
          <p:nvPr/>
        </p:nvSpPr>
        <p:spPr>
          <a:xfrm>
            <a:off x="6777990" y="2777097"/>
            <a:ext cx="718795" cy="184023"/>
          </a:xfrm>
          <a:prstGeom prst="roundRect">
            <a:avLst>
              <a:gd name="adj" fmla="val 5170807"/>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77" name="Text 75"/>
          <p:cNvSpPr/>
          <p:nvPr/>
        </p:nvSpPr>
        <p:spPr>
          <a:xfrm>
            <a:off x="6972300" y="2829818"/>
            <a:ext cx="559557" cy="120701"/>
          </a:xfrm>
          <a:prstGeom prst="rect">
            <a:avLst/>
          </a:prstGeom>
          <a:noFill/>
          <a:ln/>
        </p:spPr>
        <p:txBody>
          <a:bodyPr wrap="none" lIns="0" tIns="0" rIns="0" bIns="0" rtlCol="0" anchor="t"/>
          <a:lstStyle/>
          <a:p>
            <a:pPr algn="l" indent="0" marL="0">
              <a:lnSpc>
                <a:spcPts val="844"/>
              </a:lnSpc>
              <a:buNone/>
            </a:pPr>
            <a:r>
              <a:rPr lang="en-US" sz="600" spc="6" kern="0" dirty="0">
                <a:solidFill>
                  <a:srgbClr val="0F1F3D"/>
                </a:solidFill>
                <a:latin typeface="Courier New" pitchFamily="34" charset="0"/>
                <a:ea typeface="Courier New" pitchFamily="34" charset="-122"/>
                <a:cs typeface="Courier New" pitchFamily="34" charset="-120"/>
              </a:rPr>
              <a:t>jawForward</a:t>
            </a:r>
            <a:endParaRPr lang="en-US" sz="600" dirty="0"/>
          </a:p>
        </p:txBody>
      </p:sp>
      <p:sp>
        <p:nvSpPr>
          <p:cNvPr id="78" name="Text 76"/>
          <p:cNvSpPr/>
          <p:nvPr/>
        </p:nvSpPr>
        <p:spPr>
          <a:xfrm>
            <a:off x="6865144" y="2829818"/>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79" name="Text 77"/>
          <p:cNvSpPr/>
          <p:nvPr/>
        </p:nvSpPr>
        <p:spPr>
          <a:xfrm>
            <a:off x="6804422" y="2983409"/>
            <a:ext cx="1540371" cy="157163"/>
          </a:xfrm>
          <a:prstGeom prst="roundRect">
            <a:avLst>
              <a:gd name="adj" fmla="val 6054526"/>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80" name="Text 78"/>
          <p:cNvSpPr/>
          <p:nvPr/>
        </p:nvSpPr>
        <p:spPr>
          <a:xfrm>
            <a:off x="6972300" y="3022699"/>
            <a:ext cx="1607344" cy="120701"/>
          </a:xfrm>
          <a:prstGeom prst="rect">
            <a:avLst/>
          </a:prstGeom>
          <a:noFill/>
          <a:ln/>
        </p:spPr>
        <p:txBody>
          <a:bodyPr wrap="none" lIns="57150" tIns="21431" rIns="57150" bIns="21431" rtlCol="0" anchor="t"/>
          <a:lstStyle/>
          <a:p>
            <a:pPr algn="l" indent="0" marL="0">
              <a:lnSpc>
                <a:spcPts val="844"/>
              </a:lnSpc>
              <a:buNone/>
            </a:pPr>
            <a:r>
              <a:rPr lang="en-US" sz="600" spc="6" kern="0" dirty="0">
                <a:solidFill>
                  <a:srgbClr val="0F1F3D"/>
                </a:solidFill>
                <a:latin typeface="Liberation Sans Narrow" pitchFamily="34" charset="0"/>
                <a:ea typeface="Liberation Sans Narrow" pitchFamily="34" charset="-122"/>
                <a:cs typeface="Liberation Sans Narrow" pitchFamily="34" charset="-120"/>
              </a:rPr>
              <a:t>frustration_indicator (idx 71)</a:t>
            </a:r>
            <a:endParaRPr lang="en-US" sz="600" dirty="0"/>
          </a:p>
        </p:txBody>
      </p:sp>
      <p:sp>
        <p:nvSpPr>
          <p:cNvPr id="81" name="Text 79"/>
          <p:cNvSpPr/>
          <p:nvPr/>
        </p:nvSpPr>
        <p:spPr>
          <a:xfrm>
            <a:off x="6865144" y="3022699"/>
            <a:ext cx="91440" cy="91440"/>
          </a:xfrm>
          <a:prstGeom prst="rect">
            <a:avLst/>
          </a:prstGeom>
          <a:noFill/>
          <a:ln/>
        </p:spPr>
        <p:txBody>
          <a:bodyPr wrap="none" lIns="0" tIns="0" rIns="0" bIns="0" rtlCol="0" anchor="ctr"/>
          <a:lstStyle/>
          <a:p>
            <a:pPr algn="ctr" indent="0" marL="0">
              <a:buNone/>
            </a:pPr>
            <a:r>
              <a:rPr lang="en-US" sz="800" dirty="0">
                <a:solidFill>
                  <a:srgbClr val="14B8A6"/>
                </a:solidFill>
                <a:latin typeface="Segoe UI Symbol" pitchFamily="34" charset="0"/>
                <a:ea typeface="Segoe UI Symbol" pitchFamily="34" charset="-122"/>
                <a:cs typeface="Segoe UI Symbol" pitchFamily="34" charset="-120"/>
              </a:rPr>
              <a:t>#</a:t>
            </a:r>
            <a:endParaRPr lang="en-US" sz="800" dirty="0"/>
          </a:p>
        </p:txBody>
      </p:sp>
      <p:sp>
        <p:nvSpPr>
          <p:cNvPr id="82" name="Shape 80"/>
          <p:cNvSpPr/>
          <p:nvPr/>
        </p:nvSpPr>
        <p:spPr>
          <a:xfrm>
            <a:off x="6800850" y="3233440"/>
            <a:ext cx="1778794" cy="0"/>
          </a:xfrm>
          <a:prstGeom prst="line">
            <a:avLst/>
          </a:prstGeom>
          <a:noFill/>
          <a:ln w="7144">
            <a:solidFill>
              <a:srgbClr val="E8EDF4"/>
            </a:solidFill>
            <a:prstDash val="solid"/>
          </a:ln>
        </p:spPr>
      </p:sp>
      <p:sp>
        <p:nvSpPr>
          <p:cNvPr id="83" name="Text 81"/>
          <p:cNvSpPr/>
          <p:nvPr/>
        </p:nvSpPr>
        <p:spPr>
          <a:xfrm>
            <a:off x="6800850" y="3229868"/>
            <a:ext cx="1778794" cy="579969"/>
          </a:xfrm>
          <a:prstGeom prst="rect">
            <a:avLst/>
          </a:prstGeom>
          <a:noFill/>
          <a:ln/>
        </p:spPr>
        <p:txBody>
          <a:bodyPr wrap="square" lIns="0" tIns="42863" rIns="0" bIns="0" rtlCol="0" anchor="t"/>
          <a:lstStyle/>
          <a:p>
            <a:pPr algn="l" indent="0" marL="0">
              <a:lnSpc>
                <a:spcPts val="959"/>
              </a:lnSpc>
              <a:buNone/>
            </a:pPr>
            <a:r>
              <a:rPr lang="en-US" sz="800" b="1" dirty="0">
                <a:solidFill>
                  <a:srgbClr val="0F1F3D"/>
                </a:solidFill>
                <a:latin typeface="Carlito" pitchFamily="34" charset="0"/>
                <a:ea typeface="Carlito" pitchFamily="34" charset="-122"/>
                <a:cs typeface="Carlito" pitchFamily="34" charset="-120"/>
              </a:rPr>
              <a:t>Expected signature:</a:t>
            </a:r>
            <a:pPr algn="l" indent="0" marL="0">
              <a:lnSpc>
                <a:spcPts val="959"/>
              </a:lnSpc>
              <a:buNone/>
            </a:pPr>
            <a:r>
              <a:rPr lang="en-US" sz="800" dirty="0">
                <a:solidFill>
                  <a:srgbClr val="5B6B82"/>
                </a:solidFill>
                <a:latin typeface="Carlito" pitchFamily="34" charset="0"/>
                <a:ea typeface="Carlito" pitchFamily="34" charset="-122"/>
                <a:cs typeface="Carlito" pitchFamily="34" charset="-120"/>
              </a:rPr>
              <a:t> Pressed lips, clenched jaw, nose sneer (AU 9), bursting uneven expression patterns.</a:t>
            </a:r>
            <a:endParaRPr lang="en-US" sz="800" dirty="0"/>
          </a:p>
        </p:txBody>
      </p:sp>
      <p:sp>
        <p:nvSpPr>
          <p:cNvPr id="84" name="Text 82"/>
          <p:cNvSpPr/>
          <p:nvPr/>
        </p:nvSpPr>
        <p:spPr>
          <a:xfrm>
            <a:off x="457200" y="5053310"/>
            <a:ext cx="8229600" cy="251817"/>
          </a:xfrm>
          <a:prstGeom prst="roundRect">
            <a:avLst>
              <a:gd name="adj" fmla="val 30260"/>
            </a:avLst>
          </a:prstGeom>
          <a:solidFill>
            <a:srgbClr val="F6F8FB"/>
          </a:solidFill>
          <a:ln/>
        </p:spPr>
        <p:txBody>
          <a:bodyPr wrap="square" rtlCol="0" anchor="ctr"/>
          <a:lstStyle/>
          <a:p>
            <a:pPr indent="0" marL="0">
              <a:buNone/>
            </a:pPr>
            <a:endParaRPr lang="en-US" dirty="0"/>
          </a:p>
        </p:txBody>
      </p:sp>
      <p:sp>
        <p:nvSpPr>
          <p:cNvPr id="85" name="Shape 83"/>
          <p:cNvSpPr/>
          <p:nvPr/>
        </p:nvSpPr>
        <p:spPr>
          <a:xfrm>
            <a:off x="457200" y="5056882"/>
            <a:ext cx="8229600" cy="0"/>
          </a:xfrm>
          <a:prstGeom prst="line">
            <a:avLst/>
          </a:prstGeom>
          <a:noFill/>
          <a:ln w="7144">
            <a:solidFill>
              <a:srgbClr val="D9E1EC"/>
            </a:solidFill>
            <a:prstDash val="solid"/>
          </a:ln>
        </p:spPr>
      </p:sp>
      <p:sp>
        <p:nvSpPr>
          <p:cNvPr id="86" name="Shape 84"/>
          <p:cNvSpPr/>
          <p:nvPr/>
        </p:nvSpPr>
        <p:spPr>
          <a:xfrm>
            <a:off x="8683228" y="5053310"/>
            <a:ext cx="0" cy="251817"/>
          </a:xfrm>
          <a:prstGeom prst="line">
            <a:avLst/>
          </a:prstGeom>
          <a:noFill/>
          <a:ln w="7144">
            <a:solidFill>
              <a:srgbClr val="D9E1EC"/>
            </a:solidFill>
            <a:prstDash val="solid"/>
          </a:ln>
        </p:spPr>
      </p:sp>
      <p:sp>
        <p:nvSpPr>
          <p:cNvPr id="87" name="Shape 85"/>
          <p:cNvSpPr/>
          <p:nvPr/>
        </p:nvSpPr>
        <p:spPr>
          <a:xfrm>
            <a:off x="457200" y="5301555"/>
            <a:ext cx="8229600" cy="0"/>
          </a:xfrm>
          <a:prstGeom prst="line">
            <a:avLst/>
          </a:prstGeom>
          <a:noFill/>
          <a:ln w="7144">
            <a:solidFill>
              <a:srgbClr val="D9E1EC"/>
            </a:solidFill>
            <a:prstDash val="solid"/>
          </a:ln>
        </p:spPr>
      </p:sp>
      <p:sp>
        <p:nvSpPr>
          <p:cNvPr id="88" name="Shape 86"/>
          <p:cNvSpPr/>
          <p:nvPr/>
        </p:nvSpPr>
        <p:spPr>
          <a:xfrm>
            <a:off x="467916" y="5053310"/>
            <a:ext cx="0" cy="251817"/>
          </a:xfrm>
          <a:prstGeom prst="line">
            <a:avLst/>
          </a:prstGeom>
          <a:noFill/>
          <a:ln w="21431">
            <a:solidFill>
              <a:srgbClr val="14B8A6"/>
            </a:solidFill>
            <a:prstDash val="solid"/>
          </a:ln>
        </p:spPr>
      </p:sp>
      <p:sp>
        <p:nvSpPr>
          <p:cNvPr id="89" name="Text 87"/>
          <p:cNvSpPr/>
          <p:nvPr/>
        </p:nvSpPr>
        <p:spPr>
          <a:xfrm>
            <a:off x="721519" y="5135463"/>
            <a:ext cx="1430055" cy="91440"/>
          </a:xfrm>
          <a:prstGeom prst="rect">
            <a:avLst/>
          </a:prstGeom>
          <a:noFill/>
          <a:ln/>
        </p:spPr>
        <p:txBody>
          <a:bodyPr wrap="none" lIns="0" tIns="0" rIns="0" bIns="0" rtlCol="0" anchor="t"/>
          <a:lstStyle/>
          <a:p>
            <a:pPr algn="l" indent="0" marL="0">
              <a:lnSpc>
                <a:spcPts val="802"/>
              </a:lnSpc>
              <a:buNone/>
            </a:pPr>
            <a:r>
              <a:rPr lang="en-US" sz="800" b="1" spc="96" kern="0" dirty="0">
                <a:solidFill>
                  <a:srgbClr val="0F766E"/>
                </a:solidFill>
                <a:latin typeface="Carlito" pitchFamily="34" charset="0"/>
                <a:ea typeface="Carlito" pitchFamily="34" charset="-122"/>
                <a:cs typeface="Carlito" pitchFamily="34" charset="-120"/>
              </a:rPr>
              <a:t>CROSS-STATE BRIDGE</a:t>
            </a:r>
            <a:endParaRPr lang="en-US" sz="800" dirty="0"/>
          </a:p>
        </p:txBody>
      </p:sp>
      <p:sp>
        <p:nvSpPr>
          <p:cNvPr id="90" name="Text 88"/>
          <p:cNvSpPr/>
          <p:nvPr/>
        </p:nvSpPr>
        <p:spPr>
          <a:xfrm>
            <a:off x="592931" y="5132784"/>
            <a:ext cx="92869" cy="91440"/>
          </a:xfrm>
          <a:prstGeom prst="rect">
            <a:avLst/>
          </a:prstGeom>
          <a:noFill/>
          <a:ln/>
        </p:spPr>
        <p:txBody>
          <a:bodyPr wrap="none" lIns="0" tIns="0" rIns="0" bIns="0" rtlCol="0" anchor="ctr"/>
          <a:lstStyle/>
          <a:p>
            <a:pPr algn="ctr" indent="0" marL="0">
              <a:buNone/>
            </a:pPr>
            <a:r>
              <a:rPr lang="en-US" sz="914" dirty="0">
                <a:solidFill>
                  <a:srgbClr val="0F766E"/>
                </a:solidFill>
                <a:latin typeface="Segoe UI Symbol" pitchFamily="34" charset="0"/>
                <a:ea typeface="Segoe UI Symbol" pitchFamily="34" charset="-122"/>
                <a:cs typeface="Segoe UI Symbol" pitchFamily="34" charset="-120"/>
              </a:rPr>
              <a:t>⇄</a:t>
            </a:r>
            <a:endParaRPr lang="en-US" sz="914" dirty="0"/>
          </a:p>
        </p:txBody>
      </p:sp>
      <p:sp>
        <p:nvSpPr>
          <p:cNvPr id="91" name="Text 89"/>
          <p:cNvSpPr/>
          <p:nvPr/>
        </p:nvSpPr>
        <p:spPr>
          <a:xfrm>
            <a:off x="1850901" y="5117604"/>
            <a:ext cx="6714455" cy="91440"/>
          </a:xfrm>
          <a:prstGeom prst="rect">
            <a:avLst/>
          </a:prstGeom>
          <a:noFill/>
          <a:ln/>
        </p:spPr>
        <p:txBody>
          <a:bodyPr wrap="square" lIns="0" tIns="0" rIns="0" bIns="0" rtlCol="0" anchor="t"/>
          <a:lstStyle/>
          <a:p>
            <a:pPr algn="l" indent="0" marL="0">
              <a:lnSpc>
                <a:spcPts val="970"/>
              </a:lnSpc>
              <a:buNone/>
            </a:pPr>
            <a:r>
              <a:rPr lang="en-US" sz="647" b="1" dirty="0">
                <a:solidFill>
                  <a:srgbClr val="0F766E"/>
                </a:solidFill>
                <a:latin typeface="Courier New" pitchFamily="34" charset="0"/>
                <a:ea typeface="Courier New" pitchFamily="34" charset="-122"/>
                <a:cs typeface="Courier New" pitchFamily="34" charset="-120"/>
              </a:rPr>
              <a:t>boredom_indicator_vel_std</a:t>
            </a:r>
            <a:pPr algn="l" indent="0" marL="0">
              <a:lnSpc>
                <a:spcPts val="970"/>
              </a:lnSpc>
              <a:buNone/>
            </a:pPr>
            <a:r>
              <a:rPr lang="en-US" sz="647" dirty="0">
                <a:solidFill>
                  <a:srgbClr val="0F1F3D"/>
                </a:solidFill>
                <a:latin typeface="Carlito" pitchFamily="34" charset="0"/>
                <a:ea typeface="Carlito" pitchFamily="34" charset="-122"/>
                <a:cs typeface="Carlito" pitchFamily="34" charset="-120"/>
              </a:rPr>
              <a:t> appears in the top-5 SHAP for both Confusion and Frustration — confirming D'Mello &amp; Graesser's affective-transition theory.</a:t>
            </a:r>
            <a:endParaRPr lang="en-US" sz="647" dirty="0"/>
          </a:p>
        </p:txBody>
      </p:sp>
      <p:sp>
        <p:nvSpPr>
          <p:cNvPr id="92" name="Text 90"/>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M-DAS ITC 2026</a:t>
            </a:r>
            <a:endParaRPr lang="en-US" sz="800" dirty="0"/>
          </a:p>
        </p:txBody>
      </p:sp>
      <p:sp>
        <p:nvSpPr>
          <p:cNvPr id="93" name="Text 91"/>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17 / 34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92931"/>
            <a:ext cx="8229600" cy="0"/>
          </a:xfrm>
          <a:prstGeom prst="line">
            <a:avLst/>
          </a:prstGeom>
          <a:noFill/>
          <a:ln w="7144">
            <a:solidFill>
              <a:srgbClr val="E8EDF4"/>
            </a:solidFill>
            <a:prstDash val="solid"/>
          </a:ln>
        </p:spPr>
      </p:sp>
      <p:sp>
        <p:nvSpPr>
          <p:cNvPr id="3" name="Text 1"/>
          <p:cNvSpPr/>
          <p:nvPr/>
        </p:nvSpPr>
        <p:spPr>
          <a:xfrm>
            <a:off x="457200" y="400050"/>
            <a:ext cx="7818053" cy="117872"/>
          </a:xfrm>
          <a:prstGeom prst="rect">
            <a:avLst/>
          </a:prstGeom>
          <a:noFill/>
          <a:ln/>
        </p:spPr>
        <p:txBody>
          <a:bodyPr wrap="none" lIns="0" tIns="0" rIns="0" bIns="0" rtlCol="0" anchor="t"/>
          <a:lstStyle/>
          <a:p>
            <a:pPr algn="l" indent="0" marL="0">
              <a:lnSpc>
                <a:spcPts val="928"/>
              </a:lnSpc>
              <a:buNone/>
            </a:pPr>
            <a:r>
              <a:rPr lang="en-US" sz="800" spc="74" kern="0" dirty="0">
                <a:solidFill>
                  <a:srgbClr val="0F1F3D"/>
                </a:solidFill>
                <a:latin typeface="Liberation Sans Narrow" pitchFamily="34" charset="0"/>
                <a:ea typeface="Liberation Sans Narrow" pitchFamily="34" charset="-122"/>
                <a:cs typeface="Liberation Sans Narrow" pitchFamily="34" charset="-120"/>
              </a:rPr>
              <a:t>02 METHODOLOGY</a:t>
            </a:r>
            <a:pPr algn="l" indent="0" marL="0">
              <a:lnSpc>
                <a:spcPts val="928"/>
              </a:lnSpc>
              <a:buNone/>
            </a:pPr>
            <a:r>
              <a:rPr lang="en-US" sz="800" spc="74" kern="0" dirty="0">
                <a:solidFill>
                  <a:srgbClr val="14B8A6"/>
                </a:solidFill>
                <a:latin typeface="Carlito" pitchFamily="34" charset="0"/>
                <a:ea typeface="Carlito" pitchFamily="34" charset="-122"/>
                <a:cs typeface="Carlito" pitchFamily="34" charset="-120"/>
              </a:rPr>
              <a:t>·</a:t>
            </a:r>
            <a:pPr algn="l" indent="0" marL="0">
              <a:lnSpc>
                <a:spcPts val="928"/>
              </a:lnSpc>
              <a:buNone/>
            </a:pPr>
            <a:r>
              <a:rPr lang="en-US" sz="800" spc="74" kern="0" dirty="0">
                <a:solidFill>
                  <a:srgbClr val="0F1F3D"/>
                </a:solidFill>
                <a:latin typeface="Carlito" pitchFamily="34" charset="0"/>
                <a:ea typeface="Carlito" pitchFamily="34" charset="-122"/>
                <a:cs typeface="Carlito" pitchFamily="34" charset="-120"/>
              </a:rPr>
              <a:t>MODEL</a:t>
            </a:r>
            <a:endParaRPr lang="en-US" sz="800" dirty="0"/>
          </a:p>
        </p:txBody>
      </p:sp>
      <p:sp>
        <p:nvSpPr>
          <p:cNvPr id="4" name="Text 2"/>
          <p:cNvSpPr/>
          <p:nvPr/>
        </p:nvSpPr>
        <p:spPr>
          <a:xfrm>
            <a:off x="8261186" y="400050"/>
            <a:ext cx="453969" cy="117872"/>
          </a:xfrm>
          <a:prstGeom prst="rect">
            <a:avLst/>
          </a:prstGeom>
          <a:noFill/>
          <a:ln/>
        </p:spPr>
        <p:txBody>
          <a:bodyPr wrap="none" lIns="0" tIns="0" rIns="0" bIns="0" rtlCol="0" anchor="t"/>
          <a:lstStyle/>
          <a:p>
            <a:pPr algn="l" indent="0" marL="0">
              <a:lnSpc>
                <a:spcPts val="928"/>
              </a:lnSpc>
              <a:buNone/>
            </a:pPr>
            <a:r>
              <a:rPr lang="en-US" sz="800" spc="74" kern="0" dirty="0">
                <a:solidFill>
                  <a:srgbClr val="8A97AB"/>
                </a:solidFill>
                <a:latin typeface="Liberation Sans Narrow" pitchFamily="34" charset="0"/>
                <a:ea typeface="Liberation Sans Narrow" pitchFamily="34" charset="-122"/>
                <a:cs typeface="Liberation Sans Narrow" pitchFamily="34" charset="-120"/>
              </a:rPr>
              <a:t>18 / 34</a:t>
            </a:r>
            <a:endParaRPr lang="en-US" sz="800" dirty="0"/>
          </a:p>
        </p:txBody>
      </p:sp>
      <p:sp>
        <p:nvSpPr>
          <p:cNvPr id="5" name="Text 3"/>
          <p:cNvSpPr/>
          <p:nvPr/>
        </p:nvSpPr>
        <p:spPr>
          <a:xfrm>
            <a:off x="457200" y="725091"/>
            <a:ext cx="8636000" cy="119015"/>
          </a:xfrm>
          <a:prstGeom prst="rect">
            <a:avLst/>
          </a:prstGeom>
          <a:noFill/>
          <a:ln/>
        </p:spPr>
        <p:txBody>
          <a:bodyPr wrap="square" lIns="0" tIns="0" rIns="0" bIns="0" rtlCol="0" anchor="t">
            <a:normAutofit/>
          </a:bodyPr>
          <a:lstStyle/>
          <a:p>
            <a:pPr algn="l" indent="0" marL="0">
              <a:lnSpc>
                <a:spcPts val="928"/>
              </a:lnSpc>
              <a:buNone/>
            </a:pPr>
            <a:r>
              <a:rPr lang="en-US" sz="800" b="1" spc="136" kern="0" dirty="0">
                <a:solidFill>
                  <a:srgbClr val="14B8A6"/>
                </a:solidFill>
                <a:latin typeface="Carlito" pitchFamily="34" charset="0"/>
                <a:ea typeface="Carlito" pitchFamily="34" charset="-122"/>
                <a:cs typeface="Carlito" pitchFamily="34" charset="-120"/>
              </a:rPr>
              <a:t>METHODOLOGY · XGBOOST ARCHITECTURE</a:t>
            </a:r>
            <a:endParaRPr lang="en-US" sz="800" dirty="0"/>
          </a:p>
        </p:txBody>
      </p:sp>
      <p:sp>
        <p:nvSpPr>
          <p:cNvPr id="6" name="Text 4"/>
          <p:cNvSpPr/>
          <p:nvPr/>
        </p:nvSpPr>
        <p:spPr>
          <a:xfrm>
            <a:off x="457200" y="871538"/>
            <a:ext cx="8636000" cy="577108"/>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Four Independent Classifiers + Three-Layer Imbalance Handling</a:t>
            </a:r>
            <a:endParaRPr lang="en-US" sz="2025" dirty="0"/>
          </a:p>
        </p:txBody>
      </p:sp>
      <p:sp>
        <p:nvSpPr>
          <p:cNvPr id="7" name="Text 5"/>
          <p:cNvSpPr/>
          <p:nvPr/>
        </p:nvSpPr>
        <p:spPr>
          <a:xfrm>
            <a:off x="457200" y="1476077"/>
            <a:ext cx="6572250" cy="335113"/>
          </a:xfrm>
          <a:prstGeom prst="rect">
            <a:avLst/>
          </a:prstGeom>
          <a:noFill/>
          <a:ln/>
        </p:spPr>
        <p:txBody>
          <a:bodyPr wrap="square" lIns="0" tIns="0" rIns="0" bIns="0" rtlCol="0" anchor="t">
            <a:normAutofit/>
          </a:bodyPr>
          <a:lstStyle/>
          <a:p>
            <a:pPr algn="l" indent="0" marL="0">
              <a:lnSpc>
                <a:spcPts val="1090"/>
              </a:lnSpc>
              <a:buNone/>
            </a:pPr>
            <a:r>
              <a:rPr lang="en-US" sz="800" dirty="0">
                <a:solidFill>
                  <a:srgbClr val="5B6B82"/>
                </a:solidFill>
                <a:latin typeface="Carlito" pitchFamily="34" charset="0"/>
                <a:ea typeface="Carlito" pitchFamily="34" charset="-122"/>
                <a:cs typeface="Carlito" pitchFamily="34" charset="-120"/>
              </a:rPr>
              <a:t>Four XGBoost models (one per affective state) trained on the top-500 engineered features. Imbalance handled at data, algorithmic, and loss levels.</a:t>
            </a:r>
            <a:endParaRPr lang="en-US" sz="800" dirty="0"/>
          </a:p>
        </p:txBody>
      </p:sp>
      <p:sp>
        <p:nvSpPr>
          <p:cNvPr id="8" name="Text 6"/>
          <p:cNvSpPr/>
          <p:nvPr/>
        </p:nvSpPr>
        <p:spPr>
          <a:xfrm>
            <a:off x="1175147" y="1842195"/>
            <a:ext cx="850106" cy="671959"/>
          </a:xfrm>
          <a:prstGeom prst="roundRect">
            <a:avLst>
              <a:gd name="adj" fmla="val 1134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9" name="Text 7"/>
          <p:cNvSpPr/>
          <p:nvPr/>
        </p:nvSpPr>
        <p:spPr>
          <a:xfrm>
            <a:off x="1508089" y="1902916"/>
            <a:ext cx="184221" cy="91440"/>
          </a:xfrm>
          <a:prstGeom prst="rect">
            <a:avLst/>
          </a:prstGeom>
          <a:noFill/>
          <a:ln/>
        </p:spPr>
        <p:txBody>
          <a:bodyPr wrap="square" lIns="0" tIns="0" rIns="0" bIns="0" rtlCol="0" anchor="t">
            <a:normAutofit/>
          </a:bodyPr>
          <a:lstStyle/>
          <a:p>
            <a:pPr algn="ctr" indent="0" marL="0">
              <a:lnSpc>
                <a:spcPts val="759"/>
              </a:lnSpc>
              <a:buNone/>
            </a:pPr>
            <a:r>
              <a:rPr lang="en-US" sz="800" b="1" spc="81" kern="0" dirty="0">
                <a:solidFill>
                  <a:srgbClr val="14B8A6"/>
                </a:solidFill>
                <a:latin typeface="Liberation Sans Narrow" pitchFamily="34" charset="0"/>
                <a:ea typeface="Liberation Sans Narrow" pitchFamily="34" charset="-122"/>
                <a:cs typeface="Liberation Sans Narrow" pitchFamily="34" charset="-120"/>
              </a:rPr>
              <a:t>01</a:t>
            </a:r>
            <a:endParaRPr lang="en-US" sz="800" dirty="0"/>
          </a:p>
        </p:txBody>
      </p:sp>
      <p:sp>
        <p:nvSpPr>
          <p:cNvPr id="10" name="Text 8"/>
          <p:cNvSpPr/>
          <p:nvPr/>
        </p:nvSpPr>
        <p:spPr>
          <a:xfrm>
            <a:off x="1535906" y="2013645"/>
            <a:ext cx="128588" cy="128588"/>
          </a:xfrm>
          <a:prstGeom prst="rect">
            <a:avLst/>
          </a:prstGeom>
          <a:noFill/>
          <a:ln/>
        </p:spPr>
        <p:txBody>
          <a:bodyPr wrap="none" lIns="0" tIns="0" rIns="0" bIns="0" rtlCol="0" anchor="ctr"/>
          <a:lstStyle/>
          <a:p>
            <a:pPr algn="ctr" indent="0" marL="0">
              <a:buNone/>
            </a:pPr>
            <a:r>
              <a:rPr lang="en-US" sz="1266" dirty="0">
                <a:solidFill>
                  <a:srgbClr val="0F1F3D"/>
                </a:solidFill>
                <a:latin typeface="Segoe UI Symbol" pitchFamily="34" charset="0"/>
                <a:ea typeface="Segoe UI Symbol" pitchFamily="34" charset="-122"/>
                <a:cs typeface="Segoe UI Symbol" pitchFamily="34" charset="-120"/>
              </a:rPr>
              <a:t>✦</a:t>
            </a:r>
            <a:endParaRPr lang="en-US" sz="1266" dirty="0"/>
          </a:p>
        </p:txBody>
      </p:sp>
      <p:sp>
        <p:nvSpPr>
          <p:cNvPr id="11" name="Text 9"/>
          <p:cNvSpPr/>
          <p:nvPr/>
        </p:nvSpPr>
        <p:spPr>
          <a:xfrm>
            <a:off x="1250156" y="2170807"/>
            <a:ext cx="700088" cy="91440"/>
          </a:xfrm>
          <a:prstGeom prst="rect">
            <a:avLst/>
          </a:prstGeom>
          <a:noFill/>
          <a:ln/>
        </p:spPr>
        <p:txBody>
          <a:bodyPr wrap="none" lIns="0" tIns="0" rIns="0" bIns="0" rtlCol="0" anchor="t">
            <a:normAutofit/>
          </a:bodyPr>
          <a:lstStyle/>
          <a:p>
            <a:pPr algn="ctr" indent="0" marL="0">
              <a:lnSpc>
                <a:spcPts val="742"/>
              </a:lnSpc>
              <a:buNone/>
            </a:pPr>
            <a:r>
              <a:rPr lang="en-US" sz="619" b="1" dirty="0">
                <a:solidFill>
                  <a:srgbClr val="0F1F3D"/>
                </a:solidFill>
                <a:latin typeface="Carlito" pitchFamily="34" charset="0"/>
                <a:ea typeface="Carlito" pitchFamily="34" charset="-122"/>
                <a:cs typeface="Carlito" pitchFamily="34" charset="-120"/>
              </a:rPr>
              <a:t>Raw Features</a:t>
            </a:r>
            <a:endParaRPr lang="en-US" sz="619" dirty="0"/>
          </a:p>
        </p:txBody>
      </p:sp>
      <p:sp>
        <p:nvSpPr>
          <p:cNvPr id="12" name="Text 10"/>
          <p:cNvSpPr/>
          <p:nvPr/>
        </p:nvSpPr>
        <p:spPr>
          <a:xfrm>
            <a:off x="1503187" y="2279303"/>
            <a:ext cx="193914" cy="164592"/>
          </a:xfrm>
          <a:prstGeom prst="rect">
            <a:avLst/>
          </a:prstGeom>
          <a:noFill/>
          <a:ln/>
        </p:spPr>
        <p:txBody>
          <a:bodyPr wrap="square" lIns="0" tIns="0" rIns="0" bIns="0" rtlCol="0" anchor="t"/>
          <a:lstStyle/>
          <a:p>
            <a:pPr algn="ctr" indent="0" marL="0">
              <a:lnSpc>
                <a:spcPts val="802"/>
              </a:lnSpc>
              <a:buNone/>
            </a:pPr>
            <a:r>
              <a:rPr lang="en-US" sz="600" dirty="0">
                <a:solidFill>
                  <a:srgbClr val="0F766E"/>
                </a:solidFill>
                <a:latin typeface="Liberation Sans Narrow" pitchFamily="34" charset="0"/>
                <a:ea typeface="Liberation Sans Narrow" pitchFamily="34" charset="-122"/>
                <a:cs typeface="Liberation Sans Narrow" pitchFamily="34" charset="-120"/>
              </a:rPr>
              <a:t>78D</a:t>
            </a:r>
            <a:endParaRPr lang="en-US" sz="600" dirty="0"/>
          </a:p>
        </p:txBody>
      </p:sp>
      <p:sp>
        <p:nvSpPr>
          <p:cNvPr id="13" name="Text 11"/>
          <p:cNvSpPr/>
          <p:nvPr/>
        </p:nvSpPr>
        <p:spPr>
          <a:xfrm>
            <a:off x="2028825" y="1838623"/>
            <a:ext cx="148903" cy="679103"/>
          </a:xfrm>
          <a:prstGeom prst="rect">
            <a:avLst/>
          </a:prstGeom>
          <a:noFill/>
          <a:ln/>
        </p:spPr>
        <p:txBody>
          <a:bodyPr wrap="none" lIns="0" tIns="0" rIns="0" bIns="0" rtlCol="0" anchor="ctr"/>
          <a:lstStyle/>
          <a:p>
            <a:pPr algn="ctr" indent="0" marL="0">
              <a:buNone/>
            </a:pPr>
            <a:r>
              <a:rPr lang="en-US" sz="1013" dirty="0">
                <a:solidFill>
                  <a:srgbClr val="14B8A6"/>
                </a:solidFill>
                <a:latin typeface="Segoe UI Symbol" pitchFamily="34" charset="0"/>
                <a:ea typeface="Segoe UI Symbol" pitchFamily="34" charset="-122"/>
                <a:cs typeface="Segoe UI Symbol" pitchFamily="34" charset="-120"/>
              </a:rPr>
              <a:t>→</a:t>
            </a:r>
            <a:endParaRPr lang="en-US" sz="1013" dirty="0"/>
          </a:p>
        </p:txBody>
      </p:sp>
      <p:sp>
        <p:nvSpPr>
          <p:cNvPr id="14" name="Text 12"/>
          <p:cNvSpPr/>
          <p:nvPr/>
        </p:nvSpPr>
        <p:spPr>
          <a:xfrm>
            <a:off x="2181299" y="1842195"/>
            <a:ext cx="1053033" cy="671959"/>
          </a:xfrm>
          <a:prstGeom prst="roundRect">
            <a:avLst>
              <a:gd name="adj" fmla="val 1134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15" name="Text 13"/>
          <p:cNvSpPr/>
          <p:nvPr/>
        </p:nvSpPr>
        <p:spPr>
          <a:xfrm>
            <a:off x="2615706" y="1902916"/>
            <a:ext cx="184221" cy="91440"/>
          </a:xfrm>
          <a:prstGeom prst="rect">
            <a:avLst/>
          </a:prstGeom>
          <a:noFill/>
          <a:ln/>
        </p:spPr>
        <p:txBody>
          <a:bodyPr wrap="square" lIns="0" tIns="0" rIns="0" bIns="0" rtlCol="0" anchor="t">
            <a:normAutofit/>
          </a:bodyPr>
          <a:lstStyle/>
          <a:p>
            <a:pPr algn="ctr" indent="0" marL="0">
              <a:lnSpc>
                <a:spcPts val="759"/>
              </a:lnSpc>
              <a:buNone/>
            </a:pPr>
            <a:r>
              <a:rPr lang="en-US" sz="800" b="1" spc="81" kern="0" dirty="0">
                <a:solidFill>
                  <a:srgbClr val="14B8A6"/>
                </a:solidFill>
                <a:latin typeface="Liberation Sans Narrow" pitchFamily="34" charset="0"/>
                <a:ea typeface="Liberation Sans Narrow" pitchFamily="34" charset="-122"/>
                <a:cs typeface="Liberation Sans Narrow" pitchFamily="34" charset="-120"/>
              </a:rPr>
              <a:t>02</a:t>
            </a:r>
            <a:endParaRPr lang="en-US" sz="800" dirty="0"/>
          </a:p>
        </p:txBody>
      </p:sp>
      <p:sp>
        <p:nvSpPr>
          <p:cNvPr id="16" name="Text 14"/>
          <p:cNvSpPr/>
          <p:nvPr/>
        </p:nvSpPr>
        <p:spPr>
          <a:xfrm>
            <a:off x="2643522" y="2013645"/>
            <a:ext cx="128588" cy="128588"/>
          </a:xfrm>
          <a:prstGeom prst="rect">
            <a:avLst/>
          </a:prstGeom>
          <a:noFill/>
          <a:ln/>
        </p:spPr>
        <p:txBody>
          <a:bodyPr wrap="none" lIns="0" tIns="0" rIns="0" bIns="0" rtlCol="0" anchor="ctr"/>
          <a:lstStyle/>
          <a:p>
            <a:pPr algn="ctr" indent="0" marL="0">
              <a:buNone/>
            </a:pPr>
            <a:r>
              <a:rPr lang="en-US" sz="1266" dirty="0">
                <a:solidFill>
                  <a:srgbClr val="0F1F3D"/>
                </a:solidFill>
                <a:latin typeface="Segoe UI Symbol" pitchFamily="34" charset="0"/>
                <a:ea typeface="Segoe UI Symbol" pitchFamily="34" charset="-122"/>
                <a:cs typeface="Segoe UI Symbol" pitchFamily="34" charset="-120"/>
              </a:rPr>
              <a:t>✿</a:t>
            </a:r>
            <a:endParaRPr lang="en-US" sz="1266" dirty="0"/>
          </a:p>
        </p:txBody>
      </p:sp>
      <p:sp>
        <p:nvSpPr>
          <p:cNvPr id="17" name="Text 15"/>
          <p:cNvSpPr/>
          <p:nvPr/>
        </p:nvSpPr>
        <p:spPr>
          <a:xfrm>
            <a:off x="2256309" y="2170807"/>
            <a:ext cx="903015" cy="91440"/>
          </a:xfrm>
          <a:prstGeom prst="rect">
            <a:avLst/>
          </a:prstGeom>
          <a:noFill/>
          <a:ln/>
        </p:spPr>
        <p:txBody>
          <a:bodyPr wrap="none" lIns="0" tIns="0" rIns="0" bIns="0" rtlCol="0" anchor="t">
            <a:normAutofit/>
          </a:bodyPr>
          <a:lstStyle/>
          <a:p>
            <a:pPr algn="ctr" indent="0" marL="0">
              <a:lnSpc>
                <a:spcPts val="742"/>
              </a:lnSpc>
              <a:buNone/>
            </a:pPr>
            <a:r>
              <a:rPr lang="en-US" sz="619" b="1" dirty="0">
                <a:solidFill>
                  <a:srgbClr val="0F1F3D"/>
                </a:solidFill>
                <a:latin typeface="Carlito" pitchFamily="34" charset="0"/>
                <a:ea typeface="Carlito" pitchFamily="34" charset="-122"/>
                <a:cs typeface="Carlito" pitchFamily="34" charset="-120"/>
              </a:rPr>
              <a:t>Feature Engineering</a:t>
            </a:r>
            <a:endParaRPr lang="en-US" sz="619" dirty="0"/>
          </a:p>
        </p:txBody>
      </p:sp>
      <p:sp>
        <p:nvSpPr>
          <p:cNvPr id="18" name="Text 16"/>
          <p:cNvSpPr/>
          <p:nvPr/>
        </p:nvSpPr>
        <p:spPr>
          <a:xfrm>
            <a:off x="2514593" y="2279303"/>
            <a:ext cx="386334" cy="164592"/>
          </a:xfrm>
          <a:prstGeom prst="rect">
            <a:avLst/>
          </a:prstGeom>
          <a:noFill/>
          <a:ln/>
        </p:spPr>
        <p:txBody>
          <a:bodyPr wrap="none" lIns="0" tIns="0" rIns="0" bIns="0" rtlCol="0" anchor="t"/>
          <a:lstStyle/>
          <a:p>
            <a:pPr algn="ctr" indent="0" marL="0">
              <a:lnSpc>
                <a:spcPts val="802"/>
              </a:lnSpc>
              <a:buNone/>
            </a:pPr>
            <a:r>
              <a:rPr lang="en-US" sz="600" dirty="0">
                <a:solidFill>
                  <a:srgbClr val="0F766E"/>
                </a:solidFill>
                <a:latin typeface="Liberation Sans Narrow" pitchFamily="34" charset="0"/>
                <a:ea typeface="Liberation Sans Narrow" pitchFamily="34" charset="-122"/>
                <a:cs typeface="Liberation Sans Narrow" pitchFamily="34" charset="-120"/>
              </a:rPr>
              <a:t>~2,152D</a:t>
            </a:r>
            <a:endParaRPr lang="en-US" sz="600" dirty="0"/>
          </a:p>
        </p:txBody>
      </p:sp>
      <p:sp>
        <p:nvSpPr>
          <p:cNvPr id="19" name="Text 17"/>
          <p:cNvSpPr/>
          <p:nvPr/>
        </p:nvSpPr>
        <p:spPr>
          <a:xfrm>
            <a:off x="3237905" y="1838623"/>
            <a:ext cx="148903" cy="679103"/>
          </a:xfrm>
          <a:prstGeom prst="rect">
            <a:avLst/>
          </a:prstGeom>
          <a:noFill/>
          <a:ln/>
        </p:spPr>
        <p:txBody>
          <a:bodyPr wrap="none" lIns="0" tIns="0" rIns="0" bIns="0" rtlCol="0" anchor="ctr"/>
          <a:lstStyle/>
          <a:p>
            <a:pPr algn="ctr" indent="0" marL="0">
              <a:buNone/>
            </a:pPr>
            <a:r>
              <a:rPr lang="en-US" sz="1013" dirty="0">
                <a:solidFill>
                  <a:srgbClr val="14B8A6"/>
                </a:solidFill>
                <a:latin typeface="Segoe UI Symbol" pitchFamily="34" charset="0"/>
                <a:ea typeface="Segoe UI Symbol" pitchFamily="34" charset="-122"/>
                <a:cs typeface="Segoe UI Symbol" pitchFamily="34" charset="-120"/>
              </a:rPr>
              <a:t>→</a:t>
            </a:r>
            <a:endParaRPr lang="en-US" sz="1013" dirty="0"/>
          </a:p>
        </p:txBody>
      </p:sp>
      <p:sp>
        <p:nvSpPr>
          <p:cNvPr id="20" name="Text 18"/>
          <p:cNvSpPr/>
          <p:nvPr/>
        </p:nvSpPr>
        <p:spPr>
          <a:xfrm>
            <a:off x="3390379" y="1842195"/>
            <a:ext cx="930920" cy="671959"/>
          </a:xfrm>
          <a:prstGeom prst="roundRect">
            <a:avLst>
              <a:gd name="adj" fmla="val 1134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21" name="Text 19"/>
          <p:cNvSpPr/>
          <p:nvPr/>
        </p:nvSpPr>
        <p:spPr>
          <a:xfrm>
            <a:off x="3763729" y="1902916"/>
            <a:ext cx="184221" cy="91440"/>
          </a:xfrm>
          <a:prstGeom prst="rect">
            <a:avLst/>
          </a:prstGeom>
          <a:noFill/>
          <a:ln/>
        </p:spPr>
        <p:txBody>
          <a:bodyPr wrap="square" lIns="0" tIns="0" rIns="0" bIns="0" rtlCol="0" anchor="t">
            <a:normAutofit/>
          </a:bodyPr>
          <a:lstStyle/>
          <a:p>
            <a:pPr algn="ctr" indent="0" marL="0">
              <a:lnSpc>
                <a:spcPts val="759"/>
              </a:lnSpc>
              <a:buNone/>
            </a:pPr>
            <a:r>
              <a:rPr lang="en-US" sz="800" b="1" spc="81" kern="0" dirty="0">
                <a:solidFill>
                  <a:srgbClr val="14B8A6"/>
                </a:solidFill>
                <a:latin typeface="Liberation Sans Narrow" pitchFamily="34" charset="0"/>
                <a:ea typeface="Liberation Sans Narrow" pitchFamily="34" charset="-122"/>
                <a:cs typeface="Liberation Sans Narrow" pitchFamily="34" charset="-120"/>
              </a:rPr>
              <a:t>03</a:t>
            </a:r>
            <a:endParaRPr lang="en-US" sz="800" dirty="0"/>
          </a:p>
        </p:txBody>
      </p:sp>
      <p:sp>
        <p:nvSpPr>
          <p:cNvPr id="22" name="Text 20"/>
          <p:cNvSpPr/>
          <p:nvPr/>
        </p:nvSpPr>
        <p:spPr>
          <a:xfrm>
            <a:off x="3791545" y="2013645"/>
            <a:ext cx="128588" cy="128588"/>
          </a:xfrm>
          <a:prstGeom prst="rect">
            <a:avLst/>
          </a:prstGeom>
          <a:noFill/>
          <a:ln/>
        </p:spPr>
        <p:txBody>
          <a:bodyPr wrap="none" lIns="0" tIns="0" rIns="0" bIns="0" rtlCol="0" anchor="ctr"/>
          <a:lstStyle/>
          <a:p>
            <a:pPr algn="ctr" indent="0" marL="0">
              <a:buNone/>
            </a:pPr>
            <a:r>
              <a:rPr lang="en-US" sz="1266" dirty="0">
                <a:solidFill>
                  <a:srgbClr val="0F1F3D"/>
                </a:solidFill>
                <a:latin typeface="Segoe UI Symbol" pitchFamily="34" charset="0"/>
                <a:ea typeface="Segoe UI Symbol" pitchFamily="34" charset="-122"/>
                <a:cs typeface="Segoe UI Symbol" pitchFamily="34" charset="-120"/>
              </a:rPr>
              <a:t>☰</a:t>
            </a:r>
            <a:endParaRPr lang="en-US" sz="1266" dirty="0"/>
          </a:p>
        </p:txBody>
      </p:sp>
      <p:sp>
        <p:nvSpPr>
          <p:cNvPr id="23" name="Text 21"/>
          <p:cNvSpPr/>
          <p:nvPr/>
        </p:nvSpPr>
        <p:spPr>
          <a:xfrm>
            <a:off x="3465388" y="2170807"/>
            <a:ext cx="780901" cy="91440"/>
          </a:xfrm>
          <a:prstGeom prst="rect">
            <a:avLst/>
          </a:prstGeom>
          <a:noFill/>
          <a:ln/>
        </p:spPr>
        <p:txBody>
          <a:bodyPr wrap="none" lIns="0" tIns="0" rIns="0" bIns="0" rtlCol="0" anchor="t">
            <a:normAutofit/>
          </a:bodyPr>
          <a:lstStyle/>
          <a:p>
            <a:pPr algn="ctr" indent="0" marL="0">
              <a:lnSpc>
                <a:spcPts val="742"/>
              </a:lnSpc>
              <a:buNone/>
            </a:pPr>
            <a:r>
              <a:rPr lang="en-US" sz="619" b="1" dirty="0">
                <a:solidFill>
                  <a:srgbClr val="0F1F3D"/>
                </a:solidFill>
                <a:latin typeface="Carlito" pitchFamily="34" charset="0"/>
                <a:ea typeface="Carlito" pitchFamily="34" charset="-122"/>
                <a:cs typeface="Carlito" pitchFamily="34" charset="-120"/>
              </a:rPr>
              <a:t>Feature Selection</a:t>
            </a:r>
            <a:endParaRPr lang="en-US" sz="619" dirty="0"/>
          </a:p>
        </p:txBody>
      </p:sp>
      <p:sp>
        <p:nvSpPr>
          <p:cNvPr id="24" name="Text 22"/>
          <p:cNvSpPr/>
          <p:nvPr/>
        </p:nvSpPr>
        <p:spPr>
          <a:xfrm>
            <a:off x="3671608" y="2279303"/>
            <a:ext cx="368351" cy="164592"/>
          </a:xfrm>
          <a:prstGeom prst="rect">
            <a:avLst/>
          </a:prstGeom>
          <a:noFill/>
          <a:ln/>
        </p:spPr>
        <p:txBody>
          <a:bodyPr wrap="none" lIns="0" tIns="0" rIns="0" bIns="0" rtlCol="0" anchor="t"/>
          <a:lstStyle/>
          <a:p>
            <a:pPr algn="ctr" indent="0" marL="0">
              <a:lnSpc>
                <a:spcPts val="802"/>
              </a:lnSpc>
              <a:buNone/>
            </a:pPr>
            <a:r>
              <a:rPr lang="en-US" sz="600" dirty="0">
                <a:solidFill>
                  <a:srgbClr val="0F766E"/>
                </a:solidFill>
                <a:latin typeface="Liberation Sans Narrow" pitchFamily="34" charset="0"/>
                <a:ea typeface="Liberation Sans Narrow" pitchFamily="34" charset="-122"/>
                <a:cs typeface="Liberation Sans Narrow" pitchFamily="34" charset="-120"/>
              </a:rPr>
              <a:t>Top 500</a:t>
            </a:r>
            <a:endParaRPr lang="en-US" sz="600" dirty="0"/>
          </a:p>
        </p:txBody>
      </p:sp>
      <p:sp>
        <p:nvSpPr>
          <p:cNvPr id="25" name="Text 23"/>
          <p:cNvSpPr/>
          <p:nvPr/>
        </p:nvSpPr>
        <p:spPr>
          <a:xfrm>
            <a:off x="4324871" y="1838623"/>
            <a:ext cx="148903" cy="679103"/>
          </a:xfrm>
          <a:prstGeom prst="rect">
            <a:avLst/>
          </a:prstGeom>
          <a:noFill/>
          <a:ln/>
        </p:spPr>
        <p:txBody>
          <a:bodyPr wrap="none" lIns="0" tIns="0" rIns="0" bIns="0" rtlCol="0" anchor="ctr"/>
          <a:lstStyle/>
          <a:p>
            <a:pPr algn="ctr" indent="0" marL="0">
              <a:buNone/>
            </a:pPr>
            <a:r>
              <a:rPr lang="en-US" sz="1013" dirty="0">
                <a:solidFill>
                  <a:srgbClr val="14B8A6"/>
                </a:solidFill>
                <a:latin typeface="Segoe UI Symbol" pitchFamily="34" charset="0"/>
                <a:ea typeface="Segoe UI Symbol" pitchFamily="34" charset="-122"/>
                <a:cs typeface="Segoe UI Symbol" pitchFamily="34" charset="-120"/>
              </a:rPr>
              <a:t>→</a:t>
            </a:r>
            <a:endParaRPr lang="en-US" sz="1013" dirty="0"/>
          </a:p>
        </p:txBody>
      </p:sp>
      <p:sp>
        <p:nvSpPr>
          <p:cNvPr id="26" name="Text 24"/>
          <p:cNvSpPr/>
          <p:nvPr/>
        </p:nvSpPr>
        <p:spPr>
          <a:xfrm>
            <a:off x="4477345" y="1842195"/>
            <a:ext cx="1157734" cy="671959"/>
          </a:xfrm>
          <a:prstGeom prst="roundRect">
            <a:avLst>
              <a:gd name="adj" fmla="val 1134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27" name="Text 25"/>
          <p:cNvSpPr/>
          <p:nvPr/>
        </p:nvSpPr>
        <p:spPr>
          <a:xfrm>
            <a:off x="4964102" y="1902916"/>
            <a:ext cx="184221" cy="91440"/>
          </a:xfrm>
          <a:prstGeom prst="rect">
            <a:avLst/>
          </a:prstGeom>
          <a:noFill/>
          <a:ln/>
        </p:spPr>
        <p:txBody>
          <a:bodyPr wrap="square" lIns="0" tIns="0" rIns="0" bIns="0" rtlCol="0" anchor="t">
            <a:normAutofit/>
          </a:bodyPr>
          <a:lstStyle/>
          <a:p>
            <a:pPr algn="ctr" indent="0" marL="0">
              <a:lnSpc>
                <a:spcPts val="759"/>
              </a:lnSpc>
              <a:buNone/>
            </a:pPr>
            <a:r>
              <a:rPr lang="en-US" sz="800" b="1" spc="81" kern="0" dirty="0">
                <a:solidFill>
                  <a:srgbClr val="14B8A6"/>
                </a:solidFill>
                <a:latin typeface="Liberation Sans Narrow" pitchFamily="34" charset="0"/>
                <a:ea typeface="Liberation Sans Narrow" pitchFamily="34" charset="-122"/>
                <a:cs typeface="Liberation Sans Narrow" pitchFamily="34" charset="-120"/>
              </a:rPr>
              <a:t>04</a:t>
            </a:r>
            <a:endParaRPr lang="en-US" sz="800" dirty="0"/>
          </a:p>
        </p:txBody>
      </p:sp>
      <p:sp>
        <p:nvSpPr>
          <p:cNvPr id="28" name="Text 26"/>
          <p:cNvSpPr/>
          <p:nvPr/>
        </p:nvSpPr>
        <p:spPr>
          <a:xfrm>
            <a:off x="4991919" y="2013645"/>
            <a:ext cx="128588" cy="128588"/>
          </a:xfrm>
          <a:prstGeom prst="rect">
            <a:avLst/>
          </a:prstGeom>
          <a:noFill/>
          <a:ln/>
        </p:spPr>
        <p:txBody>
          <a:bodyPr wrap="none" lIns="0" tIns="0" rIns="0" bIns="0" rtlCol="0" anchor="ctr"/>
          <a:lstStyle/>
          <a:p>
            <a:pPr algn="ctr" indent="0" marL="0">
              <a:buNone/>
            </a:pPr>
            <a:r>
              <a:rPr lang="en-US" sz="1266" dirty="0">
                <a:solidFill>
                  <a:srgbClr val="0F1F3D"/>
                </a:solidFill>
                <a:latin typeface="Segoe UI Symbol" pitchFamily="34" charset="0"/>
                <a:ea typeface="Segoe UI Symbol" pitchFamily="34" charset="-122"/>
                <a:cs typeface="Segoe UI Symbol" pitchFamily="34" charset="-120"/>
              </a:rPr>
              <a:t>✿</a:t>
            </a:r>
            <a:endParaRPr lang="en-US" sz="1266" dirty="0"/>
          </a:p>
        </p:txBody>
      </p:sp>
      <p:sp>
        <p:nvSpPr>
          <p:cNvPr id="29" name="Text 27"/>
          <p:cNvSpPr/>
          <p:nvPr/>
        </p:nvSpPr>
        <p:spPr>
          <a:xfrm>
            <a:off x="4552355" y="2170807"/>
            <a:ext cx="1007715" cy="91440"/>
          </a:xfrm>
          <a:prstGeom prst="rect">
            <a:avLst/>
          </a:prstGeom>
          <a:noFill/>
          <a:ln/>
        </p:spPr>
        <p:txBody>
          <a:bodyPr wrap="none" lIns="0" tIns="0" rIns="0" bIns="0" rtlCol="0" anchor="t">
            <a:normAutofit/>
          </a:bodyPr>
          <a:lstStyle/>
          <a:p>
            <a:pPr algn="ctr" indent="0" marL="0">
              <a:lnSpc>
                <a:spcPts val="742"/>
              </a:lnSpc>
              <a:buNone/>
            </a:pPr>
            <a:r>
              <a:rPr lang="en-US" sz="619" b="1" dirty="0">
                <a:solidFill>
                  <a:srgbClr val="0F1F3D"/>
                </a:solidFill>
                <a:latin typeface="Liberation Sans Narrow" pitchFamily="34" charset="0"/>
                <a:ea typeface="Liberation Sans Narrow" pitchFamily="34" charset="-122"/>
                <a:cs typeface="Liberation Sans Narrow" pitchFamily="34" charset="-120"/>
              </a:rPr>
              <a:t>4× XGBoost Classifiers</a:t>
            </a:r>
            <a:endParaRPr lang="en-US" sz="619" dirty="0"/>
          </a:p>
        </p:txBody>
      </p:sp>
      <p:sp>
        <p:nvSpPr>
          <p:cNvPr id="30" name="Text 28"/>
          <p:cNvSpPr/>
          <p:nvPr/>
        </p:nvSpPr>
        <p:spPr>
          <a:xfrm>
            <a:off x="4744870" y="2279303"/>
            <a:ext cx="622572" cy="164592"/>
          </a:xfrm>
          <a:prstGeom prst="rect">
            <a:avLst/>
          </a:prstGeom>
          <a:noFill/>
          <a:ln/>
        </p:spPr>
        <p:txBody>
          <a:bodyPr wrap="none" lIns="0" tIns="0" rIns="0" bIns="0" rtlCol="0" anchor="t"/>
          <a:lstStyle/>
          <a:p>
            <a:pPr algn="ctr" indent="0" marL="0">
              <a:lnSpc>
                <a:spcPts val="802"/>
              </a:lnSpc>
              <a:buNone/>
            </a:pPr>
            <a:r>
              <a:rPr lang="en-US" sz="600" dirty="0">
                <a:solidFill>
                  <a:srgbClr val="0F766E"/>
                </a:solidFill>
                <a:latin typeface="Courier New" pitchFamily="34" charset="0"/>
                <a:ea typeface="Courier New" pitchFamily="34" charset="-122"/>
                <a:cs typeface="Courier New" pitchFamily="34" charset="-120"/>
              </a:rPr>
              <a:t>B · E · C · F</a:t>
            </a:r>
            <a:endParaRPr lang="en-US" sz="600" dirty="0"/>
          </a:p>
        </p:txBody>
      </p:sp>
      <p:sp>
        <p:nvSpPr>
          <p:cNvPr id="31" name="Text 29"/>
          <p:cNvSpPr/>
          <p:nvPr/>
        </p:nvSpPr>
        <p:spPr>
          <a:xfrm>
            <a:off x="5638651" y="1838623"/>
            <a:ext cx="148903" cy="679103"/>
          </a:xfrm>
          <a:prstGeom prst="rect">
            <a:avLst/>
          </a:prstGeom>
          <a:noFill/>
          <a:ln/>
        </p:spPr>
        <p:txBody>
          <a:bodyPr wrap="none" lIns="0" tIns="0" rIns="0" bIns="0" rtlCol="0" anchor="ctr"/>
          <a:lstStyle/>
          <a:p>
            <a:pPr algn="ctr" indent="0" marL="0">
              <a:buNone/>
            </a:pPr>
            <a:r>
              <a:rPr lang="en-US" sz="1013" dirty="0">
                <a:solidFill>
                  <a:srgbClr val="14B8A6"/>
                </a:solidFill>
                <a:latin typeface="Segoe UI Symbol" pitchFamily="34" charset="0"/>
                <a:ea typeface="Segoe UI Symbol" pitchFamily="34" charset="-122"/>
                <a:cs typeface="Segoe UI Symbol" pitchFamily="34" charset="-120"/>
              </a:rPr>
              <a:t>→</a:t>
            </a:r>
            <a:endParaRPr lang="en-US" sz="1013" dirty="0"/>
          </a:p>
        </p:txBody>
      </p:sp>
      <p:sp>
        <p:nvSpPr>
          <p:cNvPr id="32" name="Text 30"/>
          <p:cNvSpPr/>
          <p:nvPr/>
        </p:nvSpPr>
        <p:spPr>
          <a:xfrm>
            <a:off x="5791126" y="1842195"/>
            <a:ext cx="1171575" cy="671959"/>
          </a:xfrm>
          <a:prstGeom prst="roundRect">
            <a:avLst>
              <a:gd name="adj" fmla="val 1134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33" name="Text 31"/>
          <p:cNvSpPr/>
          <p:nvPr/>
        </p:nvSpPr>
        <p:spPr>
          <a:xfrm>
            <a:off x="6284803" y="1902916"/>
            <a:ext cx="184221" cy="91440"/>
          </a:xfrm>
          <a:prstGeom prst="rect">
            <a:avLst/>
          </a:prstGeom>
          <a:noFill/>
          <a:ln/>
        </p:spPr>
        <p:txBody>
          <a:bodyPr wrap="square" lIns="0" tIns="0" rIns="0" bIns="0" rtlCol="0" anchor="t">
            <a:normAutofit/>
          </a:bodyPr>
          <a:lstStyle/>
          <a:p>
            <a:pPr algn="ctr" indent="0" marL="0">
              <a:lnSpc>
                <a:spcPts val="759"/>
              </a:lnSpc>
              <a:buNone/>
            </a:pPr>
            <a:r>
              <a:rPr lang="en-US" sz="800" b="1" spc="81" kern="0" dirty="0">
                <a:solidFill>
                  <a:srgbClr val="14B8A6"/>
                </a:solidFill>
                <a:latin typeface="Liberation Sans Narrow" pitchFamily="34" charset="0"/>
                <a:ea typeface="Liberation Sans Narrow" pitchFamily="34" charset="-122"/>
                <a:cs typeface="Liberation Sans Narrow" pitchFamily="34" charset="-120"/>
              </a:rPr>
              <a:t>05</a:t>
            </a:r>
            <a:endParaRPr lang="en-US" sz="800" dirty="0"/>
          </a:p>
        </p:txBody>
      </p:sp>
      <p:sp>
        <p:nvSpPr>
          <p:cNvPr id="34" name="Text 32"/>
          <p:cNvSpPr/>
          <p:nvPr/>
        </p:nvSpPr>
        <p:spPr>
          <a:xfrm>
            <a:off x="6312619" y="2013645"/>
            <a:ext cx="128588" cy="128588"/>
          </a:xfrm>
          <a:prstGeom prst="rect">
            <a:avLst/>
          </a:prstGeom>
          <a:noFill/>
          <a:ln/>
        </p:spPr>
        <p:txBody>
          <a:bodyPr wrap="none" lIns="0" tIns="0" rIns="0" bIns="0" rtlCol="0" anchor="ctr"/>
          <a:lstStyle/>
          <a:p>
            <a:pPr algn="ctr" indent="0" marL="0">
              <a:buNone/>
            </a:pPr>
            <a:r>
              <a:rPr lang="en-US" sz="1266" dirty="0">
                <a:solidFill>
                  <a:srgbClr val="0F1F3D"/>
                </a:solidFill>
                <a:latin typeface="Segoe UI Symbol" pitchFamily="34" charset="0"/>
                <a:ea typeface="Segoe UI Symbol" pitchFamily="34" charset="-122"/>
                <a:cs typeface="Segoe UI Symbol" pitchFamily="34" charset="-120"/>
              </a:rPr>
              <a:t>↗</a:t>
            </a:r>
            <a:endParaRPr lang="en-US" sz="1266" dirty="0"/>
          </a:p>
        </p:txBody>
      </p:sp>
      <p:sp>
        <p:nvSpPr>
          <p:cNvPr id="35" name="Text 33"/>
          <p:cNvSpPr/>
          <p:nvPr/>
        </p:nvSpPr>
        <p:spPr>
          <a:xfrm>
            <a:off x="5866135" y="2170807"/>
            <a:ext cx="1052203" cy="282625"/>
          </a:xfrm>
          <a:prstGeom prst="rect">
            <a:avLst/>
          </a:prstGeom>
          <a:noFill/>
          <a:ln/>
        </p:spPr>
        <p:txBody>
          <a:bodyPr wrap="square" lIns="0" tIns="0" rIns="0" bIns="0" rtlCol="0" anchor="t"/>
          <a:lstStyle/>
          <a:p>
            <a:pPr algn="ctr" indent="0" marL="0">
              <a:lnSpc>
                <a:spcPts val="742"/>
              </a:lnSpc>
              <a:buNone/>
            </a:pPr>
            <a:r>
              <a:rPr lang="en-US" sz="800" b="1" dirty="0">
                <a:solidFill>
                  <a:srgbClr val="0F1F3D"/>
                </a:solidFill>
                <a:latin typeface="Carlito" pitchFamily="34" charset="0"/>
                <a:ea typeface="Carlito" pitchFamily="34" charset="-122"/>
                <a:cs typeface="Carlito" pitchFamily="34" charset="-120"/>
              </a:rPr>
              <a:t>Probability Calibration + Threshold Optimization</a:t>
            </a:r>
            <a:endParaRPr lang="en-US" sz="800" dirty="0"/>
          </a:p>
        </p:txBody>
      </p:sp>
      <p:sp>
        <p:nvSpPr>
          <p:cNvPr id="36" name="Text 34"/>
          <p:cNvSpPr/>
          <p:nvPr/>
        </p:nvSpPr>
        <p:spPr>
          <a:xfrm>
            <a:off x="6966272" y="1838623"/>
            <a:ext cx="148903" cy="679103"/>
          </a:xfrm>
          <a:prstGeom prst="rect">
            <a:avLst/>
          </a:prstGeom>
          <a:noFill/>
          <a:ln/>
        </p:spPr>
        <p:txBody>
          <a:bodyPr wrap="none" lIns="0" tIns="0" rIns="0" bIns="0" rtlCol="0" anchor="ctr"/>
          <a:lstStyle/>
          <a:p>
            <a:pPr algn="ctr" indent="0" marL="0">
              <a:buNone/>
            </a:pPr>
            <a:r>
              <a:rPr lang="en-US" sz="1013" dirty="0">
                <a:solidFill>
                  <a:srgbClr val="14B8A6"/>
                </a:solidFill>
                <a:latin typeface="Segoe UI Symbol" pitchFamily="34" charset="0"/>
                <a:ea typeface="Segoe UI Symbol" pitchFamily="34" charset="-122"/>
                <a:cs typeface="Segoe UI Symbol" pitchFamily="34" charset="-120"/>
              </a:rPr>
              <a:t>→</a:t>
            </a:r>
            <a:endParaRPr lang="en-US" sz="1013" dirty="0"/>
          </a:p>
        </p:txBody>
      </p:sp>
      <p:sp>
        <p:nvSpPr>
          <p:cNvPr id="37" name="Text 35"/>
          <p:cNvSpPr/>
          <p:nvPr/>
        </p:nvSpPr>
        <p:spPr>
          <a:xfrm>
            <a:off x="7118747" y="1842195"/>
            <a:ext cx="850106" cy="671959"/>
          </a:xfrm>
          <a:prstGeom prst="roundRect">
            <a:avLst>
              <a:gd name="adj" fmla="val 11340"/>
            </a:avLst>
          </a:prstGeom>
          <a:solidFill>
            <a:srgbClr val="14B8A6">
              <a:alpha val="6000"/>
            </a:srgbClr>
          </a:solidFill>
          <a:ln w="7144">
            <a:solidFill>
              <a:srgbClr val="14B8A6"/>
            </a:solidFill>
            <a:prstDash val="solid"/>
          </a:ln>
        </p:spPr>
        <p:txBody>
          <a:bodyPr wrap="square" rtlCol="0" anchor="ctr"/>
          <a:lstStyle/>
          <a:p>
            <a:pPr indent="0" marL="0">
              <a:buNone/>
            </a:pPr>
            <a:endParaRPr lang="en-US" dirty="0"/>
          </a:p>
        </p:txBody>
      </p:sp>
      <p:sp>
        <p:nvSpPr>
          <p:cNvPr id="38" name="Text 36"/>
          <p:cNvSpPr/>
          <p:nvPr/>
        </p:nvSpPr>
        <p:spPr>
          <a:xfrm>
            <a:off x="7451689" y="1902916"/>
            <a:ext cx="184221" cy="91440"/>
          </a:xfrm>
          <a:prstGeom prst="rect">
            <a:avLst/>
          </a:prstGeom>
          <a:noFill/>
          <a:ln/>
        </p:spPr>
        <p:txBody>
          <a:bodyPr wrap="square" lIns="0" tIns="0" rIns="0" bIns="0" rtlCol="0" anchor="t">
            <a:normAutofit/>
          </a:bodyPr>
          <a:lstStyle/>
          <a:p>
            <a:pPr algn="ctr" indent="0" marL="0">
              <a:lnSpc>
                <a:spcPts val="759"/>
              </a:lnSpc>
              <a:buNone/>
            </a:pPr>
            <a:r>
              <a:rPr lang="en-US" sz="800" b="1" spc="81" kern="0" dirty="0">
                <a:solidFill>
                  <a:srgbClr val="14B8A6"/>
                </a:solidFill>
                <a:latin typeface="Liberation Sans Narrow" pitchFamily="34" charset="0"/>
                <a:ea typeface="Liberation Sans Narrow" pitchFamily="34" charset="-122"/>
                <a:cs typeface="Liberation Sans Narrow" pitchFamily="34" charset="-120"/>
              </a:rPr>
              <a:t>06</a:t>
            </a:r>
            <a:endParaRPr lang="en-US" sz="800" dirty="0"/>
          </a:p>
        </p:txBody>
      </p:sp>
      <p:sp>
        <p:nvSpPr>
          <p:cNvPr id="39" name="Text 37"/>
          <p:cNvSpPr/>
          <p:nvPr/>
        </p:nvSpPr>
        <p:spPr>
          <a:xfrm>
            <a:off x="7479506" y="2013645"/>
            <a:ext cx="128588" cy="128588"/>
          </a:xfrm>
          <a:prstGeom prst="rect">
            <a:avLst/>
          </a:prstGeom>
          <a:noFill/>
          <a:ln/>
        </p:spPr>
        <p:txBody>
          <a:bodyPr wrap="none" lIns="0" tIns="0" rIns="0" bIns="0" rtlCol="0" anchor="ctr"/>
          <a:lstStyle/>
          <a:p>
            <a:pPr algn="ctr" indent="0" marL="0">
              <a:buNone/>
            </a:pPr>
            <a:r>
              <a:rPr lang="en-US" sz="1266" dirty="0">
                <a:solidFill>
                  <a:srgbClr val="0F766E"/>
                </a:solidFill>
                <a:latin typeface="Segoe UI Symbol" pitchFamily="34" charset="0"/>
                <a:ea typeface="Segoe UI Symbol" pitchFamily="34" charset="-122"/>
                <a:cs typeface="Segoe UI Symbol" pitchFamily="34" charset="-120"/>
              </a:rPr>
              <a:t>✦</a:t>
            </a:r>
            <a:endParaRPr lang="en-US" sz="1266" dirty="0"/>
          </a:p>
        </p:txBody>
      </p:sp>
      <p:sp>
        <p:nvSpPr>
          <p:cNvPr id="40" name="Text 38"/>
          <p:cNvSpPr/>
          <p:nvPr/>
        </p:nvSpPr>
        <p:spPr>
          <a:xfrm>
            <a:off x="7214855" y="2170807"/>
            <a:ext cx="657779" cy="91440"/>
          </a:xfrm>
          <a:prstGeom prst="rect">
            <a:avLst/>
          </a:prstGeom>
          <a:noFill/>
          <a:ln/>
        </p:spPr>
        <p:txBody>
          <a:bodyPr wrap="none" lIns="0" tIns="0" rIns="0" bIns="0" rtlCol="0" anchor="t">
            <a:normAutofit/>
          </a:bodyPr>
          <a:lstStyle/>
          <a:p>
            <a:pPr algn="ctr" indent="0" marL="0">
              <a:lnSpc>
                <a:spcPts val="742"/>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4×3 Output</a:t>
            </a:r>
            <a:endParaRPr lang="en-US" sz="800" dirty="0"/>
          </a:p>
        </p:txBody>
      </p:sp>
      <p:sp>
        <p:nvSpPr>
          <p:cNvPr id="41" name="Text 39"/>
          <p:cNvSpPr/>
          <p:nvPr/>
        </p:nvSpPr>
        <p:spPr>
          <a:xfrm>
            <a:off x="7192381" y="2279303"/>
            <a:ext cx="702838" cy="164592"/>
          </a:xfrm>
          <a:prstGeom prst="rect">
            <a:avLst/>
          </a:prstGeom>
          <a:noFill/>
          <a:ln/>
        </p:spPr>
        <p:txBody>
          <a:bodyPr wrap="none" lIns="0" tIns="0" rIns="0" bIns="0" rtlCol="0" anchor="t"/>
          <a:lstStyle/>
          <a:p>
            <a:pPr algn="ctr" indent="0" marL="0">
              <a:lnSpc>
                <a:spcPts val="802"/>
              </a:lnSpc>
              <a:buNone/>
            </a:pPr>
            <a:r>
              <a:rPr lang="en-US" sz="600" dirty="0">
                <a:solidFill>
                  <a:srgbClr val="0F766E"/>
                </a:solidFill>
                <a:latin typeface="Courier New" pitchFamily="34" charset="0"/>
                <a:ea typeface="Courier New" pitchFamily="34" charset="-122"/>
                <a:cs typeface="Courier New" pitchFamily="34" charset="-120"/>
              </a:rPr>
              <a:t>Low / Med / High</a:t>
            </a:r>
            <a:endParaRPr lang="en-US" sz="600" dirty="0"/>
          </a:p>
        </p:txBody>
      </p:sp>
      <p:sp>
        <p:nvSpPr>
          <p:cNvPr id="42" name="Text 40"/>
          <p:cNvSpPr/>
          <p:nvPr/>
        </p:nvSpPr>
        <p:spPr>
          <a:xfrm>
            <a:off x="457200" y="2603450"/>
            <a:ext cx="4057650" cy="1709142"/>
          </a:xfrm>
          <a:prstGeom prst="roundRect">
            <a:avLst>
              <a:gd name="adj" fmla="val 5573"/>
            </a:avLst>
          </a:prstGeom>
          <a:solidFill>
            <a:srgbClr val="EEF3F8"/>
          </a:solidFill>
          <a:ln/>
        </p:spPr>
        <p:txBody>
          <a:bodyPr wrap="square" rtlCol="0" anchor="ctr"/>
          <a:lstStyle/>
          <a:p>
            <a:pPr indent="0" marL="0">
              <a:buNone/>
            </a:pPr>
            <a:endParaRPr lang="en-US" dirty="0"/>
          </a:p>
        </p:txBody>
      </p:sp>
      <p:sp>
        <p:nvSpPr>
          <p:cNvPr id="43" name="Shape 41"/>
          <p:cNvSpPr/>
          <p:nvPr/>
        </p:nvSpPr>
        <p:spPr>
          <a:xfrm>
            <a:off x="457200" y="2607022"/>
            <a:ext cx="4057650" cy="0"/>
          </a:xfrm>
          <a:prstGeom prst="line">
            <a:avLst/>
          </a:prstGeom>
          <a:noFill/>
          <a:ln w="7144">
            <a:solidFill>
              <a:srgbClr val="D9E1EC"/>
            </a:solidFill>
            <a:prstDash val="solid"/>
          </a:ln>
        </p:spPr>
      </p:sp>
      <p:sp>
        <p:nvSpPr>
          <p:cNvPr id="44" name="Shape 42"/>
          <p:cNvSpPr/>
          <p:nvPr/>
        </p:nvSpPr>
        <p:spPr>
          <a:xfrm>
            <a:off x="4511278" y="2603450"/>
            <a:ext cx="0" cy="1709142"/>
          </a:xfrm>
          <a:prstGeom prst="line">
            <a:avLst/>
          </a:prstGeom>
          <a:noFill/>
          <a:ln w="7144">
            <a:solidFill>
              <a:srgbClr val="D9E1EC"/>
            </a:solidFill>
            <a:prstDash val="solid"/>
          </a:ln>
        </p:spPr>
      </p:sp>
      <p:sp>
        <p:nvSpPr>
          <p:cNvPr id="45" name="Shape 43"/>
          <p:cNvSpPr/>
          <p:nvPr/>
        </p:nvSpPr>
        <p:spPr>
          <a:xfrm>
            <a:off x="457200" y="4309021"/>
            <a:ext cx="4057650" cy="0"/>
          </a:xfrm>
          <a:prstGeom prst="line">
            <a:avLst/>
          </a:prstGeom>
          <a:noFill/>
          <a:ln w="7144">
            <a:solidFill>
              <a:srgbClr val="D9E1EC"/>
            </a:solidFill>
            <a:prstDash val="solid"/>
          </a:ln>
        </p:spPr>
      </p:sp>
      <p:sp>
        <p:nvSpPr>
          <p:cNvPr id="46" name="Shape 44"/>
          <p:cNvSpPr/>
          <p:nvPr/>
        </p:nvSpPr>
        <p:spPr>
          <a:xfrm>
            <a:off x="467916" y="2603450"/>
            <a:ext cx="0" cy="1709142"/>
          </a:xfrm>
          <a:prstGeom prst="line">
            <a:avLst/>
          </a:prstGeom>
          <a:noFill/>
          <a:ln w="21431">
            <a:solidFill>
              <a:srgbClr val="14B8A6"/>
            </a:solidFill>
            <a:prstDash val="solid"/>
          </a:ln>
        </p:spPr>
      </p:sp>
      <p:sp>
        <p:nvSpPr>
          <p:cNvPr id="47" name="Text 45"/>
          <p:cNvSpPr/>
          <p:nvPr/>
        </p:nvSpPr>
        <p:spPr>
          <a:xfrm>
            <a:off x="607219" y="2710607"/>
            <a:ext cx="3771900" cy="94012"/>
          </a:xfrm>
          <a:prstGeom prst="rect">
            <a:avLst/>
          </a:prstGeom>
          <a:noFill/>
          <a:ln/>
        </p:spPr>
        <p:txBody>
          <a:bodyPr wrap="none" lIns="0" tIns="0" rIns="0" bIns="0" rtlCol="0" anchor="t">
            <a:normAutofit/>
          </a:bodyPr>
          <a:lstStyle/>
          <a:p>
            <a:pPr algn="l" indent="0" marL="0">
              <a:lnSpc>
                <a:spcPts val="844"/>
              </a:lnSpc>
              <a:buNone/>
            </a:pPr>
            <a:r>
              <a:rPr lang="en-US" sz="800" b="1" spc="101" kern="0" dirty="0">
                <a:solidFill>
                  <a:srgbClr val="0F766E"/>
                </a:solidFill>
                <a:latin typeface="Carlito" pitchFamily="34" charset="0"/>
                <a:ea typeface="Carlito" pitchFamily="34" charset="-122"/>
                <a:cs typeface="Carlito" pitchFamily="34" charset="-120"/>
              </a:rPr>
              <a:t>XGBOOST HYPERPARAMETERS</a:t>
            </a:r>
            <a:endParaRPr lang="en-US" sz="800" dirty="0"/>
          </a:p>
        </p:txBody>
      </p:sp>
      <p:sp>
        <p:nvSpPr>
          <p:cNvPr id="48" name="Text 46"/>
          <p:cNvSpPr/>
          <p:nvPr/>
        </p:nvSpPr>
        <p:spPr>
          <a:xfrm>
            <a:off x="607219" y="2832050"/>
            <a:ext cx="3881628" cy="164592"/>
          </a:xfrm>
          <a:prstGeom prst="rect">
            <a:avLst/>
          </a:prstGeom>
          <a:noFill/>
          <a:ln/>
        </p:spPr>
        <p:txBody>
          <a:bodyPr wrap="square" lIns="0" tIns="0" rIns="0" bIns="0" rtlCol="0" anchor="t"/>
          <a:lstStyle/>
          <a:p>
            <a:pPr algn="l" indent="0" marL="0">
              <a:lnSpc>
                <a:spcPts val="1097"/>
              </a:lnSpc>
              <a:buNone/>
            </a:pPr>
            <a:r>
              <a:rPr lang="en-US" sz="800" b="1" spc="-4" kern="0" dirty="0">
                <a:solidFill>
                  <a:srgbClr val="0F1F3D"/>
                </a:solidFill>
                <a:latin typeface="Liberation Sans Narrow" pitchFamily="34" charset="0"/>
                <a:ea typeface="Liberation Sans Narrow" pitchFamily="34" charset="-122"/>
                <a:cs typeface="Liberation Sans Narrow" pitchFamily="34" charset="-120"/>
              </a:rPr>
              <a:t>Tuned via 5-fold CV on training fold</a:t>
            </a:r>
            <a:endParaRPr lang="en-US" sz="800" dirty="0"/>
          </a:p>
        </p:txBody>
      </p:sp>
      <p:sp>
        <p:nvSpPr>
          <p:cNvPr id="49" name="Shape 47"/>
          <p:cNvSpPr/>
          <p:nvPr/>
        </p:nvSpPr>
        <p:spPr>
          <a:xfrm>
            <a:off x="607219" y="3192810"/>
            <a:ext cx="1835944" cy="0"/>
          </a:xfrm>
          <a:prstGeom prst="line">
            <a:avLst/>
          </a:prstGeom>
          <a:noFill/>
          <a:ln w="7144">
            <a:solidFill>
              <a:srgbClr val="D9E1EC"/>
            </a:solidFill>
            <a:prstDash val="dash"/>
          </a:ln>
        </p:spPr>
      </p:sp>
      <p:sp>
        <p:nvSpPr>
          <p:cNvPr id="50" name="Text 48"/>
          <p:cNvSpPr/>
          <p:nvPr/>
        </p:nvSpPr>
        <p:spPr>
          <a:xfrm>
            <a:off x="607219" y="3049935"/>
            <a:ext cx="1774329" cy="117872"/>
          </a:xfrm>
          <a:prstGeom prst="rect">
            <a:avLst/>
          </a:prstGeom>
          <a:noFill/>
          <a:ln/>
        </p:spPr>
        <p:txBody>
          <a:bodyPr wrap="none" lIns="0" tIns="0" rIns="0" bIns="0" rtlCol="0" anchor="t"/>
          <a:lstStyle/>
          <a:p>
            <a:pPr algn="l" indent="0" marL="0">
              <a:lnSpc>
                <a:spcPts val="928"/>
              </a:lnSpc>
              <a:buNone/>
            </a:pPr>
            <a:r>
              <a:rPr lang="en-US" sz="800" dirty="0">
                <a:solidFill>
                  <a:srgbClr val="5B6B82"/>
                </a:solidFill>
                <a:latin typeface="Courier New" pitchFamily="34" charset="0"/>
                <a:ea typeface="Courier New" pitchFamily="34" charset="-122"/>
                <a:cs typeface="Courier New" pitchFamily="34" charset="-120"/>
              </a:rPr>
              <a:t>max_depth</a:t>
            </a:r>
            <a:endParaRPr lang="en-US" sz="800" dirty="0"/>
          </a:p>
        </p:txBody>
      </p:sp>
      <p:sp>
        <p:nvSpPr>
          <p:cNvPr id="51" name="Text 49"/>
          <p:cNvSpPr/>
          <p:nvPr/>
        </p:nvSpPr>
        <p:spPr>
          <a:xfrm>
            <a:off x="2395835" y="3049935"/>
            <a:ext cx="91440" cy="117872"/>
          </a:xfrm>
          <a:prstGeom prst="rect">
            <a:avLst/>
          </a:prstGeom>
          <a:noFill/>
          <a:ln/>
        </p:spPr>
        <p:txBody>
          <a:bodyPr wrap="square" lIns="0" tIns="0" rIns="0" bIns="0" rtlCol="0" anchor="t"/>
          <a:lstStyle/>
          <a:p>
            <a:pPr algn="l" indent="0" marL="0">
              <a:lnSpc>
                <a:spcPts val="928"/>
              </a:lnSpc>
              <a:buNone/>
            </a:pPr>
            <a:r>
              <a:rPr lang="en-US" sz="800" dirty="0">
                <a:solidFill>
                  <a:srgbClr val="0F766E"/>
                </a:solidFill>
                <a:latin typeface="Liberation Sans Narrow" pitchFamily="34" charset="0"/>
                <a:ea typeface="Liberation Sans Narrow" pitchFamily="34" charset="-122"/>
                <a:cs typeface="Liberation Sans Narrow" pitchFamily="34" charset="-120"/>
              </a:rPr>
              <a:t>8</a:t>
            </a:r>
            <a:endParaRPr lang="en-US" sz="800" dirty="0"/>
          </a:p>
        </p:txBody>
      </p:sp>
      <p:sp>
        <p:nvSpPr>
          <p:cNvPr id="52" name="Shape 50"/>
          <p:cNvSpPr/>
          <p:nvPr/>
        </p:nvSpPr>
        <p:spPr>
          <a:xfrm>
            <a:off x="2543175" y="3192810"/>
            <a:ext cx="1835944" cy="0"/>
          </a:xfrm>
          <a:prstGeom prst="line">
            <a:avLst/>
          </a:prstGeom>
          <a:noFill/>
          <a:ln w="7144">
            <a:solidFill>
              <a:srgbClr val="D9E1EC"/>
            </a:solidFill>
            <a:prstDash val="dash"/>
          </a:ln>
        </p:spPr>
      </p:sp>
      <p:sp>
        <p:nvSpPr>
          <p:cNvPr id="53" name="Text 51"/>
          <p:cNvSpPr/>
          <p:nvPr/>
        </p:nvSpPr>
        <p:spPr>
          <a:xfrm>
            <a:off x="2543175" y="3049935"/>
            <a:ext cx="1632347" cy="117872"/>
          </a:xfrm>
          <a:prstGeom prst="rect">
            <a:avLst/>
          </a:prstGeom>
          <a:noFill/>
          <a:ln/>
        </p:spPr>
        <p:txBody>
          <a:bodyPr wrap="none" lIns="0" tIns="0" rIns="0" bIns="0" rtlCol="0" anchor="t"/>
          <a:lstStyle/>
          <a:p>
            <a:pPr algn="l" indent="0" marL="0">
              <a:lnSpc>
                <a:spcPts val="928"/>
              </a:lnSpc>
              <a:buNone/>
            </a:pPr>
            <a:r>
              <a:rPr lang="en-US" sz="800" dirty="0">
                <a:solidFill>
                  <a:srgbClr val="5B6B82"/>
                </a:solidFill>
                <a:latin typeface="Courier New" pitchFamily="34" charset="0"/>
                <a:ea typeface="Courier New" pitchFamily="34" charset="-122"/>
                <a:cs typeface="Courier New" pitchFamily="34" charset="-120"/>
              </a:rPr>
              <a:t>learning_rate</a:t>
            </a:r>
            <a:endParaRPr lang="en-US" sz="800" dirty="0"/>
          </a:p>
        </p:txBody>
      </p:sp>
      <p:sp>
        <p:nvSpPr>
          <p:cNvPr id="54" name="Text 52"/>
          <p:cNvSpPr/>
          <p:nvPr/>
        </p:nvSpPr>
        <p:spPr>
          <a:xfrm>
            <a:off x="4163614" y="3049935"/>
            <a:ext cx="241700" cy="117872"/>
          </a:xfrm>
          <a:prstGeom prst="rect">
            <a:avLst/>
          </a:prstGeom>
          <a:noFill/>
          <a:ln/>
        </p:spPr>
        <p:txBody>
          <a:bodyPr wrap="none" lIns="0" tIns="0" rIns="0" bIns="0" rtlCol="0" anchor="t"/>
          <a:lstStyle/>
          <a:p>
            <a:pPr algn="l" indent="0" marL="0">
              <a:lnSpc>
                <a:spcPts val="928"/>
              </a:lnSpc>
              <a:buNone/>
            </a:pPr>
            <a:r>
              <a:rPr lang="en-US" sz="619" dirty="0">
                <a:solidFill>
                  <a:srgbClr val="0F766E"/>
                </a:solidFill>
                <a:latin typeface="Liberation Sans Narrow" pitchFamily="34" charset="0"/>
                <a:ea typeface="Liberation Sans Narrow" pitchFamily="34" charset="-122"/>
                <a:cs typeface="Liberation Sans Narrow" pitchFamily="34" charset="-120"/>
              </a:rPr>
              <a:t>0.05</a:t>
            </a:r>
            <a:endParaRPr lang="en-US" sz="619" dirty="0"/>
          </a:p>
        </p:txBody>
      </p:sp>
      <p:sp>
        <p:nvSpPr>
          <p:cNvPr id="55" name="Shape 53"/>
          <p:cNvSpPr/>
          <p:nvPr/>
        </p:nvSpPr>
        <p:spPr>
          <a:xfrm>
            <a:off x="607219" y="3389263"/>
            <a:ext cx="1835944" cy="0"/>
          </a:xfrm>
          <a:prstGeom prst="line">
            <a:avLst/>
          </a:prstGeom>
          <a:noFill/>
          <a:ln w="7144">
            <a:solidFill>
              <a:srgbClr val="D9E1EC"/>
            </a:solidFill>
            <a:prstDash val="dash"/>
          </a:ln>
        </p:spPr>
      </p:sp>
      <p:sp>
        <p:nvSpPr>
          <p:cNvPr id="56" name="Text 54"/>
          <p:cNvSpPr/>
          <p:nvPr/>
        </p:nvSpPr>
        <p:spPr>
          <a:xfrm>
            <a:off x="607219" y="3246388"/>
            <a:ext cx="1679674" cy="117872"/>
          </a:xfrm>
          <a:prstGeom prst="rect">
            <a:avLst/>
          </a:prstGeom>
          <a:noFill/>
          <a:ln/>
        </p:spPr>
        <p:txBody>
          <a:bodyPr wrap="none" lIns="0" tIns="0" rIns="0" bIns="0" rtlCol="0" anchor="t"/>
          <a:lstStyle/>
          <a:p>
            <a:pPr algn="l" indent="0" marL="0">
              <a:lnSpc>
                <a:spcPts val="928"/>
              </a:lnSpc>
              <a:buNone/>
            </a:pPr>
            <a:r>
              <a:rPr lang="en-US" sz="800" dirty="0">
                <a:solidFill>
                  <a:srgbClr val="5B6B82"/>
                </a:solidFill>
                <a:latin typeface="Courier New" pitchFamily="34" charset="0"/>
                <a:ea typeface="Courier New" pitchFamily="34" charset="-122"/>
                <a:cs typeface="Courier New" pitchFamily="34" charset="-120"/>
              </a:rPr>
              <a:t>n_estimators</a:t>
            </a:r>
            <a:endParaRPr lang="en-US" sz="800" dirty="0"/>
          </a:p>
        </p:txBody>
      </p:sp>
      <p:sp>
        <p:nvSpPr>
          <p:cNvPr id="57" name="Text 55"/>
          <p:cNvSpPr/>
          <p:nvPr/>
        </p:nvSpPr>
        <p:spPr>
          <a:xfrm>
            <a:off x="2272185" y="3246388"/>
            <a:ext cx="199974" cy="117872"/>
          </a:xfrm>
          <a:prstGeom prst="rect">
            <a:avLst/>
          </a:prstGeom>
          <a:noFill/>
          <a:ln/>
        </p:spPr>
        <p:txBody>
          <a:bodyPr wrap="none" lIns="0" tIns="0" rIns="0" bIns="0" rtlCol="0" anchor="t"/>
          <a:lstStyle/>
          <a:p>
            <a:pPr algn="l" indent="0" marL="0">
              <a:lnSpc>
                <a:spcPts val="928"/>
              </a:lnSpc>
              <a:buNone/>
            </a:pPr>
            <a:r>
              <a:rPr lang="en-US" sz="619" dirty="0">
                <a:solidFill>
                  <a:srgbClr val="0F766E"/>
                </a:solidFill>
                <a:latin typeface="Liberation Sans Narrow" pitchFamily="34" charset="0"/>
                <a:ea typeface="Liberation Sans Narrow" pitchFamily="34" charset="-122"/>
                <a:cs typeface="Liberation Sans Narrow" pitchFamily="34" charset="-120"/>
              </a:rPr>
              <a:t>500</a:t>
            </a:r>
            <a:endParaRPr lang="en-US" sz="619" dirty="0"/>
          </a:p>
        </p:txBody>
      </p:sp>
      <p:sp>
        <p:nvSpPr>
          <p:cNvPr id="58" name="Shape 56"/>
          <p:cNvSpPr/>
          <p:nvPr/>
        </p:nvSpPr>
        <p:spPr>
          <a:xfrm>
            <a:off x="2543175" y="3389263"/>
            <a:ext cx="1835944" cy="0"/>
          </a:xfrm>
          <a:prstGeom prst="line">
            <a:avLst/>
          </a:prstGeom>
          <a:noFill/>
          <a:ln w="7144">
            <a:solidFill>
              <a:srgbClr val="D9E1EC"/>
            </a:solidFill>
            <a:prstDash val="dash"/>
          </a:ln>
        </p:spPr>
      </p:sp>
      <p:sp>
        <p:nvSpPr>
          <p:cNvPr id="59" name="Text 57"/>
          <p:cNvSpPr/>
          <p:nvPr/>
        </p:nvSpPr>
        <p:spPr>
          <a:xfrm>
            <a:off x="2543175" y="3246388"/>
            <a:ext cx="1679674" cy="117872"/>
          </a:xfrm>
          <a:prstGeom prst="rect">
            <a:avLst/>
          </a:prstGeom>
          <a:noFill/>
          <a:ln/>
        </p:spPr>
        <p:txBody>
          <a:bodyPr wrap="none" lIns="0" tIns="0" rIns="0" bIns="0" rtlCol="0" anchor="t"/>
          <a:lstStyle/>
          <a:p>
            <a:pPr algn="l" indent="0" marL="0">
              <a:lnSpc>
                <a:spcPts val="928"/>
              </a:lnSpc>
              <a:buNone/>
            </a:pPr>
            <a:r>
              <a:rPr lang="en-US" sz="800" dirty="0">
                <a:solidFill>
                  <a:srgbClr val="5B6B82"/>
                </a:solidFill>
                <a:latin typeface="Courier New" pitchFamily="34" charset="0"/>
                <a:ea typeface="Courier New" pitchFamily="34" charset="-122"/>
                <a:cs typeface="Courier New" pitchFamily="34" charset="-120"/>
              </a:rPr>
              <a:t>subsample</a:t>
            </a:r>
            <a:endParaRPr lang="en-US" sz="800" dirty="0"/>
          </a:p>
        </p:txBody>
      </p:sp>
      <p:sp>
        <p:nvSpPr>
          <p:cNvPr id="60" name="Text 58"/>
          <p:cNvSpPr/>
          <p:nvPr/>
        </p:nvSpPr>
        <p:spPr>
          <a:xfrm>
            <a:off x="4216023" y="3246388"/>
            <a:ext cx="184210" cy="117872"/>
          </a:xfrm>
          <a:prstGeom prst="rect">
            <a:avLst/>
          </a:prstGeom>
          <a:noFill/>
          <a:ln/>
        </p:spPr>
        <p:txBody>
          <a:bodyPr wrap="none" lIns="0" tIns="0" rIns="0" bIns="0" rtlCol="0" anchor="t"/>
          <a:lstStyle/>
          <a:p>
            <a:pPr algn="l" indent="0" marL="0">
              <a:lnSpc>
                <a:spcPts val="928"/>
              </a:lnSpc>
              <a:buNone/>
            </a:pPr>
            <a:r>
              <a:rPr lang="en-US" sz="619" dirty="0">
                <a:solidFill>
                  <a:srgbClr val="0F766E"/>
                </a:solidFill>
                <a:latin typeface="Liberation Sans Narrow" pitchFamily="34" charset="0"/>
                <a:ea typeface="Liberation Sans Narrow" pitchFamily="34" charset="-122"/>
                <a:cs typeface="Liberation Sans Narrow" pitchFamily="34" charset="-120"/>
              </a:rPr>
              <a:t>0.8</a:t>
            </a:r>
            <a:endParaRPr lang="en-US" sz="619" dirty="0"/>
          </a:p>
        </p:txBody>
      </p:sp>
      <p:sp>
        <p:nvSpPr>
          <p:cNvPr id="61" name="Shape 59"/>
          <p:cNvSpPr/>
          <p:nvPr/>
        </p:nvSpPr>
        <p:spPr>
          <a:xfrm>
            <a:off x="607219" y="3585716"/>
            <a:ext cx="1835944" cy="0"/>
          </a:xfrm>
          <a:prstGeom prst="line">
            <a:avLst/>
          </a:prstGeom>
          <a:noFill/>
          <a:ln w="7144">
            <a:solidFill>
              <a:srgbClr val="D9E1EC"/>
            </a:solidFill>
            <a:prstDash val="dash"/>
          </a:ln>
        </p:spPr>
      </p:sp>
      <p:sp>
        <p:nvSpPr>
          <p:cNvPr id="62" name="Text 60"/>
          <p:cNvSpPr/>
          <p:nvPr/>
        </p:nvSpPr>
        <p:spPr>
          <a:xfrm>
            <a:off x="607219" y="3442841"/>
            <a:ext cx="1679674" cy="117872"/>
          </a:xfrm>
          <a:prstGeom prst="rect">
            <a:avLst/>
          </a:prstGeom>
          <a:noFill/>
          <a:ln/>
        </p:spPr>
        <p:txBody>
          <a:bodyPr wrap="none" lIns="0" tIns="0" rIns="0" bIns="0" rtlCol="0" anchor="t"/>
          <a:lstStyle/>
          <a:p>
            <a:pPr algn="l" indent="0" marL="0">
              <a:lnSpc>
                <a:spcPts val="928"/>
              </a:lnSpc>
              <a:buNone/>
            </a:pPr>
            <a:r>
              <a:rPr lang="en-US" sz="800" dirty="0">
                <a:solidFill>
                  <a:srgbClr val="5B6B82"/>
                </a:solidFill>
                <a:latin typeface="Courier New" pitchFamily="34" charset="0"/>
                <a:ea typeface="Courier New" pitchFamily="34" charset="-122"/>
                <a:cs typeface="Courier New" pitchFamily="34" charset="-120"/>
              </a:rPr>
              <a:t>colsample_bytree</a:t>
            </a:r>
            <a:endParaRPr lang="en-US" sz="800" dirty="0"/>
          </a:p>
        </p:txBody>
      </p:sp>
      <p:sp>
        <p:nvSpPr>
          <p:cNvPr id="63" name="Text 61"/>
          <p:cNvSpPr/>
          <p:nvPr/>
        </p:nvSpPr>
        <p:spPr>
          <a:xfrm>
            <a:off x="2280066" y="3442841"/>
            <a:ext cx="184210" cy="117872"/>
          </a:xfrm>
          <a:prstGeom prst="rect">
            <a:avLst/>
          </a:prstGeom>
          <a:noFill/>
          <a:ln/>
        </p:spPr>
        <p:txBody>
          <a:bodyPr wrap="none" lIns="0" tIns="0" rIns="0" bIns="0" rtlCol="0" anchor="t"/>
          <a:lstStyle/>
          <a:p>
            <a:pPr algn="l" indent="0" marL="0">
              <a:lnSpc>
                <a:spcPts val="928"/>
              </a:lnSpc>
              <a:buNone/>
            </a:pPr>
            <a:r>
              <a:rPr lang="en-US" sz="619" dirty="0">
                <a:solidFill>
                  <a:srgbClr val="0F766E"/>
                </a:solidFill>
                <a:latin typeface="Liberation Sans Narrow" pitchFamily="34" charset="0"/>
                <a:ea typeface="Liberation Sans Narrow" pitchFamily="34" charset="-122"/>
                <a:cs typeface="Liberation Sans Narrow" pitchFamily="34" charset="-120"/>
              </a:rPr>
              <a:t>0.8</a:t>
            </a:r>
            <a:endParaRPr lang="en-US" sz="619" dirty="0"/>
          </a:p>
        </p:txBody>
      </p:sp>
      <p:sp>
        <p:nvSpPr>
          <p:cNvPr id="64" name="Shape 62"/>
          <p:cNvSpPr/>
          <p:nvPr/>
        </p:nvSpPr>
        <p:spPr>
          <a:xfrm>
            <a:off x="2543175" y="3585716"/>
            <a:ext cx="1835944" cy="0"/>
          </a:xfrm>
          <a:prstGeom prst="line">
            <a:avLst/>
          </a:prstGeom>
          <a:noFill/>
          <a:ln w="7144">
            <a:solidFill>
              <a:srgbClr val="D9E1EC"/>
            </a:solidFill>
            <a:prstDash val="dash"/>
          </a:ln>
        </p:spPr>
      </p:sp>
      <p:sp>
        <p:nvSpPr>
          <p:cNvPr id="65" name="Text 63"/>
          <p:cNvSpPr/>
          <p:nvPr/>
        </p:nvSpPr>
        <p:spPr>
          <a:xfrm>
            <a:off x="2543175" y="3442841"/>
            <a:ext cx="1774329" cy="117872"/>
          </a:xfrm>
          <a:prstGeom prst="rect">
            <a:avLst/>
          </a:prstGeom>
          <a:noFill/>
          <a:ln/>
        </p:spPr>
        <p:txBody>
          <a:bodyPr wrap="none" lIns="0" tIns="0" rIns="0" bIns="0" rtlCol="0" anchor="t"/>
          <a:lstStyle/>
          <a:p>
            <a:pPr algn="l" indent="0" marL="0">
              <a:lnSpc>
                <a:spcPts val="928"/>
              </a:lnSpc>
              <a:buNone/>
            </a:pPr>
            <a:r>
              <a:rPr lang="en-US" sz="800" dirty="0">
                <a:solidFill>
                  <a:srgbClr val="5B6B82"/>
                </a:solidFill>
                <a:latin typeface="Courier New" pitchFamily="34" charset="0"/>
                <a:ea typeface="Courier New" pitchFamily="34" charset="-122"/>
                <a:cs typeface="Courier New" pitchFamily="34" charset="-120"/>
              </a:rPr>
              <a:t>min_child_weight</a:t>
            </a:r>
            <a:endParaRPr lang="en-US" sz="800" dirty="0"/>
          </a:p>
        </p:txBody>
      </p:sp>
      <p:sp>
        <p:nvSpPr>
          <p:cNvPr id="66" name="Text 64"/>
          <p:cNvSpPr/>
          <p:nvPr/>
        </p:nvSpPr>
        <p:spPr>
          <a:xfrm>
            <a:off x="4331791" y="3442841"/>
            <a:ext cx="91440" cy="117872"/>
          </a:xfrm>
          <a:prstGeom prst="rect">
            <a:avLst/>
          </a:prstGeom>
          <a:noFill/>
          <a:ln/>
        </p:spPr>
        <p:txBody>
          <a:bodyPr wrap="square" lIns="0" tIns="0" rIns="0" bIns="0" rtlCol="0" anchor="t"/>
          <a:lstStyle/>
          <a:p>
            <a:pPr algn="l" indent="0" marL="0">
              <a:lnSpc>
                <a:spcPts val="928"/>
              </a:lnSpc>
              <a:buNone/>
            </a:pPr>
            <a:r>
              <a:rPr lang="en-US" sz="800" dirty="0">
                <a:solidFill>
                  <a:srgbClr val="0F766E"/>
                </a:solidFill>
                <a:latin typeface="Liberation Sans Narrow" pitchFamily="34" charset="0"/>
                <a:ea typeface="Liberation Sans Narrow" pitchFamily="34" charset="-122"/>
                <a:cs typeface="Liberation Sans Narrow" pitchFamily="34" charset="-120"/>
              </a:rPr>
              <a:t>3</a:t>
            </a:r>
            <a:endParaRPr lang="en-US" sz="800" dirty="0"/>
          </a:p>
        </p:txBody>
      </p:sp>
      <p:sp>
        <p:nvSpPr>
          <p:cNvPr id="67" name="Shape 65"/>
          <p:cNvSpPr/>
          <p:nvPr/>
        </p:nvSpPr>
        <p:spPr>
          <a:xfrm>
            <a:off x="607219" y="3782169"/>
            <a:ext cx="1835944" cy="0"/>
          </a:xfrm>
          <a:prstGeom prst="line">
            <a:avLst/>
          </a:prstGeom>
          <a:noFill/>
          <a:ln w="7144">
            <a:solidFill>
              <a:srgbClr val="D9E1EC"/>
            </a:solidFill>
            <a:prstDash val="dash"/>
          </a:ln>
        </p:spPr>
      </p:sp>
      <p:sp>
        <p:nvSpPr>
          <p:cNvPr id="68" name="Text 66"/>
          <p:cNvSpPr/>
          <p:nvPr/>
        </p:nvSpPr>
        <p:spPr>
          <a:xfrm>
            <a:off x="607219" y="3639294"/>
            <a:ext cx="1679674" cy="117872"/>
          </a:xfrm>
          <a:prstGeom prst="rect">
            <a:avLst/>
          </a:prstGeom>
          <a:noFill/>
          <a:ln/>
        </p:spPr>
        <p:txBody>
          <a:bodyPr wrap="none" lIns="0" tIns="0" rIns="0" bIns="0" rtlCol="0" anchor="t"/>
          <a:lstStyle/>
          <a:p>
            <a:pPr algn="l" indent="0" marL="0">
              <a:lnSpc>
                <a:spcPts val="928"/>
              </a:lnSpc>
              <a:buNone/>
            </a:pPr>
            <a:r>
              <a:rPr lang="en-US" sz="800" dirty="0">
                <a:solidFill>
                  <a:srgbClr val="5B6B82"/>
                </a:solidFill>
                <a:latin typeface="Courier New" pitchFamily="34" charset="0"/>
                <a:ea typeface="Courier New" pitchFamily="34" charset="-122"/>
                <a:cs typeface="Courier New" pitchFamily="34" charset="-120"/>
              </a:rPr>
              <a:t>gamma</a:t>
            </a:r>
            <a:endParaRPr lang="en-US" sz="800" dirty="0"/>
          </a:p>
        </p:txBody>
      </p:sp>
      <p:sp>
        <p:nvSpPr>
          <p:cNvPr id="69" name="Text 67"/>
          <p:cNvSpPr/>
          <p:nvPr/>
        </p:nvSpPr>
        <p:spPr>
          <a:xfrm>
            <a:off x="2280066" y="3639294"/>
            <a:ext cx="184210" cy="117872"/>
          </a:xfrm>
          <a:prstGeom prst="rect">
            <a:avLst/>
          </a:prstGeom>
          <a:noFill/>
          <a:ln/>
        </p:spPr>
        <p:txBody>
          <a:bodyPr wrap="none" lIns="0" tIns="0" rIns="0" bIns="0" rtlCol="0" anchor="t"/>
          <a:lstStyle/>
          <a:p>
            <a:pPr algn="l" indent="0" marL="0">
              <a:lnSpc>
                <a:spcPts val="928"/>
              </a:lnSpc>
              <a:buNone/>
            </a:pPr>
            <a:r>
              <a:rPr lang="en-US" sz="619" dirty="0">
                <a:solidFill>
                  <a:srgbClr val="0F766E"/>
                </a:solidFill>
                <a:latin typeface="Liberation Sans Narrow" pitchFamily="34" charset="0"/>
                <a:ea typeface="Liberation Sans Narrow" pitchFamily="34" charset="-122"/>
                <a:cs typeface="Liberation Sans Narrow" pitchFamily="34" charset="-120"/>
              </a:rPr>
              <a:t>0.1</a:t>
            </a:r>
            <a:endParaRPr lang="en-US" sz="619" dirty="0"/>
          </a:p>
        </p:txBody>
      </p:sp>
      <p:sp>
        <p:nvSpPr>
          <p:cNvPr id="70" name="Shape 68"/>
          <p:cNvSpPr/>
          <p:nvPr/>
        </p:nvSpPr>
        <p:spPr>
          <a:xfrm>
            <a:off x="2543175" y="3782169"/>
            <a:ext cx="1835944" cy="0"/>
          </a:xfrm>
          <a:prstGeom prst="line">
            <a:avLst/>
          </a:prstGeom>
          <a:noFill/>
          <a:ln w="7144">
            <a:solidFill>
              <a:srgbClr val="D9E1EC"/>
            </a:solidFill>
            <a:prstDash val="dash"/>
          </a:ln>
        </p:spPr>
      </p:sp>
      <p:sp>
        <p:nvSpPr>
          <p:cNvPr id="71" name="Text 69"/>
          <p:cNvSpPr/>
          <p:nvPr/>
        </p:nvSpPr>
        <p:spPr>
          <a:xfrm>
            <a:off x="2543175" y="3639294"/>
            <a:ext cx="1679674" cy="117872"/>
          </a:xfrm>
          <a:prstGeom prst="rect">
            <a:avLst/>
          </a:prstGeom>
          <a:noFill/>
          <a:ln/>
        </p:spPr>
        <p:txBody>
          <a:bodyPr wrap="none" lIns="0" tIns="0" rIns="0" bIns="0" rtlCol="0" anchor="t"/>
          <a:lstStyle/>
          <a:p>
            <a:pPr algn="l" indent="0" marL="0">
              <a:lnSpc>
                <a:spcPts val="928"/>
              </a:lnSpc>
              <a:buNone/>
            </a:pPr>
            <a:r>
              <a:rPr lang="en-US" sz="800" dirty="0">
                <a:solidFill>
                  <a:srgbClr val="5B6B82"/>
                </a:solidFill>
                <a:latin typeface="Liberation Sans Narrow" pitchFamily="34" charset="0"/>
                <a:ea typeface="Liberation Sans Narrow" pitchFamily="34" charset="-122"/>
                <a:cs typeface="Liberation Sans Narrow" pitchFamily="34" charset="-120"/>
              </a:rPr>
              <a:t>reg_alpha (L1)</a:t>
            </a:r>
            <a:endParaRPr lang="en-US" sz="800" dirty="0"/>
          </a:p>
        </p:txBody>
      </p:sp>
      <p:sp>
        <p:nvSpPr>
          <p:cNvPr id="72" name="Text 70"/>
          <p:cNvSpPr/>
          <p:nvPr/>
        </p:nvSpPr>
        <p:spPr>
          <a:xfrm>
            <a:off x="4216023" y="3639294"/>
            <a:ext cx="184210" cy="117872"/>
          </a:xfrm>
          <a:prstGeom prst="rect">
            <a:avLst/>
          </a:prstGeom>
          <a:noFill/>
          <a:ln/>
        </p:spPr>
        <p:txBody>
          <a:bodyPr wrap="none" lIns="0" tIns="0" rIns="0" bIns="0" rtlCol="0" anchor="t"/>
          <a:lstStyle/>
          <a:p>
            <a:pPr algn="l" indent="0" marL="0">
              <a:lnSpc>
                <a:spcPts val="928"/>
              </a:lnSpc>
              <a:buNone/>
            </a:pPr>
            <a:r>
              <a:rPr lang="en-US" sz="619" dirty="0">
                <a:solidFill>
                  <a:srgbClr val="0F766E"/>
                </a:solidFill>
                <a:latin typeface="Liberation Sans Narrow" pitchFamily="34" charset="0"/>
                <a:ea typeface="Liberation Sans Narrow" pitchFamily="34" charset="-122"/>
                <a:cs typeface="Liberation Sans Narrow" pitchFamily="34" charset="-120"/>
              </a:rPr>
              <a:t>0.1</a:t>
            </a:r>
            <a:endParaRPr lang="en-US" sz="619" dirty="0"/>
          </a:p>
        </p:txBody>
      </p:sp>
      <p:sp>
        <p:nvSpPr>
          <p:cNvPr id="73" name="Shape 71"/>
          <p:cNvSpPr/>
          <p:nvPr/>
        </p:nvSpPr>
        <p:spPr>
          <a:xfrm>
            <a:off x="607219" y="3978622"/>
            <a:ext cx="1835944" cy="0"/>
          </a:xfrm>
          <a:prstGeom prst="line">
            <a:avLst/>
          </a:prstGeom>
          <a:noFill/>
          <a:ln w="7144">
            <a:solidFill>
              <a:srgbClr val="D9E1EC"/>
            </a:solidFill>
            <a:prstDash val="dash"/>
          </a:ln>
        </p:spPr>
      </p:sp>
      <p:sp>
        <p:nvSpPr>
          <p:cNvPr id="74" name="Text 72"/>
          <p:cNvSpPr/>
          <p:nvPr/>
        </p:nvSpPr>
        <p:spPr>
          <a:xfrm>
            <a:off x="607219" y="3835747"/>
            <a:ext cx="1679674" cy="117872"/>
          </a:xfrm>
          <a:prstGeom prst="rect">
            <a:avLst/>
          </a:prstGeom>
          <a:noFill/>
          <a:ln/>
        </p:spPr>
        <p:txBody>
          <a:bodyPr wrap="none" lIns="0" tIns="0" rIns="0" bIns="0" rtlCol="0" anchor="t"/>
          <a:lstStyle/>
          <a:p>
            <a:pPr algn="l" indent="0" marL="0">
              <a:lnSpc>
                <a:spcPts val="928"/>
              </a:lnSpc>
              <a:buNone/>
            </a:pPr>
            <a:r>
              <a:rPr lang="en-US" sz="800" dirty="0">
                <a:solidFill>
                  <a:srgbClr val="5B6B82"/>
                </a:solidFill>
                <a:latin typeface="Liberation Sans Narrow" pitchFamily="34" charset="0"/>
                <a:ea typeface="Liberation Sans Narrow" pitchFamily="34" charset="-122"/>
                <a:cs typeface="Liberation Sans Narrow" pitchFamily="34" charset="-120"/>
              </a:rPr>
              <a:t>reg_lambda (L2)</a:t>
            </a:r>
            <a:endParaRPr lang="en-US" sz="800" dirty="0"/>
          </a:p>
        </p:txBody>
      </p:sp>
      <p:sp>
        <p:nvSpPr>
          <p:cNvPr id="75" name="Text 73"/>
          <p:cNvSpPr/>
          <p:nvPr/>
        </p:nvSpPr>
        <p:spPr>
          <a:xfrm>
            <a:off x="2280066" y="3835747"/>
            <a:ext cx="184210" cy="117872"/>
          </a:xfrm>
          <a:prstGeom prst="rect">
            <a:avLst/>
          </a:prstGeom>
          <a:noFill/>
          <a:ln/>
        </p:spPr>
        <p:txBody>
          <a:bodyPr wrap="none" lIns="0" tIns="0" rIns="0" bIns="0" rtlCol="0" anchor="t"/>
          <a:lstStyle/>
          <a:p>
            <a:pPr algn="l" indent="0" marL="0">
              <a:lnSpc>
                <a:spcPts val="928"/>
              </a:lnSpc>
              <a:buNone/>
            </a:pPr>
            <a:r>
              <a:rPr lang="en-US" sz="619" dirty="0">
                <a:solidFill>
                  <a:srgbClr val="0F766E"/>
                </a:solidFill>
                <a:latin typeface="Liberation Sans Narrow" pitchFamily="34" charset="0"/>
                <a:ea typeface="Liberation Sans Narrow" pitchFamily="34" charset="-122"/>
                <a:cs typeface="Liberation Sans Narrow" pitchFamily="34" charset="-120"/>
              </a:rPr>
              <a:t>1.0</a:t>
            </a:r>
            <a:endParaRPr lang="en-US" sz="619" dirty="0"/>
          </a:p>
        </p:txBody>
      </p:sp>
      <p:sp>
        <p:nvSpPr>
          <p:cNvPr id="76" name="Shape 74"/>
          <p:cNvSpPr/>
          <p:nvPr/>
        </p:nvSpPr>
        <p:spPr>
          <a:xfrm>
            <a:off x="2543175" y="3978622"/>
            <a:ext cx="1835944" cy="0"/>
          </a:xfrm>
          <a:prstGeom prst="line">
            <a:avLst/>
          </a:prstGeom>
          <a:noFill/>
          <a:ln w="7144">
            <a:solidFill>
              <a:srgbClr val="D9E1EC"/>
            </a:solidFill>
            <a:prstDash val="dash"/>
          </a:ln>
        </p:spPr>
      </p:sp>
      <p:sp>
        <p:nvSpPr>
          <p:cNvPr id="77" name="Text 75"/>
          <p:cNvSpPr/>
          <p:nvPr/>
        </p:nvSpPr>
        <p:spPr>
          <a:xfrm>
            <a:off x="2543175" y="3835747"/>
            <a:ext cx="1159297" cy="117872"/>
          </a:xfrm>
          <a:prstGeom prst="rect">
            <a:avLst/>
          </a:prstGeom>
          <a:noFill/>
          <a:ln/>
        </p:spPr>
        <p:txBody>
          <a:bodyPr wrap="none" lIns="0" tIns="0" rIns="0" bIns="0" rtlCol="0" anchor="t"/>
          <a:lstStyle/>
          <a:p>
            <a:pPr algn="l" indent="0" marL="0">
              <a:lnSpc>
                <a:spcPts val="928"/>
              </a:lnSpc>
              <a:buNone/>
            </a:pPr>
            <a:r>
              <a:rPr lang="en-US" sz="800" dirty="0">
                <a:solidFill>
                  <a:srgbClr val="5B6B82"/>
                </a:solidFill>
                <a:latin typeface="Courier New" pitchFamily="34" charset="0"/>
                <a:ea typeface="Courier New" pitchFamily="34" charset="-122"/>
                <a:cs typeface="Courier New" pitchFamily="34" charset="-120"/>
              </a:rPr>
              <a:t>objective</a:t>
            </a:r>
            <a:endParaRPr lang="en-US" sz="800" dirty="0"/>
          </a:p>
        </p:txBody>
      </p:sp>
      <p:sp>
        <p:nvSpPr>
          <p:cNvPr id="78" name="Text 76"/>
          <p:cNvSpPr/>
          <p:nvPr/>
        </p:nvSpPr>
        <p:spPr>
          <a:xfrm>
            <a:off x="3716759" y="3835747"/>
            <a:ext cx="662360" cy="117872"/>
          </a:xfrm>
          <a:prstGeom prst="rect">
            <a:avLst/>
          </a:prstGeom>
          <a:noFill/>
          <a:ln/>
        </p:spPr>
        <p:txBody>
          <a:bodyPr wrap="none" lIns="0" tIns="0" rIns="0" bIns="0" rtlCol="0" anchor="t"/>
          <a:lstStyle/>
          <a:p>
            <a:pPr algn="l" indent="0" marL="0">
              <a:lnSpc>
                <a:spcPts val="928"/>
              </a:lnSpc>
              <a:buNone/>
            </a:pPr>
            <a:r>
              <a:rPr lang="en-US" sz="619" dirty="0">
                <a:solidFill>
                  <a:srgbClr val="0F766E"/>
                </a:solidFill>
                <a:latin typeface="Courier New" pitchFamily="34" charset="0"/>
                <a:ea typeface="Courier New" pitchFamily="34" charset="-122"/>
                <a:cs typeface="Courier New" pitchFamily="34" charset="-120"/>
              </a:rPr>
              <a:t>multi:softprob</a:t>
            </a:r>
            <a:endParaRPr lang="en-US" sz="619" dirty="0"/>
          </a:p>
        </p:txBody>
      </p:sp>
      <p:sp>
        <p:nvSpPr>
          <p:cNvPr id="79" name="Shape 77"/>
          <p:cNvSpPr/>
          <p:nvPr/>
        </p:nvSpPr>
        <p:spPr>
          <a:xfrm>
            <a:off x="607219" y="4175075"/>
            <a:ext cx="3771900" cy="0"/>
          </a:xfrm>
          <a:prstGeom prst="line">
            <a:avLst/>
          </a:prstGeom>
          <a:noFill/>
          <a:ln w="7144">
            <a:solidFill>
              <a:srgbClr val="D9E1EC"/>
            </a:solidFill>
            <a:prstDash val="dash"/>
          </a:ln>
        </p:spPr>
      </p:sp>
      <p:sp>
        <p:nvSpPr>
          <p:cNvPr id="80" name="Text 78"/>
          <p:cNvSpPr/>
          <p:nvPr/>
        </p:nvSpPr>
        <p:spPr>
          <a:xfrm>
            <a:off x="607219" y="4032200"/>
            <a:ext cx="3331778" cy="117872"/>
          </a:xfrm>
          <a:prstGeom prst="rect">
            <a:avLst/>
          </a:prstGeom>
          <a:noFill/>
          <a:ln/>
        </p:spPr>
        <p:txBody>
          <a:bodyPr wrap="none" lIns="0" tIns="0" rIns="0" bIns="0" rtlCol="0" anchor="t"/>
          <a:lstStyle/>
          <a:p>
            <a:pPr algn="l" indent="0" marL="0">
              <a:lnSpc>
                <a:spcPts val="928"/>
              </a:lnSpc>
              <a:buNone/>
            </a:pPr>
            <a:r>
              <a:rPr lang="en-US" sz="800" dirty="0">
                <a:solidFill>
                  <a:srgbClr val="5B6B82"/>
                </a:solidFill>
                <a:latin typeface="Courier New" pitchFamily="34" charset="0"/>
                <a:ea typeface="Courier New" pitchFamily="34" charset="-122"/>
                <a:cs typeface="Courier New" pitchFamily="34" charset="-120"/>
              </a:rPr>
              <a:t>early_stopping</a:t>
            </a:r>
            <a:endParaRPr lang="en-US" sz="800" dirty="0"/>
          </a:p>
        </p:txBody>
      </p:sp>
      <p:sp>
        <p:nvSpPr>
          <p:cNvPr id="81" name="Text 79"/>
          <p:cNvSpPr/>
          <p:nvPr/>
        </p:nvSpPr>
        <p:spPr>
          <a:xfrm>
            <a:off x="3937326" y="4032200"/>
            <a:ext cx="457751" cy="117872"/>
          </a:xfrm>
          <a:prstGeom prst="rect">
            <a:avLst/>
          </a:prstGeom>
          <a:noFill/>
          <a:ln/>
        </p:spPr>
        <p:txBody>
          <a:bodyPr wrap="none" lIns="0" tIns="0" rIns="0" bIns="0" rtlCol="0" anchor="t"/>
          <a:lstStyle/>
          <a:p>
            <a:pPr algn="l" indent="0" marL="0">
              <a:lnSpc>
                <a:spcPts val="928"/>
              </a:lnSpc>
              <a:buNone/>
            </a:pPr>
            <a:r>
              <a:rPr lang="en-US" sz="619" dirty="0">
                <a:solidFill>
                  <a:srgbClr val="0F766E"/>
                </a:solidFill>
                <a:latin typeface="Liberation Sans Narrow" pitchFamily="34" charset="0"/>
                <a:ea typeface="Liberation Sans Narrow" pitchFamily="34" charset="-122"/>
                <a:cs typeface="Liberation Sans Narrow" pitchFamily="34" charset="-120"/>
              </a:rPr>
              <a:t>50 rounds</a:t>
            </a:r>
            <a:endParaRPr lang="en-US" sz="619" dirty="0"/>
          </a:p>
        </p:txBody>
      </p:sp>
      <p:sp>
        <p:nvSpPr>
          <p:cNvPr id="82" name="Text 80"/>
          <p:cNvSpPr/>
          <p:nvPr/>
        </p:nvSpPr>
        <p:spPr>
          <a:xfrm>
            <a:off x="4632722" y="2607022"/>
            <a:ext cx="4050506" cy="1701998"/>
          </a:xfrm>
          <a:prstGeom prst="roundRect">
            <a:avLst>
              <a:gd name="adj" fmla="val 5596"/>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83" name="Text 81"/>
          <p:cNvSpPr/>
          <p:nvPr/>
        </p:nvSpPr>
        <p:spPr>
          <a:xfrm>
            <a:off x="4750594" y="2710607"/>
            <a:ext cx="3814763" cy="94012"/>
          </a:xfrm>
          <a:prstGeom prst="rect">
            <a:avLst/>
          </a:prstGeom>
          <a:noFill/>
          <a:ln/>
        </p:spPr>
        <p:txBody>
          <a:bodyPr wrap="none" lIns="0" tIns="0" rIns="0" bIns="0" rtlCol="0" anchor="t">
            <a:normAutofit/>
          </a:bodyPr>
          <a:lstStyle/>
          <a:p>
            <a:pPr algn="l" indent="0" marL="0">
              <a:lnSpc>
                <a:spcPts val="844"/>
              </a:lnSpc>
              <a:buNone/>
            </a:pPr>
            <a:r>
              <a:rPr lang="en-US" sz="800" b="1" spc="101" kern="0" dirty="0">
                <a:solidFill>
                  <a:srgbClr val="0F766E"/>
                </a:solidFill>
                <a:latin typeface="Carlito" pitchFamily="34" charset="0"/>
                <a:ea typeface="Carlito" pitchFamily="34" charset="-122"/>
                <a:cs typeface="Carlito" pitchFamily="34" charset="-120"/>
              </a:rPr>
              <a:t>IMBALANCE HANDLING</a:t>
            </a:r>
            <a:endParaRPr lang="en-US" sz="800" dirty="0"/>
          </a:p>
        </p:txBody>
      </p:sp>
      <p:sp>
        <p:nvSpPr>
          <p:cNvPr id="84" name="Text 82"/>
          <p:cNvSpPr/>
          <p:nvPr/>
        </p:nvSpPr>
        <p:spPr>
          <a:xfrm>
            <a:off x="4750594" y="2832050"/>
            <a:ext cx="3924490" cy="111871"/>
          </a:xfrm>
          <a:prstGeom prst="rect">
            <a:avLst/>
          </a:prstGeom>
          <a:noFill/>
          <a:ln/>
        </p:spPr>
        <p:txBody>
          <a:bodyPr wrap="square" lIns="0" tIns="0" rIns="0" bIns="0" rtlCol="0" anchor="t">
            <a:normAutofit/>
          </a:bodyPr>
          <a:lstStyle/>
          <a:p>
            <a:pPr algn="l" indent="0" marL="0">
              <a:lnSpc>
                <a:spcPts val="1097"/>
              </a:lnSpc>
              <a:buNone/>
            </a:pPr>
            <a:r>
              <a:rPr lang="en-US" sz="800" b="1" dirty="0">
                <a:solidFill>
                  <a:srgbClr val="0F1F3D"/>
                </a:solidFill>
                <a:latin typeface="Carlito" pitchFamily="34" charset="0"/>
                <a:ea typeface="Carlito" pitchFamily="34" charset="-122"/>
                <a:cs typeface="Carlito" pitchFamily="34" charset="-120"/>
              </a:rPr>
              <a:t>Three complementary pressures</a:t>
            </a:r>
            <a:endParaRPr lang="en-US" sz="800" dirty="0"/>
          </a:p>
        </p:txBody>
      </p:sp>
      <p:sp>
        <p:nvSpPr>
          <p:cNvPr id="85" name="Shape 83"/>
          <p:cNvSpPr/>
          <p:nvPr/>
        </p:nvSpPr>
        <p:spPr>
          <a:xfrm>
            <a:off x="4750594" y="3291036"/>
            <a:ext cx="3814763" cy="0"/>
          </a:xfrm>
          <a:prstGeom prst="line">
            <a:avLst/>
          </a:prstGeom>
          <a:noFill/>
          <a:ln w="7144">
            <a:solidFill>
              <a:srgbClr val="E8EDF4"/>
            </a:solidFill>
            <a:prstDash val="solid"/>
          </a:ln>
        </p:spPr>
      </p:sp>
      <p:sp>
        <p:nvSpPr>
          <p:cNvPr id="86" name="Text 84"/>
          <p:cNvSpPr/>
          <p:nvPr/>
        </p:nvSpPr>
        <p:spPr>
          <a:xfrm>
            <a:off x="4750594" y="3014216"/>
            <a:ext cx="157163" cy="157163"/>
          </a:xfrm>
          <a:prstGeom prst="roundRect">
            <a:avLst>
              <a:gd name="adj" fmla="val 36364"/>
            </a:avLst>
          </a:prstGeom>
          <a:solidFill>
            <a:srgbClr val="EEF3F8"/>
          </a:solidFill>
          <a:ln/>
        </p:spPr>
        <p:txBody>
          <a:bodyPr wrap="square" rtlCol="0" anchor="ctr"/>
          <a:lstStyle/>
          <a:p>
            <a:pPr indent="0" marL="0">
              <a:buNone/>
            </a:pPr>
            <a:endParaRPr lang="en-US" dirty="0"/>
          </a:p>
        </p:txBody>
      </p:sp>
      <p:sp>
        <p:nvSpPr>
          <p:cNvPr id="87" name="Text 85"/>
          <p:cNvSpPr/>
          <p:nvPr/>
        </p:nvSpPr>
        <p:spPr>
          <a:xfrm>
            <a:off x="4750594" y="3014216"/>
            <a:ext cx="185738" cy="157163"/>
          </a:xfrm>
          <a:prstGeom prst="rect">
            <a:avLst/>
          </a:prstGeom>
          <a:noFill/>
          <a:ln/>
        </p:spPr>
        <p:txBody>
          <a:bodyPr wrap="none" lIns="0" tIns="0" rIns="0" bIns="0" rtlCol="0" anchor="ctr"/>
          <a:lstStyle/>
          <a:p>
            <a:pPr algn="ctr" indent="0" marL="0">
              <a:lnSpc>
                <a:spcPts val="844"/>
              </a:lnSpc>
              <a:buNone/>
            </a:pPr>
            <a:r>
              <a:rPr lang="en-US" sz="800" b="1" dirty="0">
                <a:solidFill>
                  <a:srgbClr val="0F766E"/>
                </a:solidFill>
                <a:latin typeface="Courier New" pitchFamily="34" charset="0"/>
                <a:ea typeface="Courier New" pitchFamily="34" charset="-122"/>
                <a:cs typeface="Courier New" pitchFamily="34" charset="-120"/>
              </a:rPr>
              <a:t>a</a:t>
            </a:r>
            <a:endParaRPr lang="en-US" sz="800" dirty="0"/>
          </a:p>
        </p:txBody>
      </p:sp>
      <p:sp>
        <p:nvSpPr>
          <p:cNvPr id="88" name="Text 86"/>
          <p:cNvSpPr/>
          <p:nvPr/>
        </p:nvSpPr>
        <p:spPr>
          <a:xfrm>
            <a:off x="4964906" y="3139232"/>
            <a:ext cx="3600450" cy="105370"/>
          </a:xfrm>
          <a:prstGeom prst="rect">
            <a:avLst/>
          </a:prstGeom>
          <a:noFill/>
          <a:ln/>
        </p:spPr>
        <p:txBody>
          <a:bodyPr wrap="square" lIns="0" tIns="0" rIns="0" bIns="0" rtlCol="0" anchor="t"/>
          <a:lstStyle/>
          <a:p>
            <a:pPr algn="l" indent="0" marL="0">
              <a:lnSpc>
                <a:spcPts val="886"/>
              </a:lnSpc>
              <a:buNone/>
            </a:pPr>
            <a:r>
              <a:rPr lang="en-US" sz="600" dirty="0">
                <a:solidFill>
                  <a:srgbClr val="5B6B82"/>
                </a:solidFill>
                <a:latin typeface="Carlito" pitchFamily="34" charset="0"/>
                <a:ea typeface="Carlito" pitchFamily="34" charset="-122"/>
                <a:cs typeface="Carlito" pitchFamily="34" charset="-120"/>
              </a:rPr>
              <a:t>k=5 neighbors, applied to training split only. Linear interpolation in feature space.</a:t>
            </a:r>
            <a:endParaRPr lang="en-US" sz="600" dirty="0"/>
          </a:p>
        </p:txBody>
      </p:sp>
      <p:sp>
        <p:nvSpPr>
          <p:cNvPr id="89" name="Text 87"/>
          <p:cNvSpPr/>
          <p:nvPr/>
        </p:nvSpPr>
        <p:spPr>
          <a:xfrm>
            <a:off x="4964906" y="3014216"/>
            <a:ext cx="3234428" cy="164592"/>
          </a:xfrm>
          <a:prstGeom prst="rect">
            <a:avLst/>
          </a:prstGeom>
          <a:noFill/>
          <a:ln/>
        </p:spPr>
        <p:txBody>
          <a:bodyPr wrap="none" lIns="0" tIns="0" rIns="0" bIns="0" rtlCol="0" anchor="t"/>
          <a:lstStyle/>
          <a:p>
            <a:pPr algn="l" indent="0" marL="0">
              <a:lnSpc>
                <a:spcPts val="928"/>
              </a:lnSpc>
              <a:buNone/>
            </a:pPr>
            <a:r>
              <a:rPr lang="en-US" sz="800" b="1" dirty="0">
                <a:solidFill>
                  <a:srgbClr val="0F1F3D"/>
                </a:solidFill>
                <a:latin typeface="Carlito" pitchFamily="34" charset="0"/>
                <a:ea typeface="Carlito" pitchFamily="34" charset="-122"/>
                <a:cs typeface="Carlito" pitchFamily="34" charset="-120"/>
              </a:rPr>
              <a:t>Data level — SMOTE</a:t>
            </a:r>
            <a:endParaRPr lang="en-US" sz="800" dirty="0"/>
          </a:p>
        </p:txBody>
      </p:sp>
      <p:sp>
        <p:nvSpPr>
          <p:cNvPr id="90" name="Shape 88"/>
          <p:cNvSpPr/>
          <p:nvPr/>
        </p:nvSpPr>
        <p:spPr>
          <a:xfrm>
            <a:off x="4750594" y="3750022"/>
            <a:ext cx="3814763" cy="0"/>
          </a:xfrm>
          <a:prstGeom prst="line">
            <a:avLst/>
          </a:prstGeom>
          <a:noFill/>
          <a:ln w="7144">
            <a:solidFill>
              <a:srgbClr val="E8EDF4"/>
            </a:solidFill>
            <a:prstDash val="solid"/>
          </a:ln>
        </p:spPr>
      </p:sp>
      <p:sp>
        <p:nvSpPr>
          <p:cNvPr id="91" name="Text 89"/>
          <p:cNvSpPr/>
          <p:nvPr/>
        </p:nvSpPr>
        <p:spPr>
          <a:xfrm>
            <a:off x="4750594" y="3337471"/>
            <a:ext cx="157163" cy="157163"/>
          </a:xfrm>
          <a:prstGeom prst="roundRect">
            <a:avLst>
              <a:gd name="adj" fmla="val 36364"/>
            </a:avLst>
          </a:prstGeom>
          <a:solidFill>
            <a:srgbClr val="EEF3F8"/>
          </a:solidFill>
          <a:ln/>
        </p:spPr>
        <p:txBody>
          <a:bodyPr wrap="square" rtlCol="0" anchor="ctr"/>
          <a:lstStyle/>
          <a:p>
            <a:pPr indent="0" marL="0">
              <a:buNone/>
            </a:pPr>
            <a:endParaRPr lang="en-US" dirty="0"/>
          </a:p>
        </p:txBody>
      </p:sp>
      <p:sp>
        <p:nvSpPr>
          <p:cNvPr id="92" name="Text 90"/>
          <p:cNvSpPr/>
          <p:nvPr/>
        </p:nvSpPr>
        <p:spPr>
          <a:xfrm>
            <a:off x="4750594" y="3337471"/>
            <a:ext cx="185738" cy="157163"/>
          </a:xfrm>
          <a:prstGeom prst="rect">
            <a:avLst/>
          </a:prstGeom>
          <a:noFill/>
          <a:ln/>
        </p:spPr>
        <p:txBody>
          <a:bodyPr wrap="none" lIns="0" tIns="0" rIns="0" bIns="0" rtlCol="0" anchor="ctr"/>
          <a:lstStyle/>
          <a:p>
            <a:pPr algn="ctr" indent="0" marL="0">
              <a:lnSpc>
                <a:spcPts val="844"/>
              </a:lnSpc>
              <a:buNone/>
            </a:pPr>
            <a:r>
              <a:rPr lang="en-US" sz="800" b="1" dirty="0">
                <a:solidFill>
                  <a:srgbClr val="0F766E"/>
                </a:solidFill>
                <a:latin typeface="Courier New" pitchFamily="34" charset="0"/>
                <a:ea typeface="Courier New" pitchFamily="34" charset="-122"/>
                <a:cs typeface="Courier New" pitchFamily="34" charset="-120"/>
              </a:rPr>
              <a:t>b</a:t>
            </a:r>
            <a:endParaRPr lang="en-US" sz="800" dirty="0"/>
          </a:p>
        </p:txBody>
      </p:sp>
      <p:sp>
        <p:nvSpPr>
          <p:cNvPr id="93" name="Text 91"/>
          <p:cNvSpPr/>
          <p:nvPr/>
        </p:nvSpPr>
        <p:spPr>
          <a:xfrm>
            <a:off x="4964906" y="3582144"/>
            <a:ext cx="888616" cy="121444"/>
          </a:xfrm>
          <a:prstGeom prst="roundRect">
            <a:avLst>
              <a:gd name="adj" fmla="val 23529"/>
            </a:avLst>
          </a:prstGeom>
          <a:solidFill>
            <a:srgbClr val="14B8A6">
              <a:alpha val="8000"/>
            </a:srgbClr>
          </a:solidFill>
          <a:ln/>
        </p:spPr>
        <p:txBody>
          <a:bodyPr wrap="square" rtlCol="0" anchor="ctr"/>
          <a:lstStyle/>
          <a:p>
            <a:pPr indent="0" marL="0">
              <a:buNone/>
            </a:pPr>
            <a:endParaRPr lang="en-US" dirty="0"/>
          </a:p>
        </p:txBody>
      </p:sp>
      <p:sp>
        <p:nvSpPr>
          <p:cNvPr id="94" name="Text 92"/>
          <p:cNvSpPr/>
          <p:nvPr/>
        </p:nvSpPr>
        <p:spPr>
          <a:xfrm>
            <a:off x="4964906" y="3462486"/>
            <a:ext cx="3600450" cy="125403"/>
          </a:xfrm>
          <a:prstGeom prst="rect">
            <a:avLst/>
          </a:prstGeom>
          <a:noFill/>
          <a:ln/>
        </p:spPr>
        <p:txBody>
          <a:bodyPr wrap="square" lIns="0" tIns="0" rIns="0" bIns="0" rtlCol="0" anchor="t"/>
          <a:lstStyle/>
          <a:p>
            <a:pPr algn="l" indent="0" marL="0">
              <a:lnSpc>
                <a:spcPts val="886"/>
              </a:lnSpc>
              <a:buNone/>
            </a:pPr>
            <a:r>
              <a:rPr lang="en-US" sz="600" dirty="0">
                <a:solidFill>
                  <a:srgbClr val="5B6B82"/>
                </a:solidFill>
                <a:latin typeface="Carlito" pitchFamily="34" charset="0"/>
                <a:ea typeface="Carlito" pitchFamily="34" charset="-122"/>
                <a:cs typeface="Carlito" pitchFamily="34" charset="-120"/>
              </a:rPr>
              <a:t>Inverse-frequency weighting. Forces higher penalty on minority-class errors.</a:t>
            </a:r>
            <a:endParaRPr lang="en-US" sz="600" dirty="0"/>
          </a:p>
        </p:txBody>
      </p:sp>
      <p:sp>
        <p:nvSpPr>
          <p:cNvPr id="95" name="Text 93"/>
          <p:cNvSpPr/>
          <p:nvPr/>
        </p:nvSpPr>
        <p:spPr>
          <a:xfrm>
            <a:off x="4964906" y="3337471"/>
            <a:ext cx="3710178" cy="164592"/>
          </a:xfrm>
          <a:prstGeom prst="rect">
            <a:avLst/>
          </a:prstGeom>
          <a:noFill/>
          <a:ln/>
        </p:spPr>
        <p:txBody>
          <a:bodyPr wrap="square" lIns="0" tIns="0" rIns="0" bIns="0" rtlCol="0" anchor="t"/>
          <a:lstStyle/>
          <a:p>
            <a:pPr algn="l" indent="0" marL="0">
              <a:lnSpc>
                <a:spcPts val="928"/>
              </a:lnSpc>
              <a:buNone/>
            </a:pPr>
            <a:r>
              <a:rPr lang="en-US" sz="800" b="1" dirty="0">
                <a:solidFill>
                  <a:srgbClr val="0F1F3D"/>
                </a:solidFill>
                <a:latin typeface="Carlito" pitchFamily="34" charset="0"/>
                <a:ea typeface="Carlito" pitchFamily="34" charset="-122"/>
                <a:cs typeface="Carlito" pitchFamily="34" charset="-120"/>
              </a:rPr>
              <a:t>Algorithmic level — Class Weights</a:t>
            </a:r>
            <a:endParaRPr lang="en-US" sz="800" dirty="0"/>
          </a:p>
        </p:txBody>
      </p:sp>
      <p:sp>
        <p:nvSpPr>
          <p:cNvPr id="96" name="Text 94"/>
          <p:cNvSpPr/>
          <p:nvPr/>
        </p:nvSpPr>
        <p:spPr>
          <a:xfrm>
            <a:off x="4942046" y="3574858"/>
            <a:ext cx="934336" cy="136017"/>
          </a:xfrm>
          <a:prstGeom prst="roundRect">
            <a:avLst>
              <a:gd name="adj" fmla="val 21008"/>
            </a:avLst>
          </a:prstGeom>
          <a:solidFill>
            <a:srgbClr val="14B8A6">
              <a:alpha val="8000"/>
            </a:srgbClr>
          </a:solidFill>
          <a:ln/>
        </p:spPr>
        <p:txBody>
          <a:bodyPr wrap="square" rtlCol="0" anchor="ctr"/>
          <a:lstStyle/>
          <a:p>
            <a:pPr indent="0" marL="0">
              <a:buNone/>
            </a:pPr>
            <a:endParaRPr lang="en-US" dirty="0"/>
          </a:p>
        </p:txBody>
      </p:sp>
      <p:sp>
        <p:nvSpPr>
          <p:cNvPr id="97" name="Text 95"/>
          <p:cNvSpPr/>
          <p:nvPr/>
        </p:nvSpPr>
        <p:spPr>
          <a:xfrm>
            <a:off x="4964906" y="3582144"/>
            <a:ext cx="888616" cy="121444"/>
          </a:xfrm>
          <a:prstGeom prst="rect">
            <a:avLst/>
          </a:prstGeom>
          <a:noFill/>
          <a:ln/>
        </p:spPr>
        <p:txBody>
          <a:bodyPr wrap="none" lIns="0" tIns="0" rIns="0" bIns="0" rtlCol="0" anchor="ctr"/>
          <a:lstStyle/>
          <a:p>
            <a:pPr algn="ctr" indent="0" marL="0">
              <a:lnSpc>
                <a:spcPts val="844"/>
              </a:lnSpc>
              <a:buNone/>
            </a:pPr>
            <a:r>
              <a:rPr lang="en-US" sz="800" dirty="0">
                <a:solidFill>
                  <a:srgbClr val="0F766E"/>
                </a:solidFill>
                <a:latin typeface="Courier New" pitchFamily="34" charset="0"/>
                <a:ea typeface="Courier New" pitchFamily="34" charset="-122"/>
                <a:cs typeface="Courier New" pitchFamily="34" charset="-120"/>
              </a:rPr>
              <a:t>w_c = N / (K · N_c)</a:t>
            </a:r>
            <a:endParaRPr lang="en-US" sz="800" dirty="0"/>
          </a:p>
        </p:txBody>
      </p:sp>
      <p:sp>
        <p:nvSpPr>
          <p:cNvPr id="98" name="Text 96"/>
          <p:cNvSpPr/>
          <p:nvPr/>
        </p:nvSpPr>
        <p:spPr>
          <a:xfrm>
            <a:off x="4750594" y="3796457"/>
            <a:ext cx="157163" cy="157163"/>
          </a:xfrm>
          <a:prstGeom prst="roundRect">
            <a:avLst>
              <a:gd name="adj" fmla="val 36364"/>
            </a:avLst>
          </a:prstGeom>
          <a:solidFill>
            <a:srgbClr val="EEF3F8"/>
          </a:solidFill>
          <a:ln/>
        </p:spPr>
        <p:txBody>
          <a:bodyPr wrap="square" rtlCol="0" anchor="ctr"/>
          <a:lstStyle/>
          <a:p>
            <a:pPr indent="0" marL="0">
              <a:buNone/>
            </a:pPr>
            <a:endParaRPr lang="en-US" dirty="0"/>
          </a:p>
        </p:txBody>
      </p:sp>
      <p:sp>
        <p:nvSpPr>
          <p:cNvPr id="99" name="Text 97"/>
          <p:cNvSpPr/>
          <p:nvPr/>
        </p:nvSpPr>
        <p:spPr>
          <a:xfrm>
            <a:off x="4750594" y="3796457"/>
            <a:ext cx="185738" cy="157163"/>
          </a:xfrm>
          <a:prstGeom prst="rect">
            <a:avLst/>
          </a:prstGeom>
          <a:noFill/>
          <a:ln/>
        </p:spPr>
        <p:txBody>
          <a:bodyPr wrap="none" lIns="0" tIns="0" rIns="0" bIns="0" rtlCol="0" anchor="ctr"/>
          <a:lstStyle/>
          <a:p>
            <a:pPr algn="ctr" indent="0" marL="0">
              <a:lnSpc>
                <a:spcPts val="844"/>
              </a:lnSpc>
              <a:buNone/>
            </a:pPr>
            <a:r>
              <a:rPr lang="en-US" sz="800" b="1" dirty="0">
                <a:solidFill>
                  <a:srgbClr val="0F766E"/>
                </a:solidFill>
                <a:latin typeface="Courier New" pitchFamily="34" charset="0"/>
                <a:ea typeface="Courier New" pitchFamily="34" charset="-122"/>
                <a:cs typeface="Courier New" pitchFamily="34" charset="-120"/>
              </a:rPr>
              <a:t>c</a:t>
            </a:r>
            <a:endParaRPr lang="en-US" sz="800" dirty="0"/>
          </a:p>
        </p:txBody>
      </p:sp>
      <p:sp>
        <p:nvSpPr>
          <p:cNvPr id="100" name="Text 98"/>
          <p:cNvSpPr/>
          <p:nvPr/>
        </p:nvSpPr>
        <p:spPr>
          <a:xfrm>
            <a:off x="4964906" y="4041130"/>
            <a:ext cx="802667" cy="121444"/>
          </a:xfrm>
          <a:prstGeom prst="roundRect">
            <a:avLst>
              <a:gd name="adj" fmla="val 23529"/>
            </a:avLst>
          </a:prstGeom>
          <a:solidFill>
            <a:srgbClr val="14B8A6">
              <a:alpha val="8000"/>
            </a:srgbClr>
          </a:solidFill>
          <a:ln/>
        </p:spPr>
        <p:txBody>
          <a:bodyPr wrap="square" rtlCol="0" anchor="ctr"/>
          <a:lstStyle/>
          <a:p>
            <a:pPr indent="0" marL="0">
              <a:buNone/>
            </a:pPr>
            <a:endParaRPr lang="en-US" dirty="0"/>
          </a:p>
        </p:txBody>
      </p:sp>
      <p:sp>
        <p:nvSpPr>
          <p:cNvPr id="101" name="Text 99"/>
          <p:cNvSpPr/>
          <p:nvPr/>
        </p:nvSpPr>
        <p:spPr>
          <a:xfrm>
            <a:off x="4964906" y="3921472"/>
            <a:ext cx="3600450" cy="125403"/>
          </a:xfrm>
          <a:prstGeom prst="rect">
            <a:avLst/>
          </a:prstGeom>
          <a:noFill/>
          <a:ln/>
        </p:spPr>
        <p:txBody>
          <a:bodyPr wrap="square" lIns="0" tIns="0" rIns="0" bIns="0" rtlCol="0" anchor="t"/>
          <a:lstStyle/>
          <a:p>
            <a:pPr algn="l" indent="0" marL="0">
              <a:lnSpc>
                <a:spcPts val="886"/>
              </a:lnSpc>
              <a:buNone/>
            </a:pPr>
            <a:r>
              <a:rPr lang="en-US" sz="600" dirty="0">
                <a:solidFill>
                  <a:srgbClr val="5B6B82"/>
                </a:solidFill>
                <a:latin typeface="Carlito" pitchFamily="34" charset="0"/>
                <a:ea typeface="Carlito" pitchFamily="34" charset="-122"/>
                <a:cs typeface="Carlito" pitchFamily="34" charset="-120"/>
              </a:rPr>
              <a:t>Custom objective with explicit gradient/Hessian. Down-weights well-classified easy examples.</a:t>
            </a:r>
            <a:endParaRPr lang="en-US" sz="600" dirty="0"/>
          </a:p>
        </p:txBody>
      </p:sp>
      <p:sp>
        <p:nvSpPr>
          <p:cNvPr id="102" name="Text 100"/>
          <p:cNvSpPr/>
          <p:nvPr/>
        </p:nvSpPr>
        <p:spPr>
          <a:xfrm>
            <a:off x="4964906" y="3796457"/>
            <a:ext cx="3600450" cy="164592"/>
          </a:xfrm>
          <a:prstGeom prst="rect">
            <a:avLst/>
          </a:prstGeom>
          <a:noFill/>
          <a:ln/>
        </p:spPr>
        <p:txBody>
          <a:bodyPr wrap="none" lIns="0" tIns="0" rIns="0" bIns="0" rtlCol="0" anchor="t"/>
          <a:lstStyle/>
          <a:p>
            <a:pPr algn="l" indent="0" marL="0">
              <a:lnSpc>
                <a:spcPts val="928"/>
              </a:lnSpc>
              <a:buNone/>
            </a:pPr>
            <a:r>
              <a:rPr lang="en-US" sz="800" b="1" dirty="0">
                <a:solidFill>
                  <a:srgbClr val="0F1F3D"/>
                </a:solidFill>
                <a:latin typeface="Carlito" pitchFamily="34" charset="0"/>
                <a:ea typeface="Carlito" pitchFamily="34" charset="-122"/>
                <a:cs typeface="Carlito" pitchFamily="34" charset="-120"/>
              </a:rPr>
              <a:t>Loss level — Focal Loss</a:t>
            </a:r>
            <a:endParaRPr lang="en-US" sz="800" dirty="0"/>
          </a:p>
        </p:txBody>
      </p:sp>
      <p:sp>
        <p:nvSpPr>
          <p:cNvPr id="103" name="Text 101"/>
          <p:cNvSpPr/>
          <p:nvPr/>
        </p:nvSpPr>
        <p:spPr>
          <a:xfrm>
            <a:off x="4942046" y="4033843"/>
            <a:ext cx="848387" cy="136017"/>
          </a:xfrm>
          <a:prstGeom prst="roundRect">
            <a:avLst>
              <a:gd name="adj" fmla="val 21008"/>
            </a:avLst>
          </a:prstGeom>
          <a:solidFill>
            <a:srgbClr val="14B8A6">
              <a:alpha val="8000"/>
            </a:srgbClr>
          </a:solidFill>
          <a:ln/>
        </p:spPr>
        <p:txBody>
          <a:bodyPr wrap="square" rtlCol="0" anchor="ctr"/>
          <a:lstStyle/>
          <a:p>
            <a:pPr indent="0" marL="0">
              <a:buNone/>
            </a:pPr>
            <a:endParaRPr lang="en-US" dirty="0"/>
          </a:p>
        </p:txBody>
      </p:sp>
      <p:sp>
        <p:nvSpPr>
          <p:cNvPr id="104" name="Text 102"/>
          <p:cNvSpPr/>
          <p:nvPr/>
        </p:nvSpPr>
        <p:spPr>
          <a:xfrm>
            <a:off x="4889888" y="4041130"/>
            <a:ext cx="952703" cy="121444"/>
          </a:xfrm>
          <a:prstGeom prst="rect">
            <a:avLst/>
          </a:prstGeom>
          <a:noFill/>
          <a:ln/>
        </p:spPr>
        <p:txBody>
          <a:bodyPr wrap="none" lIns="0" tIns="0" rIns="0" bIns="0" rtlCol="0" anchor="ctr"/>
          <a:lstStyle/>
          <a:p>
            <a:pPr algn="ctr" indent="0" marL="0">
              <a:lnSpc>
                <a:spcPts val="844"/>
              </a:lnSpc>
              <a:buNone/>
            </a:pPr>
            <a:r>
              <a:rPr lang="en-US" sz="800" dirty="0">
                <a:solidFill>
                  <a:srgbClr val="0F766E"/>
                </a:solidFill>
                <a:latin typeface="Liberation Sans Narrow" pitchFamily="34" charset="0"/>
                <a:ea typeface="Liberation Sans Narrow" pitchFamily="34" charset="-122"/>
                <a:cs typeface="Liberation Sans Narrow" pitchFamily="34" charset="-120"/>
              </a:rPr>
              <a:t>α = 0.25, γ = 2.0</a:t>
            </a:r>
            <a:endParaRPr lang="en-US" sz="800" dirty="0"/>
          </a:p>
        </p:txBody>
      </p:sp>
      <p:sp>
        <p:nvSpPr>
          <p:cNvPr id="105" name="Text 103"/>
          <p:cNvSpPr/>
          <p:nvPr/>
        </p:nvSpPr>
        <p:spPr>
          <a:xfrm>
            <a:off x="457200" y="4369743"/>
            <a:ext cx="8229600" cy="203597"/>
          </a:xfrm>
          <a:prstGeom prst="roundRect">
            <a:avLst>
              <a:gd name="adj" fmla="val 18713"/>
            </a:avLst>
          </a:prstGeom>
          <a:solidFill>
            <a:srgbClr val="14B8A6">
              <a:alpha val="10000"/>
            </a:srgbClr>
          </a:solidFill>
          <a:ln/>
        </p:spPr>
        <p:txBody>
          <a:bodyPr wrap="square" rtlCol="0" anchor="ctr"/>
          <a:lstStyle/>
          <a:p>
            <a:pPr indent="0" marL="0">
              <a:buNone/>
            </a:pPr>
            <a:endParaRPr lang="en-US" dirty="0"/>
          </a:p>
        </p:txBody>
      </p:sp>
      <p:sp>
        <p:nvSpPr>
          <p:cNvPr id="106" name="Shape 104"/>
          <p:cNvSpPr/>
          <p:nvPr/>
        </p:nvSpPr>
        <p:spPr>
          <a:xfrm>
            <a:off x="467916" y="4369743"/>
            <a:ext cx="0" cy="203597"/>
          </a:xfrm>
          <a:prstGeom prst="line">
            <a:avLst/>
          </a:prstGeom>
          <a:noFill/>
          <a:ln w="21431">
            <a:solidFill>
              <a:srgbClr val="14B8A6"/>
            </a:solidFill>
            <a:prstDash val="solid"/>
          </a:ln>
        </p:spPr>
      </p:sp>
      <p:sp>
        <p:nvSpPr>
          <p:cNvPr id="107" name="Text 105"/>
          <p:cNvSpPr/>
          <p:nvPr/>
        </p:nvSpPr>
        <p:spPr>
          <a:xfrm>
            <a:off x="578644" y="4421535"/>
            <a:ext cx="100013" cy="100013"/>
          </a:xfrm>
          <a:prstGeom prst="rect">
            <a:avLst/>
          </a:prstGeom>
          <a:noFill/>
          <a:ln/>
        </p:spPr>
        <p:txBody>
          <a:bodyPr wrap="none" lIns="0" tIns="0" rIns="0" bIns="0" rtlCol="0" anchor="ctr"/>
          <a:lstStyle/>
          <a:p>
            <a:pPr algn="ctr" indent="0" marL="0">
              <a:buNone/>
            </a:pPr>
            <a:r>
              <a:rPr lang="en-US" sz="984" dirty="0">
                <a:solidFill>
                  <a:srgbClr val="14B8A6"/>
                </a:solidFill>
                <a:latin typeface="Segoe UI Symbol" pitchFamily="34" charset="0"/>
                <a:ea typeface="Segoe UI Symbol" pitchFamily="34" charset="-122"/>
                <a:cs typeface="Segoe UI Symbol" pitchFamily="34" charset="-120"/>
              </a:rPr>
              <a:t>⚙</a:t>
            </a:r>
            <a:endParaRPr lang="en-US" sz="984" dirty="0"/>
          </a:p>
        </p:txBody>
      </p:sp>
      <p:sp>
        <p:nvSpPr>
          <p:cNvPr id="108" name="Text 106"/>
          <p:cNvSpPr/>
          <p:nvPr/>
        </p:nvSpPr>
        <p:spPr>
          <a:xfrm>
            <a:off x="735806" y="4412605"/>
            <a:ext cx="7850981" cy="117872"/>
          </a:xfrm>
          <a:prstGeom prst="rect">
            <a:avLst/>
          </a:prstGeom>
          <a:noFill/>
          <a:ln/>
        </p:spPr>
        <p:txBody>
          <a:bodyPr wrap="square" lIns="0" tIns="0" rIns="0" bIns="0" rtlCol="0" anchor="t"/>
          <a:lstStyle/>
          <a:p>
            <a:pPr algn="l" indent="0" marL="0">
              <a:lnSpc>
                <a:spcPts val="928"/>
              </a:lnSpc>
              <a:buNone/>
            </a:pPr>
            <a:r>
              <a:rPr lang="en-US" sz="800" b="1" dirty="0">
                <a:solidFill>
                  <a:srgbClr val="0F766E"/>
                </a:solidFill>
                <a:latin typeface="Carlito" pitchFamily="34" charset="0"/>
                <a:ea typeface="Carlito" pitchFamily="34" charset="-122"/>
                <a:cs typeface="Carlito" pitchFamily="34" charset="-120"/>
              </a:rPr>
              <a:t>Post-processing:</a:t>
            </a:r>
            <a:pPr algn="l" indent="0" marL="0">
              <a:lnSpc>
                <a:spcPts val="928"/>
              </a:lnSpc>
              <a:buNone/>
            </a:pPr>
            <a:r>
              <a:rPr lang="en-US" sz="800" dirty="0">
                <a:solidFill>
                  <a:srgbClr val="5B6B82"/>
                </a:solidFill>
                <a:latin typeface="Carlito" pitchFamily="34" charset="0"/>
                <a:ea typeface="Carlito" pitchFamily="34" charset="-122"/>
                <a:cs typeface="Carlito" pitchFamily="34" charset="-120"/>
              </a:rPr>
              <a:t> Isotonic Regression calibration + threshold search in [0.2, 0.8] to maximize Macro F1.</a:t>
            </a:r>
            <a:endParaRPr lang="en-US" sz="800" dirty="0"/>
          </a:p>
        </p:txBody>
      </p:sp>
      <p:sp>
        <p:nvSpPr>
          <p:cNvPr id="109" name="Text 107"/>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M-DAS ITC 2026</a:t>
            </a:r>
            <a:endParaRPr lang="en-US" sz="800" dirty="0"/>
          </a:p>
        </p:txBody>
      </p:sp>
      <p:sp>
        <p:nvSpPr>
          <p:cNvPr id="110" name="Text 108"/>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18 / 34</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0F1F3D"/>
          </a:solidFill>
          <a:ln/>
        </p:spPr>
        <p:txBody>
          <a:bodyPr wrap="square" rtlCol="0" anchor="ctr"/>
          <a:lstStyle/>
          <a:p>
            <a:pPr indent="0" marL="0">
              <a:buNone/>
            </a:pPr>
            <a:endParaRPr lang="en-US" dirty="0"/>
          </a:p>
        </p:txBody>
      </p:sp>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1"/>
          <p:cNvSpPr/>
          <p:nvPr/>
        </p:nvSpPr>
        <p:spPr>
          <a:xfrm>
            <a:off x="6553391" y="3429000"/>
            <a:ext cx="2590610" cy="1257300"/>
          </a:xfrm>
          <a:prstGeom prst="rect">
            <a:avLst/>
          </a:prstGeom>
          <a:noFill/>
          <a:ln/>
        </p:spPr>
        <p:txBody>
          <a:bodyPr wrap="square" lIns="0" tIns="0" rIns="0" bIns="0" rtlCol="0" anchor="t"/>
          <a:lstStyle/>
          <a:p>
            <a:pPr algn="l" indent="0" marL="0">
              <a:lnSpc>
                <a:spcPts val="10125"/>
              </a:lnSpc>
              <a:buNone/>
            </a:pPr>
            <a:r>
              <a:rPr lang="en-US" sz="11250" b="1" spc="-450" kern="0" dirty="0">
                <a:solidFill>
                  <a:srgbClr val="FFFFFF">
                    <a:alpha val="8000"/>
                  </a:srgbClr>
                </a:solidFill>
                <a:latin typeface="Liberation Sans Narrow" pitchFamily="34" charset="0"/>
                <a:ea typeface="Liberation Sans Narrow" pitchFamily="34" charset="-122"/>
                <a:cs typeface="Liberation Sans Narrow" pitchFamily="34" charset="-120"/>
              </a:rPr>
              <a:t>03</a:t>
            </a:r>
            <a:endParaRPr lang="en-US" sz="11250" dirty="0"/>
          </a:p>
        </p:txBody>
      </p:sp>
      <p:sp>
        <p:nvSpPr>
          <p:cNvPr id="5" name="Text 2"/>
          <p:cNvSpPr/>
          <p:nvPr/>
        </p:nvSpPr>
        <p:spPr>
          <a:xfrm>
            <a:off x="571500" y="457200"/>
            <a:ext cx="5575362" cy="164592"/>
          </a:xfrm>
          <a:prstGeom prst="rect">
            <a:avLst/>
          </a:prstGeom>
          <a:noFill/>
          <a:ln/>
        </p:spPr>
        <p:txBody>
          <a:bodyPr wrap="none" lIns="0" tIns="0" rIns="0" bIns="0" rtlCol="0" anchor="t"/>
          <a:lstStyle/>
          <a:p>
            <a:pPr algn="l" indent="0" marL="0">
              <a:lnSpc>
                <a:spcPts val="1097"/>
              </a:lnSpc>
              <a:buNone/>
            </a:pPr>
            <a:r>
              <a:rPr lang="en-US" sz="800" spc="219" kern="0" dirty="0">
                <a:solidFill>
                  <a:srgbClr val="14B8A6"/>
                </a:solidFill>
                <a:latin typeface="Liberation Sans Narrow" pitchFamily="34" charset="0"/>
                <a:ea typeface="Liberation Sans Narrow" pitchFamily="34" charset="-122"/>
                <a:cs typeface="Liberation Sans Narrow" pitchFamily="34" charset="-120"/>
              </a:rPr>
              <a:t>03 / 04</a:t>
            </a:r>
            <a:endParaRPr lang="en-US" sz="800" dirty="0"/>
          </a:p>
        </p:txBody>
      </p:sp>
      <p:sp>
        <p:nvSpPr>
          <p:cNvPr id="6" name="Text 3"/>
          <p:cNvSpPr/>
          <p:nvPr/>
        </p:nvSpPr>
        <p:spPr>
          <a:xfrm>
            <a:off x="6161150" y="462558"/>
            <a:ext cx="2521078" cy="164592"/>
          </a:xfrm>
          <a:prstGeom prst="rect">
            <a:avLst/>
          </a:prstGeom>
          <a:noFill/>
          <a:ln/>
        </p:spPr>
        <p:txBody>
          <a:bodyPr wrap="square" lIns="0" tIns="0" rIns="0" bIns="0" rtlCol="0" anchor="t"/>
          <a:lstStyle/>
          <a:p>
            <a:pPr algn="l" indent="0" marL="0">
              <a:lnSpc>
                <a:spcPts val="1013"/>
              </a:lnSpc>
              <a:buNone/>
            </a:pPr>
            <a:r>
              <a:rPr lang="en-US" sz="800" spc="135" kern="0" dirty="0">
                <a:solidFill>
                  <a:srgbClr val="FFFFFF">
                    <a:alpha val="50000"/>
                  </a:srgbClr>
                </a:solidFill>
                <a:latin typeface="Liberation Sans Narrow" pitchFamily="34" charset="0"/>
                <a:ea typeface="Liberation Sans Narrow" pitchFamily="34" charset="-122"/>
                <a:cs typeface="Liberation Sans Narrow" pitchFamily="34" charset="-120"/>
              </a:rPr>
              <a:t>MOUL HENGBORANN · M-DAS ITC 2026</a:t>
            </a:r>
            <a:endParaRPr lang="en-US" sz="800" dirty="0"/>
          </a:p>
        </p:txBody>
      </p:sp>
      <p:sp>
        <p:nvSpPr>
          <p:cNvPr id="7" name="Text 4"/>
          <p:cNvSpPr/>
          <p:nvPr/>
        </p:nvSpPr>
        <p:spPr>
          <a:xfrm>
            <a:off x="571500" y="1079264"/>
            <a:ext cx="400050" cy="21431"/>
          </a:xfrm>
          <a:prstGeom prst="rect">
            <a:avLst/>
          </a:prstGeom>
          <a:solidFill>
            <a:srgbClr val="14B8A6"/>
          </a:solidFill>
          <a:ln/>
        </p:spPr>
        <p:txBody>
          <a:bodyPr wrap="square" rtlCol="0" anchor="ctr"/>
          <a:lstStyle/>
          <a:p>
            <a:pPr indent="0" marL="0">
              <a:buNone/>
            </a:pPr>
            <a:endParaRPr lang="en-US" dirty="0"/>
          </a:p>
        </p:txBody>
      </p:sp>
      <p:sp>
        <p:nvSpPr>
          <p:cNvPr id="8" name="Text 5"/>
          <p:cNvSpPr/>
          <p:nvPr/>
        </p:nvSpPr>
        <p:spPr>
          <a:xfrm>
            <a:off x="571500" y="1306078"/>
            <a:ext cx="42863" cy="42863"/>
          </a:xfrm>
          <a:prstGeom prst="roundRect">
            <a:avLst>
              <a:gd name="adj" fmla="val 22199741"/>
            </a:avLst>
          </a:prstGeom>
          <a:solidFill>
            <a:srgbClr val="14B8A6"/>
          </a:solidFill>
          <a:ln/>
        </p:spPr>
        <p:txBody>
          <a:bodyPr wrap="square" rtlCol="0" anchor="ctr"/>
          <a:lstStyle/>
          <a:p>
            <a:pPr indent="0" marL="0">
              <a:buNone/>
            </a:pPr>
            <a:endParaRPr lang="en-US" dirty="0"/>
          </a:p>
        </p:txBody>
      </p:sp>
      <p:sp>
        <p:nvSpPr>
          <p:cNvPr id="9" name="Text 6"/>
          <p:cNvSpPr/>
          <p:nvPr/>
        </p:nvSpPr>
        <p:spPr>
          <a:xfrm>
            <a:off x="571500" y="1257858"/>
            <a:ext cx="1401603" cy="164592"/>
          </a:xfrm>
          <a:prstGeom prst="rect">
            <a:avLst/>
          </a:prstGeom>
          <a:noFill/>
          <a:ln/>
        </p:spPr>
        <p:txBody>
          <a:bodyPr wrap="none" lIns="0" tIns="0" rIns="0" bIns="0" rtlCol="0" anchor="t"/>
          <a:lstStyle/>
          <a:p>
            <a:pPr algn="l" indent="0" marL="0">
              <a:lnSpc>
                <a:spcPts val="1097"/>
              </a:lnSpc>
              <a:buNone/>
            </a:pPr>
            <a:r>
              <a:rPr lang="en-US" sz="800" spc="132" kern="0" dirty="0">
                <a:solidFill>
                  <a:srgbClr val="FFFFFF">
                    <a:alpha val="55000"/>
                  </a:srgbClr>
                </a:solidFill>
                <a:latin typeface="Carlito" pitchFamily="34" charset="0"/>
                <a:ea typeface="Carlito" pitchFamily="34" charset="-122"/>
                <a:cs typeface="Carlito" pitchFamily="34" charset="-120"/>
              </a:rPr>
              <a:t>PERFORMANCE</a:t>
            </a:r>
            <a:endParaRPr lang="en-US" sz="800" dirty="0"/>
          </a:p>
        </p:txBody>
      </p:sp>
      <p:sp>
        <p:nvSpPr>
          <p:cNvPr id="10" name="Text 7"/>
          <p:cNvSpPr/>
          <p:nvPr/>
        </p:nvSpPr>
        <p:spPr>
          <a:xfrm>
            <a:off x="1762385" y="1306078"/>
            <a:ext cx="42863" cy="42863"/>
          </a:xfrm>
          <a:prstGeom prst="roundRect">
            <a:avLst>
              <a:gd name="adj" fmla="val 22199741"/>
            </a:avLst>
          </a:prstGeom>
          <a:solidFill>
            <a:srgbClr val="14B8A6"/>
          </a:solidFill>
          <a:ln/>
        </p:spPr>
        <p:txBody>
          <a:bodyPr wrap="square" rtlCol="0" anchor="ctr"/>
          <a:lstStyle/>
          <a:p>
            <a:pPr indent="0" marL="0">
              <a:buNone/>
            </a:pPr>
            <a:endParaRPr lang="en-US" dirty="0"/>
          </a:p>
        </p:txBody>
      </p:sp>
      <p:sp>
        <p:nvSpPr>
          <p:cNvPr id="11" name="Text 8"/>
          <p:cNvSpPr/>
          <p:nvPr/>
        </p:nvSpPr>
        <p:spPr>
          <a:xfrm>
            <a:off x="1762385" y="1257858"/>
            <a:ext cx="2225797" cy="164592"/>
          </a:xfrm>
          <a:prstGeom prst="rect">
            <a:avLst/>
          </a:prstGeom>
          <a:noFill/>
          <a:ln/>
        </p:spPr>
        <p:txBody>
          <a:bodyPr wrap="none" lIns="0" tIns="0" rIns="0" bIns="0" rtlCol="0" anchor="t"/>
          <a:lstStyle/>
          <a:p>
            <a:pPr algn="l" indent="0" marL="0">
              <a:lnSpc>
                <a:spcPts val="1097"/>
              </a:lnSpc>
              <a:buNone/>
            </a:pPr>
            <a:r>
              <a:rPr lang="en-US" sz="800" spc="132" kern="0" dirty="0">
                <a:solidFill>
                  <a:srgbClr val="FFFFFF">
                    <a:alpha val="55000"/>
                  </a:srgbClr>
                </a:solidFill>
                <a:latin typeface="Carlito" pitchFamily="34" charset="0"/>
                <a:ea typeface="Carlito" pitchFamily="34" charset="-122"/>
                <a:cs typeface="Carlito" pitchFamily="34" charset="-120"/>
              </a:rPr>
              <a:t>PER-CLASS BREAKDOWN</a:t>
            </a:r>
            <a:endParaRPr lang="en-US" sz="800" dirty="0"/>
          </a:p>
        </p:txBody>
      </p:sp>
      <p:sp>
        <p:nvSpPr>
          <p:cNvPr id="12" name="Text 9"/>
          <p:cNvSpPr/>
          <p:nvPr/>
        </p:nvSpPr>
        <p:spPr>
          <a:xfrm>
            <a:off x="3535933" y="1306078"/>
            <a:ext cx="42863" cy="42863"/>
          </a:xfrm>
          <a:prstGeom prst="roundRect">
            <a:avLst>
              <a:gd name="adj" fmla="val 22199741"/>
            </a:avLst>
          </a:prstGeom>
          <a:solidFill>
            <a:srgbClr val="14B8A6"/>
          </a:solidFill>
          <a:ln/>
        </p:spPr>
        <p:txBody>
          <a:bodyPr wrap="square" rtlCol="0" anchor="ctr"/>
          <a:lstStyle/>
          <a:p>
            <a:pPr indent="0" marL="0">
              <a:buNone/>
            </a:pPr>
            <a:endParaRPr lang="en-US" dirty="0"/>
          </a:p>
        </p:txBody>
      </p:sp>
      <p:sp>
        <p:nvSpPr>
          <p:cNvPr id="13" name="Text 10"/>
          <p:cNvSpPr/>
          <p:nvPr/>
        </p:nvSpPr>
        <p:spPr>
          <a:xfrm>
            <a:off x="3535933" y="1257858"/>
            <a:ext cx="1461444" cy="164592"/>
          </a:xfrm>
          <a:prstGeom prst="rect">
            <a:avLst/>
          </a:prstGeom>
          <a:noFill/>
          <a:ln/>
        </p:spPr>
        <p:txBody>
          <a:bodyPr wrap="none" lIns="0" tIns="0" rIns="0" bIns="0" rtlCol="0" anchor="t"/>
          <a:lstStyle/>
          <a:p>
            <a:pPr algn="l" indent="0" marL="0">
              <a:lnSpc>
                <a:spcPts val="1097"/>
              </a:lnSpc>
              <a:buNone/>
            </a:pPr>
            <a:r>
              <a:rPr lang="en-US" sz="800" spc="132" kern="0" dirty="0">
                <a:solidFill>
                  <a:srgbClr val="FFFFFF">
                    <a:alpha val="55000"/>
                  </a:srgbClr>
                </a:solidFill>
                <a:latin typeface="Carlito" pitchFamily="34" charset="0"/>
                <a:ea typeface="Carlito" pitchFamily="34" charset="-122"/>
                <a:cs typeface="Carlito" pitchFamily="34" charset="-120"/>
              </a:rPr>
              <a:t>SHAP ANALYSIS</a:t>
            </a:r>
            <a:endParaRPr lang="en-US" sz="800" dirty="0"/>
          </a:p>
        </p:txBody>
      </p:sp>
      <p:sp>
        <p:nvSpPr>
          <p:cNvPr id="14" name="Text 11"/>
          <p:cNvSpPr/>
          <p:nvPr/>
        </p:nvSpPr>
        <p:spPr>
          <a:xfrm>
            <a:off x="4769123" y="1306078"/>
            <a:ext cx="42863" cy="42863"/>
          </a:xfrm>
          <a:prstGeom prst="roundRect">
            <a:avLst>
              <a:gd name="adj" fmla="val 22199741"/>
            </a:avLst>
          </a:prstGeom>
          <a:solidFill>
            <a:srgbClr val="14B8A6"/>
          </a:solidFill>
          <a:ln/>
        </p:spPr>
        <p:txBody>
          <a:bodyPr wrap="square" rtlCol="0" anchor="ctr"/>
          <a:lstStyle/>
          <a:p>
            <a:pPr indent="0" marL="0">
              <a:buNone/>
            </a:pPr>
            <a:endParaRPr lang="en-US" dirty="0"/>
          </a:p>
        </p:txBody>
      </p:sp>
      <p:sp>
        <p:nvSpPr>
          <p:cNvPr id="15" name="Text 12"/>
          <p:cNvSpPr/>
          <p:nvPr/>
        </p:nvSpPr>
        <p:spPr>
          <a:xfrm>
            <a:off x="4769123" y="1257858"/>
            <a:ext cx="1517377" cy="164592"/>
          </a:xfrm>
          <a:prstGeom prst="rect">
            <a:avLst/>
          </a:prstGeom>
          <a:noFill/>
          <a:ln/>
        </p:spPr>
        <p:txBody>
          <a:bodyPr wrap="none" lIns="0" tIns="0" rIns="0" bIns="0" rtlCol="0" anchor="t"/>
          <a:lstStyle/>
          <a:p>
            <a:pPr algn="l" indent="0" marL="0">
              <a:lnSpc>
                <a:spcPts val="1097"/>
              </a:lnSpc>
              <a:buNone/>
            </a:pPr>
            <a:r>
              <a:rPr lang="en-US" sz="800" spc="132" kern="0" dirty="0">
                <a:solidFill>
                  <a:srgbClr val="FFFFFF">
                    <a:alpha val="55000"/>
                  </a:srgbClr>
                </a:solidFill>
                <a:latin typeface="Carlito" pitchFamily="34" charset="0"/>
                <a:ea typeface="Carlito" pitchFamily="34" charset="-122"/>
                <a:cs typeface="Carlito" pitchFamily="34" charset="-120"/>
              </a:rPr>
              <a:t>ABLATIONS</a:t>
            </a:r>
            <a:endParaRPr lang="en-US" sz="800" dirty="0"/>
          </a:p>
        </p:txBody>
      </p:sp>
      <p:sp>
        <p:nvSpPr>
          <p:cNvPr id="16" name="Text 13"/>
          <p:cNvSpPr/>
          <p:nvPr/>
        </p:nvSpPr>
        <p:spPr>
          <a:xfrm>
            <a:off x="571500" y="1645407"/>
            <a:ext cx="42863" cy="42863"/>
          </a:xfrm>
          <a:prstGeom prst="roundRect">
            <a:avLst>
              <a:gd name="adj" fmla="val 22199741"/>
            </a:avLst>
          </a:prstGeom>
          <a:solidFill>
            <a:srgbClr val="14B8A6"/>
          </a:solidFill>
          <a:ln/>
        </p:spPr>
        <p:txBody>
          <a:bodyPr wrap="square" rtlCol="0" anchor="ctr"/>
          <a:lstStyle/>
          <a:p>
            <a:pPr indent="0" marL="0">
              <a:buNone/>
            </a:pPr>
            <a:endParaRPr lang="en-US" dirty="0"/>
          </a:p>
        </p:txBody>
      </p:sp>
      <p:sp>
        <p:nvSpPr>
          <p:cNvPr id="17" name="Text 14"/>
          <p:cNvSpPr/>
          <p:nvPr/>
        </p:nvSpPr>
        <p:spPr>
          <a:xfrm>
            <a:off x="571500" y="1597186"/>
            <a:ext cx="1270553" cy="164592"/>
          </a:xfrm>
          <a:prstGeom prst="rect">
            <a:avLst/>
          </a:prstGeom>
          <a:noFill/>
          <a:ln/>
        </p:spPr>
        <p:txBody>
          <a:bodyPr wrap="none" lIns="0" tIns="0" rIns="0" bIns="0" rtlCol="0" anchor="t"/>
          <a:lstStyle/>
          <a:p>
            <a:pPr algn="l" indent="0" marL="0">
              <a:lnSpc>
                <a:spcPts val="1097"/>
              </a:lnSpc>
              <a:buNone/>
            </a:pPr>
            <a:r>
              <a:rPr lang="en-US" sz="800" spc="132" kern="0" dirty="0">
                <a:solidFill>
                  <a:srgbClr val="FFFFFF">
                    <a:alpha val="55000"/>
                  </a:srgbClr>
                </a:solidFill>
                <a:latin typeface="Carlito" pitchFamily="34" charset="0"/>
                <a:ea typeface="Carlito" pitchFamily="34" charset="-122"/>
                <a:cs typeface="Carlito" pitchFamily="34" charset="-120"/>
              </a:rPr>
              <a:t>ROBUSTNESS</a:t>
            </a:r>
            <a:endParaRPr lang="en-US" sz="800" dirty="0"/>
          </a:p>
        </p:txBody>
      </p:sp>
      <p:sp>
        <p:nvSpPr>
          <p:cNvPr id="18" name="Text 15"/>
          <p:cNvSpPr/>
          <p:nvPr/>
        </p:nvSpPr>
        <p:spPr>
          <a:xfrm>
            <a:off x="571500" y="1936514"/>
            <a:ext cx="6000750" cy="1166449"/>
          </a:xfrm>
          <a:prstGeom prst="rect">
            <a:avLst/>
          </a:prstGeom>
          <a:noFill/>
          <a:ln/>
        </p:spPr>
        <p:txBody>
          <a:bodyPr wrap="none" lIns="0" tIns="0" rIns="0" bIns="0" rtlCol="0" anchor="t"/>
          <a:lstStyle/>
          <a:p>
            <a:pPr algn="l" indent="0" marL="0">
              <a:lnSpc>
                <a:spcPts val="4253"/>
              </a:lnSpc>
              <a:buNone/>
            </a:pPr>
            <a:r>
              <a:rPr lang="en-US" sz="4050" b="1" spc="-81" kern="0" dirty="0">
                <a:solidFill>
                  <a:srgbClr val="FFFFFF"/>
                </a:solidFill>
                <a:latin typeface="Carlito" pitchFamily="34" charset="0"/>
                <a:ea typeface="Carlito" pitchFamily="34" charset="-122"/>
                <a:cs typeface="Carlito" pitchFamily="34" charset="-120"/>
              </a:rPr>
              <a:t>Results &amp; Discussion</a:t>
            </a:r>
            <a:endParaRPr lang="en-US" sz="4050" dirty="0"/>
          </a:p>
        </p:txBody>
      </p:sp>
      <p:sp>
        <p:nvSpPr>
          <p:cNvPr id="19" name="Text 16"/>
          <p:cNvSpPr/>
          <p:nvPr/>
        </p:nvSpPr>
        <p:spPr>
          <a:xfrm>
            <a:off x="571500" y="3145148"/>
            <a:ext cx="4572000" cy="645549"/>
          </a:xfrm>
          <a:prstGeom prst="rect">
            <a:avLst/>
          </a:prstGeom>
          <a:noFill/>
          <a:ln/>
        </p:spPr>
        <p:txBody>
          <a:bodyPr wrap="square" lIns="0" tIns="0" rIns="0" bIns="0" rtlCol="0" anchor="t"/>
          <a:lstStyle/>
          <a:p>
            <a:pPr algn="l" indent="0" marL="0">
              <a:lnSpc>
                <a:spcPts val="1569"/>
              </a:lnSpc>
              <a:buNone/>
            </a:pPr>
            <a:r>
              <a:rPr lang="en-US" sz="1013" dirty="0">
                <a:solidFill>
                  <a:srgbClr val="FFFFFF">
                    <a:alpha val="70000"/>
                  </a:srgbClr>
                </a:solidFill>
                <a:latin typeface="Carlito" pitchFamily="34" charset="0"/>
                <a:ea typeface="Carlito" pitchFamily="34" charset="-122"/>
                <a:cs typeface="Carlito" pitchFamily="34" charset="-120"/>
              </a:rPr>
              <a:t>Numerical performance against 15 deep-learning baselines, per-class breakdown with confusion matrices, and a feature-by-feature SHAP analysis across all four affective states.</a:t>
            </a:r>
            <a:endParaRPr lang="en-US" sz="1013" dirty="0"/>
          </a:p>
        </p:txBody>
      </p:sp>
      <p:sp>
        <p:nvSpPr>
          <p:cNvPr id="20" name="Text 17"/>
          <p:cNvSpPr/>
          <p:nvPr/>
        </p:nvSpPr>
        <p:spPr>
          <a:xfrm>
            <a:off x="571500" y="3859250"/>
            <a:ext cx="993316" cy="228029"/>
          </a:xfrm>
          <a:prstGeom prst="roundRect">
            <a:avLst>
              <a:gd name="adj" fmla="val 4172923"/>
            </a:avLst>
          </a:prstGeom>
          <a:solidFill>
            <a:srgbClr val="14B8A6">
              <a:alpha val="12000"/>
            </a:srgbClr>
          </a:solidFill>
          <a:ln w="7144">
            <a:solidFill>
              <a:srgbClr val="14B8A6"/>
            </a:solidFill>
            <a:prstDash val="solid"/>
          </a:ln>
        </p:spPr>
        <p:txBody>
          <a:bodyPr wrap="square" rtlCol="0" anchor="ctr"/>
          <a:lstStyle/>
          <a:p>
            <a:pPr indent="0" marL="0">
              <a:buNone/>
            </a:pPr>
            <a:endParaRPr lang="en-US" dirty="0"/>
          </a:p>
        </p:txBody>
      </p:sp>
      <p:sp>
        <p:nvSpPr>
          <p:cNvPr id="21" name="Text 18"/>
          <p:cNvSpPr/>
          <p:nvPr/>
        </p:nvSpPr>
        <p:spPr>
          <a:xfrm>
            <a:off x="874796" y="3921472"/>
            <a:ext cx="733308" cy="129679"/>
          </a:xfrm>
          <a:prstGeom prst="rect">
            <a:avLst/>
          </a:prstGeom>
          <a:noFill/>
          <a:ln/>
        </p:spPr>
        <p:txBody>
          <a:bodyPr wrap="none" lIns="0" tIns="0" rIns="0" bIns="0" rtlCol="0" anchor="t"/>
          <a:lstStyle/>
          <a:p>
            <a:pPr algn="l" indent="0" marL="0">
              <a:lnSpc>
                <a:spcPts val="928"/>
              </a:lnSpc>
              <a:buNone/>
            </a:pPr>
            <a:r>
              <a:rPr lang="en-US" sz="800" spc="50" kern="0" dirty="0">
                <a:solidFill>
                  <a:srgbClr val="14B8A6"/>
                </a:solidFill>
                <a:latin typeface="Courier New" pitchFamily="34" charset="0"/>
                <a:ea typeface="Courier New" pitchFamily="34" charset="-122"/>
                <a:cs typeface="Courier New" pitchFamily="34" charset="-120"/>
              </a:rPr>
              <a:t>Performance</a:t>
            </a:r>
            <a:endParaRPr lang="en-US" sz="800" dirty="0"/>
          </a:p>
        </p:txBody>
      </p:sp>
      <p:sp>
        <p:nvSpPr>
          <p:cNvPr id="22" name="Text 19"/>
          <p:cNvSpPr/>
          <p:nvPr/>
        </p:nvSpPr>
        <p:spPr>
          <a:xfrm>
            <a:off x="664369" y="3914329"/>
            <a:ext cx="807579" cy="117872"/>
          </a:xfrm>
          <a:prstGeom prst="rect">
            <a:avLst/>
          </a:prstGeom>
          <a:noFill/>
          <a:ln/>
        </p:spPr>
        <p:txBody>
          <a:bodyPr wrap="none" lIns="0" tIns="0" rIns="0" bIns="0" rtlCol="0" anchor="t"/>
          <a:lstStyle/>
          <a:p>
            <a:pPr algn="l" indent="0" marL="0">
              <a:lnSpc>
                <a:spcPts val="928"/>
              </a:lnSpc>
              <a:buNone/>
            </a:pPr>
            <a:r>
              <a:rPr lang="en-US" sz="800" b="1" spc="50" kern="0" dirty="0">
                <a:solidFill>
                  <a:srgbClr val="14B8A6"/>
                </a:solidFill>
                <a:latin typeface="Liberation Sans Narrow" pitchFamily="34" charset="0"/>
                <a:ea typeface="Liberation Sans Narrow" pitchFamily="34" charset="-122"/>
                <a:cs typeface="Liberation Sans Narrow" pitchFamily="34" charset="-120"/>
              </a:rPr>
              <a:t>RQ1</a:t>
            </a:r>
            <a:endParaRPr lang="en-US" sz="800" dirty="0"/>
          </a:p>
        </p:txBody>
      </p:sp>
      <p:sp>
        <p:nvSpPr>
          <p:cNvPr id="23" name="Text 20"/>
          <p:cNvSpPr/>
          <p:nvPr/>
        </p:nvSpPr>
        <p:spPr>
          <a:xfrm>
            <a:off x="1636254" y="3859250"/>
            <a:ext cx="1368475" cy="228029"/>
          </a:xfrm>
          <a:prstGeom prst="roundRect">
            <a:avLst>
              <a:gd name="adj" fmla="val 4172923"/>
            </a:avLst>
          </a:prstGeom>
          <a:solidFill>
            <a:srgbClr val="14B8A6">
              <a:alpha val="12000"/>
            </a:srgbClr>
          </a:solidFill>
          <a:ln w="7144">
            <a:solidFill>
              <a:srgbClr val="14B8A6"/>
            </a:solidFill>
            <a:prstDash val="solid"/>
          </a:ln>
        </p:spPr>
        <p:txBody>
          <a:bodyPr wrap="square" rtlCol="0" anchor="ctr"/>
          <a:lstStyle/>
          <a:p>
            <a:pPr indent="0" marL="0">
              <a:buNone/>
            </a:pPr>
            <a:endParaRPr lang="en-US" dirty="0"/>
          </a:p>
        </p:txBody>
      </p:sp>
      <p:sp>
        <p:nvSpPr>
          <p:cNvPr id="24" name="Text 21"/>
          <p:cNvSpPr/>
          <p:nvPr/>
        </p:nvSpPr>
        <p:spPr>
          <a:xfrm>
            <a:off x="1947118" y="3921472"/>
            <a:ext cx="1093329" cy="129679"/>
          </a:xfrm>
          <a:prstGeom prst="rect">
            <a:avLst/>
          </a:prstGeom>
          <a:noFill/>
          <a:ln/>
        </p:spPr>
        <p:txBody>
          <a:bodyPr wrap="none" lIns="0" tIns="0" rIns="0" bIns="0" rtlCol="0" anchor="t"/>
          <a:lstStyle/>
          <a:p>
            <a:pPr algn="l" indent="0" marL="0">
              <a:lnSpc>
                <a:spcPts val="928"/>
              </a:lnSpc>
              <a:buNone/>
            </a:pPr>
            <a:r>
              <a:rPr lang="en-US" sz="800" spc="50" kern="0" dirty="0">
                <a:solidFill>
                  <a:srgbClr val="14B8A6"/>
                </a:solidFill>
                <a:latin typeface="Courier New" pitchFamily="34" charset="0"/>
                <a:ea typeface="Courier New" pitchFamily="34" charset="-122"/>
                <a:cs typeface="Courier New" pitchFamily="34" charset="-120"/>
              </a:rPr>
              <a:t>Feature Importance</a:t>
            </a:r>
            <a:endParaRPr lang="en-US" sz="800" dirty="0"/>
          </a:p>
        </p:txBody>
      </p:sp>
      <p:sp>
        <p:nvSpPr>
          <p:cNvPr id="25" name="Text 22"/>
          <p:cNvSpPr/>
          <p:nvPr/>
        </p:nvSpPr>
        <p:spPr>
          <a:xfrm>
            <a:off x="1729122" y="3914329"/>
            <a:ext cx="1182737" cy="117872"/>
          </a:xfrm>
          <a:prstGeom prst="rect">
            <a:avLst/>
          </a:prstGeom>
          <a:noFill/>
          <a:ln/>
        </p:spPr>
        <p:txBody>
          <a:bodyPr wrap="none" lIns="0" tIns="0" rIns="0" bIns="0" rtlCol="0" anchor="t"/>
          <a:lstStyle/>
          <a:p>
            <a:pPr algn="l" indent="0" marL="0">
              <a:lnSpc>
                <a:spcPts val="928"/>
              </a:lnSpc>
              <a:buNone/>
            </a:pPr>
            <a:r>
              <a:rPr lang="en-US" sz="800" b="1" spc="50" kern="0" dirty="0">
                <a:solidFill>
                  <a:srgbClr val="14B8A6"/>
                </a:solidFill>
                <a:latin typeface="Liberation Sans Narrow" pitchFamily="34" charset="0"/>
                <a:ea typeface="Liberation Sans Narrow" pitchFamily="34" charset="-122"/>
                <a:cs typeface="Liberation Sans Narrow" pitchFamily="34" charset="-120"/>
              </a:rPr>
              <a:t>RQ2</a:t>
            </a:r>
            <a:endParaRPr lang="en-US" sz="800" dirty="0"/>
          </a:p>
        </p:txBody>
      </p:sp>
      <p:sp>
        <p:nvSpPr>
          <p:cNvPr id="26" name="Text 23"/>
          <p:cNvSpPr/>
          <p:nvPr/>
        </p:nvSpPr>
        <p:spPr>
          <a:xfrm>
            <a:off x="3076166" y="3859250"/>
            <a:ext cx="939738" cy="228029"/>
          </a:xfrm>
          <a:prstGeom prst="roundRect">
            <a:avLst>
              <a:gd name="adj" fmla="val 4172923"/>
            </a:avLst>
          </a:prstGeom>
          <a:solidFill>
            <a:srgbClr val="14B8A6">
              <a:alpha val="12000"/>
            </a:srgbClr>
          </a:solidFill>
          <a:ln w="7144">
            <a:solidFill>
              <a:srgbClr val="14B8A6"/>
            </a:solidFill>
            <a:prstDash val="solid"/>
          </a:ln>
        </p:spPr>
        <p:txBody>
          <a:bodyPr wrap="square" rtlCol="0" anchor="ctr"/>
          <a:lstStyle/>
          <a:p>
            <a:pPr indent="0" marL="0">
              <a:buNone/>
            </a:pPr>
            <a:endParaRPr lang="en-US" dirty="0"/>
          </a:p>
        </p:txBody>
      </p:sp>
      <p:sp>
        <p:nvSpPr>
          <p:cNvPr id="27" name="Text 24"/>
          <p:cNvSpPr/>
          <p:nvPr/>
        </p:nvSpPr>
        <p:spPr>
          <a:xfrm>
            <a:off x="3387030" y="3921472"/>
            <a:ext cx="2899470" cy="129679"/>
          </a:xfrm>
          <a:prstGeom prst="rect">
            <a:avLst/>
          </a:prstGeom>
          <a:noFill/>
          <a:ln/>
        </p:spPr>
        <p:txBody>
          <a:bodyPr wrap="none" lIns="0" tIns="0" rIns="0" bIns="0" rtlCol="0" anchor="t"/>
          <a:lstStyle/>
          <a:p>
            <a:pPr algn="l" indent="0" marL="0">
              <a:lnSpc>
                <a:spcPts val="928"/>
              </a:lnSpc>
              <a:buNone/>
            </a:pPr>
            <a:r>
              <a:rPr lang="en-US" sz="800" spc="50" kern="0" dirty="0">
                <a:solidFill>
                  <a:srgbClr val="14B8A6"/>
                </a:solidFill>
                <a:latin typeface="Courier New" pitchFamily="34" charset="0"/>
                <a:ea typeface="Courier New" pitchFamily="34" charset="-122"/>
                <a:cs typeface="Courier New" pitchFamily="34" charset="-120"/>
              </a:rPr>
              <a:t>Robustness</a:t>
            </a:r>
            <a:endParaRPr lang="en-US" sz="800" dirty="0"/>
          </a:p>
        </p:txBody>
      </p:sp>
      <p:sp>
        <p:nvSpPr>
          <p:cNvPr id="28" name="Text 25"/>
          <p:cNvSpPr/>
          <p:nvPr/>
        </p:nvSpPr>
        <p:spPr>
          <a:xfrm>
            <a:off x="3169034" y="3914329"/>
            <a:ext cx="754000" cy="117872"/>
          </a:xfrm>
          <a:prstGeom prst="rect">
            <a:avLst/>
          </a:prstGeom>
          <a:noFill/>
          <a:ln/>
        </p:spPr>
        <p:txBody>
          <a:bodyPr wrap="none" lIns="0" tIns="0" rIns="0" bIns="0" rtlCol="0" anchor="t"/>
          <a:lstStyle/>
          <a:p>
            <a:pPr algn="l" indent="0" marL="0">
              <a:lnSpc>
                <a:spcPts val="928"/>
              </a:lnSpc>
              <a:buNone/>
            </a:pPr>
            <a:r>
              <a:rPr lang="en-US" sz="800" b="1" spc="50" kern="0" dirty="0">
                <a:solidFill>
                  <a:srgbClr val="14B8A6"/>
                </a:solidFill>
                <a:latin typeface="Liberation Sans Narrow" pitchFamily="34" charset="0"/>
                <a:ea typeface="Liberation Sans Narrow" pitchFamily="34" charset="-122"/>
                <a:cs typeface="Liberation Sans Narrow" pitchFamily="34" charset="-120"/>
              </a:rPr>
              <a:t>RQ3</a:t>
            </a:r>
            <a:endParaRPr lang="en-US" sz="800" dirty="0"/>
          </a:p>
        </p:txBody>
      </p:sp>
      <p:sp>
        <p:nvSpPr>
          <p:cNvPr id="29" name="Text 26"/>
          <p:cNvSpPr/>
          <p:nvPr/>
        </p:nvSpPr>
        <p:spPr>
          <a:xfrm>
            <a:off x="571500" y="4564856"/>
            <a:ext cx="114300" cy="114300"/>
          </a:xfrm>
          <a:prstGeom prst="rect">
            <a:avLst/>
          </a:prstGeom>
          <a:noFill/>
          <a:ln/>
        </p:spPr>
        <p:txBody>
          <a:bodyPr wrap="none" lIns="0" tIns="0" rIns="0" bIns="0" rtlCol="0" anchor="ctr"/>
          <a:lstStyle/>
          <a:p>
            <a:pPr algn="ctr" indent="0" marL="0">
              <a:buNone/>
            </a:pPr>
            <a:r>
              <a:rPr lang="en-US" sz="1125" dirty="0">
                <a:solidFill>
                  <a:srgbClr val="14B8A6"/>
                </a:solidFill>
                <a:latin typeface="Segoe UI Symbol" pitchFamily="34" charset="0"/>
                <a:ea typeface="Segoe UI Symbol" pitchFamily="34" charset="-122"/>
                <a:cs typeface="Segoe UI Symbol" pitchFamily="34" charset="-120"/>
              </a:rPr>
              <a:t>→</a:t>
            </a:r>
            <a:endParaRPr lang="en-US" sz="1125" dirty="0"/>
          </a:p>
        </p:txBody>
      </p:sp>
      <p:sp>
        <p:nvSpPr>
          <p:cNvPr id="30" name="Text 27"/>
          <p:cNvSpPr/>
          <p:nvPr/>
        </p:nvSpPr>
        <p:spPr>
          <a:xfrm>
            <a:off x="771525" y="4557713"/>
            <a:ext cx="1242618" cy="128588"/>
          </a:xfrm>
          <a:prstGeom prst="rect">
            <a:avLst/>
          </a:prstGeom>
          <a:noFill/>
          <a:ln/>
        </p:spPr>
        <p:txBody>
          <a:bodyPr wrap="none" lIns="0" tIns="0" rIns="0" bIns="0" rtlCol="0" anchor="t"/>
          <a:lstStyle/>
          <a:p>
            <a:pPr algn="l" indent="0" marL="0">
              <a:lnSpc>
                <a:spcPts val="1013"/>
              </a:lnSpc>
              <a:buNone/>
            </a:pPr>
            <a:r>
              <a:rPr lang="en-US" sz="800" spc="122" kern="0" dirty="0">
                <a:solidFill>
                  <a:srgbClr val="FFFFFF">
                    <a:alpha val="40000"/>
                  </a:srgbClr>
                </a:solidFill>
                <a:latin typeface="Liberation Sans Narrow" pitchFamily="34" charset="0"/>
                <a:ea typeface="Liberation Sans Narrow" pitchFamily="34" charset="-122"/>
                <a:cs typeface="Liberation Sans Narrow" pitchFamily="34" charset="-120"/>
              </a:rPr>
              <a:t>SLIDES 20 – 28</a:t>
            </a:r>
            <a:endParaRPr lang="en-US" sz="800" dirty="0"/>
          </a:p>
        </p:txBody>
      </p:sp>
      <p:sp>
        <p:nvSpPr>
          <p:cNvPr id="31" name="Text 28"/>
          <p:cNvSpPr/>
          <p:nvPr/>
        </p:nvSpPr>
        <p:spPr>
          <a:xfrm>
            <a:off x="6262948" y="4568428"/>
            <a:ext cx="2419280" cy="117872"/>
          </a:xfrm>
          <a:prstGeom prst="rect">
            <a:avLst/>
          </a:prstGeom>
          <a:noFill/>
          <a:ln/>
        </p:spPr>
        <p:txBody>
          <a:bodyPr wrap="square" lIns="0" tIns="0" rIns="0" bIns="0" rtlCol="0" anchor="t"/>
          <a:lstStyle/>
          <a:p>
            <a:pPr algn="l" indent="0" marL="0">
              <a:lnSpc>
                <a:spcPts val="928"/>
              </a:lnSpc>
              <a:buNone/>
            </a:pPr>
            <a:r>
              <a:rPr lang="en-US" sz="800" spc="136" kern="0" dirty="0">
                <a:solidFill>
                  <a:srgbClr val="FFFFFF">
                    <a:alpha val="35000"/>
                  </a:srgbClr>
                </a:solidFill>
                <a:latin typeface="Carlito" pitchFamily="34" charset="0"/>
                <a:ea typeface="Carlito" pitchFamily="34" charset="-122"/>
                <a:cs typeface="Carlito" pitchFamily="34" charset="-120"/>
              </a:rPr>
              <a:t>EFFICIENT ATTENTION CLASSIFICATION</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19015"/>
          </a:xfrm>
          <a:prstGeom prst="rect">
            <a:avLst/>
          </a:prstGeom>
          <a:noFill/>
          <a:ln/>
        </p:spPr>
        <p:txBody>
          <a:bodyPr wrap="square" lIns="0" tIns="0" rIns="0" bIns="0" rtlCol="0" anchor="t">
            <a:normAutofit/>
          </a:bodyPr>
          <a:lstStyle/>
          <a:p>
            <a:pPr algn="l" indent="0" marL="0">
              <a:lnSpc>
                <a:spcPts val="928"/>
              </a:lnSpc>
              <a:buNone/>
            </a:pPr>
            <a:r>
              <a:rPr lang="en-US" sz="800" b="1" spc="136" kern="0" dirty="0">
                <a:solidFill>
                  <a:srgbClr val="14B8A6"/>
                </a:solidFill>
                <a:latin typeface="Liberation Sans Narrow" pitchFamily="34" charset="0"/>
                <a:ea typeface="Liberation Sans Narrow" pitchFamily="34" charset="-122"/>
                <a:cs typeface="Liberation Sans Narrow" pitchFamily="34" charset="-120"/>
              </a:rPr>
              <a:t>RQ1 · PERFORMANCE COMPARISON</a:t>
            </a:r>
            <a:endParaRPr lang="en-US" sz="800" dirty="0"/>
          </a:p>
        </p:txBody>
      </p:sp>
      <p:sp>
        <p:nvSpPr>
          <p:cNvPr id="3" name="Text 1"/>
          <p:cNvSpPr/>
          <p:nvPr/>
        </p:nvSpPr>
        <p:spPr>
          <a:xfrm>
            <a:off x="457200" y="546497"/>
            <a:ext cx="8636000" cy="289125"/>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XGBoost Lands Competitive at 65.26% Accuracy</a:t>
            </a:r>
            <a:endParaRPr lang="en-US" sz="2025" dirty="0"/>
          </a:p>
        </p:txBody>
      </p:sp>
      <p:sp>
        <p:nvSpPr>
          <p:cNvPr id="4" name="Text 2"/>
          <p:cNvSpPr/>
          <p:nvPr/>
        </p:nvSpPr>
        <p:spPr>
          <a:xfrm>
            <a:off x="457200" y="863054"/>
            <a:ext cx="6572250" cy="335113"/>
          </a:xfrm>
          <a:prstGeom prst="rect">
            <a:avLst/>
          </a:prstGeom>
          <a:noFill/>
          <a:ln/>
        </p:spPr>
        <p:txBody>
          <a:bodyPr wrap="square" lIns="0" tIns="0" rIns="0" bIns="0" rtlCol="0" anchor="t">
            <a:normAutofit/>
          </a:bodyPr>
          <a:lstStyle/>
          <a:p>
            <a:pPr algn="l" indent="0" marL="0">
              <a:lnSpc>
                <a:spcPts val="1090"/>
              </a:lnSpc>
              <a:buNone/>
            </a:pPr>
            <a:r>
              <a:rPr lang="en-US" sz="800" dirty="0">
                <a:solidFill>
                  <a:srgbClr val="5B6B82"/>
                </a:solidFill>
                <a:latin typeface="Carlito" pitchFamily="34" charset="0"/>
                <a:ea typeface="Carlito" pitchFamily="34" charset="-122"/>
                <a:cs typeface="Carlito" pitchFamily="34" charset="-120"/>
              </a:rPr>
              <a:t>Compared against 15 published baselines on the same DAiSEE 4-class task. Above the deep-learning median (63.9%) with a model that fits in &lt;1 MB.</a:t>
            </a:r>
            <a:endParaRPr lang="en-US" sz="800" dirty="0"/>
          </a:p>
        </p:txBody>
      </p:sp>
      <p:sp>
        <p:nvSpPr>
          <p:cNvPr id="5" name="Text 3"/>
          <p:cNvSpPr/>
          <p:nvPr/>
        </p:nvSpPr>
        <p:spPr>
          <a:xfrm>
            <a:off x="457200" y="1225600"/>
            <a:ext cx="5274878" cy="2721769"/>
          </a:xfrm>
          <a:prstGeom prst="roundRect">
            <a:avLst>
              <a:gd name="adj" fmla="val 3500"/>
            </a:avLst>
          </a:prstGeom>
          <a:solidFill>
            <a:srgbClr val="F6F8FB"/>
          </a:solidFill>
          <a:ln/>
        </p:spPr>
        <p:txBody>
          <a:bodyPr wrap="square" rtlCol="0" anchor="ctr"/>
          <a:lstStyle/>
          <a:p>
            <a:pPr indent="0" marL="0">
              <a:buNone/>
            </a:pPr>
            <a:endParaRPr lang="en-US" dirty="0"/>
          </a:p>
        </p:txBody>
      </p:sp>
      <p:sp>
        <p:nvSpPr>
          <p:cNvPr id="6" name="Text 4"/>
          <p:cNvSpPr/>
          <p:nvPr/>
        </p:nvSpPr>
        <p:spPr>
          <a:xfrm>
            <a:off x="557213" y="1342579"/>
            <a:ext cx="1428750" cy="131674"/>
          </a:xfrm>
          <a:prstGeom prst="rect">
            <a:avLst/>
          </a:prstGeom>
          <a:noFill/>
          <a:ln/>
        </p:spPr>
        <p:txBody>
          <a:bodyPr wrap="none" lIns="0" tIns="0" rIns="0" bIns="0" rtlCol="0" anchor="t"/>
          <a:lstStyle/>
          <a:p>
            <a:pPr algn="r" indent="0" marL="0">
              <a:lnSpc>
                <a:spcPts val="675"/>
              </a:lnSpc>
              <a:buNone/>
            </a:pPr>
            <a:r>
              <a:rPr lang="en-US" sz="600" spc="-3" kern="0" dirty="0">
                <a:solidFill>
                  <a:srgbClr val="5B6B82"/>
                </a:solidFill>
                <a:latin typeface="Liberation Sans Narrow" pitchFamily="34" charset="0"/>
                <a:ea typeface="Liberation Sans Narrow" pitchFamily="34" charset="-122"/>
                <a:cs typeface="Liberation Sans Narrow" pitchFamily="34" charset="-120"/>
              </a:rPr>
              <a:t>I3D (Inflated 3D ConvNet)</a:t>
            </a:r>
            <a:endParaRPr lang="en-US" sz="600" dirty="0"/>
          </a:p>
        </p:txBody>
      </p:sp>
      <p:sp>
        <p:nvSpPr>
          <p:cNvPr id="7" name="Text 5"/>
          <p:cNvSpPr/>
          <p:nvPr/>
        </p:nvSpPr>
        <p:spPr>
          <a:xfrm>
            <a:off x="2057400" y="1335435"/>
            <a:ext cx="2029383" cy="100013"/>
          </a:xfrm>
          <a:prstGeom prst="roundRect">
            <a:avLst>
              <a:gd name="adj" fmla="val 19048"/>
            </a:avLst>
          </a:prstGeom>
          <a:solidFill>
            <a:srgbClr val="1F3A6B">
              <a:alpha val="78000"/>
            </a:srgbClr>
          </a:solidFill>
          <a:ln/>
        </p:spPr>
        <p:txBody>
          <a:bodyPr wrap="square" rtlCol="0" anchor="ctr"/>
          <a:lstStyle/>
          <a:p>
            <a:pPr indent="0" marL="0">
              <a:buNone/>
            </a:pPr>
            <a:endParaRPr lang="en-US" dirty="0"/>
          </a:p>
        </p:txBody>
      </p:sp>
      <p:sp>
        <p:nvSpPr>
          <p:cNvPr id="8" name="Text 6"/>
          <p:cNvSpPr/>
          <p:nvPr/>
        </p:nvSpPr>
        <p:spPr>
          <a:xfrm>
            <a:off x="5087998" y="1329184"/>
            <a:ext cx="544068" cy="164592"/>
          </a:xfrm>
          <a:prstGeom prst="rect">
            <a:avLst/>
          </a:prstGeom>
          <a:noFill/>
          <a:ln/>
        </p:spPr>
        <p:txBody>
          <a:bodyPr wrap="none" lIns="0" tIns="0" rIns="0" bIns="0" rtlCol="0" anchor="t"/>
          <a:lstStyle/>
          <a:p>
            <a:pPr algn="r" indent="0" marL="0">
              <a:lnSpc>
                <a:spcPts val="886"/>
              </a:lnSpc>
              <a:buNone/>
            </a:pPr>
            <a:r>
              <a:rPr lang="en-US" sz="800" spc="-6" kern="0" dirty="0">
                <a:solidFill>
                  <a:srgbClr val="0F1F3D"/>
                </a:solidFill>
                <a:latin typeface="Liberation Sans Narrow" pitchFamily="34" charset="0"/>
                <a:ea typeface="Liberation Sans Narrow" pitchFamily="34" charset="-122"/>
                <a:cs typeface="Liberation Sans Narrow" pitchFamily="34" charset="-120"/>
              </a:rPr>
              <a:t>52.35%</a:t>
            </a:r>
            <a:endParaRPr lang="en-US" sz="800" dirty="0"/>
          </a:p>
        </p:txBody>
      </p:sp>
      <p:sp>
        <p:nvSpPr>
          <p:cNvPr id="9" name="Text 7"/>
          <p:cNvSpPr/>
          <p:nvPr/>
        </p:nvSpPr>
        <p:spPr>
          <a:xfrm>
            <a:off x="557213" y="1490811"/>
            <a:ext cx="1428750" cy="131674"/>
          </a:xfrm>
          <a:prstGeom prst="rect">
            <a:avLst/>
          </a:prstGeom>
          <a:noFill/>
          <a:ln/>
        </p:spPr>
        <p:txBody>
          <a:bodyPr wrap="square" lIns="0" tIns="0" rIns="0" bIns="0" rtlCol="0" anchor="t"/>
          <a:lstStyle/>
          <a:p>
            <a:pPr algn="r" indent="0" marL="0">
              <a:lnSpc>
                <a:spcPts val="675"/>
              </a:lnSpc>
              <a:buNone/>
            </a:pPr>
            <a:r>
              <a:rPr lang="en-US" sz="600" spc="-3" kern="0" dirty="0">
                <a:solidFill>
                  <a:srgbClr val="5B6B82"/>
                </a:solidFill>
                <a:latin typeface="Carlito" pitchFamily="34" charset="0"/>
                <a:ea typeface="Carlito" pitchFamily="34" charset="-122"/>
                <a:cs typeface="Carlito" pitchFamily="34" charset="-120"/>
              </a:rPr>
              <a:t>CNN-RNN Baseline (DAiSEE)</a:t>
            </a:r>
            <a:endParaRPr lang="en-US" sz="600" dirty="0"/>
          </a:p>
        </p:txBody>
      </p:sp>
      <p:sp>
        <p:nvSpPr>
          <p:cNvPr id="10" name="Text 8"/>
          <p:cNvSpPr/>
          <p:nvPr/>
        </p:nvSpPr>
        <p:spPr>
          <a:xfrm>
            <a:off x="2057400" y="1483668"/>
            <a:ext cx="2091444" cy="100013"/>
          </a:xfrm>
          <a:prstGeom prst="roundRect">
            <a:avLst>
              <a:gd name="adj" fmla="val 19048"/>
            </a:avLst>
          </a:prstGeom>
          <a:solidFill>
            <a:srgbClr val="1F3A6B">
              <a:alpha val="78000"/>
            </a:srgbClr>
          </a:solidFill>
          <a:ln/>
        </p:spPr>
        <p:txBody>
          <a:bodyPr wrap="square" rtlCol="0" anchor="ctr"/>
          <a:lstStyle/>
          <a:p>
            <a:pPr indent="0" marL="0">
              <a:buNone/>
            </a:pPr>
            <a:endParaRPr lang="en-US" dirty="0"/>
          </a:p>
        </p:txBody>
      </p:sp>
      <p:sp>
        <p:nvSpPr>
          <p:cNvPr id="11" name="Text 9"/>
          <p:cNvSpPr/>
          <p:nvPr/>
        </p:nvSpPr>
        <p:spPr>
          <a:xfrm>
            <a:off x="5087998" y="1477417"/>
            <a:ext cx="544068" cy="164592"/>
          </a:xfrm>
          <a:prstGeom prst="rect">
            <a:avLst/>
          </a:prstGeom>
          <a:noFill/>
          <a:ln/>
        </p:spPr>
        <p:txBody>
          <a:bodyPr wrap="none" lIns="0" tIns="0" rIns="0" bIns="0" rtlCol="0" anchor="t"/>
          <a:lstStyle/>
          <a:p>
            <a:pPr algn="r" indent="0" marL="0">
              <a:lnSpc>
                <a:spcPts val="886"/>
              </a:lnSpc>
              <a:buNone/>
            </a:pPr>
            <a:r>
              <a:rPr lang="en-US" sz="800" spc="-6" kern="0" dirty="0">
                <a:solidFill>
                  <a:srgbClr val="0F1F3D"/>
                </a:solidFill>
                <a:latin typeface="Liberation Sans Narrow" pitchFamily="34" charset="0"/>
                <a:ea typeface="Liberation Sans Narrow" pitchFamily="34" charset="-122"/>
                <a:cs typeface="Liberation Sans Narrow" pitchFamily="34" charset="-120"/>
              </a:rPr>
              <a:t>53.90%</a:t>
            </a:r>
            <a:endParaRPr lang="en-US" sz="800" dirty="0"/>
          </a:p>
        </p:txBody>
      </p:sp>
      <p:sp>
        <p:nvSpPr>
          <p:cNvPr id="12" name="Text 10"/>
          <p:cNvSpPr/>
          <p:nvPr/>
        </p:nvSpPr>
        <p:spPr>
          <a:xfrm>
            <a:off x="557213" y="1639044"/>
            <a:ext cx="1428750" cy="131674"/>
          </a:xfrm>
          <a:prstGeom prst="rect">
            <a:avLst/>
          </a:prstGeom>
          <a:noFill/>
          <a:ln/>
        </p:spPr>
        <p:txBody>
          <a:bodyPr wrap="square" lIns="0" tIns="0" rIns="0" bIns="0" rtlCol="0" anchor="t"/>
          <a:lstStyle/>
          <a:p>
            <a:pPr algn="r" indent="0" marL="0">
              <a:lnSpc>
                <a:spcPts val="675"/>
              </a:lnSpc>
              <a:buNone/>
            </a:pPr>
            <a:r>
              <a:rPr lang="en-US" sz="600" spc="-3" kern="0" dirty="0">
                <a:solidFill>
                  <a:srgbClr val="5B6B82"/>
                </a:solidFill>
                <a:latin typeface="Liberation Sans Narrow" pitchFamily="34" charset="0"/>
                <a:ea typeface="Liberation Sans Narrow" pitchFamily="34" charset="-122"/>
                <a:cs typeface="Liberation Sans Narrow" pitchFamily="34" charset="-120"/>
              </a:rPr>
              <a:t>DFSTN (SE-ResNet-50 + LSTM + GALN)</a:t>
            </a:r>
            <a:endParaRPr lang="en-US" sz="600" dirty="0"/>
          </a:p>
        </p:txBody>
      </p:sp>
      <p:sp>
        <p:nvSpPr>
          <p:cNvPr id="13" name="Text 11"/>
          <p:cNvSpPr/>
          <p:nvPr/>
        </p:nvSpPr>
        <p:spPr>
          <a:xfrm>
            <a:off x="2057400" y="1631900"/>
            <a:ext cx="2283879" cy="100013"/>
          </a:xfrm>
          <a:prstGeom prst="roundRect">
            <a:avLst>
              <a:gd name="adj" fmla="val 19048"/>
            </a:avLst>
          </a:prstGeom>
          <a:solidFill>
            <a:srgbClr val="1F3A6B">
              <a:alpha val="78000"/>
            </a:srgbClr>
          </a:solidFill>
          <a:ln/>
        </p:spPr>
        <p:txBody>
          <a:bodyPr wrap="square" rtlCol="0" anchor="ctr"/>
          <a:lstStyle/>
          <a:p>
            <a:pPr indent="0" marL="0">
              <a:buNone/>
            </a:pPr>
            <a:endParaRPr lang="en-US" dirty="0"/>
          </a:p>
        </p:txBody>
      </p:sp>
      <p:sp>
        <p:nvSpPr>
          <p:cNvPr id="14" name="Text 12"/>
          <p:cNvSpPr/>
          <p:nvPr/>
        </p:nvSpPr>
        <p:spPr>
          <a:xfrm>
            <a:off x="5087998" y="1625650"/>
            <a:ext cx="544068" cy="164592"/>
          </a:xfrm>
          <a:prstGeom prst="rect">
            <a:avLst/>
          </a:prstGeom>
          <a:noFill/>
          <a:ln/>
        </p:spPr>
        <p:txBody>
          <a:bodyPr wrap="none" lIns="0" tIns="0" rIns="0" bIns="0" rtlCol="0" anchor="t"/>
          <a:lstStyle/>
          <a:p>
            <a:pPr algn="r" indent="0" marL="0">
              <a:lnSpc>
                <a:spcPts val="886"/>
              </a:lnSpc>
              <a:buNone/>
            </a:pPr>
            <a:r>
              <a:rPr lang="en-US" sz="800" spc="-6" kern="0" dirty="0">
                <a:solidFill>
                  <a:srgbClr val="0F1F3D"/>
                </a:solidFill>
                <a:latin typeface="Liberation Sans Narrow" pitchFamily="34" charset="0"/>
                <a:ea typeface="Liberation Sans Narrow" pitchFamily="34" charset="-122"/>
                <a:cs typeface="Liberation Sans Narrow" pitchFamily="34" charset="-120"/>
              </a:rPr>
              <a:t>58.84%</a:t>
            </a:r>
            <a:endParaRPr lang="en-US" sz="800" dirty="0"/>
          </a:p>
        </p:txBody>
      </p:sp>
      <p:sp>
        <p:nvSpPr>
          <p:cNvPr id="15" name="Text 13"/>
          <p:cNvSpPr/>
          <p:nvPr/>
        </p:nvSpPr>
        <p:spPr>
          <a:xfrm>
            <a:off x="557213" y="1787277"/>
            <a:ext cx="1428750" cy="131674"/>
          </a:xfrm>
          <a:prstGeom prst="rect">
            <a:avLst/>
          </a:prstGeom>
          <a:noFill/>
          <a:ln/>
        </p:spPr>
        <p:txBody>
          <a:bodyPr wrap="none" lIns="0" tIns="0" rIns="0" bIns="0" rtlCol="0" anchor="t"/>
          <a:lstStyle/>
          <a:p>
            <a:pPr algn="r" indent="0" marL="0">
              <a:lnSpc>
                <a:spcPts val="675"/>
              </a:lnSpc>
              <a:buNone/>
            </a:pPr>
            <a:r>
              <a:rPr lang="en-US" sz="800" spc="-3" kern="0" dirty="0">
                <a:solidFill>
                  <a:srgbClr val="5B6B82"/>
                </a:solidFill>
                <a:latin typeface="Carlito" pitchFamily="34" charset="0"/>
                <a:ea typeface="Carlito" pitchFamily="34" charset="-122"/>
                <a:cs typeface="Carlito" pitchFamily="34" charset="-120"/>
              </a:rPr>
              <a:t>ViBED-Net (Transformer)</a:t>
            </a:r>
            <a:endParaRPr lang="en-US" sz="800" dirty="0"/>
          </a:p>
        </p:txBody>
      </p:sp>
      <p:sp>
        <p:nvSpPr>
          <p:cNvPr id="16" name="Text 14"/>
          <p:cNvSpPr/>
          <p:nvPr/>
        </p:nvSpPr>
        <p:spPr>
          <a:xfrm>
            <a:off x="2057400" y="1780133"/>
            <a:ext cx="2420392" cy="100013"/>
          </a:xfrm>
          <a:prstGeom prst="roundRect">
            <a:avLst>
              <a:gd name="adj" fmla="val 19048"/>
            </a:avLst>
          </a:prstGeom>
          <a:solidFill>
            <a:srgbClr val="1F3A6B">
              <a:alpha val="78000"/>
            </a:srgbClr>
          </a:solidFill>
          <a:ln/>
        </p:spPr>
        <p:txBody>
          <a:bodyPr wrap="square" rtlCol="0" anchor="ctr"/>
          <a:lstStyle/>
          <a:p>
            <a:pPr indent="0" marL="0">
              <a:buNone/>
            </a:pPr>
            <a:endParaRPr lang="en-US" dirty="0"/>
          </a:p>
        </p:txBody>
      </p:sp>
      <p:sp>
        <p:nvSpPr>
          <p:cNvPr id="17" name="Text 15"/>
          <p:cNvSpPr/>
          <p:nvPr/>
        </p:nvSpPr>
        <p:spPr>
          <a:xfrm>
            <a:off x="5087998" y="1773882"/>
            <a:ext cx="544068" cy="164592"/>
          </a:xfrm>
          <a:prstGeom prst="rect">
            <a:avLst/>
          </a:prstGeom>
          <a:noFill/>
          <a:ln/>
        </p:spPr>
        <p:txBody>
          <a:bodyPr wrap="none" lIns="0" tIns="0" rIns="0" bIns="0" rtlCol="0" anchor="t"/>
          <a:lstStyle/>
          <a:p>
            <a:pPr algn="r" indent="0" marL="0">
              <a:lnSpc>
                <a:spcPts val="886"/>
              </a:lnSpc>
              <a:buNone/>
            </a:pPr>
            <a:r>
              <a:rPr lang="en-US" sz="800" spc="-6" kern="0" dirty="0">
                <a:solidFill>
                  <a:srgbClr val="0F1F3D"/>
                </a:solidFill>
                <a:latin typeface="Liberation Sans Narrow" pitchFamily="34" charset="0"/>
                <a:ea typeface="Liberation Sans Narrow" pitchFamily="34" charset="-122"/>
                <a:cs typeface="Liberation Sans Narrow" pitchFamily="34" charset="-120"/>
              </a:rPr>
              <a:t>62.39%</a:t>
            </a:r>
            <a:endParaRPr lang="en-US" sz="800" dirty="0"/>
          </a:p>
        </p:txBody>
      </p:sp>
      <p:sp>
        <p:nvSpPr>
          <p:cNvPr id="18" name="Text 16"/>
          <p:cNvSpPr/>
          <p:nvPr/>
        </p:nvSpPr>
        <p:spPr>
          <a:xfrm>
            <a:off x="557213" y="1935510"/>
            <a:ext cx="1428750" cy="131674"/>
          </a:xfrm>
          <a:prstGeom prst="rect">
            <a:avLst/>
          </a:prstGeom>
          <a:noFill/>
          <a:ln/>
        </p:spPr>
        <p:txBody>
          <a:bodyPr wrap="none" lIns="0" tIns="0" rIns="0" bIns="0" rtlCol="0" anchor="t"/>
          <a:lstStyle/>
          <a:p>
            <a:pPr algn="r" indent="0" marL="0">
              <a:lnSpc>
                <a:spcPts val="675"/>
              </a:lnSpc>
              <a:buNone/>
            </a:pPr>
            <a:r>
              <a:rPr lang="en-US" sz="800" spc="-3" kern="0" dirty="0">
                <a:solidFill>
                  <a:srgbClr val="5B6B82"/>
                </a:solidFill>
                <a:latin typeface="Carlito" pitchFamily="34" charset="0"/>
                <a:ea typeface="Carlito" pitchFamily="34" charset="-122"/>
                <a:cs typeface="Carlito" pitchFamily="34" charset="-120"/>
              </a:rPr>
              <a:t>VisioPhysioENet</a:t>
            </a:r>
            <a:endParaRPr lang="en-US" sz="800" dirty="0"/>
          </a:p>
        </p:txBody>
      </p:sp>
      <p:sp>
        <p:nvSpPr>
          <p:cNvPr id="19" name="Text 17"/>
          <p:cNvSpPr/>
          <p:nvPr/>
        </p:nvSpPr>
        <p:spPr>
          <a:xfrm>
            <a:off x="2057400" y="1928366"/>
            <a:ext cx="2448297" cy="100013"/>
          </a:xfrm>
          <a:prstGeom prst="roundRect">
            <a:avLst>
              <a:gd name="adj" fmla="val 19048"/>
            </a:avLst>
          </a:prstGeom>
          <a:solidFill>
            <a:srgbClr val="1F3A6B">
              <a:alpha val="78000"/>
            </a:srgbClr>
          </a:solidFill>
          <a:ln/>
        </p:spPr>
        <p:txBody>
          <a:bodyPr wrap="square" rtlCol="0" anchor="ctr"/>
          <a:lstStyle/>
          <a:p>
            <a:pPr indent="0" marL="0">
              <a:buNone/>
            </a:pPr>
            <a:endParaRPr lang="en-US" dirty="0"/>
          </a:p>
        </p:txBody>
      </p:sp>
      <p:sp>
        <p:nvSpPr>
          <p:cNvPr id="20" name="Text 18"/>
          <p:cNvSpPr/>
          <p:nvPr/>
        </p:nvSpPr>
        <p:spPr>
          <a:xfrm>
            <a:off x="5087998" y="1922115"/>
            <a:ext cx="544068" cy="164592"/>
          </a:xfrm>
          <a:prstGeom prst="rect">
            <a:avLst/>
          </a:prstGeom>
          <a:noFill/>
          <a:ln/>
        </p:spPr>
        <p:txBody>
          <a:bodyPr wrap="none" lIns="0" tIns="0" rIns="0" bIns="0" rtlCol="0" anchor="t"/>
          <a:lstStyle/>
          <a:p>
            <a:pPr algn="r" indent="0" marL="0">
              <a:lnSpc>
                <a:spcPts val="886"/>
              </a:lnSpc>
              <a:buNone/>
            </a:pPr>
            <a:r>
              <a:rPr lang="en-US" sz="800" spc="-6" kern="0" dirty="0">
                <a:solidFill>
                  <a:srgbClr val="0F1F3D"/>
                </a:solidFill>
                <a:latin typeface="Liberation Sans Narrow" pitchFamily="34" charset="0"/>
                <a:ea typeface="Liberation Sans Narrow" pitchFamily="34" charset="-122"/>
                <a:cs typeface="Liberation Sans Narrow" pitchFamily="34" charset="-120"/>
              </a:rPr>
              <a:t>63.09%</a:t>
            </a:r>
            <a:endParaRPr lang="en-US" sz="800" dirty="0"/>
          </a:p>
        </p:txBody>
      </p:sp>
      <p:sp>
        <p:nvSpPr>
          <p:cNvPr id="21" name="Text 19"/>
          <p:cNvSpPr/>
          <p:nvPr/>
        </p:nvSpPr>
        <p:spPr>
          <a:xfrm>
            <a:off x="557213" y="2083743"/>
            <a:ext cx="1428750" cy="131674"/>
          </a:xfrm>
          <a:prstGeom prst="rect">
            <a:avLst/>
          </a:prstGeom>
          <a:noFill/>
          <a:ln/>
        </p:spPr>
        <p:txBody>
          <a:bodyPr wrap="square" lIns="0" tIns="0" rIns="0" bIns="0" rtlCol="0" anchor="t"/>
          <a:lstStyle/>
          <a:p>
            <a:pPr algn="r" indent="0" marL="0">
              <a:lnSpc>
                <a:spcPts val="675"/>
              </a:lnSpc>
              <a:buNone/>
            </a:pPr>
            <a:r>
              <a:rPr lang="en-US" sz="600" spc="-3" kern="0" dirty="0">
                <a:solidFill>
                  <a:srgbClr val="5B6B82"/>
                </a:solidFill>
                <a:latin typeface="Liberation Sans Narrow" pitchFamily="34" charset="0"/>
                <a:ea typeface="Liberation Sans Narrow" pitchFamily="34" charset="-122"/>
                <a:cs typeface="Liberation Sans Narrow" pitchFamily="34" charset="-120"/>
              </a:rPr>
              <a:t>Tu et al. (ResNet-50 + TCN + ECA)</a:t>
            </a:r>
            <a:endParaRPr lang="en-US" sz="600" dirty="0"/>
          </a:p>
        </p:txBody>
      </p:sp>
      <p:sp>
        <p:nvSpPr>
          <p:cNvPr id="22" name="Text 20"/>
          <p:cNvSpPr/>
          <p:nvPr/>
        </p:nvSpPr>
        <p:spPr>
          <a:xfrm>
            <a:off x="2057400" y="2076599"/>
            <a:ext cx="2454548" cy="100013"/>
          </a:xfrm>
          <a:prstGeom prst="roundRect">
            <a:avLst>
              <a:gd name="adj" fmla="val 19048"/>
            </a:avLst>
          </a:prstGeom>
          <a:solidFill>
            <a:srgbClr val="1F3A6B">
              <a:alpha val="78000"/>
            </a:srgbClr>
          </a:solidFill>
          <a:ln/>
        </p:spPr>
        <p:txBody>
          <a:bodyPr wrap="square" rtlCol="0" anchor="ctr"/>
          <a:lstStyle/>
          <a:p>
            <a:pPr indent="0" marL="0">
              <a:buNone/>
            </a:pPr>
            <a:endParaRPr lang="en-US" dirty="0"/>
          </a:p>
        </p:txBody>
      </p:sp>
      <p:sp>
        <p:nvSpPr>
          <p:cNvPr id="23" name="Text 21"/>
          <p:cNvSpPr/>
          <p:nvPr/>
        </p:nvSpPr>
        <p:spPr>
          <a:xfrm>
            <a:off x="5087998" y="2070348"/>
            <a:ext cx="544068" cy="164592"/>
          </a:xfrm>
          <a:prstGeom prst="rect">
            <a:avLst/>
          </a:prstGeom>
          <a:noFill/>
          <a:ln/>
        </p:spPr>
        <p:txBody>
          <a:bodyPr wrap="none" lIns="0" tIns="0" rIns="0" bIns="0" rtlCol="0" anchor="t"/>
          <a:lstStyle/>
          <a:p>
            <a:pPr algn="r" indent="0" marL="0">
              <a:lnSpc>
                <a:spcPts val="886"/>
              </a:lnSpc>
              <a:buNone/>
            </a:pPr>
            <a:r>
              <a:rPr lang="en-US" sz="800" spc="-6" kern="0" dirty="0">
                <a:solidFill>
                  <a:srgbClr val="0F1F3D"/>
                </a:solidFill>
                <a:latin typeface="Liberation Sans Narrow" pitchFamily="34" charset="0"/>
                <a:ea typeface="Liberation Sans Narrow" pitchFamily="34" charset="-122"/>
                <a:cs typeface="Liberation Sans Narrow" pitchFamily="34" charset="-120"/>
              </a:rPr>
              <a:t>63.28%</a:t>
            </a:r>
            <a:endParaRPr lang="en-US" sz="800" dirty="0"/>
          </a:p>
        </p:txBody>
      </p:sp>
      <p:sp>
        <p:nvSpPr>
          <p:cNvPr id="24" name="Text 22"/>
          <p:cNvSpPr/>
          <p:nvPr/>
        </p:nvSpPr>
        <p:spPr>
          <a:xfrm>
            <a:off x="557213" y="2231975"/>
            <a:ext cx="1428750" cy="131674"/>
          </a:xfrm>
          <a:prstGeom prst="rect">
            <a:avLst/>
          </a:prstGeom>
          <a:noFill/>
          <a:ln/>
        </p:spPr>
        <p:txBody>
          <a:bodyPr wrap="square" lIns="0" tIns="0" rIns="0" bIns="0" rtlCol="0" anchor="t"/>
          <a:lstStyle/>
          <a:p>
            <a:pPr algn="r" indent="0" marL="0">
              <a:lnSpc>
                <a:spcPts val="675"/>
              </a:lnSpc>
              <a:buNone/>
            </a:pPr>
            <a:r>
              <a:rPr lang="en-US" sz="600" spc="-3" kern="0" dirty="0">
                <a:solidFill>
                  <a:srgbClr val="5B6B82"/>
                </a:solidFill>
                <a:latin typeface="Liberation Sans Narrow" pitchFamily="34" charset="0"/>
                <a:ea typeface="Liberation Sans Narrow" pitchFamily="34" charset="-122"/>
                <a:cs typeface="Liberation Sans Narrow" pitchFamily="34" charset="-120"/>
              </a:rPr>
              <a:t>Mehta et al. (3D DenseNet + Attn)</a:t>
            </a:r>
            <a:endParaRPr lang="en-US" sz="600" dirty="0"/>
          </a:p>
        </p:txBody>
      </p:sp>
      <p:sp>
        <p:nvSpPr>
          <p:cNvPr id="25" name="Text 23"/>
          <p:cNvSpPr/>
          <p:nvPr/>
        </p:nvSpPr>
        <p:spPr>
          <a:xfrm>
            <a:off x="2057400" y="2224832"/>
            <a:ext cx="2466938" cy="100013"/>
          </a:xfrm>
          <a:prstGeom prst="roundRect">
            <a:avLst>
              <a:gd name="adj" fmla="val 19048"/>
            </a:avLst>
          </a:prstGeom>
          <a:solidFill>
            <a:srgbClr val="1F3A6B">
              <a:alpha val="78000"/>
            </a:srgbClr>
          </a:solidFill>
          <a:ln/>
        </p:spPr>
        <p:txBody>
          <a:bodyPr wrap="square" rtlCol="0" anchor="ctr"/>
          <a:lstStyle/>
          <a:p>
            <a:pPr indent="0" marL="0">
              <a:buNone/>
            </a:pPr>
            <a:endParaRPr lang="en-US" dirty="0"/>
          </a:p>
        </p:txBody>
      </p:sp>
      <p:sp>
        <p:nvSpPr>
          <p:cNvPr id="26" name="Text 24"/>
          <p:cNvSpPr/>
          <p:nvPr/>
        </p:nvSpPr>
        <p:spPr>
          <a:xfrm>
            <a:off x="5087998" y="2218581"/>
            <a:ext cx="544068" cy="164592"/>
          </a:xfrm>
          <a:prstGeom prst="rect">
            <a:avLst/>
          </a:prstGeom>
          <a:noFill/>
          <a:ln/>
        </p:spPr>
        <p:txBody>
          <a:bodyPr wrap="none" lIns="0" tIns="0" rIns="0" bIns="0" rtlCol="0" anchor="t"/>
          <a:lstStyle/>
          <a:p>
            <a:pPr algn="r" indent="0" marL="0">
              <a:lnSpc>
                <a:spcPts val="886"/>
              </a:lnSpc>
              <a:buNone/>
            </a:pPr>
            <a:r>
              <a:rPr lang="en-US" sz="800" spc="-6" kern="0" dirty="0">
                <a:solidFill>
                  <a:srgbClr val="0F1F3D"/>
                </a:solidFill>
                <a:latin typeface="Liberation Sans Narrow" pitchFamily="34" charset="0"/>
                <a:ea typeface="Liberation Sans Narrow" pitchFamily="34" charset="-122"/>
                <a:cs typeface="Liberation Sans Narrow" pitchFamily="34" charset="-120"/>
              </a:rPr>
              <a:t>63.59%</a:t>
            </a:r>
            <a:endParaRPr lang="en-US" sz="800" dirty="0"/>
          </a:p>
        </p:txBody>
      </p:sp>
      <p:sp>
        <p:nvSpPr>
          <p:cNvPr id="27" name="Text 25"/>
          <p:cNvSpPr/>
          <p:nvPr/>
        </p:nvSpPr>
        <p:spPr>
          <a:xfrm>
            <a:off x="557213" y="2380208"/>
            <a:ext cx="1428750" cy="131674"/>
          </a:xfrm>
          <a:prstGeom prst="rect">
            <a:avLst/>
          </a:prstGeom>
          <a:noFill/>
          <a:ln/>
        </p:spPr>
        <p:txBody>
          <a:bodyPr wrap="square" lIns="0" tIns="0" rIns="0" bIns="0" rtlCol="0" anchor="t"/>
          <a:lstStyle/>
          <a:p>
            <a:pPr algn="r" indent="0" marL="0">
              <a:lnSpc>
                <a:spcPts val="675"/>
              </a:lnSpc>
              <a:buNone/>
            </a:pPr>
            <a:r>
              <a:rPr lang="en-US" sz="600" spc="-3" kern="0" dirty="0">
                <a:solidFill>
                  <a:srgbClr val="5B6B82"/>
                </a:solidFill>
                <a:latin typeface="Liberation Sans Narrow" pitchFamily="34" charset="0"/>
                <a:ea typeface="Liberation Sans Narrow" pitchFamily="34" charset="-122"/>
                <a:cs typeface="Liberation Sans Narrow" pitchFamily="34" charset="-120"/>
              </a:rPr>
              <a:t>Huang et al. (Opt. ShuffleNet v2)</a:t>
            </a:r>
            <a:endParaRPr lang="en-US" sz="600" dirty="0"/>
          </a:p>
        </p:txBody>
      </p:sp>
      <p:sp>
        <p:nvSpPr>
          <p:cNvPr id="28" name="Text 26"/>
          <p:cNvSpPr/>
          <p:nvPr/>
        </p:nvSpPr>
        <p:spPr>
          <a:xfrm>
            <a:off x="2057400" y="2373064"/>
            <a:ext cx="2479439" cy="100013"/>
          </a:xfrm>
          <a:prstGeom prst="roundRect">
            <a:avLst>
              <a:gd name="adj" fmla="val 19048"/>
            </a:avLst>
          </a:prstGeom>
          <a:solidFill>
            <a:srgbClr val="1F3A6B">
              <a:alpha val="78000"/>
            </a:srgbClr>
          </a:solidFill>
          <a:ln/>
        </p:spPr>
        <p:txBody>
          <a:bodyPr wrap="square" rtlCol="0" anchor="ctr"/>
          <a:lstStyle/>
          <a:p>
            <a:pPr indent="0" marL="0">
              <a:buNone/>
            </a:pPr>
            <a:endParaRPr lang="en-US" dirty="0"/>
          </a:p>
        </p:txBody>
      </p:sp>
      <p:sp>
        <p:nvSpPr>
          <p:cNvPr id="29" name="Text 27"/>
          <p:cNvSpPr/>
          <p:nvPr/>
        </p:nvSpPr>
        <p:spPr>
          <a:xfrm>
            <a:off x="5087998" y="2366814"/>
            <a:ext cx="544068" cy="164592"/>
          </a:xfrm>
          <a:prstGeom prst="rect">
            <a:avLst/>
          </a:prstGeom>
          <a:noFill/>
          <a:ln/>
        </p:spPr>
        <p:txBody>
          <a:bodyPr wrap="none" lIns="0" tIns="0" rIns="0" bIns="0" rtlCol="0" anchor="t"/>
          <a:lstStyle/>
          <a:p>
            <a:pPr algn="r" indent="0" marL="0">
              <a:lnSpc>
                <a:spcPts val="886"/>
              </a:lnSpc>
              <a:buNone/>
            </a:pPr>
            <a:r>
              <a:rPr lang="en-US" sz="800" spc="-6" kern="0" dirty="0">
                <a:solidFill>
                  <a:srgbClr val="0F1F3D"/>
                </a:solidFill>
                <a:latin typeface="Liberation Sans Narrow" pitchFamily="34" charset="0"/>
                <a:ea typeface="Liberation Sans Narrow" pitchFamily="34" charset="-122"/>
                <a:cs typeface="Liberation Sans Narrow" pitchFamily="34" charset="-120"/>
              </a:rPr>
              <a:t>63.90%</a:t>
            </a:r>
            <a:endParaRPr lang="en-US" sz="800" dirty="0"/>
          </a:p>
        </p:txBody>
      </p:sp>
      <p:sp>
        <p:nvSpPr>
          <p:cNvPr id="30" name="Text 28"/>
          <p:cNvSpPr/>
          <p:nvPr/>
        </p:nvSpPr>
        <p:spPr>
          <a:xfrm>
            <a:off x="557213" y="2528441"/>
            <a:ext cx="1428750" cy="131674"/>
          </a:xfrm>
          <a:prstGeom prst="rect">
            <a:avLst/>
          </a:prstGeom>
          <a:noFill/>
          <a:ln/>
        </p:spPr>
        <p:txBody>
          <a:bodyPr wrap="square" lIns="0" tIns="0" rIns="0" bIns="0" rtlCol="0" anchor="t"/>
          <a:lstStyle/>
          <a:p>
            <a:pPr algn="r" indent="0" marL="0">
              <a:lnSpc>
                <a:spcPts val="675"/>
              </a:lnSpc>
              <a:buNone/>
            </a:pPr>
            <a:r>
              <a:rPr lang="en-US" sz="600" spc="-3" kern="0" dirty="0">
                <a:solidFill>
                  <a:srgbClr val="5B6B82"/>
                </a:solidFill>
                <a:latin typeface="Liberation Sans Narrow" pitchFamily="34" charset="0"/>
                <a:ea typeface="Liberation Sans Narrow" pitchFamily="34" charset="-122"/>
                <a:cs typeface="Liberation Sans Narrow" pitchFamily="34" charset="-120"/>
              </a:rPr>
              <a:t>Abedi &amp; Khan (ResNet-50 + TCN)</a:t>
            </a:r>
            <a:endParaRPr lang="en-US" sz="600" dirty="0"/>
          </a:p>
        </p:txBody>
      </p:sp>
      <p:sp>
        <p:nvSpPr>
          <p:cNvPr id="31" name="Text 29"/>
          <p:cNvSpPr/>
          <p:nvPr/>
        </p:nvSpPr>
        <p:spPr>
          <a:xfrm>
            <a:off x="2057400" y="2521297"/>
            <a:ext cx="2479439" cy="100013"/>
          </a:xfrm>
          <a:prstGeom prst="roundRect">
            <a:avLst>
              <a:gd name="adj" fmla="val 19048"/>
            </a:avLst>
          </a:prstGeom>
          <a:solidFill>
            <a:srgbClr val="1F3A6B">
              <a:alpha val="78000"/>
            </a:srgbClr>
          </a:solidFill>
          <a:ln/>
        </p:spPr>
        <p:txBody>
          <a:bodyPr wrap="square" rtlCol="0" anchor="ctr"/>
          <a:lstStyle/>
          <a:p>
            <a:pPr indent="0" marL="0">
              <a:buNone/>
            </a:pPr>
            <a:endParaRPr lang="en-US" dirty="0"/>
          </a:p>
        </p:txBody>
      </p:sp>
      <p:sp>
        <p:nvSpPr>
          <p:cNvPr id="32" name="Text 30"/>
          <p:cNvSpPr/>
          <p:nvPr/>
        </p:nvSpPr>
        <p:spPr>
          <a:xfrm>
            <a:off x="5087998" y="2515046"/>
            <a:ext cx="544068" cy="164592"/>
          </a:xfrm>
          <a:prstGeom prst="rect">
            <a:avLst/>
          </a:prstGeom>
          <a:noFill/>
          <a:ln/>
        </p:spPr>
        <p:txBody>
          <a:bodyPr wrap="none" lIns="0" tIns="0" rIns="0" bIns="0" rtlCol="0" anchor="t"/>
          <a:lstStyle/>
          <a:p>
            <a:pPr algn="r" indent="0" marL="0">
              <a:lnSpc>
                <a:spcPts val="886"/>
              </a:lnSpc>
              <a:buNone/>
            </a:pPr>
            <a:r>
              <a:rPr lang="en-US" sz="800" spc="-6" kern="0" dirty="0">
                <a:solidFill>
                  <a:srgbClr val="0F1F3D"/>
                </a:solidFill>
                <a:latin typeface="Liberation Sans Narrow" pitchFamily="34" charset="0"/>
                <a:ea typeface="Liberation Sans Narrow" pitchFamily="34" charset="-122"/>
                <a:cs typeface="Liberation Sans Narrow" pitchFamily="34" charset="-120"/>
              </a:rPr>
              <a:t>63.90%</a:t>
            </a:r>
            <a:endParaRPr lang="en-US" sz="800" dirty="0"/>
          </a:p>
        </p:txBody>
      </p:sp>
      <p:sp>
        <p:nvSpPr>
          <p:cNvPr id="33" name="Text 31"/>
          <p:cNvSpPr/>
          <p:nvPr/>
        </p:nvSpPr>
        <p:spPr>
          <a:xfrm>
            <a:off x="557213" y="2676674"/>
            <a:ext cx="1428750" cy="131674"/>
          </a:xfrm>
          <a:prstGeom prst="rect">
            <a:avLst/>
          </a:prstGeom>
          <a:noFill/>
          <a:ln/>
        </p:spPr>
        <p:txBody>
          <a:bodyPr wrap="square" lIns="0" tIns="0" rIns="0" bIns="0" rtlCol="0" anchor="t"/>
          <a:lstStyle/>
          <a:p>
            <a:pPr algn="r" indent="0" marL="0">
              <a:lnSpc>
                <a:spcPts val="675"/>
              </a:lnSpc>
              <a:buNone/>
            </a:pPr>
            <a:r>
              <a:rPr lang="en-US" sz="600" spc="-3" kern="0" dirty="0">
                <a:solidFill>
                  <a:srgbClr val="5B6B82"/>
                </a:solidFill>
                <a:latin typeface="Carlito" pitchFamily="34" charset="0"/>
                <a:ea typeface="Carlito" pitchFamily="34" charset="-122"/>
                <a:cs typeface="Carlito" pitchFamily="34" charset="-120"/>
              </a:rPr>
              <a:t>Affect-driven Ordinal Engagement</a:t>
            </a:r>
            <a:endParaRPr lang="en-US" sz="600" dirty="0"/>
          </a:p>
        </p:txBody>
      </p:sp>
      <p:sp>
        <p:nvSpPr>
          <p:cNvPr id="34" name="Text 32"/>
          <p:cNvSpPr/>
          <p:nvPr/>
        </p:nvSpPr>
        <p:spPr>
          <a:xfrm>
            <a:off x="2057400" y="2669530"/>
            <a:ext cx="2615952" cy="100013"/>
          </a:xfrm>
          <a:prstGeom prst="roundRect">
            <a:avLst>
              <a:gd name="adj" fmla="val 19048"/>
            </a:avLst>
          </a:prstGeom>
          <a:solidFill>
            <a:srgbClr val="1F3A6B">
              <a:alpha val="78000"/>
            </a:srgbClr>
          </a:solidFill>
          <a:ln/>
        </p:spPr>
        <p:txBody>
          <a:bodyPr wrap="square" rtlCol="0" anchor="ctr"/>
          <a:lstStyle/>
          <a:p>
            <a:pPr indent="0" marL="0">
              <a:buNone/>
            </a:pPr>
            <a:endParaRPr lang="en-US" dirty="0"/>
          </a:p>
        </p:txBody>
      </p:sp>
      <p:sp>
        <p:nvSpPr>
          <p:cNvPr id="35" name="Text 33"/>
          <p:cNvSpPr/>
          <p:nvPr/>
        </p:nvSpPr>
        <p:spPr>
          <a:xfrm>
            <a:off x="5087998" y="2663279"/>
            <a:ext cx="544068" cy="164592"/>
          </a:xfrm>
          <a:prstGeom prst="rect">
            <a:avLst/>
          </a:prstGeom>
          <a:noFill/>
          <a:ln/>
        </p:spPr>
        <p:txBody>
          <a:bodyPr wrap="none" lIns="0" tIns="0" rIns="0" bIns="0" rtlCol="0" anchor="t"/>
          <a:lstStyle/>
          <a:p>
            <a:pPr algn="r" indent="0" marL="0">
              <a:lnSpc>
                <a:spcPts val="886"/>
              </a:lnSpc>
              <a:buNone/>
            </a:pPr>
            <a:r>
              <a:rPr lang="en-US" sz="800" spc="-6" kern="0" dirty="0">
                <a:solidFill>
                  <a:srgbClr val="0F1F3D"/>
                </a:solidFill>
                <a:latin typeface="Liberation Sans Narrow" pitchFamily="34" charset="0"/>
                <a:ea typeface="Liberation Sans Narrow" pitchFamily="34" charset="-122"/>
                <a:cs typeface="Liberation Sans Narrow" pitchFamily="34" charset="-120"/>
              </a:rPr>
              <a:t>67.40%</a:t>
            </a:r>
            <a:endParaRPr lang="en-US" sz="800" dirty="0"/>
          </a:p>
        </p:txBody>
      </p:sp>
      <p:sp>
        <p:nvSpPr>
          <p:cNvPr id="36" name="Text 34"/>
          <p:cNvSpPr/>
          <p:nvPr/>
        </p:nvSpPr>
        <p:spPr>
          <a:xfrm>
            <a:off x="557213" y="2824907"/>
            <a:ext cx="1428750" cy="131674"/>
          </a:xfrm>
          <a:prstGeom prst="rect">
            <a:avLst/>
          </a:prstGeom>
          <a:noFill/>
          <a:ln/>
        </p:spPr>
        <p:txBody>
          <a:bodyPr wrap="square" lIns="0" tIns="0" rIns="0" bIns="0" rtlCol="0" anchor="t"/>
          <a:lstStyle/>
          <a:p>
            <a:pPr algn="r" indent="0" marL="0">
              <a:lnSpc>
                <a:spcPts val="675"/>
              </a:lnSpc>
              <a:buNone/>
            </a:pPr>
            <a:r>
              <a:rPr lang="en-US" sz="600" spc="-3" kern="0" dirty="0">
                <a:solidFill>
                  <a:srgbClr val="5B6B82"/>
                </a:solidFill>
                <a:latin typeface="Liberation Sans Narrow" pitchFamily="34" charset="0"/>
                <a:ea typeface="Liberation Sans Narrow" pitchFamily="34" charset="-122"/>
                <a:cs typeface="Liberation Sans Narrow" pitchFamily="34" charset="-120"/>
              </a:rPr>
              <a:t>Abdou et al. (EfficientNetB7 + LSTM)</a:t>
            </a:r>
            <a:endParaRPr lang="en-US" sz="600" dirty="0"/>
          </a:p>
        </p:txBody>
      </p:sp>
      <p:sp>
        <p:nvSpPr>
          <p:cNvPr id="37" name="Text 35"/>
          <p:cNvSpPr/>
          <p:nvPr/>
        </p:nvSpPr>
        <p:spPr>
          <a:xfrm>
            <a:off x="2057400" y="2817763"/>
            <a:ext cx="2619077" cy="100013"/>
          </a:xfrm>
          <a:prstGeom prst="roundRect">
            <a:avLst>
              <a:gd name="adj" fmla="val 19048"/>
            </a:avLst>
          </a:prstGeom>
          <a:solidFill>
            <a:srgbClr val="1F3A6B">
              <a:alpha val="78000"/>
            </a:srgbClr>
          </a:solidFill>
          <a:ln/>
        </p:spPr>
        <p:txBody>
          <a:bodyPr wrap="square" rtlCol="0" anchor="ctr"/>
          <a:lstStyle/>
          <a:p>
            <a:pPr indent="0" marL="0">
              <a:buNone/>
            </a:pPr>
            <a:endParaRPr lang="en-US" dirty="0"/>
          </a:p>
        </p:txBody>
      </p:sp>
      <p:sp>
        <p:nvSpPr>
          <p:cNvPr id="38" name="Text 36"/>
          <p:cNvSpPr/>
          <p:nvPr/>
        </p:nvSpPr>
        <p:spPr>
          <a:xfrm>
            <a:off x="5087998" y="2811512"/>
            <a:ext cx="544068" cy="164592"/>
          </a:xfrm>
          <a:prstGeom prst="rect">
            <a:avLst/>
          </a:prstGeom>
          <a:noFill/>
          <a:ln/>
        </p:spPr>
        <p:txBody>
          <a:bodyPr wrap="none" lIns="0" tIns="0" rIns="0" bIns="0" rtlCol="0" anchor="t"/>
          <a:lstStyle/>
          <a:p>
            <a:pPr algn="r" indent="0" marL="0">
              <a:lnSpc>
                <a:spcPts val="886"/>
              </a:lnSpc>
              <a:buNone/>
            </a:pPr>
            <a:r>
              <a:rPr lang="en-US" sz="800" spc="-6" kern="0" dirty="0">
                <a:solidFill>
                  <a:srgbClr val="0F1F3D"/>
                </a:solidFill>
                <a:latin typeface="Liberation Sans Narrow" pitchFamily="34" charset="0"/>
                <a:ea typeface="Liberation Sans Narrow" pitchFamily="34" charset="-122"/>
                <a:cs typeface="Liberation Sans Narrow" pitchFamily="34" charset="-120"/>
              </a:rPr>
              <a:t>67.48%</a:t>
            </a:r>
            <a:endParaRPr lang="en-US" sz="800" dirty="0"/>
          </a:p>
        </p:txBody>
      </p:sp>
      <p:sp>
        <p:nvSpPr>
          <p:cNvPr id="39" name="Text 37"/>
          <p:cNvSpPr/>
          <p:nvPr/>
        </p:nvSpPr>
        <p:spPr>
          <a:xfrm>
            <a:off x="557213" y="2973139"/>
            <a:ext cx="1428750" cy="131674"/>
          </a:xfrm>
          <a:prstGeom prst="rect">
            <a:avLst/>
          </a:prstGeom>
          <a:noFill/>
          <a:ln/>
        </p:spPr>
        <p:txBody>
          <a:bodyPr wrap="none" lIns="0" tIns="0" rIns="0" bIns="0" rtlCol="0" anchor="t"/>
          <a:lstStyle/>
          <a:p>
            <a:pPr algn="r" indent="0" marL="0">
              <a:lnSpc>
                <a:spcPts val="675"/>
              </a:lnSpc>
              <a:buNone/>
            </a:pPr>
            <a:r>
              <a:rPr lang="en-US" sz="800" spc="-3" kern="0" dirty="0">
                <a:solidFill>
                  <a:srgbClr val="5B6B82"/>
                </a:solidFill>
                <a:latin typeface="Carlito" pitchFamily="34" charset="0"/>
                <a:ea typeface="Carlito" pitchFamily="34" charset="-122"/>
                <a:cs typeface="Carlito" pitchFamily="34" charset="-120"/>
              </a:rPr>
              <a:t>BiusFPN + ICCSA</a:t>
            </a:r>
            <a:endParaRPr lang="en-US" sz="800" dirty="0"/>
          </a:p>
        </p:txBody>
      </p:sp>
      <p:sp>
        <p:nvSpPr>
          <p:cNvPr id="40" name="Text 38"/>
          <p:cNvSpPr/>
          <p:nvPr/>
        </p:nvSpPr>
        <p:spPr>
          <a:xfrm>
            <a:off x="2057400" y="2965996"/>
            <a:ext cx="2643857" cy="100013"/>
          </a:xfrm>
          <a:prstGeom prst="roundRect">
            <a:avLst>
              <a:gd name="adj" fmla="val 19048"/>
            </a:avLst>
          </a:prstGeom>
          <a:solidFill>
            <a:srgbClr val="1F3A6B">
              <a:alpha val="78000"/>
            </a:srgbClr>
          </a:solidFill>
          <a:ln/>
        </p:spPr>
        <p:txBody>
          <a:bodyPr wrap="square" rtlCol="0" anchor="ctr"/>
          <a:lstStyle/>
          <a:p>
            <a:pPr indent="0" marL="0">
              <a:buNone/>
            </a:pPr>
            <a:endParaRPr lang="en-US" dirty="0"/>
          </a:p>
        </p:txBody>
      </p:sp>
      <p:sp>
        <p:nvSpPr>
          <p:cNvPr id="41" name="Text 39"/>
          <p:cNvSpPr/>
          <p:nvPr/>
        </p:nvSpPr>
        <p:spPr>
          <a:xfrm>
            <a:off x="5087998" y="2959745"/>
            <a:ext cx="544068" cy="164592"/>
          </a:xfrm>
          <a:prstGeom prst="rect">
            <a:avLst/>
          </a:prstGeom>
          <a:noFill/>
          <a:ln/>
        </p:spPr>
        <p:txBody>
          <a:bodyPr wrap="none" lIns="0" tIns="0" rIns="0" bIns="0" rtlCol="0" anchor="t"/>
          <a:lstStyle/>
          <a:p>
            <a:pPr algn="r" indent="0" marL="0">
              <a:lnSpc>
                <a:spcPts val="886"/>
              </a:lnSpc>
              <a:buNone/>
            </a:pPr>
            <a:r>
              <a:rPr lang="en-US" sz="800" spc="-6" kern="0" dirty="0">
                <a:solidFill>
                  <a:srgbClr val="0F1F3D"/>
                </a:solidFill>
                <a:latin typeface="Liberation Sans Narrow" pitchFamily="34" charset="0"/>
                <a:ea typeface="Liberation Sans Narrow" pitchFamily="34" charset="-122"/>
                <a:cs typeface="Liberation Sans Narrow" pitchFamily="34" charset="-120"/>
              </a:rPr>
              <a:t>68.16%</a:t>
            </a:r>
            <a:endParaRPr lang="en-US" sz="800" dirty="0"/>
          </a:p>
        </p:txBody>
      </p:sp>
      <p:sp>
        <p:nvSpPr>
          <p:cNvPr id="42" name="Text 40"/>
          <p:cNvSpPr/>
          <p:nvPr/>
        </p:nvSpPr>
        <p:spPr>
          <a:xfrm>
            <a:off x="557213" y="3121372"/>
            <a:ext cx="1428750" cy="131674"/>
          </a:xfrm>
          <a:prstGeom prst="rect">
            <a:avLst/>
          </a:prstGeom>
          <a:noFill/>
          <a:ln/>
        </p:spPr>
        <p:txBody>
          <a:bodyPr wrap="square" lIns="0" tIns="0" rIns="0" bIns="0" rtlCol="0" anchor="t"/>
          <a:lstStyle/>
          <a:p>
            <a:pPr algn="r" indent="0" marL="0">
              <a:lnSpc>
                <a:spcPts val="675"/>
              </a:lnSpc>
              <a:buNone/>
            </a:pPr>
            <a:r>
              <a:rPr lang="en-US" sz="600" spc="-3" kern="0" dirty="0">
                <a:solidFill>
                  <a:srgbClr val="5B6B82"/>
                </a:solidFill>
                <a:latin typeface="Carlito" pitchFamily="34" charset="0"/>
                <a:ea typeface="Carlito" pitchFamily="34" charset="-122"/>
                <a:cs typeface="Carlito" pitchFamily="34" charset="-120"/>
              </a:rPr>
              <a:t>Hasnine et al. (KNN on CNN features)</a:t>
            </a:r>
            <a:endParaRPr lang="en-US" sz="600" dirty="0"/>
          </a:p>
        </p:txBody>
      </p:sp>
      <p:sp>
        <p:nvSpPr>
          <p:cNvPr id="43" name="Text 41"/>
          <p:cNvSpPr/>
          <p:nvPr/>
        </p:nvSpPr>
        <p:spPr>
          <a:xfrm>
            <a:off x="2057400" y="3114229"/>
            <a:ext cx="2659373" cy="100013"/>
          </a:xfrm>
          <a:prstGeom prst="roundRect">
            <a:avLst>
              <a:gd name="adj" fmla="val 19048"/>
            </a:avLst>
          </a:prstGeom>
          <a:solidFill>
            <a:srgbClr val="1F3A6B">
              <a:alpha val="78000"/>
            </a:srgbClr>
          </a:solidFill>
          <a:ln/>
        </p:spPr>
        <p:txBody>
          <a:bodyPr wrap="square" rtlCol="0" anchor="ctr"/>
          <a:lstStyle/>
          <a:p>
            <a:pPr indent="0" marL="0">
              <a:buNone/>
            </a:pPr>
            <a:endParaRPr lang="en-US" dirty="0"/>
          </a:p>
        </p:txBody>
      </p:sp>
      <p:sp>
        <p:nvSpPr>
          <p:cNvPr id="44" name="Text 42"/>
          <p:cNvSpPr/>
          <p:nvPr/>
        </p:nvSpPr>
        <p:spPr>
          <a:xfrm>
            <a:off x="5087998" y="3107978"/>
            <a:ext cx="544068" cy="164592"/>
          </a:xfrm>
          <a:prstGeom prst="rect">
            <a:avLst/>
          </a:prstGeom>
          <a:noFill/>
          <a:ln/>
        </p:spPr>
        <p:txBody>
          <a:bodyPr wrap="none" lIns="0" tIns="0" rIns="0" bIns="0" rtlCol="0" anchor="t"/>
          <a:lstStyle/>
          <a:p>
            <a:pPr algn="r" indent="0" marL="0">
              <a:lnSpc>
                <a:spcPts val="886"/>
              </a:lnSpc>
              <a:buNone/>
            </a:pPr>
            <a:r>
              <a:rPr lang="en-US" sz="800" spc="-6" kern="0" dirty="0">
                <a:solidFill>
                  <a:srgbClr val="0F1F3D"/>
                </a:solidFill>
                <a:latin typeface="Liberation Sans Narrow" pitchFamily="34" charset="0"/>
                <a:ea typeface="Liberation Sans Narrow" pitchFamily="34" charset="-122"/>
                <a:cs typeface="Liberation Sans Narrow" pitchFamily="34" charset="-120"/>
              </a:rPr>
              <a:t>68.57%</a:t>
            </a:r>
            <a:endParaRPr lang="en-US" sz="800" dirty="0"/>
          </a:p>
        </p:txBody>
      </p:sp>
      <p:sp>
        <p:nvSpPr>
          <p:cNvPr id="45" name="Text 43"/>
          <p:cNvSpPr/>
          <p:nvPr/>
        </p:nvSpPr>
        <p:spPr>
          <a:xfrm>
            <a:off x="557213" y="3269605"/>
            <a:ext cx="1428750" cy="131674"/>
          </a:xfrm>
          <a:prstGeom prst="rect">
            <a:avLst/>
          </a:prstGeom>
          <a:noFill/>
          <a:ln/>
        </p:spPr>
        <p:txBody>
          <a:bodyPr wrap="none" lIns="0" tIns="0" rIns="0" bIns="0" rtlCol="0" anchor="t"/>
          <a:lstStyle/>
          <a:p>
            <a:pPr algn="r" indent="0" marL="0">
              <a:lnSpc>
                <a:spcPts val="675"/>
              </a:lnSpc>
              <a:buNone/>
            </a:pPr>
            <a:r>
              <a:rPr lang="en-US" sz="800" spc="-3" kern="0" dirty="0">
                <a:solidFill>
                  <a:srgbClr val="5B6B82"/>
                </a:solidFill>
                <a:latin typeface="Carlito" pitchFamily="34" charset="0"/>
                <a:ea typeface="Carlito" pitchFamily="34" charset="-122"/>
                <a:cs typeface="Carlito" pitchFamily="34" charset="-120"/>
              </a:rPr>
              <a:t>ViBED-Net (LSTM)</a:t>
            </a:r>
            <a:endParaRPr lang="en-US" sz="800" dirty="0"/>
          </a:p>
        </p:txBody>
      </p:sp>
      <p:sp>
        <p:nvSpPr>
          <p:cNvPr id="46" name="Text 44"/>
          <p:cNvSpPr/>
          <p:nvPr/>
        </p:nvSpPr>
        <p:spPr>
          <a:xfrm>
            <a:off x="2057400" y="3262461"/>
            <a:ext cx="2848682" cy="100013"/>
          </a:xfrm>
          <a:prstGeom prst="roundRect">
            <a:avLst>
              <a:gd name="adj" fmla="val 19048"/>
            </a:avLst>
          </a:prstGeom>
          <a:solidFill>
            <a:srgbClr val="1F3A6B">
              <a:alpha val="78000"/>
            </a:srgbClr>
          </a:solidFill>
          <a:ln/>
        </p:spPr>
        <p:txBody>
          <a:bodyPr wrap="square" rtlCol="0" anchor="ctr"/>
          <a:lstStyle/>
          <a:p>
            <a:pPr indent="0" marL="0">
              <a:buNone/>
            </a:pPr>
            <a:endParaRPr lang="en-US" dirty="0"/>
          </a:p>
        </p:txBody>
      </p:sp>
      <p:sp>
        <p:nvSpPr>
          <p:cNvPr id="47" name="Text 45"/>
          <p:cNvSpPr/>
          <p:nvPr/>
        </p:nvSpPr>
        <p:spPr>
          <a:xfrm>
            <a:off x="5087998" y="3256211"/>
            <a:ext cx="544068" cy="164592"/>
          </a:xfrm>
          <a:prstGeom prst="rect">
            <a:avLst/>
          </a:prstGeom>
          <a:noFill/>
          <a:ln/>
        </p:spPr>
        <p:txBody>
          <a:bodyPr wrap="none" lIns="0" tIns="0" rIns="0" bIns="0" rtlCol="0" anchor="t"/>
          <a:lstStyle/>
          <a:p>
            <a:pPr algn="r" indent="0" marL="0">
              <a:lnSpc>
                <a:spcPts val="886"/>
              </a:lnSpc>
              <a:buNone/>
            </a:pPr>
            <a:r>
              <a:rPr lang="en-US" sz="800" spc="-6" kern="0" dirty="0">
                <a:solidFill>
                  <a:srgbClr val="0F1F3D"/>
                </a:solidFill>
                <a:latin typeface="Liberation Sans Narrow" pitchFamily="34" charset="0"/>
                <a:ea typeface="Liberation Sans Narrow" pitchFamily="34" charset="-122"/>
                <a:cs typeface="Liberation Sans Narrow" pitchFamily="34" charset="-120"/>
              </a:rPr>
              <a:t>73.43%</a:t>
            </a:r>
            <a:endParaRPr lang="en-US" sz="800" dirty="0"/>
          </a:p>
        </p:txBody>
      </p:sp>
      <p:sp>
        <p:nvSpPr>
          <p:cNvPr id="48" name="Text 46"/>
          <p:cNvSpPr/>
          <p:nvPr/>
        </p:nvSpPr>
        <p:spPr>
          <a:xfrm>
            <a:off x="557213" y="3417838"/>
            <a:ext cx="1428750" cy="131674"/>
          </a:xfrm>
          <a:prstGeom prst="rect">
            <a:avLst/>
          </a:prstGeom>
          <a:noFill/>
          <a:ln/>
        </p:spPr>
        <p:txBody>
          <a:bodyPr wrap="square" lIns="0" tIns="0" rIns="0" bIns="0" rtlCol="0" anchor="t"/>
          <a:lstStyle/>
          <a:p>
            <a:pPr algn="r" indent="0" marL="0">
              <a:lnSpc>
                <a:spcPts val="675"/>
              </a:lnSpc>
              <a:buNone/>
            </a:pPr>
            <a:r>
              <a:rPr lang="en-US" sz="600" spc="-3" kern="0" dirty="0">
                <a:solidFill>
                  <a:srgbClr val="5B6B82"/>
                </a:solidFill>
                <a:latin typeface="Carlito" pitchFamily="34" charset="0"/>
                <a:ea typeface="Carlito" pitchFamily="34" charset="-122"/>
                <a:cs typeface="Carlito" pitchFamily="34" charset="-120"/>
              </a:rPr>
              <a:t>Santoni et al. (SVD+CNN+SMOTE)</a:t>
            </a:r>
            <a:endParaRPr lang="en-US" sz="600" dirty="0"/>
          </a:p>
        </p:txBody>
      </p:sp>
      <p:sp>
        <p:nvSpPr>
          <p:cNvPr id="49" name="Text 47"/>
          <p:cNvSpPr/>
          <p:nvPr/>
        </p:nvSpPr>
        <p:spPr>
          <a:xfrm>
            <a:off x="2057400" y="3410694"/>
            <a:ext cx="3025490" cy="100013"/>
          </a:xfrm>
          <a:prstGeom prst="roundRect">
            <a:avLst>
              <a:gd name="adj" fmla="val 19048"/>
            </a:avLst>
          </a:prstGeom>
          <a:solidFill>
            <a:srgbClr val="1F3A6B">
              <a:alpha val="78000"/>
            </a:srgbClr>
          </a:solidFill>
          <a:ln/>
        </p:spPr>
        <p:txBody>
          <a:bodyPr wrap="square" rtlCol="0" anchor="ctr"/>
          <a:lstStyle/>
          <a:p>
            <a:pPr indent="0" marL="0">
              <a:buNone/>
            </a:pPr>
            <a:endParaRPr lang="en-US" dirty="0"/>
          </a:p>
        </p:txBody>
      </p:sp>
      <p:sp>
        <p:nvSpPr>
          <p:cNvPr id="50" name="Text 48"/>
          <p:cNvSpPr/>
          <p:nvPr/>
        </p:nvSpPr>
        <p:spPr>
          <a:xfrm>
            <a:off x="5087998" y="3404443"/>
            <a:ext cx="544068" cy="164592"/>
          </a:xfrm>
          <a:prstGeom prst="rect">
            <a:avLst/>
          </a:prstGeom>
          <a:noFill/>
          <a:ln/>
        </p:spPr>
        <p:txBody>
          <a:bodyPr wrap="none" lIns="0" tIns="0" rIns="0" bIns="0" rtlCol="0" anchor="t"/>
          <a:lstStyle/>
          <a:p>
            <a:pPr algn="r" indent="0" marL="0">
              <a:lnSpc>
                <a:spcPts val="886"/>
              </a:lnSpc>
              <a:buNone/>
            </a:pPr>
            <a:r>
              <a:rPr lang="en-US" sz="800" spc="-6" kern="0" dirty="0">
                <a:solidFill>
                  <a:srgbClr val="0F1F3D"/>
                </a:solidFill>
                <a:latin typeface="Liberation Sans Narrow" pitchFamily="34" charset="0"/>
                <a:ea typeface="Liberation Sans Narrow" pitchFamily="34" charset="-122"/>
                <a:cs typeface="Liberation Sans Narrow" pitchFamily="34" charset="-120"/>
              </a:rPr>
              <a:t>77.97%</a:t>
            </a:r>
            <a:endParaRPr lang="en-US" sz="800" dirty="0"/>
          </a:p>
        </p:txBody>
      </p:sp>
      <p:sp>
        <p:nvSpPr>
          <p:cNvPr id="51" name="Text 49"/>
          <p:cNvSpPr/>
          <p:nvPr/>
        </p:nvSpPr>
        <p:spPr>
          <a:xfrm>
            <a:off x="687992" y="3571429"/>
            <a:ext cx="1297970" cy="120701"/>
          </a:xfrm>
          <a:prstGeom prst="rect">
            <a:avLst/>
          </a:prstGeom>
          <a:noFill/>
          <a:ln/>
        </p:spPr>
        <p:txBody>
          <a:bodyPr wrap="square" lIns="0" tIns="0" rIns="0" bIns="0" rtlCol="0" anchor="t"/>
          <a:lstStyle/>
          <a:p>
            <a:pPr algn="r" indent="0" marL="0">
              <a:lnSpc>
                <a:spcPts val="675"/>
              </a:lnSpc>
              <a:buNone/>
            </a:pPr>
            <a:r>
              <a:rPr lang="en-US" sz="600" b="1" spc="-3" kern="0" dirty="0">
                <a:solidFill>
                  <a:srgbClr val="0F1F3D"/>
                </a:solidFill>
                <a:latin typeface="Carlito" pitchFamily="34" charset="0"/>
                <a:ea typeface="Carlito" pitchFamily="34" charset="-122"/>
                <a:cs typeface="Carlito" pitchFamily="34" charset="-120"/>
              </a:rPr>
              <a:t>Proposed XGBoost (this work)</a:t>
            </a:r>
            <a:endParaRPr lang="en-US" sz="600" dirty="0"/>
          </a:p>
        </p:txBody>
      </p:sp>
      <p:sp>
        <p:nvSpPr>
          <p:cNvPr id="52" name="Text 50"/>
          <p:cNvSpPr/>
          <p:nvPr/>
        </p:nvSpPr>
        <p:spPr>
          <a:xfrm>
            <a:off x="2057400" y="3564285"/>
            <a:ext cx="2532125" cy="100013"/>
          </a:xfrm>
          <a:prstGeom prst="roundRect">
            <a:avLst>
              <a:gd name="adj" fmla="val 19048"/>
            </a:avLst>
          </a:prstGeom>
          <a:solidFill>
            <a:srgbClr val="14B8A6"/>
          </a:solidFill>
          <a:ln/>
          <a:effectLst>
            <a:outerShdw sx="100000" sy="100000" kx="0" ky="0" algn="bl" rotWithShape="0" blurRad="101600" dist="50800" dir="16200000">
              <a:srgbClr val="14B8A6">
                <a:alpha val="40000"/>
              </a:srgbClr>
            </a:outerShdw>
          </a:effectLst>
        </p:spPr>
        <p:txBody>
          <a:bodyPr wrap="square" rtlCol="0" anchor="ctr"/>
          <a:lstStyle/>
          <a:p>
            <a:pPr indent="0" marL="0">
              <a:buNone/>
            </a:pPr>
            <a:endParaRPr lang="en-US" dirty="0"/>
          </a:p>
        </p:txBody>
      </p:sp>
      <p:sp>
        <p:nvSpPr>
          <p:cNvPr id="53" name="Text 51"/>
          <p:cNvSpPr/>
          <p:nvPr/>
        </p:nvSpPr>
        <p:spPr>
          <a:xfrm>
            <a:off x="5087998" y="3552676"/>
            <a:ext cx="544068" cy="164592"/>
          </a:xfrm>
          <a:prstGeom prst="rect">
            <a:avLst/>
          </a:prstGeom>
          <a:noFill/>
          <a:ln/>
        </p:spPr>
        <p:txBody>
          <a:bodyPr wrap="none" lIns="0" tIns="0" rIns="0" bIns="0" rtlCol="0" anchor="t"/>
          <a:lstStyle/>
          <a:p>
            <a:pPr algn="r" indent="0" marL="0">
              <a:lnSpc>
                <a:spcPts val="970"/>
              </a:lnSpc>
              <a:buNone/>
            </a:pPr>
            <a:r>
              <a:rPr lang="en-US" sz="800" b="1" spc="-6" kern="0" dirty="0">
                <a:solidFill>
                  <a:srgbClr val="0F766E"/>
                </a:solidFill>
                <a:latin typeface="Liberation Sans Narrow" pitchFamily="34" charset="0"/>
                <a:ea typeface="Liberation Sans Narrow" pitchFamily="34" charset="-122"/>
                <a:cs typeface="Liberation Sans Narrow" pitchFamily="34" charset="-120"/>
              </a:rPr>
              <a:t>65.26%</a:t>
            </a:r>
            <a:endParaRPr lang="en-US" sz="800" dirty="0"/>
          </a:p>
        </p:txBody>
      </p:sp>
      <p:sp>
        <p:nvSpPr>
          <p:cNvPr id="54" name="Shape 52"/>
          <p:cNvSpPr/>
          <p:nvPr/>
        </p:nvSpPr>
        <p:spPr>
          <a:xfrm>
            <a:off x="2057400" y="3740200"/>
            <a:ext cx="3103178" cy="0"/>
          </a:xfrm>
          <a:prstGeom prst="line">
            <a:avLst/>
          </a:prstGeom>
          <a:noFill/>
          <a:ln w="7144">
            <a:solidFill>
              <a:srgbClr val="D9E1EC"/>
            </a:solidFill>
            <a:prstDash val="solid"/>
          </a:ln>
        </p:spPr>
      </p:sp>
      <p:sp>
        <p:nvSpPr>
          <p:cNvPr id="55" name="Text 53"/>
          <p:cNvSpPr/>
          <p:nvPr/>
        </p:nvSpPr>
        <p:spPr>
          <a:xfrm>
            <a:off x="2057400" y="3765203"/>
            <a:ext cx="978805" cy="96441"/>
          </a:xfrm>
          <a:prstGeom prst="rect">
            <a:avLst/>
          </a:prstGeom>
          <a:noFill/>
          <a:ln/>
        </p:spPr>
        <p:txBody>
          <a:bodyPr wrap="square" lIns="0" tIns="0" rIns="0" bIns="0" rtlCol="0" anchor="t"/>
          <a:lstStyle/>
          <a:p>
            <a:pPr algn="l" indent="0" marL="0">
              <a:lnSpc>
                <a:spcPts val="759"/>
              </a:lnSpc>
              <a:buNone/>
            </a:pPr>
            <a:r>
              <a:rPr lang="en-US" sz="800" spc="20" kern="0" dirty="0">
                <a:solidFill>
                  <a:srgbClr val="8A97AB"/>
                </a:solidFill>
                <a:latin typeface="Liberation Sans Narrow" pitchFamily="34" charset="0"/>
                <a:ea typeface="Liberation Sans Narrow" pitchFamily="34" charset="-122"/>
                <a:cs typeface="Liberation Sans Narrow" pitchFamily="34" charset="-120"/>
              </a:rPr>
              <a:t>50%</a:t>
            </a:r>
            <a:endParaRPr lang="en-US" sz="800" dirty="0"/>
          </a:p>
        </p:txBody>
      </p:sp>
      <p:sp>
        <p:nvSpPr>
          <p:cNvPr id="56" name="Text 54"/>
          <p:cNvSpPr/>
          <p:nvPr/>
        </p:nvSpPr>
        <p:spPr>
          <a:xfrm>
            <a:off x="3050493" y="3765203"/>
            <a:ext cx="978805" cy="96441"/>
          </a:xfrm>
          <a:prstGeom prst="rect">
            <a:avLst/>
          </a:prstGeom>
          <a:noFill/>
          <a:ln/>
        </p:spPr>
        <p:txBody>
          <a:bodyPr wrap="square" lIns="0" tIns="0" rIns="0" bIns="0" rtlCol="0" anchor="t"/>
          <a:lstStyle/>
          <a:p>
            <a:pPr algn="l" indent="0" marL="0">
              <a:lnSpc>
                <a:spcPts val="759"/>
              </a:lnSpc>
              <a:buNone/>
            </a:pPr>
            <a:r>
              <a:rPr lang="en-US" sz="800" spc="20" kern="0" dirty="0">
                <a:solidFill>
                  <a:srgbClr val="8A97AB"/>
                </a:solidFill>
                <a:latin typeface="Liberation Sans Narrow" pitchFamily="34" charset="0"/>
                <a:ea typeface="Liberation Sans Narrow" pitchFamily="34" charset="-122"/>
                <a:cs typeface="Liberation Sans Narrow" pitchFamily="34" charset="-120"/>
              </a:rPr>
              <a:t>60%</a:t>
            </a:r>
            <a:endParaRPr lang="en-US" sz="800" dirty="0"/>
          </a:p>
        </p:txBody>
      </p:sp>
      <p:sp>
        <p:nvSpPr>
          <p:cNvPr id="57" name="Text 55"/>
          <p:cNvSpPr/>
          <p:nvPr/>
        </p:nvSpPr>
        <p:spPr>
          <a:xfrm>
            <a:off x="4043586" y="3765203"/>
            <a:ext cx="978805" cy="96441"/>
          </a:xfrm>
          <a:prstGeom prst="rect">
            <a:avLst/>
          </a:prstGeom>
          <a:noFill/>
          <a:ln/>
        </p:spPr>
        <p:txBody>
          <a:bodyPr wrap="square" lIns="0" tIns="0" rIns="0" bIns="0" rtlCol="0" anchor="t"/>
          <a:lstStyle/>
          <a:p>
            <a:pPr algn="l" indent="0" marL="0">
              <a:lnSpc>
                <a:spcPts val="759"/>
              </a:lnSpc>
              <a:buNone/>
            </a:pPr>
            <a:r>
              <a:rPr lang="en-US" sz="800" spc="20" kern="0" dirty="0">
                <a:solidFill>
                  <a:srgbClr val="8A97AB"/>
                </a:solidFill>
                <a:latin typeface="Liberation Sans Narrow" pitchFamily="34" charset="0"/>
                <a:ea typeface="Liberation Sans Narrow" pitchFamily="34" charset="-122"/>
                <a:cs typeface="Liberation Sans Narrow" pitchFamily="34" charset="-120"/>
              </a:rPr>
              <a:t>70%</a:t>
            </a:r>
            <a:endParaRPr lang="en-US" sz="800" dirty="0"/>
          </a:p>
        </p:txBody>
      </p:sp>
      <p:sp>
        <p:nvSpPr>
          <p:cNvPr id="58" name="Text 56"/>
          <p:cNvSpPr/>
          <p:nvPr/>
        </p:nvSpPr>
        <p:spPr>
          <a:xfrm>
            <a:off x="5009314" y="3765203"/>
            <a:ext cx="178628" cy="96441"/>
          </a:xfrm>
          <a:prstGeom prst="rect">
            <a:avLst/>
          </a:prstGeom>
          <a:noFill/>
          <a:ln/>
        </p:spPr>
        <p:txBody>
          <a:bodyPr wrap="none" lIns="0" tIns="0" rIns="0" bIns="0" rtlCol="0" anchor="t"/>
          <a:lstStyle/>
          <a:p>
            <a:pPr algn="l" indent="0" marL="0">
              <a:lnSpc>
                <a:spcPts val="759"/>
              </a:lnSpc>
              <a:buNone/>
            </a:pPr>
            <a:r>
              <a:rPr lang="en-US" sz="600" spc="20" kern="0" dirty="0">
                <a:solidFill>
                  <a:srgbClr val="8A97AB"/>
                </a:solidFill>
                <a:latin typeface="Liberation Sans Narrow" pitchFamily="34" charset="0"/>
                <a:ea typeface="Liberation Sans Narrow" pitchFamily="34" charset="-122"/>
                <a:cs typeface="Liberation Sans Narrow" pitchFamily="34" charset="-120"/>
              </a:rPr>
              <a:t>80%</a:t>
            </a:r>
            <a:endParaRPr lang="en-US" sz="600" dirty="0"/>
          </a:p>
        </p:txBody>
      </p:sp>
      <p:sp>
        <p:nvSpPr>
          <p:cNvPr id="59" name="Text 57"/>
          <p:cNvSpPr/>
          <p:nvPr/>
        </p:nvSpPr>
        <p:spPr>
          <a:xfrm>
            <a:off x="457200" y="4018806"/>
            <a:ext cx="5274878" cy="378619"/>
          </a:xfrm>
          <a:prstGeom prst="roundRect">
            <a:avLst>
              <a:gd name="adj" fmla="val 15094"/>
            </a:avLst>
          </a:prstGeom>
          <a:solidFill>
            <a:srgbClr val="FFFFFF"/>
          </a:solidFill>
          <a:ln/>
        </p:spPr>
        <p:txBody>
          <a:bodyPr wrap="square" rtlCol="0" anchor="ctr"/>
          <a:lstStyle/>
          <a:p>
            <a:pPr indent="0" marL="0">
              <a:buNone/>
            </a:pPr>
            <a:endParaRPr lang="en-US" dirty="0"/>
          </a:p>
        </p:txBody>
      </p:sp>
      <p:sp>
        <p:nvSpPr>
          <p:cNvPr id="60" name="Shape 58"/>
          <p:cNvSpPr/>
          <p:nvPr/>
        </p:nvSpPr>
        <p:spPr>
          <a:xfrm>
            <a:off x="457200" y="4022378"/>
            <a:ext cx="5274878" cy="0"/>
          </a:xfrm>
          <a:prstGeom prst="line">
            <a:avLst/>
          </a:prstGeom>
          <a:noFill/>
          <a:ln w="7144">
            <a:solidFill>
              <a:srgbClr val="D9E1EC"/>
            </a:solidFill>
            <a:prstDash val="solid"/>
          </a:ln>
        </p:spPr>
      </p:sp>
      <p:sp>
        <p:nvSpPr>
          <p:cNvPr id="61" name="Shape 59"/>
          <p:cNvSpPr/>
          <p:nvPr/>
        </p:nvSpPr>
        <p:spPr>
          <a:xfrm>
            <a:off x="5728506" y="4018806"/>
            <a:ext cx="0" cy="378619"/>
          </a:xfrm>
          <a:prstGeom prst="line">
            <a:avLst/>
          </a:prstGeom>
          <a:noFill/>
          <a:ln w="7144">
            <a:solidFill>
              <a:srgbClr val="D9E1EC"/>
            </a:solidFill>
            <a:prstDash val="solid"/>
          </a:ln>
        </p:spPr>
      </p:sp>
      <p:sp>
        <p:nvSpPr>
          <p:cNvPr id="62" name="Shape 60"/>
          <p:cNvSpPr/>
          <p:nvPr/>
        </p:nvSpPr>
        <p:spPr>
          <a:xfrm>
            <a:off x="457200" y="4393853"/>
            <a:ext cx="5274878" cy="0"/>
          </a:xfrm>
          <a:prstGeom prst="line">
            <a:avLst/>
          </a:prstGeom>
          <a:noFill/>
          <a:ln w="7144">
            <a:solidFill>
              <a:srgbClr val="D9E1EC"/>
            </a:solidFill>
            <a:prstDash val="solid"/>
          </a:ln>
        </p:spPr>
      </p:sp>
      <p:sp>
        <p:nvSpPr>
          <p:cNvPr id="63" name="Shape 61"/>
          <p:cNvSpPr/>
          <p:nvPr/>
        </p:nvSpPr>
        <p:spPr>
          <a:xfrm>
            <a:off x="467916" y="4018806"/>
            <a:ext cx="0" cy="378619"/>
          </a:xfrm>
          <a:prstGeom prst="line">
            <a:avLst/>
          </a:prstGeom>
          <a:noFill/>
          <a:ln w="21431">
            <a:solidFill>
              <a:srgbClr val="14B8A6"/>
            </a:solidFill>
            <a:prstDash val="solid"/>
          </a:ln>
        </p:spPr>
      </p:sp>
      <p:sp>
        <p:nvSpPr>
          <p:cNvPr id="64" name="Text 62"/>
          <p:cNvSpPr/>
          <p:nvPr/>
        </p:nvSpPr>
        <p:spPr>
          <a:xfrm>
            <a:off x="578644" y="4124105"/>
            <a:ext cx="264765" cy="168021"/>
          </a:xfrm>
          <a:prstGeom prst="roundRect">
            <a:avLst>
              <a:gd name="adj" fmla="val 22676"/>
            </a:avLst>
          </a:prstGeom>
          <a:solidFill>
            <a:srgbClr val="14B8A6"/>
          </a:solidFill>
          <a:ln/>
        </p:spPr>
        <p:txBody>
          <a:bodyPr wrap="square" rtlCol="0" anchor="ctr"/>
          <a:lstStyle/>
          <a:p>
            <a:pPr indent="0" marL="0">
              <a:buNone/>
            </a:pPr>
            <a:endParaRPr lang="en-US" dirty="0"/>
          </a:p>
        </p:txBody>
      </p:sp>
      <p:sp>
        <p:nvSpPr>
          <p:cNvPr id="65" name="Text 63"/>
          <p:cNvSpPr/>
          <p:nvPr/>
        </p:nvSpPr>
        <p:spPr>
          <a:xfrm>
            <a:off x="578644" y="4133106"/>
            <a:ext cx="264765" cy="150019"/>
          </a:xfrm>
          <a:prstGeom prst="rect">
            <a:avLst/>
          </a:prstGeom>
          <a:noFill/>
          <a:ln/>
        </p:spPr>
        <p:txBody>
          <a:bodyPr wrap="none" lIns="0" tIns="0" rIns="0" bIns="0" rtlCol="0" anchor="ctr"/>
          <a:lstStyle/>
          <a:p>
            <a:pPr algn="ctr" indent="0" marL="0">
              <a:lnSpc>
                <a:spcPts val="844"/>
              </a:lnSpc>
              <a:buNone/>
            </a:pPr>
            <a:r>
              <a:rPr lang="en-US" sz="800" b="1" spc="56" kern="0" dirty="0">
                <a:solidFill>
                  <a:srgbClr val="FFFFFF"/>
                </a:solidFill>
                <a:latin typeface="Liberation Sans Narrow" pitchFamily="34" charset="0"/>
                <a:ea typeface="Liberation Sans Narrow" pitchFamily="34" charset="-122"/>
                <a:cs typeface="Liberation Sans Narrow" pitchFamily="34" charset="-120"/>
              </a:rPr>
              <a:t>RQ1</a:t>
            </a:r>
            <a:endParaRPr lang="en-US" sz="800" dirty="0"/>
          </a:p>
        </p:txBody>
      </p:sp>
      <p:sp>
        <p:nvSpPr>
          <p:cNvPr id="66" name="Text 64"/>
          <p:cNvSpPr/>
          <p:nvPr/>
        </p:nvSpPr>
        <p:spPr>
          <a:xfrm>
            <a:off x="914846" y="4090243"/>
            <a:ext cx="4710075" cy="235744"/>
          </a:xfrm>
          <a:prstGeom prst="rect">
            <a:avLst/>
          </a:prstGeom>
          <a:noFill/>
          <a:ln/>
        </p:spPr>
        <p:txBody>
          <a:bodyPr wrap="square" lIns="0" tIns="0" rIns="0" bIns="0" rtlCol="0" anchor="t"/>
          <a:lstStyle/>
          <a:p>
            <a:pPr algn="l" indent="0" marL="0">
              <a:lnSpc>
                <a:spcPts val="928"/>
              </a:lnSpc>
              <a:buNone/>
            </a:pPr>
            <a:r>
              <a:rPr lang="en-US" sz="800" b="1" dirty="0">
                <a:solidFill>
                  <a:srgbClr val="0F1F3D"/>
                </a:solidFill>
                <a:latin typeface="Carlito" pitchFamily="34" charset="0"/>
                <a:ea typeface="Carlito" pitchFamily="34" charset="-122"/>
                <a:cs typeface="Carlito" pitchFamily="34" charset="-120"/>
              </a:rPr>
              <a:t>ANSWERED:</a:t>
            </a:r>
            <a:pPr algn="l" indent="0" marL="0">
              <a:lnSpc>
                <a:spcPts val="928"/>
              </a:lnSpc>
              <a:buNone/>
            </a:pPr>
            <a:r>
              <a:rPr lang="en-US" sz="800" dirty="0">
                <a:solidFill>
                  <a:srgbClr val="5B6B82"/>
                </a:solidFill>
                <a:latin typeface="Carlito" pitchFamily="34" charset="0"/>
                <a:ea typeface="Carlito" pitchFamily="34" charset="-122"/>
                <a:cs typeface="Carlito" pitchFamily="34" charset="-120"/>
              </a:rPr>
              <a:t> A lightweight XGBoost classifier matches or exceeds the median deep-learning baseline on DAiSEE — at a fraction of the compute cost.</a:t>
            </a:r>
            <a:endParaRPr lang="en-US" sz="800" dirty="0"/>
          </a:p>
        </p:txBody>
      </p:sp>
      <p:sp>
        <p:nvSpPr>
          <p:cNvPr id="67" name="Text 65"/>
          <p:cNvSpPr/>
          <p:nvPr/>
        </p:nvSpPr>
        <p:spPr>
          <a:xfrm>
            <a:off x="5849950" y="1229171"/>
            <a:ext cx="2833167" cy="578644"/>
          </a:xfrm>
          <a:prstGeom prst="roundRect">
            <a:avLst>
              <a:gd name="adj" fmla="val 16461"/>
            </a:avLst>
          </a:prstGeom>
          <a:solidFill>
            <a:srgbClr val="14B8A6">
              <a:alpha val="4000"/>
            </a:srgbClr>
          </a:solidFill>
          <a:ln w="7144">
            <a:solidFill>
              <a:srgbClr val="14B8A6"/>
            </a:solidFill>
            <a:prstDash val="solid"/>
          </a:ln>
        </p:spPr>
        <p:txBody>
          <a:bodyPr wrap="square" rtlCol="0" anchor="ctr"/>
          <a:lstStyle/>
          <a:p>
            <a:pPr indent="0" marL="0">
              <a:buNone/>
            </a:pPr>
            <a:endParaRPr lang="en-US" dirty="0"/>
          </a:p>
        </p:txBody>
      </p:sp>
      <p:sp>
        <p:nvSpPr>
          <p:cNvPr id="68" name="Text 66"/>
          <p:cNvSpPr/>
          <p:nvPr/>
        </p:nvSpPr>
        <p:spPr>
          <a:xfrm>
            <a:off x="5953534" y="1318468"/>
            <a:ext cx="2625998" cy="272606"/>
          </a:xfrm>
          <a:prstGeom prst="rect">
            <a:avLst/>
          </a:prstGeom>
          <a:noFill/>
          <a:ln/>
        </p:spPr>
        <p:txBody>
          <a:bodyPr wrap="none" lIns="0" tIns="0" rIns="0" bIns="0" rtlCol="0" anchor="t">
            <a:normAutofit/>
          </a:bodyPr>
          <a:lstStyle/>
          <a:p>
            <a:pPr algn="l" indent="0" marL="0">
              <a:lnSpc>
                <a:spcPts val="2025"/>
              </a:lnSpc>
              <a:buNone/>
            </a:pPr>
            <a:r>
              <a:rPr lang="en-US" sz="2025" b="1" spc="-40" kern="0" dirty="0">
                <a:solidFill>
                  <a:srgbClr val="0F766E"/>
                </a:solidFill>
                <a:latin typeface="Liberation Sans Narrow" pitchFamily="34" charset="0"/>
                <a:ea typeface="Liberation Sans Narrow" pitchFamily="34" charset="-122"/>
                <a:cs typeface="Liberation Sans Narrow" pitchFamily="34" charset="-120"/>
              </a:rPr>
              <a:t>65.26%</a:t>
            </a:r>
            <a:endParaRPr lang="en-US" sz="2025" dirty="0"/>
          </a:p>
        </p:txBody>
      </p:sp>
      <p:sp>
        <p:nvSpPr>
          <p:cNvPr id="69" name="Text 67"/>
          <p:cNvSpPr/>
          <p:nvPr/>
        </p:nvSpPr>
        <p:spPr>
          <a:xfrm>
            <a:off x="5953534" y="1618506"/>
            <a:ext cx="2735726" cy="100013"/>
          </a:xfrm>
          <a:prstGeom prst="rect">
            <a:avLst/>
          </a:prstGeom>
          <a:noFill/>
          <a:ln/>
        </p:spPr>
        <p:txBody>
          <a:bodyPr wrap="square" lIns="0" tIns="0" rIns="0" bIns="0" rtlCol="0" anchor="t"/>
          <a:lstStyle/>
          <a:p>
            <a:pPr algn="l" indent="0" marL="0">
              <a:lnSpc>
                <a:spcPts val="788"/>
              </a:lnSpc>
              <a:buNone/>
            </a:pPr>
            <a:r>
              <a:rPr lang="en-US" sz="800" spc="79" kern="0" dirty="0">
                <a:solidFill>
                  <a:srgbClr val="5B6B82"/>
                </a:solidFill>
                <a:latin typeface="Liberation Sans Narrow" pitchFamily="34" charset="0"/>
                <a:ea typeface="Liberation Sans Narrow" pitchFamily="34" charset="-122"/>
                <a:cs typeface="Liberation Sans Narrow" pitchFamily="34" charset="-120"/>
              </a:rPr>
              <a:t>PROPOSED XGBOOST — 4-CLASS ACCURACY</a:t>
            </a:r>
            <a:endParaRPr lang="en-US" sz="800" dirty="0"/>
          </a:p>
        </p:txBody>
      </p:sp>
      <p:sp>
        <p:nvSpPr>
          <p:cNvPr id="70" name="Text 68"/>
          <p:cNvSpPr/>
          <p:nvPr/>
        </p:nvSpPr>
        <p:spPr>
          <a:xfrm>
            <a:off x="5849950" y="1886396"/>
            <a:ext cx="2833167" cy="578644"/>
          </a:xfrm>
          <a:prstGeom prst="roundRect">
            <a:avLst>
              <a:gd name="adj" fmla="val 16461"/>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71" name="Text 69"/>
          <p:cNvSpPr/>
          <p:nvPr/>
        </p:nvSpPr>
        <p:spPr>
          <a:xfrm>
            <a:off x="5953534" y="1975693"/>
            <a:ext cx="2625998" cy="272606"/>
          </a:xfrm>
          <a:prstGeom prst="rect">
            <a:avLst/>
          </a:prstGeom>
          <a:noFill/>
          <a:ln/>
        </p:spPr>
        <p:txBody>
          <a:bodyPr wrap="none" lIns="0" tIns="0" rIns="0" bIns="0" rtlCol="0" anchor="t">
            <a:normAutofit/>
          </a:bodyPr>
          <a:lstStyle/>
          <a:p>
            <a:pPr algn="l" indent="0" marL="0">
              <a:lnSpc>
                <a:spcPts val="2025"/>
              </a:lnSpc>
              <a:buNone/>
            </a:pPr>
            <a:r>
              <a:rPr lang="en-US" sz="2025" b="1" spc="-40" kern="0" dirty="0">
                <a:solidFill>
                  <a:srgbClr val="0F1F3D"/>
                </a:solidFill>
                <a:latin typeface="Liberation Sans Narrow" pitchFamily="34" charset="0"/>
                <a:ea typeface="Liberation Sans Narrow" pitchFamily="34" charset="-122"/>
                <a:cs typeface="Liberation Sans Narrow" pitchFamily="34" charset="-120"/>
              </a:rPr>
              <a:t>63.9%</a:t>
            </a:r>
            <a:endParaRPr lang="en-US" sz="2025" dirty="0"/>
          </a:p>
        </p:txBody>
      </p:sp>
      <p:sp>
        <p:nvSpPr>
          <p:cNvPr id="72" name="Text 70"/>
          <p:cNvSpPr/>
          <p:nvPr/>
        </p:nvSpPr>
        <p:spPr>
          <a:xfrm>
            <a:off x="5953534" y="2275731"/>
            <a:ext cx="2735726" cy="100013"/>
          </a:xfrm>
          <a:prstGeom prst="rect">
            <a:avLst/>
          </a:prstGeom>
          <a:noFill/>
          <a:ln/>
        </p:spPr>
        <p:txBody>
          <a:bodyPr wrap="square" lIns="0" tIns="0" rIns="0" bIns="0" rtlCol="0" anchor="t"/>
          <a:lstStyle/>
          <a:p>
            <a:pPr algn="l" indent="0" marL="0">
              <a:lnSpc>
                <a:spcPts val="788"/>
              </a:lnSpc>
              <a:buNone/>
            </a:pPr>
            <a:r>
              <a:rPr lang="en-US" sz="800" spc="79" kern="0" dirty="0">
                <a:solidFill>
                  <a:srgbClr val="5B6B82"/>
                </a:solidFill>
                <a:latin typeface="Carlito" pitchFamily="34" charset="0"/>
                <a:ea typeface="Carlito" pitchFamily="34" charset="-122"/>
                <a:cs typeface="Carlito" pitchFamily="34" charset="-120"/>
              </a:rPr>
              <a:t>MEDIAN DEEP-LEARNING BASELINE</a:t>
            </a:r>
            <a:endParaRPr lang="en-US" sz="800" dirty="0"/>
          </a:p>
        </p:txBody>
      </p:sp>
      <p:sp>
        <p:nvSpPr>
          <p:cNvPr id="73" name="Text 71"/>
          <p:cNvSpPr/>
          <p:nvPr/>
        </p:nvSpPr>
        <p:spPr>
          <a:xfrm>
            <a:off x="5849950" y="2543621"/>
            <a:ext cx="2833167" cy="550069"/>
          </a:xfrm>
          <a:prstGeom prst="roundRect">
            <a:avLst>
              <a:gd name="adj" fmla="val 17316"/>
            </a:avLst>
          </a:prstGeom>
          <a:solidFill>
            <a:srgbClr val="14B8A6">
              <a:alpha val="4000"/>
            </a:srgbClr>
          </a:solidFill>
          <a:ln w="7144">
            <a:solidFill>
              <a:srgbClr val="14B8A6"/>
            </a:solidFill>
            <a:prstDash val="solid"/>
          </a:ln>
        </p:spPr>
        <p:txBody>
          <a:bodyPr wrap="square" rtlCol="0" anchor="ctr"/>
          <a:lstStyle/>
          <a:p>
            <a:pPr indent="0" marL="0">
              <a:buNone/>
            </a:pPr>
            <a:endParaRPr lang="en-US" dirty="0"/>
          </a:p>
        </p:txBody>
      </p:sp>
      <p:sp>
        <p:nvSpPr>
          <p:cNvPr id="74" name="Text 72"/>
          <p:cNvSpPr/>
          <p:nvPr/>
        </p:nvSpPr>
        <p:spPr>
          <a:xfrm>
            <a:off x="5953534" y="2632918"/>
            <a:ext cx="2625998" cy="244030"/>
          </a:xfrm>
          <a:prstGeom prst="rect">
            <a:avLst/>
          </a:prstGeom>
          <a:noFill/>
          <a:ln/>
        </p:spPr>
        <p:txBody>
          <a:bodyPr wrap="none" lIns="0" tIns="0" rIns="0" bIns="0" rtlCol="0" anchor="t">
            <a:normAutofit/>
          </a:bodyPr>
          <a:lstStyle/>
          <a:p>
            <a:pPr algn="l" indent="0" marL="0">
              <a:lnSpc>
                <a:spcPts val="1800"/>
              </a:lnSpc>
              <a:buNone/>
            </a:pPr>
            <a:r>
              <a:rPr lang="en-US" sz="1800" b="1" spc="-36" kern="0" dirty="0">
                <a:solidFill>
                  <a:srgbClr val="0F766E"/>
                </a:solidFill>
                <a:latin typeface="Liberation Sans Narrow" pitchFamily="34" charset="0"/>
                <a:ea typeface="Liberation Sans Narrow" pitchFamily="34" charset="-122"/>
                <a:cs typeface="Liberation Sans Narrow" pitchFamily="34" charset="-120"/>
              </a:rPr>
              <a:t>+1.36 pp</a:t>
            </a:r>
            <a:endParaRPr lang="en-US" sz="1800" dirty="0"/>
          </a:p>
        </p:txBody>
      </p:sp>
      <p:sp>
        <p:nvSpPr>
          <p:cNvPr id="75" name="Text 73"/>
          <p:cNvSpPr/>
          <p:nvPr/>
        </p:nvSpPr>
        <p:spPr>
          <a:xfrm>
            <a:off x="5953534" y="2904381"/>
            <a:ext cx="2735726" cy="100013"/>
          </a:xfrm>
          <a:prstGeom prst="rect">
            <a:avLst/>
          </a:prstGeom>
          <a:noFill/>
          <a:ln/>
        </p:spPr>
        <p:txBody>
          <a:bodyPr wrap="square" lIns="0" tIns="0" rIns="0" bIns="0" rtlCol="0" anchor="t"/>
          <a:lstStyle/>
          <a:p>
            <a:pPr algn="l" indent="0" marL="0">
              <a:lnSpc>
                <a:spcPts val="788"/>
              </a:lnSpc>
              <a:buNone/>
            </a:pPr>
            <a:r>
              <a:rPr lang="en-US" sz="600" spc="79" kern="0" dirty="0">
                <a:solidFill>
                  <a:srgbClr val="5B6B82"/>
                </a:solidFill>
                <a:latin typeface="Carlito" pitchFamily="34" charset="0"/>
                <a:ea typeface="Carlito" pitchFamily="34" charset="-122"/>
                <a:cs typeface="Carlito" pitchFamily="34" charset="-120"/>
              </a:rPr>
              <a:t>ABOVE MEDIAN, WITH A MODEL THAT FITS IN &lt;1 MB</a:t>
            </a:r>
            <a:endParaRPr lang="en-US" sz="600" dirty="0"/>
          </a:p>
        </p:txBody>
      </p:sp>
      <p:sp>
        <p:nvSpPr>
          <p:cNvPr id="76" name="Text 74"/>
          <p:cNvSpPr/>
          <p:nvPr/>
        </p:nvSpPr>
        <p:spPr>
          <a:xfrm>
            <a:off x="5846378" y="3168700"/>
            <a:ext cx="2840310" cy="535577"/>
          </a:xfrm>
          <a:prstGeom prst="rect">
            <a:avLst/>
          </a:prstGeom>
          <a:noFill/>
          <a:ln/>
        </p:spPr>
        <p:txBody>
          <a:bodyPr wrap="square" lIns="28575" tIns="28575" rIns="28575" bIns="0" rtlCol="0" anchor="t"/>
          <a:lstStyle/>
          <a:p>
            <a:pPr algn="l" indent="0" marL="0">
              <a:lnSpc>
                <a:spcPts val="886"/>
              </a:lnSpc>
              <a:buNone/>
            </a:pPr>
            <a:r>
              <a:rPr lang="en-US" sz="800" dirty="0">
                <a:solidFill>
                  <a:srgbClr val="14B8A6"/>
                </a:solidFill>
                <a:latin typeface="Segoe UI Symbol" pitchFamily="34" charset="0"/>
                <a:ea typeface="Segoe UI Symbol" pitchFamily="34" charset="-122"/>
                <a:cs typeface="Segoe UI Symbol" pitchFamily="34" charset="-120"/>
              </a:rPr>
              <a:t>ⓘ</a:t>
            </a:r>
            <a:pPr algn="l" indent="0" marL="0">
              <a:lnSpc>
                <a:spcPts val="886"/>
              </a:lnSpc>
              <a:buNone/>
            </a:pPr>
            <a:r>
              <a:rPr lang="en-US" sz="800" dirty="0">
                <a:solidFill>
                  <a:srgbClr val="8A97AB"/>
                </a:solidFill>
                <a:latin typeface="Carlito" pitchFamily="34" charset="0"/>
                <a:ea typeface="Carlito" pitchFamily="34" charset="-122"/>
                <a:cs typeface="Carlito" pitchFamily="34" charset="-120"/>
              </a:rPr>
              <a:t> Bars sorted ascending. Proposed method highlighted teal. SOTA (Santoni et al., 77.97%) uses SMOTE on OpenFace features — same recipe as ours, but with deep representations.</a:t>
            </a:r>
            <a:endParaRPr lang="en-US" sz="800" dirty="0"/>
          </a:p>
        </p:txBody>
      </p:sp>
      <p:sp>
        <p:nvSpPr>
          <p:cNvPr id="77" name="Text 75"/>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M-DAS ITC 2026</a:t>
            </a:r>
            <a:endParaRPr lang="en-US" sz="800" dirty="0"/>
          </a:p>
        </p:txBody>
      </p:sp>
      <p:sp>
        <p:nvSpPr>
          <p:cNvPr id="78" name="Text 76"/>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20 / 34</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none" lIns="0" tIns="0" rIns="0" bIns="0" rtlCol="0" anchor="t"/>
          <a:lstStyle/>
          <a:p>
            <a:pPr algn="l" indent="0" marL="0">
              <a:lnSpc>
                <a:spcPts val="928"/>
              </a:lnSpc>
              <a:buNone/>
            </a:pPr>
            <a:r>
              <a:rPr lang="en-US" sz="800" b="1" spc="136" kern="0" dirty="0">
                <a:solidFill>
                  <a:srgbClr val="14B8A6"/>
                </a:solidFill>
                <a:latin typeface="Liberation Sans Narrow" pitchFamily="34" charset="0"/>
                <a:ea typeface="Liberation Sans Narrow" pitchFamily="34" charset="-122"/>
                <a:cs typeface="Liberation Sans Narrow" pitchFamily="34" charset="-120"/>
              </a:rPr>
              <a:t>RQ3 · PER-CLASS BREAKDOWN</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303413"/>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Frustration is Easiest. Confusion is Hardest.</a:t>
            </a:r>
            <a:endParaRPr lang="en-US" sz="2025" dirty="0"/>
          </a:p>
        </p:txBody>
      </p:sp>
      <p:sp>
        <p:nvSpPr>
          <p:cNvPr id="5" name="Text 3"/>
          <p:cNvSpPr/>
          <p:nvPr/>
        </p:nvSpPr>
        <p:spPr>
          <a:xfrm>
            <a:off x="457200" y="1013073"/>
            <a:ext cx="6572250" cy="179380"/>
          </a:xfrm>
          <a:prstGeom prst="rect">
            <a:avLst/>
          </a:prstGeom>
          <a:noFill/>
          <a:ln/>
        </p:spPr>
        <p:txBody>
          <a:bodyPr wrap="square" lIns="0" tIns="0" rIns="0" bIns="0" rtlCol="0" anchor="t"/>
          <a:lstStyle/>
          <a:p>
            <a:pPr algn="l" indent="0" marL="0">
              <a:lnSpc>
                <a:spcPts val="1308"/>
              </a:lnSpc>
              <a:buNone/>
            </a:pPr>
            <a:r>
              <a:rPr lang="en-US" sz="844" dirty="0">
                <a:solidFill>
                  <a:srgbClr val="5B6B82"/>
                </a:solidFill>
                <a:latin typeface="Carlito" pitchFamily="34" charset="0"/>
                <a:ea typeface="Carlito" pitchFamily="34" charset="-122"/>
                <a:cs typeface="Carlito" pitchFamily="34" charset="-120"/>
              </a:rPr>
              <a:t>Per-class metrics on the held-out 10% test set — and the confusion-matrix patterns that reveal where the model breaks.</a:t>
            </a:r>
            <a:endParaRPr lang="en-US" sz="844"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279178"/>
          <a:ext cx="8229600" cy="914400"/>
        </p:xfrm>
        <a:graphic>
          <a:graphicData uri="http://schemas.openxmlformats.org/drawingml/2006/table">
            <a:tbl>
              <a:tblPr/>
              <a:tblGrid>
                <a:gridCol w="2798118"/>
                <a:gridCol w="1069777"/>
                <a:gridCol w="1069777"/>
                <a:gridCol w="1069777"/>
                <a:gridCol w="1069777"/>
                <a:gridCol w="1152376"/>
              </a:tblGrid>
              <a:tr h="0">
                <a:tc>
                  <a:txBody>
                    <a:bodyPr/>
                    <a:lstStyle/>
                    <a:p>
                      <a:pPr algn="l" indent="0" marL="0">
                        <a:buNone/>
                      </a:pPr>
                      <a:r>
                        <a:rPr lang="en-US" sz="800" b="1" dirty="0">
                          <a:solidFill>
                            <a:srgbClr val="5B6B82"/>
                          </a:solidFill>
                          <a:latin typeface="Carlito" pitchFamily="34" charset="0"/>
                          <a:ea typeface="Carlito" pitchFamily="34" charset="-122"/>
                          <a:cs typeface="Carlito" pitchFamily="34" charset="-120"/>
                        </a:rPr>
                        <a:t>Affective State</a:t>
                      </a:r>
                      <a:endParaRPr lang="en-US" sz="800" dirty="0">
                        <a:latin typeface="Carlito" charset="0"/>
                        <a:ea typeface="Carlito" charset="0"/>
                        <a:cs typeface="Carlito"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b="1" dirty="0">
                          <a:solidFill>
                            <a:srgbClr val="5B6B82"/>
                          </a:solidFill>
                          <a:latin typeface="Carlito" pitchFamily="34" charset="0"/>
                          <a:ea typeface="Carlito" pitchFamily="34" charset="-122"/>
                          <a:cs typeface="Carlito" pitchFamily="34" charset="-120"/>
                        </a:rPr>
                        <a:t>Precision</a:t>
                      </a:r>
                      <a:endParaRPr lang="en-US" sz="800" dirty="0">
                        <a:latin typeface="Carlito" charset="0"/>
                        <a:ea typeface="Carlito" charset="0"/>
                        <a:cs typeface="Carlito"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b="1" dirty="0">
                          <a:solidFill>
                            <a:srgbClr val="5B6B82"/>
                          </a:solidFill>
                          <a:latin typeface="Carlito" pitchFamily="34" charset="0"/>
                          <a:ea typeface="Carlito" pitchFamily="34" charset="-122"/>
                          <a:cs typeface="Carlito" pitchFamily="34" charset="-120"/>
                        </a:rPr>
                        <a:t>Recall</a:t>
                      </a:r>
                      <a:endParaRPr lang="en-US" sz="800" dirty="0">
                        <a:latin typeface="Carlito" charset="0"/>
                        <a:ea typeface="Carlito" charset="0"/>
                        <a:cs typeface="Carlito"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b="1" dirty="0">
                          <a:solidFill>
                            <a:srgbClr val="5B6B82"/>
                          </a:solidFill>
                          <a:latin typeface="Carlito" pitchFamily="34" charset="0"/>
                          <a:ea typeface="Carlito" pitchFamily="34" charset="-122"/>
                          <a:cs typeface="Carlito" pitchFamily="34" charset="-120"/>
                        </a:rPr>
                        <a:t>F1</a:t>
                      </a:r>
                      <a:endParaRPr lang="en-US" sz="800" dirty="0">
                        <a:latin typeface="Carlito" charset="0"/>
                        <a:ea typeface="Carlito" charset="0"/>
                        <a:cs typeface="Carlito"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b="1" dirty="0">
                          <a:solidFill>
                            <a:srgbClr val="5B6B82"/>
                          </a:solidFill>
                          <a:latin typeface="Carlito" pitchFamily="34" charset="0"/>
                          <a:ea typeface="Carlito" pitchFamily="34" charset="-122"/>
                          <a:cs typeface="Carlito" pitchFamily="34" charset="-120"/>
                        </a:rPr>
                        <a:t>Accuracy</a:t>
                      </a:r>
                      <a:endParaRPr lang="en-US" sz="800" dirty="0">
                        <a:latin typeface="Carlito" charset="0"/>
                        <a:ea typeface="Carlito" charset="0"/>
                        <a:cs typeface="Carlito"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b="1" dirty="0">
                          <a:solidFill>
                            <a:srgbClr val="5B6B82"/>
                          </a:solidFill>
                          <a:latin typeface="Carlito" pitchFamily="34" charset="0"/>
                          <a:ea typeface="Carlito" pitchFamily="34" charset="-122"/>
                          <a:cs typeface="Carlito" pitchFamily="34" charset="-120"/>
                        </a:rPr>
                        <a:t>Support</a:t>
                      </a:r>
                      <a:endParaRPr lang="en-US" sz="800" dirty="0">
                        <a:latin typeface="Carlito" charset="0"/>
                        <a:ea typeface="Carlito" charset="0"/>
                        <a:cs typeface="Carlito"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Boredom</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0.541</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0.548</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0.535</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0.548</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861</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Engagement</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0.610</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0.609</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0.589</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0.609</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851</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Confusion</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0.597</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0.676</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0.566</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0.676</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851</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Frustration</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0.644</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0.786</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0.694</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0.786</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0F1F3D"/>
                          </a:solidFill>
                          <a:latin typeface="Courier New" pitchFamily="34" charset="0"/>
                          <a:ea typeface="Courier New" pitchFamily="34" charset="-122"/>
                          <a:cs typeface="Courier New" pitchFamily="34" charset="-120"/>
                        </a:rPr>
                        <a:t>851</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b="1" dirty="0">
                          <a:solidFill>
                            <a:srgbClr val="0F1F3D"/>
                          </a:solidFill>
                          <a:latin typeface="Carlito" pitchFamily="34" charset="0"/>
                          <a:ea typeface="Carlito" pitchFamily="34" charset="-122"/>
                          <a:cs typeface="Carlito" pitchFamily="34" charset="-120"/>
                        </a:rPr>
                        <a:t>Mean</a:t>
                      </a:r>
                      <a:endParaRPr lang="en-US" sz="800" dirty="0">
                        <a:latin typeface="Carlito" charset="0"/>
                        <a:ea typeface="Carlito" charset="0"/>
                        <a:cs typeface="Carlito"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c>
                  <a:txBody>
                    <a:bodyPr/>
                    <a:lstStyle/>
                    <a:p>
                      <a:pPr algn="r" indent="0" marL="0">
                        <a:buNone/>
                      </a:pPr>
                      <a:r>
                        <a:rPr lang="en-US" sz="800" b="1" dirty="0">
                          <a:solidFill>
                            <a:srgbClr val="0F1F3D"/>
                          </a:solidFill>
                          <a:latin typeface="Courier New" pitchFamily="34" charset="0"/>
                          <a:ea typeface="Courier New" pitchFamily="34" charset="-122"/>
                          <a:cs typeface="Courier New" pitchFamily="34" charset="-120"/>
                        </a:rPr>
                        <a:t>0.598</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c>
                  <a:txBody>
                    <a:bodyPr/>
                    <a:lstStyle/>
                    <a:p>
                      <a:pPr algn="r" indent="0" marL="0">
                        <a:buNone/>
                      </a:pPr>
                      <a:r>
                        <a:rPr lang="en-US" sz="800" b="1" dirty="0">
                          <a:solidFill>
                            <a:srgbClr val="0F1F3D"/>
                          </a:solidFill>
                          <a:latin typeface="Courier New" pitchFamily="34" charset="0"/>
                          <a:ea typeface="Courier New" pitchFamily="34" charset="-122"/>
                          <a:cs typeface="Courier New" pitchFamily="34" charset="-120"/>
                        </a:rPr>
                        <a:t>0.655</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c>
                  <a:txBody>
                    <a:bodyPr/>
                    <a:lstStyle/>
                    <a:p>
                      <a:pPr algn="r" indent="0" marL="0">
                        <a:buNone/>
                      </a:pPr>
                      <a:r>
                        <a:rPr lang="en-US" sz="800" b="1" dirty="0">
                          <a:solidFill>
                            <a:srgbClr val="0F1F3D"/>
                          </a:solidFill>
                          <a:latin typeface="Courier New" pitchFamily="34" charset="0"/>
                          <a:ea typeface="Courier New" pitchFamily="34" charset="-122"/>
                          <a:cs typeface="Courier New" pitchFamily="34" charset="-120"/>
                        </a:rPr>
                        <a:t>0.596</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c>
                  <a:txBody>
                    <a:bodyPr/>
                    <a:lstStyle/>
                    <a:p>
                      <a:pPr algn="r" indent="0" marL="0">
                        <a:buNone/>
                      </a:pPr>
                      <a:r>
                        <a:rPr lang="en-US" sz="800" b="1" dirty="0">
                          <a:solidFill>
                            <a:srgbClr val="0F1F3D"/>
                          </a:solidFill>
                          <a:latin typeface="Courier New" pitchFamily="34" charset="0"/>
                          <a:ea typeface="Courier New" pitchFamily="34" charset="-122"/>
                          <a:cs typeface="Courier New" pitchFamily="34" charset="-120"/>
                        </a:rPr>
                        <a:t>0.655</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c>
                  <a:txBody>
                    <a:bodyPr/>
                    <a:lstStyle/>
                    <a:p>
                      <a:pPr algn="r" indent="0" marL="0">
                        <a:buNone/>
                      </a:pPr>
                      <a:r>
                        <a:rPr lang="en-US" sz="800" b="1" dirty="0">
                          <a:solidFill>
                            <a:srgbClr val="0F1F3D"/>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57150" marR="71438" marT="71438" marB="57150"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r>
            </a:tbl>
          </a:graphicData>
        </a:graphic>
      </p:graphicFrame>
      <p:sp>
        <p:nvSpPr>
          <p:cNvPr id="7" name="Text 4"/>
          <p:cNvSpPr/>
          <p:nvPr/>
        </p:nvSpPr>
        <p:spPr>
          <a:xfrm>
            <a:off x="457200" y="2915096"/>
            <a:ext cx="4057650" cy="1044773"/>
          </a:xfrm>
          <a:prstGeom prst="roundRect">
            <a:avLst>
              <a:gd name="adj" fmla="val 3647"/>
            </a:avLst>
          </a:prstGeom>
          <a:solidFill>
            <a:srgbClr val="FFFFFF"/>
          </a:solidFill>
          <a:ln/>
        </p:spPr>
        <p:txBody>
          <a:bodyPr wrap="square" rtlCol="0" anchor="ctr"/>
          <a:lstStyle/>
          <a:p>
            <a:pPr indent="0" marL="0">
              <a:buNone/>
            </a:pPr>
            <a:endParaRPr lang="en-US" dirty="0"/>
          </a:p>
        </p:txBody>
      </p:sp>
      <p:sp>
        <p:nvSpPr>
          <p:cNvPr id="8" name="Shape 5"/>
          <p:cNvSpPr/>
          <p:nvPr/>
        </p:nvSpPr>
        <p:spPr>
          <a:xfrm>
            <a:off x="457200" y="2918668"/>
            <a:ext cx="4057650" cy="0"/>
          </a:xfrm>
          <a:prstGeom prst="line">
            <a:avLst/>
          </a:prstGeom>
          <a:noFill/>
          <a:ln w="7144">
            <a:solidFill>
              <a:srgbClr val="D9E1EC"/>
            </a:solidFill>
            <a:prstDash val="solid"/>
          </a:ln>
        </p:spPr>
      </p:sp>
      <p:sp>
        <p:nvSpPr>
          <p:cNvPr id="9" name="Shape 6"/>
          <p:cNvSpPr/>
          <p:nvPr/>
        </p:nvSpPr>
        <p:spPr>
          <a:xfrm>
            <a:off x="4511278" y="2915096"/>
            <a:ext cx="0" cy="1044773"/>
          </a:xfrm>
          <a:prstGeom prst="line">
            <a:avLst/>
          </a:prstGeom>
          <a:noFill/>
          <a:ln w="7144">
            <a:solidFill>
              <a:srgbClr val="D9E1EC"/>
            </a:solidFill>
            <a:prstDash val="solid"/>
          </a:ln>
        </p:spPr>
      </p:sp>
      <p:sp>
        <p:nvSpPr>
          <p:cNvPr id="10" name="Shape 7"/>
          <p:cNvSpPr/>
          <p:nvPr/>
        </p:nvSpPr>
        <p:spPr>
          <a:xfrm>
            <a:off x="457200" y="3956298"/>
            <a:ext cx="4057650" cy="0"/>
          </a:xfrm>
          <a:prstGeom prst="line">
            <a:avLst/>
          </a:prstGeom>
          <a:noFill/>
          <a:ln w="7144">
            <a:solidFill>
              <a:srgbClr val="D9E1EC"/>
            </a:solidFill>
            <a:prstDash val="solid"/>
          </a:ln>
        </p:spPr>
      </p:sp>
      <p:sp>
        <p:nvSpPr>
          <p:cNvPr id="11" name="Shape 8"/>
          <p:cNvSpPr/>
          <p:nvPr/>
        </p:nvSpPr>
        <p:spPr>
          <a:xfrm>
            <a:off x="467916" y="2915096"/>
            <a:ext cx="0" cy="1044773"/>
          </a:xfrm>
          <a:prstGeom prst="line">
            <a:avLst/>
          </a:prstGeom>
          <a:noFill/>
          <a:ln w="21431">
            <a:solidFill>
              <a:srgbClr val="14B8A6"/>
            </a:solidFill>
            <a:prstDash val="solid"/>
          </a:ln>
        </p:spPr>
      </p:sp>
      <p:sp>
        <p:nvSpPr>
          <p:cNvPr id="12" name="Text 9"/>
          <p:cNvSpPr/>
          <p:nvPr/>
        </p:nvSpPr>
        <p:spPr>
          <a:xfrm>
            <a:off x="607219" y="3022253"/>
            <a:ext cx="3881628" cy="133302"/>
          </a:xfrm>
          <a:prstGeom prst="rect">
            <a:avLst/>
          </a:prstGeom>
          <a:noFill/>
          <a:ln/>
        </p:spPr>
        <p:txBody>
          <a:bodyPr wrap="square" lIns="0" tIns="0" rIns="0" bIns="0" rtlCol="0" anchor="t">
            <a:normAutofit/>
          </a:bodyPr>
          <a:lstStyle/>
          <a:p>
            <a:pPr algn="l" indent="0" marL="0">
              <a:lnSpc>
                <a:spcPts val="928"/>
              </a:lnSpc>
              <a:buNone/>
            </a:pPr>
            <a:r>
              <a:rPr lang="en-US" sz="800" b="1" spc="87" kern="0" dirty="0">
                <a:solidFill>
                  <a:srgbClr val="0F766E"/>
                </a:solidFill>
                <a:latin typeface="Carlito" pitchFamily="34" charset="0"/>
                <a:ea typeface="Carlito" pitchFamily="34" charset="-122"/>
                <a:cs typeface="Carlito" pitchFamily="34" charset="-120"/>
              </a:rPr>
              <a:t>WHY FRUSTRATION IS EASIEST (ACC = 0.786)</a:t>
            </a:r>
            <a:endParaRPr lang="en-US" sz="800" dirty="0"/>
          </a:p>
        </p:txBody>
      </p:sp>
      <p:sp>
        <p:nvSpPr>
          <p:cNvPr id="13" name="Text 10"/>
          <p:cNvSpPr/>
          <p:nvPr/>
        </p:nvSpPr>
        <p:spPr>
          <a:xfrm>
            <a:off x="607219" y="3182987"/>
            <a:ext cx="3771900" cy="669727"/>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Frustration produces distinctive muscular tension patterns — pressed lips, clenched jaw, brow furrow. These blendshape signatures survive the statistical aggregation step cleanly and give XGBoost strong separability. </a:t>
            </a:r>
            <a:pPr algn="l" indent="0" marL="0">
              <a:lnSpc>
                <a:spcPts val="1055"/>
              </a:lnSpc>
              <a:buNone/>
            </a:pPr>
            <a:r>
              <a:rPr lang="en-US" sz="800" b="1" dirty="0">
                <a:solidFill>
                  <a:srgbClr val="C77B2C"/>
                </a:solidFill>
                <a:latin typeface="Carlito" pitchFamily="34" charset="0"/>
                <a:ea typeface="Carlito" pitchFamily="34" charset="-122"/>
                <a:cs typeface="Carlito" pitchFamily="34" charset="-120"/>
              </a:rPr>
              <a:t>CAVEAT:</a:t>
            </a:r>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 0.786 accuracy is inflated by the Low-class dominance — Frustration Medium/High recall collapses to 0.</a:t>
            </a:r>
            <a:endParaRPr lang="en-US" sz="800" dirty="0"/>
          </a:p>
        </p:txBody>
      </p:sp>
      <p:sp>
        <p:nvSpPr>
          <p:cNvPr id="14" name="Text 11"/>
          <p:cNvSpPr/>
          <p:nvPr/>
        </p:nvSpPr>
        <p:spPr>
          <a:xfrm>
            <a:off x="4629150" y="2915096"/>
            <a:ext cx="4057650" cy="1044773"/>
          </a:xfrm>
          <a:prstGeom prst="roundRect">
            <a:avLst>
              <a:gd name="adj" fmla="val 3647"/>
            </a:avLst>
          </a:prstGeom>
          <a:solidFill>
            <a:srgbClr val="FFFFFF"/>
          </a:solidFill>
          <a:ln/>
        </p:spPr>
        <p:txBody>
          <a:bodyPr wrap="square" rtlCol="0" anchor="ctr"/>
          <a:lstStyle/>
          <a:p>
            <a:pPr indent="0" marL="0">
              <a:buNone/>
            </a:pPr>
            <a:endParaRPr lang="en-US" dirty="0"/>
          </a:p>
        </p:txBody>
      </p:sp>
      <p:sp>
        <p:nvSpPr>
          <p:cNvPr id="15" name="Shape 12"/>
          <p:cNvSpPr/>
          <p:nvPr/>
        </p:nvSpPr>
        <p:spPr>
          <a:xfrm>
            <a:off x="4629150" y="2918668"/>
            <a:ext cx="4057650" cy="0"/>
          </a:xfrm>
          <a:prstGeom prst="line">
            <a:avLst/>
          </a:prstGeom>
          <a:noFill/>
          <a:ln w="7144">
            <a:solidFill>
              <a:srgbClr val="D9E1EC"/>
            </a:solidFill>
            <a:prstDash val="solid"/>
          </a:ln>
        </p:spPr>
      </p:sp>
      <p:sp>
        <p:nvSpPr>
          <p:cNvPr id="16" name="Shape 13"/>
          <p:cNvSpPr/>
          <p:nvPr/>
        </p:nvSpPr>
        <p:spPr>
          <a:xfrm>
            <a:off x="8683228" y="2915096"/>
            <a:ext cx="0" cy="1044773"/>
          </a:xfrm>
          <a:prstGeom prst="line">
            <a:avLst/>
          </a:prstGeom>
          <a:noFill/>
          <a:ln w="7144">
            <a:solidFill>
              <a:srgbClr val="D9E1EC"/>
            </a:solidFill>
            <a:prstDash val="solid"/>
          </a:ln>
        </p:spPr>
      </p:sp>
      <p:sp>
        <p:nvSpPr>
          <p:cNvPr id="17" name="Shape 14"/>
          <p:cNvSpPr/>
          <p:nvPr/>
        </p:nvSpPr>
        <p:spPr>
          <a:xfrm>
            <a:off x="4629150" y="3956298"/>
            <a:ext cx="4057650" cy="0"/>
          </a:xfrm>
          <a:prstGeom prst="line">
            <a:avLst/>
          </a:prstGeom>
          <a:noFill/>
          <a:ln w="7144">
            <a:solidFill>
              <a:srgbClr val="D9E1EC"/>
            </a:solidFill>
            <a:prstDash val="solid"/>
          </a:ln>
        </p:spPr>
      </p:sp>
      <p:sp>
        <p:nvSpPr>
          <p:cNvPr id="18" name="Shape 15"/>
          <p:cNvSpPr/>
          <p:nvPr/>
        </p:nvSpPr>
        <p:spPr>
          <a:xfrm>
            <a:off x="4639866" y="2915096"/>
            <a:ext cx="0" cy="1044773"/>
          </a:xfrm>
          <a:prstGeom prst="line">
            <a:avLst/>
          </a:prstGeom>
          <a:noFill/>
          <a:ln w="21431">
            <a:solidFill>
              <a:srgbClr val="14B8A6"/>
            </a:solidFill>
            <a:prstDash val="solid"/>
          </a:ln>
        </p:spPr>
      </p:sp>
      <p:sp>
        <p:nvSpPr>
          <p:cNvPr id="19" name="Text 16"/>
          <p:cNvSpPr/>
          <p:nvPr/>
        </p:nvSpPr>
        <p:spPr>
          <a:xfrm>
            <a:off x="4779169" y="3022253"/>
            <a:ext cx="3881628" cy="133302"/>
          </a:xfrm>
          <a:prstGeom prst="rect">
            <a:avLst/>
          </a:prstGeom>
          <a:noFill/>
          <a:ln/>
        </p:spPr>
        <p:txBody>
          <a:bodyPr wrap="square" lIns="0" tIns="0" rIns="0" bIns="0" rtlCol="0" anchor="t">
            <a:normAutofit/>
          </a:bodyPr>
          <a:lstStyle/>
          <a:p>
            <a:pPr algn="l" indent="0" marL="0">
              <a:lnSpc>
                <a:spcPts val="928"/>
              </a:lnSpc>
              <a:buNone/>
            </a:pPr>
            <a:r>
              <a:rPr lang="en-US" sz="800" b="1" spc="87" kern="0" dirty="0">
                <a:solidFill>
                  <a:srgbClr val="0F766E"/>
                </a:solidFill>
                <a:latin typeface="Carlito" pitchFamily="34" charset="0"/>
                <a:ea typeface="Carlito" pitchFamily="34" charset="-122"/>
                <a:cs typeface="Carlito" pitchFamily="34" charset="-120"/>
              </a:rPr>
              <a:t>WHY CONFUSION IS HARDEST (F1 = 0.566)</a:t>
            </a:r>
            <a:endParaRPr lang="en-US" sz="800" dirty="0"/>
          </a:p>
        </p:txBody>
      </p:sp>
      <p:sp>
        <p:nvSpPr>
          <p:cNvPr id="20" name="Text 17"/>
          <p:cNvSpPr/>
          <p:nvPr/>
        </p:nvSpPr>
        <p:spPr>
          <a:xfrm>
            <a:off x="4779169" y="3182987"/>
            <a:ext cx="3771900" cy="493776"/>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Confusion distributes its discriminative signal across many weak features (see Slide 24). The model defaults to predicting Low for 98% of confusion samples — recall on Medium and High drops to </a:t>
            </a:r>
            <a:pPr algn="l" indent="0" marL="0">
              <a:lnSpc>
                <a:spcPts val="1055"/>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0.040</a:t>
            </a:r>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 and </a:t>
            </a:r>
            <a:pPr algn="l" indent="0" marL="0">
              <a:lnSpc>
                <a:spcPts val="1055"/>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0.012</a:t>
            </a:r>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a:t>
            </a:r>
            <a:endParaRPr lang="en-US" sz="800" dirty="0"/>
          </a:p>
        </p:txBody>
      </p:sp>
      <p:sp>
        <p:nvSpPr>
          <p:cNvPr id="21" name="Text 18"/>
          <p:cNvSpPr/>
          <p:nvPr/>
        </p:nvSpPr>
        <p:spPr>
          <a:xfrm>
            <a:off x="457200" y="4045595"/>
            <a:ext cx="8229600" cy="276820"/>
          </a:xfrm>
          <a:prstGeom prst="roundRect">
            <a:avLst>
              <a:gd name="adj" fmla="val 13763"/>
            </a:avLst>
          </a:prstGeom>
          <a:solidFill>
            <a:srgbClr val="EEF3F8"/>
          </a:solidFill>
          <a:ln/>
        </p:spPr>
        <p:txBody>
          <a:bodyPr wrap="square" rtlCol="0" anchor="ctr"/>
          <a:lstStyle/>
          <a:p>
            <a:pPr indent="0" marL="0">
              <a:buNone/>
            </a:pPr>
            <a:endParaRPr lang="en-US" dirty="0"/>
          </a:p>
        </p:txBody>
      </p:sp>
      <p:sp>
        <p:nvSpPr>
          <p:cNvPr id="22" name="Shape 19"/>
          <p:cNvSpPr/>
          <p:nvPr/>
        </p:nvSpPr>
        <p:spPr>
          <a:xfrm>
            <a:off x="467916" y="4045595"/>
            <a:ext cx="0" cy="276820"/>
          </a:xfrm>
          <a:prstGeom prst="line">
            <a:avLst/>
          </a:prstGeom>
          <a:noFill/>
          <a:ln w="21431">
            <a:solidFill>
              <a:srgbClr val="14B8A6"/>
            </a:solidFill>
            <a:prstDash val="solid"/>
          </a:ln>
        </p:spPr>
      </p:sp>
      <p:sp>
        <p:nvSpPr>
          <p:cNvPr id="23" name="Text 20"/>
          <p:cNvSpPr/>
          <p:nvPr/>
        </p:nvSpPr>
        <p:spPr>
          <a:xfrm>
            <a:off x="457200" y="4045595"/>
            <a:ext cx="8229600" cy="340157"/>
          </a:xfrm>
          <a:prstGeom prst="rect">
            <a:avLst/>
          </a:prstGeom>
          <a:noFill/>
          <a:ln/>
        </p:spPr>
        <p:txBody>
          <a:bodyPr wrap="square" lIns="100013" tIns="71438" rIns="100013" bIns="71438" rtlCol="0" anchor="t"/>
          <a:lstStyle/>
          <a:p>
            <a:pPr algn="l" indent="0" marL="0">
              <a:lnSpc>
                <a:spcPts val="1055"/>
              </a:lnSpc>
              <a:buNone/>
            </a:pPr>
            <a:r>
              <a:rPr lang="en-US" sz="800" b="1" dirty="0">
                <a:solidFill>
                  <a:srgbClr val="0F1F3D"/>
                </a:solidFill>
                <a:latin typeface="Carlito" pitchFamily="34" charset="0"/>
                <a:ea typeface="Carlito" pitchFamily="34" charset="-122"/>
                <a:cs typeface="Carlito" pitchFamily="34" charset="-120"/>
              </a:rPr>
              <a:t>Confusion-matrix pattern:</a:t>
            </a:r>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 Boredom spreads evenly across adjacent classes; Engagement collapses Low→Medium; Confusion and Frustration collapse everything to Low.</a:t>
            </a:r>
            <a:endParaRPr lang="en-US" sz="800" dirty="0"/>
          </a:p>
        </p:txBody>
      </p:sp>
      <p:sp>
        <p:nvSpPr>
          <p:cNvPr id="24" name="Text 21"/>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THESIS DEFENSE</a:t>
            </a:r>
            <a:endParaRPr lang="en-US" sz="800" dirty="0"/>
          </a:p>
        </p:txBody>
      </p:sp>
      <p:sp>
        <p:nvSpPr>
          <p:cNvPr id="25" name="Text 22"/>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21 / 34</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square" lIns="0" tIns="0" rIns="0" bIns="0" rtlCol="0" anchor="t"/>
          <a:lstStyle/>
          <a:p>
            <a:pPr algn="l" indent="0" marL="0">
              <a:lnSpc>
                <a:spcPts val="928"/>
              </a:lnSpc>
              <a:buNone/>
            </a:pPr>
            <a:r>
              <a:rPr lang="en-US" sz="800" b="1" spc="136" kern="0" dirty="0">
                <a:solidFill>
                  <a:srgbClr val="14B8A6"/>
                </a:solidFill>
                <a:latin typeface="Liberation Sans Narrow" pitchFamily="34" charset="0"/>
                <a:ea typeface="Liberation Sans Narrow" pitchFamily="34" charset="-122"/>
                <a:cs typeface="Liberation Sans Narrow" pitchFamily="34" charset="-120"/>
              </a:rPr>
              <a:t>RQ2 · SHAP ANALYSIS · BOREDOM</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303413"/>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Boredom is Written in Facial Muscle Suppression</a:t>
            </a:r>
            <a:endParaRPr lang="en-US" sz="2025" dirty="0"/>
          </a:p>
        </p:txBody>
      </p:sp>
      <p:sp>
        <p:nvSpPr>
          <p:cNvPr id="5" name="Text 3"/>
          <p:cNvSpPr/>
          <p:nvPr/>
        </p:nvSpPr>
        <p:spPr>
          <a:xfrm>
            <a:off x="457200" y="1013073"/>
            <a:ext cx="6572250" cy="358759"/>
          </a:xfrm>
          <a:prstGeom prst="rect">
            <a:avLst/>
          </a:prstGeom>
          <a:noFill/>
          <a:ln/>
        </p:spPr>
        <p:txBody>
          <a:bodyPr wrap="square" lIns="0" tIns="0" rIns="0" bIns="0" rtlCol="0" anchor="t"/>
          <a:lstStyle/>
          <a:p>
            <a:pPr algn="l" indent="0" marL="0">
              <a:lnSpc>
                <a:spcPts val="1308"/>
              </a:lnSpc>
              <a:buNone/>
            </a:pPr>
            <a:r>
              <a:rPr lang="en-US" sz="844" dirty="0">
                <a:solidFill>
                  <a:srgbClr val="5B6B82"/>
                </a:solidFill>
                <a:latin typeface="Carlito" pitchFamily="34" charset="0"/>
                <a:ea typeface="Carlito" pitchFamily="34" charset="-122"/>
                <a:cs typeface="Carlito" pitchFamily="34" charset="-120"/>
              </a:rPr>
              <a:t>Blendshapes dominate — </a:t>
            </a:r>
            <a:pPr algn="l" indent="0" marL="0">
              <a:lnSpc>
                <a:spcPts val="1308"/>
              </a:lnSpc>
              <a:buNone/>
            </a:pPr>
            <a:r>
              <a:rPr lang="en-US" sz="844" dirty="0">
                <a:solidFill>
                  <a:srgbClr val="5B6B82"/>
                </a:solidFill>
                <a:latin typeface="Courier New" pitchFamily="34" charset="0"/>
                <a:ea typeface="Courier New" pitchFamily="34" charset="-122"/>
                <a:cs typeface="Courier New" pitchFamily="34" charset="-120"/>
              </a:rPr>
              <a:t>mouthSmileRight_median</a:t>
            </a:r>
            <a:pPr algn="l" indent="0" marL="0">
              <a:lnSpc>
                <a:spcPts val="1308"/>
              </a:lnSpc>
              <a:buNone/>
            </a:pPr>
            <a:r>
              <a:rPr lang="en-US" sz="844" dirty="0">
                <a:solidFill>
                  <a:srgbClr val="5B6B82"/>
                </a:solidFill>
                <a:latin typeface="Carlito" pitchFamily="34" charset="0"/>
                <a:ea typeface="Carlito" pitchFamily="34" charset="-122"/>
                <a:cs typeface="Carlito" pitchFamily="34" charset="-120"/>
              </a:rPr>
              <a:t> is the single most important feature (SHAP = </a:t>
            </a:r>
            <a:pPr algn="l" indent="0" marL="0">
              <a:lnSpc>
                <a:spcPts val="1308"/>
              </a:lnSpc>
              <a:buNone/>
            </a:pPr>
            <a:r>
              <a:rPr lang="en-US" sz="844" dirty="0">
                <a:solidFill>
                  <a:srgbClr val="5B6B82"/>
                </a:solidFill>
                <a:latin typeface="Liberation Sans Narrow" pitchFamily="34" charset="0"/>
                <a:ea typeface="Liberation Sans Narrow" pitchFamily="34" charset="-122"/>
                <a:cs typeface="Liberation Sans Narrow" pitchFamily="34" charset="-120"/>
              </a:rPr>
              <a:t>0.17</a:t>
            </a:r>
            <a:pPr algn="l" indent="0" marL="0">
              <a:lnSpc>
                <a:spcPts val="1308"/>
              </a:lnSpc>
              <a:buNone/>
            </a:pPr>
            <a:r>
              <a:rPr lang="en-US" sz="844" dirty="0">
                <a:solidFill>
                  <a:srgbClr val="5B6B82"/>
                </a:solidFill>
                <a:latin typeface="Carlito" pitchFamily="34" charset="0"/>
                <a:ea typeface="Carlito" pitchFamily="34" charset="-122"/>
                <a:cs typeface="Carlito" pitchFamily="34" charset="-120"/>
              </a:rPr>
              <a:t>), reflecting the social-masking smile that bored learners deploy.</a:t>
            </a:r>
            <a:endParaRPr lang="en-US" sz="844" dirty="0"/>
          </a:p>
        </p:txBody>
      </p:sp>
      <p:sp>
        <p:nvSpPr>
          <p:cNvPr id="6" name="Text 4"/>
          <p:cNvSpPr/>
          <p:nvPr/>
        </p:nvSpPr>
        <p:spPr>
          <a:xfrm>
            <a:off x="457200" y="1430982"/>
            <a:ext cx="5821602" cy="119015"/>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5B6B82"/>
                </a:solidFill>
                <a:latin typeface="Liberation Sans Narrow" pitchFamily="34" charset="0"/>
                <a:ea typeface="Liberation Sans Narrow" pitchFamily="34" charset="-122"/>
                <a:cs typeface="Liberation Sans Narrow" pitchFamily="34" charset="-120"/>
              </a:rPr>
              <a:t>TOP-5 SHAP FEATURES</a:t>
            </a:r>
            <a:endParaRPr lang="en-US" sz="800" dirty="0"/>
          </a:p>
        </p:txBody>
      </p:sp>
      <p:sp>
        <p:nvSpPr>
          <p:cNvPr id="7" name="Shape 5"/>
          <p:cNvSpPr/>
          <p:nvPr/>
        </p:nvSpPr>
        <p:spPr>
          <a:xfrm>
            <a:off x="457200" y="1859607"/>
            <a:ext cx="4439841" cy="0"/>
          </a:xfrm>
          <a:prstGeom prst="line">
            <a:avLst/>
          </a:prstGeom>
          <a:noFill/>
          <a:ln w="7144">
            <a:solidFill>
              <a:srgbClr val="E8EDF4"/>
            </a:solidFill>
            <a:prstDash val="solid"/>
          </a:ln>
        </p:spPr>
      </p:sp>
      <p:sp>
        <p:nvSpPr>
          <p:cNvPr id="8" name="Text 6"/>
          <p:cNvSpPr/>
          <p:nvPr/>
        </p:nvSpPr>
        <p:spPr>
          <a:xfrm>
            <a:off x="457200" y="1636365"/>
            <a:ext cx="365760" cy="162520"/>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01</a:t>
            </a:r>
            <a:endParaRPr lang="en-US" sz="844" dirty="0"/>
          </a:p>
        </p:txBody>
      </p:sp>
      <p:sp>
        <p:nvSpPr>
          <p:cNvPr id="9" name="Text 7"/>
          <p:cNvSpPr/>
          <p:nvPr/>
        </p:nvSpPr>
        <p:spPr>
          <a:xfrm>
            <a:off x="757238" y="1649760"/>
            <a:ext cx="3056632" cy="149126"/>
          </a:xfrm>
          <a:prstGeom prst="rect">
            <a:avLst/>
          </a:prstGeom>
          <a:noFill/>
          <a:ln/>
        </p:spPr>
        <p:txBody>
          <a:bodyPr wrap="non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mouthSmileRight_median</a:t>
            </a:r>
            <a:endParaRPr lang="en-US" sz="800" dirty="0"/>
          </a:p>
        </p:txBody>
      </p:sp>
      <p:sp>
        <p:nvSpPr>
          <p:cNvPr id="10" name="Text 8"/>
          <p:cNvSpPr/>
          <p:nvPr/>
        </p:nvSpPr>
        <p:spPr>
          <a:xfrm>
            <a:off x="3482578" y="1644402"/>
            <a:ext cx="685800" cy="154484"/>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0.17</a:t>
            </a:r>
            <a:endParaRPr lang="en-US" sz="800" dirty="0"/>
          </a:p>
        </p:txBody>
      </p:sp>
      <p:sp>
        <p:nvSpPr>
          <p:cNvPr id="11" name="Text 9"/>
          <p:cNvSpPr/>
          <p:nvPr/>
        </p:nvSpPr>
        <p:spPr>
          <a:xfrm>
            <a:off x="4239816" y="1624721"/>
            <a:ext cx="657225" cy="184023"/>
          </a:xfrm>
          <a:prstGeom prst="roundRect">
            <a:avLst>
              <a:gd name="adj" fmla="val 5170807"/>
            </a:avLst>
          </a:prstGeom>
          <a:solidFill>
            <a:srgbClr val="0F1F3D">
              <a:alpha val="8000"/>
            </a:srgbClr>
          </a:solidFill>
          <a:ln w="7144">
            <a:solidFill>
              <a:srgbClr val="D9E1EC"/>
            </a:solidFill>
            <a:prstDash val="solid"/>
          </a:ln>
        </p:spPr>
        <p:txBody>
          <a:bodyPr wrap="square" rtlCol="0" anchor="ctr"/>
          <a:lstStyle/>
          <a:p>
            <a:pPr indent="0" marL="0">
              <a:buNone/>
            </a:pPr>
            <a:endParaRPr lang="en-US" dirty="0"/>
          </a:p>
        </p:txBody>
      </p:sp>
      <p:sp>
        <p:nvSpPr>
          <p:cNvPr id="12" name="Text 10"/>
          <p:cNvSpPr/>
          <p:nvPr/>
        </p:nvSpPr>
        <p:spPr>
          <a:xfrm>
            <a:off x="4178995" y="1634579"/>
            <a:ext cx="778866"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0F1F3D"/>
                </a:solidFill>
                <a:latin typeface="Carlito" pitchFamily="34" charset="0"/>
                <a:ea typeface="Carlito" pitchFamily="34" charset="-122"/>
                <a:cs typeface="Carlito" pitchFamily="34" charset="-120"/>
              </a:rPr>
              <a:t>BLENDSHAPE</a:t>
            </a:r>
            <a:endParaRPr lang="en-US" sz="800" dirty="0"/>
          </a:p>
        </p:txBody>
      </p:sp>
      <p:sp>
        <p:nvSpPr>
          <p:cNvPr id="13" name="Shape 11"/>
          <p:cNvSpPr/>
          <p:nvPr/>
        </p:nvSpPr>
        <p:spPr>
          <a:xfrm>
            <a:off x="457200" y="2145357"/>
            <a:ext cx="4439841" cy="0"/>
          </a:xfrm>
          <a:prstGeom prst="line">
            <a:avLst/>
          </a:prstGeom>
          <a:noFill/>
          <a:ln w="7144">
            <a:solidFill>
              <a:srgbClr val="E8EDF4"/>
            </a:solidFill>
            <a:prstDash val="solid"/>
          </a:ln>
        </p:spPr>
      </p:sp>
      <p:sp>
        <p:nvSpPr>
          <p:cNvPr id="14" name="Text 12"/>
          <p:cNvSpPr/>
          <p:nvPr/>
        </p:nvSpPr>
        <p:spPr>
          <a:xfrm>
            <a:off x="457200" y="1922115"/>
            <a:ext cx="365760" cy="162520"/>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02</a:t>
            </a:r>
            <a:endParaRPr lang="en-US" sz="844" dirty="0"/>
          </a:p>
        </p:txBody>
      </p:sp>
      <p:sp>
        <p:nvSpPr>
          <p:cNvPr id="15" name="Text 13"/>
          <p:cNvSpPr/>
          <p:nvPr/>
        </p:nvSpPr>
        <p:spPr>
          <a:xfrm>
            <a:off x="757238" y="1935510"/>
            <a:ext cx="3056632" cy="149126"/>
          </a:xfrm>
          <a:prstGeom prst="rect">
            <a:avLst/>
          </a:prstGeom>
          <a:noFill/>
          <a:ln/>
        </p:spPr>
        <p:txBody>
          <a:bodyPr wrap="non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browInnerUp_range</a:t>
            </a:r>
            <a:endParaRPr lang="en-US" sz="800" dirty="0"/>
          </a:p>
        </p:txBody>
      </p:sp>
      <p:sp>
        <p:nvSpPr>
          <p:cNvPr id="16" name="Text 14"/>
          <p:cNvSpPr/>
          <p:nvPr/>
        </p:nvSpPr>
        <p:spPr>
          <a:xfrm>
            <a:off x="3482578" y="1930152"/>
            <a:ext cx="685800" cy="154484"/>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0.10</a:t>
            </a:r>
            <a:endParaRPr lang="en-US" sz="800" dirty="0"/>
          </a:p>
        </p:txBody>
      </p:sp>
      <p:sp>
        <p:nvSpPr>
          <p:cNvPr id="17" name="Text 15"/>
          <p:cNvSpPr/>
          <p:nvPr/>
        </p:nvSpPr>
        <p:spPr>
          <a:xfrm>
            <a:off x="4239816" y="1910471"/>
            <a:ext cx="657225" cy="184023"/>
          </a:xfrm>
          <a:prstGeom prst="roundRect">
            <a:avLst>
              <a:gd name="adj" fmla="val 5170807"/>
            </a:avLst>
          </a:prstGeom>
          <a:solidFill>
            <a:srgbClr val="0F1F3D">
              <a:alpha val="8000"/>
            </a:srgbClr>
          </a:solidFill>
          <a:ln w="7144">
            <a:solidFill>
              <a:srgbClr val="D9E1EC"/>
            </a:solidFill>
            <a:prstDash val="solid"/>
          </a:ln>
        </p:spPr>
        <p:txBody>
          <a:bodyPr wrap="square" rtlCol="0" anchor="ctr"/>
          <a:lstStyle/>
          <a:p>
            <a:pPr indent="0" marL="0">
              <a:buNone/>
            </a:pPr>
            <a:endParaRPr lang="en-US" dirty="0"/>
          </a:p>
        </p:txBody>
      </p:sp>
      <p:sp>
        <p:nvSpPr>
          <p:cNvPr id="18" name="Text 16"/>
          <p:cNvSpPr/>
          <p:nvPr/>
        </p:nvSpPr>
        <p:spPr>
          <a:xfrm>
            <a:off x="4178995" y="1920329"/>
            <a:ext cx="778866"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0F1F3D"/>
                </a:solidFill>
                <a:latin typeface="Carlito" pitchFamily="34" charset="0"/>
                <a:ea typeface="Carlito" pitchFamily="34" charset="-122"/>
                <a:cs typeface="Carlito" pitchFamily="34" charset="-120"/>
              </a:rPr>
              <a:t>BLENDSHAPE</a:t>
            </a:r>
            <a:endParaRPr lang="en-US" sz="800" dirty="0"/>
          </a:p>
        </p:txBody>
      </p:sp>
      <p:sp>
        <p:nvSpPr>
          <p:cNvPr id="19" name="Shape 17"/>
          <p:cNvSpPr/>
          <p:nvPr/>
        </p:nvSpPr>
        <p:spPr>
          <a:xfrm>
            <a:off x="457200" y="2431107"/>
            <a:ext cx="4439841" cy="0"/>
          </a:xfrm>
          <a:prstGeom prst="line">
            <a:avLst/>
          </a:prstGeom>
          <a:noFill/>
          <a:ln w="7144">
            <a:solidFill>
              <a:srgbClr val="E8EDF4"/>
            </a:solidFill>
            <a:prstDash val="solid"/>
          </a:ln>
        </p:spPr>
      </p:sp>
      <p:sp>
        <p:nvSpPr>
          <p:cNvPr id="20" name="Text 18"/>
          <p:cNvSpPr/>
          <p:nvPr/>
        </p:nvSpPr>
        <p:spPr>
          <a:xfrm>
            <a:off x="457200" y="2207865"/>
            <a:ext cx="365760" cy="162520"/>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03</a:t>
            </a:r>
            <a:endParaRPr lang="en-US" sz="844" dirty="0"/>
          </a:p>
        </p:txBody>
      </p:sp>
      <p:sp>
        <p:nvSpPr>
          <p:cNvPr id="21" name="Text 19"/>
          <p:cNvSpPr/>
          <p:nvPr/>
        </p:nvSpPr>
        <p:spPr>
          <a:xfrm>
            <a:off x="757238" y="2221260"/>
            <a:ext cx="3056632" cy="149126"/>
          </a:xfrm>
          <a:prstGeom prst="rect">
            <a:avLst/>
          </a:prstGeom>
          <a:noFill/>
          <a:ln/>
        </p:spPr>
        <p:txBody>
          <a:bodyPr wrap="non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mouthPressRight_mean</a:t>
            </a:r>
            <a:endParaRPr lang="en-US" sz="800" dirty="0"/>
          </a:p>
        </p:txBody>
      </p:sp>
      <p:sp>
        <p:nvSpPr>
          <p:cNvPr id="22" name="Text 20"/>
          <p:cNvSpPr/>
          <p:nvPr/>
        </p:nvSpPr>
        <p:spPr>
          <a:xfrm>
            <a:off x="3482578" y="2215902"/>
            <a:ext cx="685800" cy="154484"/>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0.09</a:t>
            </a:r>
            <a:endParaRPr lang="en-US" sz="800" dirty="0"/>
          </a:p>
        </p:txBody>
      </p:sp>
      <p:sp>
        <p:nvSpPr>
          <p:cNvPr id="23" name="Text 21"/>
          <p:cNvSpPr/>
          <p:nvPr/>
        </p:nvSpPr>
        <p:spPr>
          <a:xfrm>
            <a:off x="4239816" y="2196221"/>
            <a:ext cx="657225" cy="184023"/>
          </a:xfrm>
          <a:prstGeom prst="roundRect">
            <a:avLst>
              <a:gd name="adj" fmla="val 5170807"/>
            </a:avLst>
          </a:prstGeom>
          <a:solidFill>
            <a:srgbClr val="0F1F3D">
              <a:alpha val="8000"/>
            </a:srgbClr>
          </a:solidFill>
          <a:ln w="7144">
            <a:solidFill>
              <a:srgbClr val="D9E1EC"/>
            </a:solidFill>
            <a:prstDash val="solid"/>
          </a:ln>
        </p:spPr>
        <p:txBody>
          <a:bodyPr wrap="square" rtlCol="0" anchor="ctr"/>
          <a:lstStyle/>
          <a:p>
            <a:pPr indent="0" marL="0">
              <a:buNone/>
            </a:pPr>
            <a:endParaRPr lang="en-US" dirty="0"/>
          </a:p>
        </p:txBody>
      </p:sp>
      <p:sp>
        <p:nvSpPr>
          <p:cNvPr id="24" name="Text 22"/>
          <p:cNvSpPr/>
          <p:nvPr/>
        </p:nvSpPr>
        <p:spPr>
          <a:xfrm>
            <a:off x="4178995" y="2206079"/>
            <a:ext cx="778866"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0F1F3D"/>
                </a:solidFill>
                <a:latin typeface="Carlito" pitchFamily="34" charset="0"/>
                <a:ea typeface="Carlito" pitchFamily="34" charset="-122"/>
                <a:cs typeface="Carlito" pitchFamily="34" charset="-120"/>
              </a:rPr>
              <a:t>BLENDSHAPE</a:t>
            </a:r>
            <a:endParaRPr lang="en-US" sz="800" dirty="0"/>
          </a:p>
        </p:txBody>
      </p:sp>
      <p:sp>
        <p:nvSpPr>
          <p:cNvPr id="25" name="Shape 23"/>
          <p:cNvSpPr/>
          <p:nvPr/>
        </p:nvSpPr>
        <p:spPr>
          <a:xfrm>
            <a:off x="457200" y="2716857"/>
            <a:ext cx="4439841" cy="0"/>
          </a:xfrm>
          <a:prstGeom prst="line">
            <a:avLst/>
          </a:prstGeom>
          <a:noFill/>
          <a:ln w="7144">
            <a:solidFill>
              <a:srgbClr val="E8EDF4"/>
            </a:solidFill>
            <a:prstDash val="solid"/>
          </a:ln>
        </p:spPr>
      </p:sp>
      <p:sp>
        <p:nvSpPr>
          <p:cNvPr id="26" name="Text 24"/>
          <p:cNvSpPr/>
          <p:nvPr/>
        </p:nvSpPr>
        <p:spPr>
          <a:xfrm>
            <a:off x="457200" y="2493615"/>
            <a:ext cx="365760" cy="162520"/>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04</a:t>
            </a:r>
            <a:endParaRPr lang="en-US" sz="844" dirty="0"/>
          </a:p>
        </p:txBody>
      </p:sp>
      <p:sp>
        <p:nvSpPr>
          <p:cNvPr id="27" name="Text 25"/>
          <p:cNvSpPr/>
          <p:nvPr/>
        </p:nvSpPr>
        <p:spPr>
          <a:xfrm>
            <a:off x="757238" y="2507010"/>
            <a:ext cx="3056632" cy="149126"/>
          </a:xfrm>
          <a:prstGeom prst="rect">
            <a:avLst/>
          </a:prstGeom>
          <a:noFill/>
          <a:ln/>
        </p:spPr>
        <p:txBody>
          <a:bodyPr wrap="non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head_roll_vel_max_abs</a:t>
            </a:r>
            <a:endParaRPr lang="en-US" sz="800" dirty="0"/>
          </a:p>
        </p:txBody>
      </p:sp>
      <p:sp>
        <p:nvSpPr>
          <p:cNvPr id="28" name="Text 26"/>
          <p:cNvSpPr/>
          <p:nvPr/>
        </p:nvSpPr>
        <p:spPr>
          <a:xfrm>
            <a:off x="3482578" y="2501652"/>
            <a:ext cx="685800" cy="154484"/>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0.07</a:t>
            </a:r>
            <a:endParaRPr lang="en-US" sz="800" dirty="0"/>
          </a:p>
        </p:txBody>
      </p:sp>
      <p:sp>
        <p:nvSpPr>
          <p:cNvPr id="29" name="Text 27"/>
          <p:cNvSpPr/>
          <p:nvPr/>
        </p:nvSpPr>
        <p:spPr>
          <a:xfrm>
            <a:off x="4239816" y="2481971"/>
            <a:ext cx="657225" cy="184023"/>
          </a:xfrm>
          <a:prstGeom prst="roundRect">
            <a:avLst>
              <a:gd name="adj" fmla="val 5170807"/>
            </a:avLst>
          </a:prstGeom>
          <a:solidFill>
            <a:srgbClr val="14B8A6">
              <a:alpha val="14000"/>
            </a:srgbClr>
          </a:solidFill>
          <a:ln w="7144">
            <a:solidFill>
              <a:srgbClr val="D9E1EC"/>
            </a:solidFill>
            <a:prstDash val="solid"/>
          </a:ln>
        </p:spPr>
        <p:txBody>
          <a:bodyPr wrap="square" rtlCol="0" anchor="ctr"/>
          <a:lstStyle/>
          <a:p>
            <a:pPr indent="0" marL="0">
              <a:buNone/>
            </a:pPr>
            <a:endParaRPr lang="en-US" dirty="0"/>
          </a:p>
        </p:txBody>
      </p:sp>
      <p:sp>
        <p:nvSpPr>
          <p:cNvPr id="30" name="Text 28"/>
          <p:cNvSpPr/>
          <p:nvPr/>
        </p:nvSpPr>
        <p:spPr>
          <a:xfrm>
            <a:off x="4236542" y="2491829"/>
            <a:ext cx="663773"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0F766E"/>
                </a:solidFill>
                <a:latin typeface="Carlito" pitchFamily="34" charset="0"/>
                <a:ea typeface="Carlito" pitchFamily="34" charset="-122"/>
                <a:cs typeface="Carlito" pitchFamily="34" charset="-120"/>
              </a:rPr>
              <a:t>HEAD POSE</a:t>
            </a:r>
            <a:endParaRPr lang="en-US" sz="800" dirty="0"/>
          </a:p>
        </p:txBody>
      </p:sp>
      <p:sp>
        <p:nvSpPr>
          <p:cNvPr id="31" name="Text 29"/>
          <p:cNvSpPr/>
          <p:nvPr/>
        </p:nvSpPr>
        <p:spPr>
          <a:xfrm>
            <a:off x="457200" y="2779365"/>
            <a:ext cx="365760" cy="173593"/>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05</a:t>
            </a:r>
            <a:endParaRPr lang="en-US" sz="844" dirty="0"/>
          </a:p>
        </p:txBody>
      </p:sp>
      <p:sp>
        <p:nvSpPr>
          <p:cNvPr id="32" name="Text 30"/>
          <p:cNvSpPr/>
          <p:nvPr/>
        </p:nvSpPr>
        <p:spPr>
          <a:xfrm>
            <a:off x="757238" y="2792760"/>
            <a:ext cx="3143964" cy="164592"/>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combined_gaze_vertical_iqr</a:t>
            </a:r>
            <a:endParaRPr lang="en-US" sz="800" dirty="0"/>
          </a:p>
        </p:txBody>
      </p:sp>
      <p:sp>
        <p:nvSpPr>
          <p:cNvPr id="33" name="Text 31"/>
          <p:cNvSpPr/>
          <p:nvPr/>
        </p:nvSpPr>
        <p:spPr>
          <a:xfrm>
            <a:off x="3482578" y="2787402"/>
            <a:ext cx="685800" cy="164592"/>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0.06</a:t>
            </a:r>
            <a:endParaRPr lang="en-US" sz="800" dirty="0"/>
          </a:p>
        </p:txBody>
      </p:sp>
      <p:sp>
        <p:nvSpPr>
          <p:cNvPr id="34" name="Text 32"/>
          <p:cNvSpPr/>
          <p:nvPr/>
        </p:nvSpPr>
        <p:spPr>
          <a:xfrm>
            <a:off x="4239816" y="2767721"/>
            <a:ext cx="657225" cy="184023"/>
          </a:xfrm>
          <a:prstGeom prst="roundRect">
            <a:avLst>
              <a:gd name="adj" fmla="val 5170807"/>
            </a:avLst>
          </a:prstGeom>
          <a:solidFill>
            <a:srgbClr val="C77B2C">
              <a:alpha val="14000"/>
            </a:srgbClr>
          </a:solidFill>
          <a:ln w="7144">
            <a:solidFill>
              <a:srgbClr val="D9E1EC"/>
            </a:solidFill>
            <a:prstDash val="solid"/>
          </a:ln>
        </p:spPr>
        <p:txBody>
          <a:bodyPr wrap="square" rtlCol="0" anchor="ctr"/>
          <a:lstStyle/>
          <a:p>
            <a:pPr indent="0" marL="0">
              <a:buNone/>
            </a:pPr>
            <a:endParaRPr lang="en-US" dirty="0"/>
          </a:p>
        </p:txBody>
      </p:sp>
      <p:sp>
        <p:nvSpPr>
          <p:cNvPr id="35" name="Text 33"/>
          <p:cNvSpPr/>
          <p:nvPr/>
        </p:nvSpPr>
        <p:spPr>
          <a:xfrm>
            <a:off x="4239816" y="2777579"/>
            <a:ext cx="657225"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C77B2C"/>
                </a:solidFill>
                <a:latin typeface="Carlito" pitchFamily="34" charset="0"/>
                <a:ea typeface="Carlito" pitchFamily="34" charset="-122"/>
                <a:cs typeface="Carlito" pitchFamily="34" charset="-120"/>
              </a:rPr>
              <a:t>EYE GAZE</a:t>
            </a:r>
            <a:endParaRPr lang="en-US" sz="800" dirty="0"/>
          </a:p>
        </p:txBody>
      </p:sp>
      <p:sp>
        <p:nvSpPr>
          <p:cNvPr id="36" name="Text 34"/>
          <p:cNvSpPr/>
          <p:nvPr/>
        </p:nvSpPr>
        <p:spPr>
          <a:xfrm>
            <a:off x="457200" y="3099048"/>
            <a:ext cx="5163028" cy="133302"/>
          </a:xfrm>
          <a:prstGeom prst="rect">
            <a:avLst/>
          </a:prstGeom>
          <a:noFill/>
          <a:ln/>
        </p:spPr>
        <p:txBody>
          <a:bodyPr wrap="square" lIns="0" tIns="0" rIns="0" bIns="0" rtlCol="0" anchor="t">
            <a:normAutofit/>
          </a:bodyPr>
          <a:lstStyle/>
          <a:p>
            <a:pPr algn="l" indent="0" marL="0">
              <a:lnSpc>
                <a:spcPts val="928"/>
              </a:lnSpc>
              <a:buNone/>
            </a:pPr>
            <a:r>
              <a:rPr lang="en-US" sz="800" spc="111" kern="0" dirty="0">
                <a:solidFill>
                  <a:srgbClr val="5B6B82"/>
                </a:solidFill>
                <a:latin typeface="Liberation Sans Narrow" pitchFamily="34" charset="0"/>
                <a:ea typeface="Liberation Sans Narrow" pitchFamily="34" charset="-122"/>
                <a:cs typeface="Liberation Sans Narrow" pitchFamily="34" charset="-120"/>
              </a:rPr>
              <a:t>CATEGORY CONTRIBUTION (TOP-30)</a:t>
            </a:r>
            <a:endParaRPr lang="en-US" sz="800" dirty="0"/>
          </a:p>
        </p:txBody>
      </p:sp>
      <p:sp>
        <p:nvSpPr>
          <p:cNvPr id="37" name="Text 35"/>
          <p:cNvSpPr/>
          <p:nvPr/>
        </p:nvSpPr>
        <p:spPr>
          <a:xfrm>
            <a:off x="457200" y="3259782"/>
            <a:ext cx="2663837" cy="157163"/>
          </a:xfrm>
          <a:prstGeom prst="rect">
            <a:avLst/>
          </a:prstGeom>
          <a:solidFill>
            <a:srgbClr val="0F1F3D"/>
          </a:solidFill>
          <a:ln/>
        </p:spPr>
        <p:txBody>
          <a:bodyPr wrap="square" rtlCol="0" anchor="ctr"/>
          <a:lstStyle/>
          <a:p>
            <a:pPr indent="0" marL="0">
              <a:buNone/>
            </a:pPr>
            <a:endParaRPr lang="en-US" dirty="0"/>
          </a:p>
        </p:txBody>
      </p:sp>
      <p:sp>
        <p:nvSpPr>
          <p:cNvPr id="38" name="Text 36"/>
          <p:cNvSpPr/>
          <p:nvPr/>
        </p:nvSpPr>
        <p:spPr>
          <a:xfrm>
            <a:off x="457200" y="3259782"/>
            <a:ext cx="2663837"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60%</a:t>
            </a:r>
            <a:endParaRPr lang="en-US" sz="800" dirty="0"/>
          </a:p>
        </p:txBody>
      </p:sp>
      <p:sp>
        <p:nvSpPr>
          <p:cNvPr id="39" name="Text 37"/>
          <p:cNvSpPr/>
          <p:nvPr/>
        </p:nvSpPr>
        <p:spPr>
          <a:xfrm>
            <a:off x="3121037" y="3259782"/>
            <a:ext cx="799207" cy="157163"/>
          </a:xfrm>
          <a:prstGeom prst="rect">
            <a:avLst/>
          </a:prstGeom>
          <a:solidFill>
            <a:srgbClr val="14B8A6"/>
          </a:solidFill>
          <a:ln/>
        </p:spPr>
        <p:txBody>
          <a:bodyPr wrap="square" rtlCol="0" anchor="ctr"/>
          <a:lstStyle/>
          <a:p>
            <a:pPr indent="0" marL="0">
              <a:buNone/>
            </a:pPr>
            <a:endParaRPr lang="en-US" dirty="0"/>
          </a:p>
        </p:txBody>
      </p:sp>
      <p:sp>
        <p:nvSpPr>
          <p:cNvPr id="40" name="Text 38"/>
          <p:cNvSpPr/>
          <p:nvPr/>
        </p:nvSpPr>
        <p:spPr>
          <a:xfrm>
            <a:off x="3121037" y="3259782"/>
            <a:ext cx="799207"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18%</a:t>
            </a:r>
            <a:endParaRPr lang="en-US" sz="800" dirty="0"/>
          </a:p>
        </p:txBody>
      </p:sp>
      <p:sp>
        <p:nvSpPr>
          <p:cNvPr id="41" name="Text 39"/>
          <p:cNvSpPr/>
          <p:nvPr/>
        </p:nvSpPr>
        <p:spPr>
          <a:xfrm>
            <a:off x="3920244" y="3259782"/>
            <a:ext cx="532767" cy="157163"/>
          </a:xfrm>
          <a:prstGeom prst="rect">
            <a:avLst/>
          </a:prstGeom>
          <a:solidFill>
            <a:srgbClr val="C77B2C"/>
          </a:solidFill>
          <a:ln/>
        </p:spPr>
        <p:txBody>
          <a:bodyPr wrap="square" rtlCol="0" anchor="ctr"/>
          <a:lstStyle/>
          <a:p>
            <a:pPr indent="0" marL="0">
              <a:buNone/>
            </a:pPr>
            <a:endParaRPr lang="en-US" dirty="0"/>
          </a:p>
        </p:txBody>
      </p:sp>
      <p:sp>
        <p:nvSpPr>
          <p:cNvPr id="42" name="Text 40"/>
          <p:cNvSpPr/>
          <p:nvPr/>
        </p:nvSpPr>
        <p:spPr>
          <a:xfrm>
            <a:off x="3920244" y="3259782"/>
            <a:ext cx="532767"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12%</a:t>
            </a:r>
            <a:endParaRPr lang="en-US" sz="800" dirty="0"/>
          </a:p>
        </p:txBody>
      </p:sp>
      <p:sp>
        <p:nvSpPr>
          <p:cNvPr id="43" name="Text 41"/>
          <p:cNvSpPr/>
          <p:nvPr/>
        </p:nvSpPr>
        <p:spPr>
          <a:xfrm>
            <a:off x="4453012" y="3259782"/>
            <a:ext cx="310753" cy="157163"/>
          </a:xfrm>
          <a:prstGeom prst="rect">
            <a:avLst/>
          </a:prstGeom>
          <a:solidFill>
            <a:srgbClr val="B91C1C"/>
          </a:solidFill>
          <a:ln/>
        </p:spPr>
        <p:txBody>
          <a:bodyPr wrap="square" rtlCol="0" anchor="ctr"/>
          <a:lstStyle/>
          <a:p>
            <a:pPr indent="0" marL="0">
              <a:buNone/>
            </a:pPr>
            <a:endParaRPr lang="en-US" dirty="0"/>
          </a:p>
        </p:txBody>
      </p:sp>
      <p:sp>
        <p:nvSpPr>
          <p:cNvPr id="44" name="Text 42"/>
          <p:cNvSpPr/>
          <p:nvPr/>
        </p:nvSpPr>
        <p:spPr>
          <a:xfrm>
            <a:off x="4453012" y="3259782"/>
            <a:ext cx="310753"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7%</a:t>
            </a:r>
            <a:endParaRPr lang="en-US" sz="800" dirty="0"/>
          </a:p>
        </p:txBody>
      </p:sp>
      <p:sp>
        <p:nvSpPr>
          <p:cNvPr id="45" name="Text 43"/>
          <p:cNvSpPr/>
          <p:nvPr/>
        </p:nvSpPr>
        <p:spPr>
          <a:xfrm>
            <a:off x="4763765" y="3259782"/>
            <a:ext cx="133276" cy="157163"/>
          </a:xfrm>
          <a:prstGeom prst="rect">
            <a:avLst/>
          </a:prstGeom>
          <a:solidFill>
            <a:srgbClr val="7C3AED"/>
          </a:solidFill>
          <a:ln/>
        </p:spPr>
        <p:txBody>
          <a:bodyPr wrap="square" rtlCol="0" anchor="ctr"/>
          <a:lstStyle/>
          <a:p>
            <a:pPr indent="0" marL="0">
              <a:buNone/>
            </a:pPr>
            <a:endParaRPr lang="en-US" dirty="0"/>
          </a:p>
        </p:txBody>
      </p:sp>
      <p:sp>
        <p:nvSpPr>
          <p:cNvPr id="46" name="Text 44"/>
          <p:cNvSpPr/>
          <p:nvPr/>
        </p:nvSpPr>
        <p:spPr>
          <a:xfrm>
            <a:off x="4748483" y="3259782"/>
            <a:ext cx="163840"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47" name="Text 45"/>
          <p:cNvSpPr/>
          <p:nvPr/>
        </p:nvSpPr>
        <p:spPr>
          <a:xfrm>
            <a:off x="457200" y="3466951"/>
            <a:ext cx="2834737" cy="164592"/>
          </a:xfrm>
          <a:prstGeom prst="rect">
            <a:avLst/>
          </a:prstGeom>
          <a:noFill/>
          <a:ln/>
        </p:spPr>
        <p:txBody>
          <a:bodyPr wrap="none" lIns="0" tIns="0" rIns="0" bIns="0" rtlCol="0" anchor="t"/>
          <a:lstStyle/>
          <a:p>
            <a:pPr algn="l" indent="0" marL="0">
              <a:lnSpc>
                <a:spcPts val="886"/>
              </a:lnSpc>
              <a:buNone/>
            </a:pPr>
            <a:r>
              <a:rPr lang="en-US" sz="800" dirty="0">
                <a:solidFill>
                  <a:srgbClr val="0F1F3D"/>
                </a:solidFill>
                <a:latin typeface="Carlito" pitchFamily="34" charset="0"/>
                <a:ea typeface="Carlito" pitchFamily="34" charset="-122"/>
                <a:cs typeface="Carlito" pitchFamily="34" charset="-120"/>
              </a:rPr>
              <a:t>Blendshapes</a:t>
            </a:r>
            <a:endParaRPr lang="en-US" sz="800" dirty="0"/>
          </a:p>
        </p:txBody>
      </p:sp>
      <p:sp>
        <p:nvSpPr>
          <p:cNvPr id="48" name="Text 46"/>
          <p:cNvSpPr/>
          <p:nvPr/>
        </p:nvSpPr>
        <p:spPr>
          <a:xfrm>
            <a:off x="2918780" y="3466951"/>
            <a:ext cx="928830" cy="164592"/>
          </a:xfrm>
          <a:prstGeom prst="rect">
            <a:avLst/>
          </a:prstGeom>
          <a:noFill/>
          <a:ln/>
        </p:spPr>
        <p:txBody>
          <a:bodyPr wrap="none" lIns="0" tIns="0" rIns="0" bIns="0" rtlCol="0" anchor="t"/>
          <a:lstStyle/>
          <a:p>
            <a:pPr algn="l" indent="0" marL="0">
              <a:lnSpc>
                <a:spcPts val="886"/>
              </a:lnSpc>
              <a:buNone/>
            </a:pPr>
            <a:r>
              <a:rPr lang="en-US" sz="800" dirty="0">
                <a:solidFill>
                  <a:srgbClr val="0F766E"/>
                </a:solidFill>
                <a:latin typeface="Carlito" pitchFamily="34" charset="0"/>
                <a:ea typeface="Carlito" pitchFamily="34" charset="-122"/>
                <a:cs typeface="Carlito" pitchFamily="34" charset="-120"/>
              </a:rPr>
              <a:t>Head Pose</a:t>
            </a:r>
            <a:endParaRPr lang="en-US" sz="800" dirty="0"/>
          </a:p>
        </p:txBody>
      </p:sp>
      <p:sp>
        <p:nvSpPr>
          <p:cNvPr id="49" name="Text 47"/>
          <p:cNvSpPr/>
          <p:nvPr/>
        </p:nvSpPr>
        <p:spPr>
          <a:xfrm>
            <a:off x="3687291" y="3466951"/>
            <a:ext cx="619077" cy="164592"/>
          </a:xfrm>
          <a:prstGeom prst="rect">
            <a:avLst/>
          </a:prstGeom>
          <a:noFill/>
          <a:ln/>
        </p:spPr>
        <p:txBody>
          <a:bodyPr wrap="none" lIns="0" tIns="0" rIns="0" bIns="0" rtlCol="0" anchor="t"/>
          <a:lstStyle/>
          <a:p>
            <a:pPr algn="l" indent="0" marL="0">
              <a:lnSpc>
                <a:spcPts val="886"/>
              </a:lnSpc>
              <a:buNone/>
            </a:pPr>
            <a:r>
              <a:rPr lang="en-US" sz="800" dirty="0">
                <a:solidFill>
                  <a:srgbClr val="C77B2C"/>
                </a:solidFill>
                <a:latin typeface="Carlito" pitchFamily="34" charset="0"/>
                <a:ea typeface="Carlito" pitchFamily="34" charset="-122"/>
                <a:cs typeface="Carlito" pitchFamily="34" charset="-120"/>
              </a:rPr>
              <a:t>Eye Gaze</a:t>
            </a:r>
            <a:endParaRPr lang="en-US" sz="800" dirty="0"/>
          </a:p>
        </p:txBody>
      </p:sp>
      <p:sp>
        <p:nvSpPr>
          <p:cNvPr id="50" name="Text 48"/>
          <p:cNvSpPr/>
          <p:nvPr/>
        </p:nvSpPr>
        <p:spPr>
          <a:xfrm>
            <a:off x="4195674" y="3466951"/>
            <a:ext cx="608625" cy="164592"/>
          </a:xfrm>
          <a:prstGeom prst="rect">
            <a:avLst/>
          </a:prstGeom>
          <a:noFill/>
          <a:ln/>
        </p:spPr>
        <p:txBody>
          <a:bodyPr wrap="none" lIns="0" tIns="0" rIns="0" bIns="0" rtlCol="0" anchor="t"/>
          <a:lstStyle/>
          <a:p>
            <a:pPr algn="l" indent="0" marL="0">
              <a:lnSpc>
                <a:spcPts val="886"/>
              </a:lnSpc>
              <a:buNone/>
            </a:pPr>
            <a:r>
              <a:rPr lang="en-US" sz="800" dirty="0">
                <a:solidFill>
                  <a:srgbClr val="B91C1C"/>
                </a:solidFill>
                <a:latin typeface="Carlito" pitchFamily="34" charset="0"/>
                <a:ea typeface="Carlito" pitchFamily="34" charset="-122"/>
                <a:cs typeface="Carlito" pitchFamily="34" charset="-120"/>
              </a:rPr>
              <a:t>Composite</a:t>
            </a:r>
            <a:endParaRPr lang="en-US" sz="800" dirty="0"/>
          </a:p>
        </p:txBody>
      </p:sp>
      <p:sp>
        <p:nvSpPr>
          <p:cNvPr id="51" name="Text 49"/>
          <p:cNvSpPr/>
          <p:nvPr/>
        </p:nvSpPr>
        <p:spPr>
          <a:xfrm>
            <a:off x="4703825" y="3466951"/>
            <a:ext cx="305105" cy="164592"/>
          </a:xfrm>
          <a:prstGeom prst="rect">
            <a:avLst/>
          </a:prstGeom>
          <a:noFill/>
          <a:ln/>
        </p:spPr>
        <p:txBody>
          <a:bodyPr wrap="none" lIns="0" tIns="0" rIns="0" bIns="0" rtlCol="0" anchor="t"/>
          <a:lstStyle/>
          <a:p>
            <a:pPr algn="l" indent="0" marL="0">
              <a:lnSpc>
                <a:spcPts val="886"/>
              </a:lnSpc>
              <a:buNone/>
            </a:pPr>
            <a:r>
              <a:rPr lang="en-US" sz="800" dirty="0">
                <a:solidFill>
                  <a:srgbClr val="7C3AED"/>
                </a:solidFill>
                <a:latin typeface="Carlito" pitchFamily="34" charset="0"/>
                <a:ea typeface="Carlito" pitchFamily="34" charset="-122"/>
                <a:cs typeface="Carlito" pitchFamily="34" charset="-120"/>
              </a:rPr>
              <a:t>Dyn.</a:t>
            </a:r>
            <a:endParaRPr lang="en-US" sz="800" dirty="0"/>
          </a:p>
        </p:txBody>
      </p:sp>
      <p:sp>
        <p:nvSpPr>
          <p:cNvPr id="52" name="Text 50"/>
          <p:cNvSpPr/>
          <p:nvPr/>
        </p:nvSpPr>
        <p:spPr>
          <a:xfrm>
            <a:off x="5054203" y="1430982"/>
            <a:ext cx="3632597" cy="769739"/>
          </a:xfrm>
          <a:prstGeom prst="roundRect">
            <a:avLst>
              <a:gd name="adj" fmla="val 4950"/>
            </a:avLst>
          </a:prstGeom>
          <a:solidFill>
            <a:srgbClr val="FFFFFF"/>
          </a:solidFill>
          <a:ln/>
        </p:spPr>
        <p:txBody>
          <a:bodyPr wrap="square" rtlCol="0" anchor="ctr"/>
          <a:lstStyle/>
          <a:p>
            <a:pPr indent="0" marL="0">
              <a:buNone/>
            </a:pPr>
            <a:endParaRPr lang="en-US" dirty="0"/>
          </a:p>
        </p:txBody>
      </p:sp>
      <p:sp>
        <p:nvSpPr>
          <p:cNvPr id="53" name="Shape 51"/>
          <p:cNvSpPr/>
          <p:nvPr/>
        </p:nvSpPr>
        <p:spPr>
          <a:xfrm>
            <a:off x="5054203" y="1434554"/>
            <a:ext cx="3632597" cy="0"/>
          </a:xfrm>
          <a:prstGeom prst="line">
            <a:avLst/>
          </a:prstGeom>
          <a:noFill/>
          <a:ln w="7144">
            <a:solidFill>
              <a:srgbClr val="D9E1EC"/>
            </a:solidFill>
            <a:prstDash val="solid"/>
          </a:ln>
        </p:spPr>
      </p:sp>
      <p:sp>
        <p:nvSpPr>
          <p:cNvPr id="54" name="Shape 52"/>
          <p:cNvSpPr/>
          <p:nvPr/>
        </p:nvSpPr>
        <p:spPr>
          <a:xfrm>
            <a:off x="8683228" y="1430982"/>
            <a:ext cx="0" cy="769739"/>
          </a:xfrm>
          <a:prstGeom prst="line">
            <a:avLst/>
          </a:prstGeom>
          <a:noFill/>
          <a:ln w="7144">
            <a:solidFill>
              <a:srgbClr val="D9E1EC"/>
            </a:solidFill>
            <a:prstDash val="solid"/>
          </a:ln>
        </p:spPr>
      </p:sp>
      <p:sp>
        <p:nvSpPr>
          <p:cNvPr id="55" name="Shape 53"/>
          <p:cNvSpPr/>
          <p:nvPr/>
        </p:nvSpPr>
        <p:spPr>
          <a:xfrm>
            <a:off x="5054203" y="2197150"/>
            <a:ext cx="3632597" cy="0"/>
          </a:xfrm>
          <a:prstGeom prst="line">
            <a:avLst/>
          </a:prstGeom>
          <a:noFill/>
          <a:ln w="7144">
            <a:solidFill>
              <a:srgbClr val="D9E1EC"/>
            </a:solidFill>
            <a:prstDash val="solid"/>
          </a:ln>
        </p:spPr>
      </p:sp>
      <p:sp>
        <p:nvSpPr>
          <p:cNvPr id="56" name="Shape 54"/>
          <p:cNvSpPr/>
          <p:nvPr/>
        </p:nvSpPr>
        <p:spPr>
          <a:xfrm>
            <a:off x="5064919" y="1430982"/>
            <a:ext cx="0" cy="769739"/>
          </a:xfrm>
          <a:prstGeom prst="line">
            <a:avLst/>
          </a:prstGeom>
          <a:noFill/>
          <a:ln w="21431">
            <a:solidFill>
              <a:srgbClr val="14B8A6"/>
            </a:solidFill>
            <a:prstDash val="solid"/>
          </a:ln>
        </p:spPr>
      </p:sp>
      <p:sp>
        <p:nvSpPr>
          <p:cNvPr id="57" name="Text 55"/>
          <p:cNvSpPr/>
          <p:nvPr/>
        </p:nvSpPr>
        <p:spPr>
          <a:xfrm>
            <a:off x="5204222" y="1538139"/>
            <a:ext cx="3456575" cy="126159"/>
          </a:xfrm>
          <a:prstGeom prst="rect">
            <a:avLst/>
          </a:prstGeom>
          <a:noFill/>
          <a:ln/>
        </p:spPr>
        <p:txBody>
          <a:bodyPr wrap="square" lIns="0" tIns="0" rIns="0" bIns="0" rtlCol="0" anchor="t">
            <a:normAutofit/>
          </a:bodyPr>
          <a:lstStyle/>
          <a:p>
            <a:pPr algn="l" indent="0" marL="0">
              <a:lnSpc>
                <a:spcPts val="928"/>
              </a:lnSpc>
              <a:buNone/>
            </a:pPr>
            <a:r>
              <a:rPr lang="en-US" sz="800" b="1" spc="87" kern="0" dirty="0">
                <a:solidFill>
                  <a:srgbClr val="0F766E"/>
                </a:solidFill>
                <a:latin typeface="Liberation Sans Narrow" pitchFamily="34" charset="0"/>
                <a:ea typeface="Liberation Sans Narrow" pitchFamily="34" charset="-122"/>
                <a:cs typeface="Liberation Sans Narrow" pitchFamily="34" charset="-120"/>
              </a:rPr>
              <a:t>DOMINANT SIGNAL — BLENDSHAPES · 52D</a:t>
            </a:r>
            <a:endParaRPr lang="en-US" sz="800" dirty="0"/>
          </a:p>
        </p:txBody>
      </p:sp>
      <p:sp>
        <p:nvSpPr>
          <p:cNvPr id="58" name="Text 56"/>
          <p:cNvSpPr/>
          <p:nvPr/>
        </p:nvSpPr>
        <p:spPr>
          <a:xfrm>
            <a:off x="5204222" y="1691729"/>
            <a:ext cx="3346847" cy="401836"/>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AU-based features account for ~60% of top-ranked features. Boredom is primarily a state of facial muscle suppression — the model learns the absence of activation.</a:t>
            </a:r>
            <a:endParaRPr lang="en-US" sz="800" dirty="0"/>
          </a:p>
        </p:txBody>
      </p:sp>
      <p:sp>
        <p:nvSpPr>
          <p:cNvPr id="59" name="Text 57"/>
          <p:cNvSpPr/>
          <p:nvPr/>
        </p:nvSpPr>
        <p:spPr>
          <a:xfrm>
            <a:off x="5054203" y="2272159"/>
            <a:ext cx="3632597" cy="635794"/>
          </a:xfrm>
          <a:prstGeom prst="roundRect">
            <a:avLst>
              <a:gd name="adj" fmla="val 5993"/>
            </a:avLst>
          </a:prstGeom>
          <a:solidFill>
            <a:srgbClr val="FFFFFF"/>
          </a:solidFill>
          <a:ln/>
        </p:spPr>
        <p:txBody>
          <a:bodyPr wrap="square" rtlCol="0" anchor="ctr"/>
          <a:lstStyle/>
          <a:p>
            <a:pPr indent="0" marL="0">
              <a:buNone/>
            </a:pPr>
            <a:endParaRPr lang="en-US" dirty="0"/>
          </a:p>
        </p:txBody>
      </p:sp>
      <p:sp>
        <p:nvSpPr>
          <p:cNvPr id="60" name="Shape 58"/>
          <p:cNvSpPr/>
          <p:nvPr/>
        </p:nvSpPr>
        <p:spPr>
          <a:xfrm>
            <a:off x="5054203" y="2275731"/>
            <a:ext cx="3632597" cy="0"/>
          </a:xfrm>
          <a:prstGeom prst="line">
            <a:avLst/>
          </a:prstGeom>
          <a:noFill/>
          <a:ln w="7144">
            <a:solidFill>
              <a:srgbClr val="D9E1EC"/>
            </a:solidFill>
            <a:prstDash val="solid"/>
          </a:ln>
        </p:spPr>
      </p:sp>
      <p:sp>
        <p:nvSpPr>
          <p:cNvPr id="61" name="Shape 59"/>
          <p:cNvSpPr/>
          <p:nvPr/>
        </p:nvSpPr>
        <p:spPr>
          <a:xfrm>
            <a:off x="8683228" y="2272159"/>
            <a:ext cx="0" cy="635794"/>
          </a:xfrm>
          <a:prstGeom prst="line">
            <a:avLst/>
          </a:prstGeom>
          <a:noFill/>
          <a:ln w="7144">
            <a:solidFill>
              <a:srgbClr val="D9E1EC"/>
            </a:solidFill>
            <a:prstDash val="solid"/>
          </a:ln>
        </p:spPr>
      </p:sp>
      <p:sp>
        <p:nvSpPr>
          <p:cNvPr id="62" name="Shape 60"/>
          <p:cNvSpPr/>
          <p:nvPr/>
        </p:nvSpPr>
        <p:spPr>
          <a:xfrm>
            <a:off x="5054203" y="2904381"/>
            <a:ext cx="3632597" cy="0"/>
          </a:xfrm>
          <a:prstGeom prst="line">
            <a:avLst/>
          </a:prstGeom>
          <a:noFill/>
          <a:ln w="7144">
            <a:solidFill>
              <a:srgbClr val="D9E1EC"/>
            </a:solidFill>
            <a:prstDash val="solid"/>
          </a:ln>
        </p:spPr>
      </p:sp>
      <p:sp>
        <p:nvSpPr>
          <p:cNvPr id="63" name="Shape 61"/>
          <p:cNvSpPr/>
          <p:nvPr/>
        </p:nvSpPr>
        <p:spPr>
          <a:xfrm>
            <a:off x="5064919" y="2272159"/>
            <a:ext cx="0" cy="635794"/>
          </a:xfrm>
          <a:prstGeom prst="line">
            <a:avLst/>
          </a:prstGeom>
          <a:noFill/>
          <a:ln w="21431">
            <a:solidFill>
              <a:srgbClr val="14B8A6"/>
            </a:solidFill>
            <a:prstDash val="solid"/>
          </a:ln>
        </p:spPr>
      </p:sp>
      <p:sp>
        <p:nvSpPr>
          <p:cNvPr id="64" name="Text 62"/>
          <p:cNvSpPr/>
          <p:nvPr/>
        </p:nvSpPr>
        <p:spPr>
          <a:xfrm>
            <a:off x="5204222" y="2379315"/>
            <a:ext cx="3456575" cy="126159"/>
          </a:xfrm>
          <a:prstGeom prst="rect">
            <a:avLst/>
          </a:prstGeom>
          <a:noFill/>
          <a:ln/>
        </p:spPr>
        <p:txBody>
          <a:bodyPr wrap="square" lIns="0" tIns="0" rIns="0" bIns="0" rtlCol="0" anchor="t">
            <a:normAutofit/>
          </a:bodyPr>
          <a:lstStyle/>
          <a:p>
            <a:pPr algn="l" indent="0" marL="0">
              <a:lnSpc>
                <a:spcPts val="928"/>
              </a:lnSpc>
              <a:buNone/>
            </a:pPr>
            <a:r>
              <a:rPr lang="en-US" sz="800" b="1" spc="87" kern="0" dirty="0">
                <a:solidFill>
                  <a:srgbClr val="0F766E"/>
                </a:solidFill>
                <a:latin typeface="Liberation Sans Narrow" pitchFamily="34" charset="0"/>
                <a:ea typeface="Liberation Sans Narrow" pitchFamily="34" charset="-122"/>
                <a:cs typeface="Liberation Sans Narrow" pitchFamily="34" charset="-120"/>
              </a:rPr>
              <a:t>SUBTLE RESTLESSNESS — HEAD POSE · 6D</a:t>
            </a:r>
            <a:endParaRPr lang="en-US" sz="800" dirty="0"/>
          </a:p>
        </p:txBody>
      </p:sp>
      <p:sp>
        <p:nvSpPr>
          <p:cNvPr id="65" name="Text 63"/>
          <p:cNvSpPr/>
          <p:nvPr/>
        </p:nvSpPr>
        <p:spPr>
          <a:xfrm>
            <a:off x="5204222" y="2532906"/>
            <a:ext cx="3346847" cy="267891"/>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Head pose contributes dynamic features — slope, velocity, range — capturing the slow drift and micro-movements of a disengaged learner.</a:t>
            </a:r>
            <a:endParaRPr lang="en-US" sz="800" dirty="0"/>
          </a:p>
        </p:txBody>
      </p:sp>
      <p:sp>
        <p:nvSpPr>
          <p:cNvPr id="66" name="Text 64"/>
          <p:cNvSpPr/>
          <p:nvPr/>
        </p:nvSpPr>
        <p:spPr>
          <a:xfrm>
            <a:off x="5054203" y="2979390"/>
            <a:ext cx="3632597" cy="635794"/>
          </a:xfrm>
          <a:prstGeom prst="roundRect">
            <a:avLst>
              <a:gd name="adj" fmla="val 5993"/>
            </a:avLst>
          </a:prstGeom>
          <a:solidFill>
            <a:srgbClr val="FFFFFF"/>
          </a:solidFill>
          <a:ln/>
        </p:spPr>
        <p:txBody>
          <a:bodyPr wrap="square" rtlCol="0" anchor="ctr"/>
          <a:lstStyle/>
          <a:p>
            <a:pPr indent="0" marL="0">
              <a:buNone/>
            </a:pPr>
            <a:endParaRPr lang="en-US" dirty="0"/>
          </a:p>
        </p:txBody>
      </p:sp>
      <p:sp>
        <p:nvSpPr>
          <p:cNvPr id="67" name="Shape 65"/>
          <p:cNvSpPr/>
          <p:nvPr/>
        </p:nvSpPr>
        <p:spPr>
          <a:xfrm>
            <a:off x="5054203" y="2982962"/>
            <a:ext cx="3632597" cy="0"/>
          </a:xfrm>
          <a:prstGeom prst="line">
            <a:avLst/>
          </a:prstGeom>
          <a:noFill/>
          <a:ln w="7144">
            <a:solidFill>
              <a:srgbClr val="D9E1EC"/>
            </a:solidFill>
            <a:prstDash val="solid"/>
          </a:ln>
        </p:spPr>
      </p:sp>
      <p:sp>
        <p:nvSpPr>
          <p:cNvPr id="68" name="Shape 66"/>
          <p:cNvSpPr/>
          <p:nvPr/>
        </p:nvSpPr>
        <p:spPr>
          <a:xfrm>
            <a:off x="8683228" y="2979390"/>
            <a:ext cx="0" cy="635794"/>
          </a:xfrm>
          <a:prstGeom prst="line">
            <a:avLst/>
          </a:prstGeom>
          <a:noFill/>
          <a:ln w="7144">
            <a:solidFill>
              <a:srgbClr val="D9E1EC"/>
            </a:solidFill>
            <a:prstDash val="solid"/>
          </a:ln>
        </p:spPr>
      </p:sp>
      <p:sp>
        <p:nvSpPr>
          <p:cNvPr id="69" name="Shape 67"/>
          <p:cNvSpPr/>
          <p:nvPr/>
        </p:nvSpPr>
        <p:spPr>
          <a:xfrm>
            <a:off x="5054203" y="3611612"/>
            <a:ext cx="3632597" cy="0"/>
          </a:xfrm>
          <a:prstGeom prst="line">
            <a:avLst/>
          </a:prstGeom>
          <a:noFill/>
          <a:ln w="7144">
            <a:solidFill>
              <a:srgbClr val="D9E1EC"/>
            </a:solidFill>
            <a:prstDash val="solid"/>
          </a:ln>
        </p:spPr>
      </p:sp>
      <p:sp>
        <p:nvSpPr>
          <p:cNvPr id="70" name="Shape 68"/>
          <p:cNvSpPr/>
          <p:nvPr/>
        </p:nvSpPr>
        <p:spPr>
          <a:xfrm>
            <a:off x="5064919" y="2979390"/>
            <a:ext cx="0" cy="635794"/>
          </a:xfrm>
          <a:prstGeom prst="line">
            <a:avLst/>
          </a:prstGeom>
          <a:noFill/>
          <a:ln w="21431">
            <a:solidFill>
              <a:srgbClr val="14B8A6"/>
            </a:solidFill>
            <a:prstDash val="solid"/>
          </a:ln>
        </p:spPr>
      </p:sp>
      <p:sp>
        <p:nvSpPr>
          <p:cNvPr id="71" name="Text 69"/>
          <p:cNvSpPr/>
          <p:nvPr/>
        </p:nvSpPr>
        <p:spPr>
          <a:xfrm>
            <a:off x="5204222" y="3086546"/>
            <a:ext cx="3456575" cy="126159"/>
          </a:xfrm>
          <a:prstGeom prst="rect">
            <a:avLst/>
          </a:prstGeom>
          <a:noFill/>
          <a:ln/>
        </p:spPr>
        <p:txBody>
          <a:bodyPr wrap="square" lIns="0" tIns="0" rIns="0" bIns="0" rtlCol="0" anchor="t">
            <a:normAutofit/>
          </a:bodyPr>
          <a:lstStyle/>
          <a:p>
            <a:pPr algn="l" indent="0" marL="0">
              <a:lnSpc>
                <a:spcPts val="928"/>
              </a:lnSpc>
              <a:buNone/>
            </a:pPr>
            <a:r>
              <a:rPr lang="en-US" sz="800" b="1" spc="87" kern="0" dirty="0">
                <a:solidFill>
                  <a:srgbClr val="0F766E"/>
                </a:solidFill>
                <a:latin typeface="Carlito" pitchFamily="34" charset="0"/>
                <a:ea typeface="Carlito" pitchFamily="34" charset="-122"/>
                <a:cs typeface="Carlito" pitchFamily="34" charset="-120"/>
              </a:rPr>
              <a:t>ENGINEERED VALUE-ADD — COMPOSITE · 10D</a:t>
            </a:r>
            <a:endParaRPr lang="en-US" sz="800" dirty="0"/>
          </a:p>
        </p:txBody>
      </p:sp>
      <p:sp>
        <p:nvSpPr>
          <p:cNvPr id="72" name="Text 70"/>
          <p:cNvSpPr/>
          <p:nvPr/>
        </p:nvSpPr>
        <p:spPr>
          <a:xfrm>
            <a:off x="5204222" y="3240137"/>
            <a:ext cx="3346847" cy="267891"/>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combined_gaze_vertical_iqr</a:t>
            </a:r>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 appears in top-5, confirming the value of cross-group engineered higher-order signals.</a:t>
            </a:r>
            <a:endParaRPr lang="en-US" sz="800" dirty="0"/>
          </a:p>
        </p:txBody>
      </p:sp>
      <p:sp>
        <p:nvSpPr>
          <p:cNvPr id="73" name="Text 71"/>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THESIS DEFENSE</a:t>
            </a:r>
            <a:endParaRPr lang="en-US" sz="800" dirty="0"/>
          </a:p>
        </p:txBody>
      </p:sp>
      <p:sp>
        <p:nvSpPr>
          <p:cNvPr id="74" name="Text 72"/>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22 / 34</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square" lIns="0" tIns="0" rIns="0" bIns="0" rtlCol="0" anchor="t"/>
          <a:lstStyle/>
          <a:p>
            <a:pPr algn="l" indent="0" marL="0">
              <a:lnSpc>
                <a:spcPts val="928"/>
              </a:lnSpc>
              <a:buNone/>
            </a:pPr>
            <a:r>
              <a:rPr lang="en-US" sz="800" b="1" spc="136" kern="0" dirty="0">
                <a:solidFill>
                  <a:srgbClr val="14B8A6"/>
                </a:solidFill>
                <a:latin typeface="Liberation Sans Narrow" pitchFamily="34" charset="0"/>
                <a:ea typeface="Liberation Sans Narrow" pitchFamily="34" charset="-122"/>
                <a:cs typeface="Liberation Sans Narrow" pitchFamily="34" charset="-120"/>
              </a:rPr>
              <a:t>RQ2 · SHAP ANALYSIS · ENGAGEMENT</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303413"/>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Engagement is Captured by Higher-Order Patterns</a:t>
            </a:r>
            <a:endParaRPr lang="en-US" sz="2025" dirty="0"/>
          </a:p>
        </p:txBody>
      </p:sp>
      <p:sp>
        <p:nvSpPr>
          <p:cNvPr id="5" name="Text 3"/>
          <p:cNvSpPr/>
          <p:nvPr/>
        </p:nvSpPr>
        <p:spPr>
          <a:xfrm>
            <a:off x="457200" y="1013073"/>
            <a:ext cx="6572250" cy="358759"/>
          </a:xfrm>
          <a:prstGeom prst="rect">
            <a:avLst/>
          </a:prstGeom>
          <a:noFill/>
          <a:ln/>
        </p:spPr>
        <p:txBody>
          <a:bodyPr wrap="square" lIns="0" tIns="0" rIns="0" bIns="0" rtlCol="0" anchor="t"/>
          <a:lstStyle/>
          <a:p>
            <a:pPr algn="l" indent="0" marL="0">
              <a:lnSpc>
                <a:spcPts val="1308"/>
              </a:lnSpc>
              <a:buNone/>
            </a:pPr>
            <a:r>
              <a:rPr lang="en-US" sz="844" dirty="0">
                <a:solidFill>
                  <a:srgbClr val="5B6B82"/>
                </a:solidFill>
                <a:latin typeface="Carlito" pitchFamily="34" charset="0"/>
                <a:ea typeface="Carlito" pitchFamily="34" charset="-122"/>
                <a:cs typeface="Carlito" pitchFamily="34" charset="-120"/>
              </a:rPr>
              <a:t>A striking contrast with Boredom — engineered composite and eye-activity features occupy the top ranks. Engagement is captured by engineered higher-order signals more than raw muscle activations.</a:t>
            </a:r>
            <a:endParaRPr lang="en-US" sz="844" dirty="0"/>
          </a:p>
        </p:txBody>
      </p:sp>
      <p:sp>
        <p:nvSpPr>
          <p:cNvPr id="6" name="Text 4"/>
          <p:cNvSpPr/>
          <p:nvPr/>
        </p:nvSpPr>
        <p:spPr>
          <a:xfrm>
            <a:off x="457200" y="1430982"/>
            <a:ext cx="5821602" cy="119015"/>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5B6B82"/>
                </a:solidFill>
                <a:latin typeface="Liberation Sans Narrow" pitchFamily="34" charset="0"/>
                <a:ea typeface="Liberation Sans Narrow" pitchFamily="34" charset="-122"/>
                <a:cs typeface="Liberation Sans Narrow" pitchFamily="34" charset="-120"/>
              </a:rPr>
              <a:t>TOP-5 SHAP FEATURES</a:t>
            </a:r>
            <a:endParaRPr lang="en-US" sz="800" dirty="0"/>
          </a:p>
        </p:txBody>
      </p:sp>
      <p:sp>
        <p:nvSpPr>
          <p:cNvPr id="7" name="Shape 5"/>
          <p:cNvSpPr/>
          <p:nvPr/>
        </p:nvSpPr>
        <p:spPr>
          <a:xfrm>
            <a:off x="457200" y="1859607"/>
            <a:ext cx="4439841" cy="0"/>
          </a:xfrm>
          <a:prstGeom prst="line">
            <a:avLst/>
          </a:prstGeom>
          <a:noFill/>
          <a:ln w="7144">
            <a:solidFill>
              <a:srgbClr val="E8EDF4"/>
            </a:solidFill>
            <a:prstDash val="solid"/>
          </a:ln>
        </p:spPr>
      </p:sp>
      <p:sp>
        <p:nvSpPr>
          <p:cNvPr id="8" name="Text 6"/>
          <p:cNvSpPr/>
          <p:nvPr/>
        </p:nvSpPr>
        <p:spPr>
          <a:xfrm>
            <a:off x="457200" y="1636365"/>
            <a:ext cx="365760" cy="162520"/>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01</a:t>
            </a:r>
            <a:endParaRPr lang="en-US" sz="844" dirty="0"/>
          </a:p>
        </p:txBody>
      </p:sp>
      <p:sp>
        <p:nvSpPr>
          <p:cNvPr id="9" name="Text 7"/>
          <p:cNvSpPr/>
          <p:nvPr/>
        </p:nvSpPr>
        <p:spPr>
          <a:xfrm>
            <a:off x="757238" y="1649760"/>
            <a:ext cx="3056632" cy="149126"/>
          </a:xfrm>
          <a:prstGeom prst="rect">
            <a:avLst/>
          </a:prstGeom>
          <a:noFill/>
          <a:ln/>
        </p:spPr>
        <p:txBody>
          <a:bodyPr wrap="non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eye_activity_max</a:t>
            </a:r>
            <a:endParaRPr lang="en-US" sz="800" dirty="0"/>
          </a:p>
        </p:txBody>
      </p:sp>
      <p:sp>
        <p:nvSpPr>
          <p:cNvPr id="10" name="Text 8"/>
          <p:cNvSpPr/>
          <p:nvPr/>
        </p:nvSpPr>
        <p:spPr>
          <a:xfrm>
            <a:off x="3482578" y="1644402"/>
            <a:ext cx="685800" cy="154484"/>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0.19</a:t>
            </a:r>
            <a:endParaRPr lang="en-US" sz="800" dirty="0"/>
          </a:p>
        </p:txBody>
      </p:sp>
      <p:sp>
        <p:nvSpPr>
          <p:cNvPr id="11" name="Text 9"/>
          <p:cNvSpPr/>
          <p:nvPr/>
        </p:nvSpPr>
        <p:spPr>
          <a:xfrm>
            <a:off x="4239816" y="1624721"/>
            <a:ext cx="657225" cy="184023"/>
          </a:xfrm>
          <a:prstGeom prst="roundRect">
            <a:avLst>
              <a:gd name="adj" fmla="val 5170807"/>
            </a:avLst>
          </a:prstGeom>
          <a:solidFill>
            <a:srgbClr val="B91C1C">
              <a:alpha val="10000"/>
            </a:srgbClr>
          </a:solidFill>
          <a:ln w="7144">
            <a:solidFill>
              <a:srgbClr val="D9E1EC"/>
            </a:solidFill>
            <a:prstDash val="solid"/>
          </a:ln>
        </p:spPr>
        <p:txBody>
          <a:bodyPr wrap="square" rtlCol="0" anchor="ctr"/>
          <a:lstStyle/>
          <a:p>
            <a:pPr indent="0" marL="0">
              <a:buNone/>
            </a:pPr>
            <a:endParaRPr lang="en-US" dirty="0"/>
          </a:p>
        </p:txBody>
      </p:sp>
      <p:sp>
        <p:nvSpPr>
          <p:cNvPr id="12" name="Text 10"/>
          <p:cNvSpPr/>
          <p:nvPr/>
        </p:nvSpPr>
        <p:spPr>
          <a:xfrm>
            <a:off x="4216161" y="1634579"/>
            <a:ext cx="704535"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B91C1C"/>
                </a:solidFill>
                <a:latin typeface="Carlito" pitchFamily="34" charset="0"/>
                <a:ea typeface="Carlito" pitchFamily="34" charset="-122"/>
                <a:cs typeface="Carlito" pitchFamily="34" charset="-120"/>
              </a:rPr>
              <a:t>COMPOSITE</a:t>
            </a:r>
            <a:endParaRPr lang="en-US" sz="800" dirty="0"/>
          </a:p>
        </p:txBody>
      </p:sp>
      <p:sp>
        <p:nvSpPr>
          <p:cNvPr id="13" name="Shape 11"/>
          <p:cNvSpPr/>
          <p:nvPr/>
        </p:nvSpPr>
        <p:spPr>
          <a:xfrm>
            <a:off x="457200" y="2145357"/>
            <a:ext cx="4439841" cy="0"/>
          </a:xfrm>
          <a:prstGeom prst="line">
            <a:avLst/>
          </a:prstGeom>
          <a:noFill/>
          <a:ln w="7144">
            <a:solidFill>
              <a:srgbClr val="E8EDF4"/>
            </a:solidFill>
            <a:prstDash val="solid"/>
          </a:ln>
        </p:spPr>
      </p:sp>
      <p:sp>
        <p:nvSpPr>
          <p:cNvPr id="14" name="Text 12"/>
          <p:cNvSpPr/>
          <p:nvPr/>
        </p:nvSpPr>
        <p:spPr>
          <a:xfrm>
            <a:off x="457200" y="1922115"/>
            <a:ext cx="365760" cy="162520"/>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02</a:t>
            </a:r>
            <a:endParaRPr lang="en-US" sz="844" dirty="0"/>
          </a:p>
        </p:txBody>
      </p:sp>
      <p:sp>
        <p:nvSpPr>
          <p:cNvPr id="15" name="Text 13"/>
          <p:cNvSpPr/>
          <p:nvPr/>
        </p:nvSpPr>
        <p:spPr>
          <a:xfrm>
            <a:off x="757238" y="1935510"/>
            <a:ext cx="3056632" cy="149126"/>
          </a:xfrm>
          <a:prstGeom prst="rect">
            <a:avLst/>
          </a:prstGeom>
          <a:noFill/>
          <a:ln/>
        </p:spPr>
        <p:txBody>
          <a:bodyPr wrap="none" lIns="0" tIns="0" rIns="0" bIns="0" rtlCol="0" anchor="t"/>
          <a:lstStyle/>
          <a:p>
            <a:pPr algn="l" indent="0" marL="0">
              <a:lnSpc>
                <a:spcPts val="1055"/>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eye_activity_p75</a:t>
            </a:r>
            <a:endParaRPr lang="en-US" sz="800" dirty="0"/>
          </a:p>
        </p:txBody>
      </p:sp>
      <p:sp>
        <p:nvSpPr>
          <p:cNvPr id="16" name="Text 14"/>
          <p:cNvSpPr/>
          <p:nvPr/>
        </p:nvSpPr>
        <p:spPr>
          <a:xfrm>
            <a:off x="3482578" y="1930152"/>
            <a:ext cx="685800" cy="154484"/>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0.15</a:t>
            </a:r>
            <a:endParaRPr lang="en-US" sz="800" dirty="0"/>
          </a:p>
        </p:txBody>
      </p:sp>
      <p:sp>
        <p:nvSpPr>
          <p:cNvPr id="17" name="Text 15"/>
          <p:cNvSpPr/>
          <p:nvPr/>
        </p:nvSpPr>
        <p:spPr>
          <a:xfrm>
            <a:off x="4239816" y="1910471"/>
            <a:ext cx="657225" cy="184023"/>
          </a:xfrm>
          <a:prstGeom prst="roundRect">
            <a:avLst>
              <a:gd name="adj" fmla="val 5170807"/>
            </a:avLst>
          </a:prstGeom>
          <a:solidFill>
            <a:srgbClr val="B91C1C">
              <a:alpha val="10000"/>
            </a:srgbClr>
          </a:solidFill>
          <a:ln w="7144">
            <a:solidFill>
              <a:srgbClr val="D9E1EC"/>
            </a:solidFill>
            <a:prstDash val="solid"/>
          </a:ln>
        </p:spPr>
        <p:txBody>
          <a:bodyPr wrap="square" rtlCol="0" anchor="ctr"/>
          <a:lstStyle/>
          <a:p>
            <a:pPr indent="0" marL="0">
              <a:buNone/>
            </a:pPr>
            <a:endParaRPr lang="en-US" dirty="0"/>
          </a:p>
        </p:txBody>
      </p:sp>
      <p:sp>
        <p:nvSpPr>
          <p:cNvPr id="18" name="Text 16"/>
          <p:cNvSpPr/>
          <p:nvPr/>
        </p:nvSpPr>
        <p:spPr>
          <a:xfrm>
            <a:off x="4216161" y="1920329"/>
            <a:ext cx="704535"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B91C1C"/>
                </a:solidFill>
                <a:latin typeface="Carlito" pitchFamily="34" charset="0"/>
                <a:ea typeface="Carlito" pitchFamily="34" charset="-122"/>
                <a:cs typeface="Carlito" pitchFamily="34" charset="-120"/>
              </a:rPr>
              <a:t>COMPOSITE</a:t>
            </a:r>
            <a:endParaRPr lang="en-US" sz="800" dirty="0"/>
          </a:p>
        </p:txBody>
      </p:sp>
      <p:sp>
        <p:nvSpPr>
          <p:cNvPr id="19" name="Shape 17"/>
          <p:cNvSpPr/>
          <p:nvPr/>
        </p:nvSpPr>
        <p:spPr>
          <a:xfrm>
            <a:off x="457200" y="2431107"/>
            <a:ext cx="4439841" cy="0"/>
          </a:xfrm>
          <a:prstGeom prst="line">
            <a:avLst/>
          </a:prstGeom>
          <a:noFill/>
          <a:ln w="7144">
            <a:solidFill>
              <a:srgbClr val="E8EDF4"/>
            </a:solidFill>
            <a:prstDash val="solid"/>
          </a:ln>
        </p:spPr>
      </p:sp>
      <p:sp>
        <p:nvSpPr>
          <p:cNvPr id="20" name="Text 18"/>
          <p:cNvSpPr/>
          <p:nvPr/>
        </p:nvSpPr>
        <p:spPr>
          <a:xfrm>
            <a:off x="457200" y="2207865"/>
            <a:ext cx="365760" cy="162520"/>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03</a:t>
            </a:r>
            <a:endParaRPr lang="en-US" sz="844" dirty="0"/>
          </a:p>
        </p:txBody>
      </p:sp>
      <p:sp>
        <p:nvSpPr>
          <p:cNvPr id="21" name="Text 19"/>
          <p:cNvSpPr/>
          <p:nvPr/>
        </p:nvSpPr>
        <p:spPr>
          <a:xfrm>
            <a:off x="757238" y="2221260"/>
            <a:ext cx="3143964" cy="149126"/>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corr_boredom_related_jaw</a:t>
            </a:r>
            <a:endParaRPr lang="en-US" sz="800" dirty="0"/>
          </a:p>
        </p:txBody>
      </p:sp>
      <p:sp>
        <p:nvSpPr>
          <p:cNvPr id="22" name="Text 20"/>
          <p:cNvSpPr/>
          <p:nvPr/>
        </p:nvSpPr>
        <p:spPr>
          <a:xfrm>
            <a:off x="3482578" y="2215902"/>
            <a:ext cx="685800" cy="154484"/>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0.12</a:t>
            </a:r>
            <a:endParaRPr lang="en-US" sz="800" dirty="0"/>
          </a:p>
        </p:txBody>
      </p:sp>
      <p:sp>
        <p:nvSpPr>
          <p:cNvPr id="23" name="Text 21"/>
          <p:cNvSpPr/>
          <p:nvPr/>
        </p:nvSpPr>
        <p:spPr>
          <a:xfrm>
            <a:off x="4239816" y="2196221"/>
            <a:ext cx="657225" cy="184023"/>
          </a:xfrm>
          <a:prstGeom prst="roundRect">
            <a:avLst>
              <a:gd name="adj" fmla="val 5170807"/>
            </a:avLst>
          </a:prstGeom>
          <a:solidFill>
            <a:srgbClr val="7C3AED">
              <a:alpha val="12000"/>
            </a:srgbClr>
          </a:solidFill>
          <a:ln w="7144">
            <a:solidFill>
              <a:srgbClr val="D9E1EC"/>
            </a:solidFill>
            <a:prstDash val="solid"/>
          </a:ln>
        </p:spPr>
        <p:txBody>
          <a:bodyPr wrap="square" rtlCol="0" anchor="ctr"/>
          <a:lstStyle/>
          <a:p>
            <a:pPr indent="0" marL="0">
              <a:buNone/>
            </a:pPr>
            <a:endParaRPr lang="en-US" dirty="0"/>
          </a:p>
        </p:txBody>
      </p:sp>
      <p:sp>
        <p:nvSpPr>
          <p:cNvPr id="24" name="Text 22"/>
          <p:cNvSpPr/>
          <p:nvPr/>
        </p:nvSpPr>
        <p:spPr>
          <a:xfrm>
            <a:off x="4152021" y="2206079"/>
            <a:ext cx="832815"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6D28D9"/>
                </a:solidFill>
                <a:latin typeface="Carlito" pitchFamily="34" charset="0"/>
                <a:ea typeface="Carlito" pitchFamily="34" charset="-122"/>
                <a:cs typeface="Carlito" pitchFamily="34" charset="-120"/>
              </a:rPr>
              <a:t>CROSS-GROUP</a:t>
            </a:r>
            <a:endParaRPr lang="en-US" sz="800" dirty="0"/>
          </a:p>
        </p:txBody>
      </p:sp>
      <p:sp>
        <p:nvSpPr>
          <p:cNvPr id="25" name="Shape 23"/>
          <p:cNvSpPr/>
          <p:nvPr/>
        </p:nvSpPr>
        <p:spPr>
          <a:xfrm>
            <a:off x="457200" y="2716857"/>
            <a:ext cx="4439841" cy="0"/>
          </a:xfrm>
          <a:prstGeom prst="line">
            <a:avLst/>
          </a:prstGeom>
          <a:noFill/>
          <a:ln w="7144">
            <a:solidFill>
              <a:srgbClr val="E8EDF4"/>
            </a:solidFill>
            <a:prstDash val="solid"/>
          </a:ln>
        </p:spPr>
      </p:sp>
      <p:sp>
        <p:nvSpPr>
          <p:cNvPr id="26" name="Text 24"/>
          <p:cNvSpPr/>
          <p:nvPr/>
        </p:nvSpPr>
        <p:spPr>
          <a:xfrm>
            <a:off x="457200" y="2493615"/>
            <a:ext cx="365760" cy="162520"/>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04</a:t>
            </a:r>
            <a:endParaRPr lang="en-US" sz="844" dirty="0"/>
          </a:p>
        </p:txBody>
      </p:sp>
      <p:sp>
        <p:nvSpPr>
          <p:cNvPr id="27" name="Text 25"/>
          <p:cNvSpPr/>
          <p:nvPr/>
        </p:nvSpPr>
        <p:spPr>
          <a:xfrm>
            <a:off x="757238" y="2507010"/>
            <a:ext cx="3056632" cy="149126"/>
          </a:xfrm>
          <a:prstGeom prst="rect">
            <a:avLst/>
          </a:prstGeom>
          <a:noFill/>
          <a:ln/>
        </p:spPr>
        <p:txBody>
          <a:bodyPr wrap="non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boredom_indicator_std</a:t>
            </a:r>
            <a:endParaRPr lang="en-US" sz="800" dirty="0"/>
          </a:p>
        </p:txBody>
      </p:sp>
      <p:sp>
        <p:nvSpPr>
          <p:cNvPr id="28" name="Text 26"/>
          <p:cNvSpPr/>
          <p:nvPr/>
        </p:nvSpPr>
        <p:spPr>
          <a:xfrm>
            <a:off x="3482578" y="2501652"/>
            <a:ext cx="685800" cy="154484"/>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0.11</a:t>
            </a:r>
            <a:endParaRPr lang="en-US" sz="800" dirty="0"/>
          </a:p>
        </p:txBody>
      </p:sp>
      <p:sp>
        <p:nvSpPr>
          <p:cNvPr id="29" name="Text 27"/>
          <p:cNvSpPr/>
          <p:nvPr/>
        </p:nvSpPr>
        <p:spPr>
          <a:xfrm>
            <a:off x="4239816" y="2481971"/>
            <a:ext cx="657225" cy="184023"/>
          </a:xfrm>
          <a:prstGeom prst="roundRect">
            <a:avLst>
              <a:gd name="adj" fmla="val 5170807"/>
            </a:avLst>
          </a:prstGeom>
          <a:solidFill>
            <a:srgbClr val="B91C1C">
              <a:alpha val="10000"/>
            </a:srgbClr>
          </a:solidFill>
          <a:ln w="7144">
            <a:solidFill>
              <a:srgbClr val="D9E1EC"/>
            </a:solidFill>
            <a:prstDash val="solid"/>
          </a:ln>
        </p:spPr>
        <p:txBody>
          <a:bodyPr wrap="square" rtlCol="0" anchor="ctr"/>
          <a:lstStyle/>
          <a:p>
            <a:pPr indent="0" marL="0">
              <a:buNone/>
            </a:pPr>
            <a:endParaRPr lang="en-US" dirty="0"/>
          </a:p>
        </p:txBody>
      </p:sp>
      <p:sp>
        <p:nvSpPr>
          <p:cNvPr id="30" name="Text 28"/>
          <p:cNvSpPr/>
          <p:nvPr/>
        </p:nvSpPr>
        <p:spPr>
          <a:xfrm>
            <a:off x="4216161" y="2491829"/>
            <a:ext cx="704535"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B91C1C"/>
                </a:solidFill>
                <a:latin typeface="Carlito" pitchFamily="34" charset="0"/>
                <a:ea typeface="Carlito" pitchFamily="34" charset="-122"/>
                <a:cs typeface="Carlito" pitchFamily="34" charset="-120"/>
              </a:rPr>
              <a:t>COMPOSITE</a:t>
            </a:r>
            <a:endParaRPr lang="en-US" sz="800" dirty="0"/>
          </a:p>
        </p:txBody>
      </p:sp>
      <p:sp>
        <p:nvSpPr>
          <p:cNvPr id="31" name="Text 29"/>
          <p:cNvSpPr/>
          <p:nvPr/>
        </p:nvSpPr>
        <p:spPr>
          <a:xfrm>
            <a:off x="457200" y="2779365"/>
            <a:ext cx="365760" cy="173593"/>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05</a:t>
            </a:r>
            <a:endParaRPr lang="en-US" sz="844" dirty="0"/>
          </a:p>
        </p:txBody>
      </p:sp>
      <p:sp>
        <p:nvSpPr>
          <p:cNvPr id="32" name="Text 30"/>
          <p:cNvSpPr/>
          <p:nvPr/>
        </p:nvSpPr>
        <p:spPr>
          <a:xfrm>
            <a:off x="757238" y="2792760"/>
            <a:ext cx="3056632" cy="164592"/>
          </a:xfrm>
          <a:prstGeom prst="rect">
            <a:avLst/>
          </a:prstGeom>
          <a:noFill/>
          <a:ln/>
        </p:spPr>
        <p:txBody>
          <a:bodyPr wrap="non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corr_composite_mouth</a:t>
            </a:r>
            <a:endParaRPr lang="en-US" sz="800" dirty="0"/>
          </a:p>
        </p:txBody>
      </p:sp>
      <p:sp>
        <p:nvSpPr>
          <p:cNvPr id="33" name="Text 31"/>
          <p:cNvSpPr/>
          <p:nvPr/>
        </p:nvSpPr>
        <p:spPr>
          <a:xfrm>
            <a:off x="3482578" y="2787402"/>
            <a:ext cx="685800" cy="164592"/>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0.10</a:t>
            </a:r>
            <a:endParaRPr lang="en-US" sz="800" dirty="0"/>
          </a:p>
        </p:txBody>
      </p:sp>
      <p:sp>
        <p:nvSpPr>
          <p:cNvPr id="34" name="Text 32"/>
          <p:cNvSpPr/>
          <p:nvPr/>
        </p:nvSpPr>
        <p:spPr>
          <a:xfrm>
            <a:off x="4239816" y="2767721"/>
            <a:ext cx="657225" cy="184023"/>
          </a:xfrm>
          <a:prstGeom prst="roundRect">
            <a:avLst>
              <a:gd name="adj" fmla="val 5170807"/>
            </a:avLst>
          </a:prstGeom>
          <a:solidFill>
            <a:srgbClr val="7C3AED">
              <a:alpha val="12000"/>
            </a:srgbClr>
          </a:solidFill>
          <a:ln w="7144">
            <a:solidFill>
              <a:srgbClr val="D9E1EC"/>
            </a:solidFill>
            <a:prstDash val="solid"/>
          </a:ln>
        </p:spPr>
        <p:txBody>
          <a:bodyPr wrap="square" rtlCol="0" anchor="ctr"/>
          <a:lstStyle/>
          <a:p>
            <a:pPr indent="0" marL="0">
              <a:buNone/>
            </a:pPr>
            <a:endParaRPr lang="en-US" dirty="0"/>
          </a:p>
        </p:txBody>
      </p:sp>
      <p:sp>
        <p:nvSpPr>
          <p:cNvPr id="35" name="Text 33"/>
          <p:cNvSpPr/>
          <p:nvPr/>
        </p:nvSpPr>
        <p:spPr>
          <a:xfrm>
            <a:off x="4152021" y="2777579"/>
            <a:ext cx="832815"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6D28D9"/>
                </a:solidFill>
                <a:latin typeface="Carlito" pitchFamily="34" charset="0"/>
                <a:ea typeface="Carlito" pitchFamily="34" charset="-122"/>
                <a:cs typeface="Carlito" pitchFamily="34" charset="-120"/>
              </a:rPr>
              <a:t>CROSS-GROUP</a:t>
            </a:r>
            <a:endParaRPr lang="en-US" sz="800" dirty="0"/>
          </a:p>
        </p:txBody>
      </p:sp>
      <p:sp>
        <p:nvSpPr>
          <p:cNvPr id="36" name="Text 34"/>
          <p:cNvSpPr/>
          <p:nvPr/>
        </p:nvSpPr>
        <p:spPr>
          <a:xfrm>
            <a:off x="457200" y="3099048"/>
            <a:ext cx="5163028" cy="133302"/>
          </a:xfrm>
          <a:prstGeom prst="rect">
            <a:avLst/>
          </a:prstGeom>
          <a:noFill/>
          <a:ln/>
        </p:spPr>
        <p:txBody>
          <a:bodyPr wrap="square" lIns="0" tIns="0" rIns="0" bIns="0" rtlCol="0" anchor="t">
            <a:normAutofit/>
          </a:bodyPr>
          <a:lstStyle/>
          <a:p>
            <a:pPr algn="l" indent="0" marL="0">
              <a:lnSpc>
                <a:spcPts val="928"/>
              </a:lnSpc>
              <a:buNone/>
            </a:pPr>
            <a:r>
              <a:rPr lang="en-US" sz="800" spc="111" kern="0" dirty="0">
                <a:solidFill>
                  <a:srgbClr val="5B6B82"/>
                </a:solidFill>
                <a:latin typeface="Liberation Sans Narrow" pitchFamily="34" charset="0"/>
                <a:ea typeface="Liberation Sans Narrow" pitchFamily="34" charset="-122"/>
                <a:cs typeface="Liberation Sans Narrow" pitchFamily="34" charset="-120"/>
              </a:rPr>
              <a:t>CATEGORY CONTRIBUTION (TOP-30)</a:t>
            </a:r>
            <a:endParaRPr lang="en-US" sz="800" dirty="0"/>
          </a:p>
        </p:txBody>
      </p:sp>
      <p:sp>
        <p:nvSpPr>
          <p:cNvPr id="37" name="Text 35"/>
          <p:cNvSpPr/>
          <p:nvPr/>
        </p:nvSpPr>
        <p:spPr>
          <a:xfrm>
            <a:off x="457200" y="3259782"/>
            <a:ext cx="1687041" cy="157163"/>
          </a:xfrm>
          <a:prstGeom prst="rect">
            <a:avLst/>
          </a:prstGeom>
          <a:solidFill>
            <a:srgbClr val="14B8A6"/>
          </a:solidFill>
          <a:ln/>
        </p:spPr>
        <p:txBody>
          <a:bodyPr wrap="square" rtlCol="0" anchor="ctr"/>
          <a:lstStyle/>
          <a:p>
            <a:pPr indent="0" marL="0">
              <a:buNone/>
            </a:pPr>
            <a:endParaRPr lang="en-US" dirty="0"/>
          </a:p>
        </p:txBody>
      </p:sp>
      <p:sp>
        <p:nvSpPr>
          <p:cNvPr id="38" name="Text 36"/>
          <p:cNvSpPr/>
          <p:nvPr/>
        </p:nvSpPr>
        <p:spPr>
          <a:xfrm>
            <a:off x="457200" y="3259782"/>
            <a:ext cx="1687041"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38%</a:t>
            </a:r>
            <a:endParaRPr lang="en-US" sz="800" dirty="0"/>
          </a:p>
        </p:txBody>
      </p:sp>
      <p:sp>
        <p:nvSpPr>
          <p:cNvPr id="39" name="Text 37"/>
          <p:cNvSpPr/>
          <p:nvPr/>
        </p:nvSpPr>
        <p:spPr>
          <a:xfrm>
            <a:off x="2144241" y="3259782"/>
            <a:ext cx="1331975" cy="157163"/>
          </a:xfrm>
          <a:prstGeom prst="rect">
            <a:avLst/>
          </a:prstGeom>
          <a:solidFill>
            <a:srgbClr val="0F1F3D"/>
          </a:solidFill>
          <a:ln/>
        </p:spPr>
        <p:txBody>
          <a:bodyPr wrap="square" rtlCol="0" anchor="ctr"/>
          <a:lstStyle/>
          <a:p>
            <a:pPr indent="0" marL="0">
              <a:buNone/>
            </a:pPr>
            <a:endParaRPr lang="en-US" dirty="0"/>
          </a:p>
        </p:txBody>
      </p:sp>
      <p:sp>
        <p:nvSpPr>
          <p:cNvPr id="40" name="Text 38"/>
          <p:cNvSpPr/>
          <p:nvPr/>
        </p:nvSpPr>
        <p:spPr>
          <a:xfrm>
            <a:off x="2144241" y="3259782"/>
            <a:ext cx="1331975"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30%</a:t>
            </a:r>
            <a:endParaRPr lang="en-US" sz="800" dirty="0"/>
          </a:p>
        </p:txBody>
      </p:sp>
      <p:sp>
        <p:nvSpPr>
          <p:cNvPr id="41" name="Text 39"/>
          <p:cNvSpPr/>
          <p:nvPr/>
        </p:nvSpPr>
        <p:spPr>
          <a:xfrm>
            <a:off x="3476216" y="3259782"/>
            <a:ext cx="799207" cy="157163"/>
          </a:xfrm>
          <a:prstGeom prst="rect">
            <a:avLst/>
          </a:prstGeom>
          <a:solidFill>
            <a:srgbClr val="B91C1C"/>
          </a:solidFill>
          <a:ln/>
        </p:spPr>
        <p:txBody>
          <a:bodyPr wrap="square" rtlCol="0" anchor="ctr"/>
          <a:lstStyle/>
          <a:p>
            <a:pPr indent="0" marL="0">
              <a:buNone/>
            </a:pPr>
            <a:endParaRPr lang="en-US" dirty="0"/>
          </a:p>
        </p:txBody>
      </p:sp>
      <p:sp>
        <p:nvSpPr>
          <p:cNvPr id="42" name="Text 40"/>
          <p:cNvSpPr/>
          <p:nvPr/>
        </p:nvSpPr>
        <p:spPr>
          <a:xfrm>
            <a:off x="3476216" y="3259782"/>
            <a:ext cx="799207"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18%</a:t>
            </a:r>
            <a:endParaRPr lang="en-US" sz="800" dirty="0"/>
          </a:p>
        </p:txBody>
      </p:sp>
      <p:sp>
        <p:nvSpPr>
          <p:cNvPr id="43" name="Text 41"/>
          <p:cNvSpPr/>
          <p:nvPr/>
        </p:nvSpPr>
        <p:spPr>
          <a:xfrm>
            <a:off x="4275423" y="3259782"/>
            <a:ext cx="443917" cy="157163"/>
          </a:xfrm>
          <a:prstGeom prst="rect">
            <a:avLst/>
          </a:prstGeom>
          <a:solidFill>
            <a:srgbClr val="C77B2C"/>
          </a:solidFill>
          <a:ln/>
        </p:spPr>
        <p:txBody>
          <a:bodyPr wrap="square" rtlCol="0" anchor="ctr"/>
          <a:lstStyle/>
          <a:p>
            <a:pPr indent="0" marL="0">
              <a:buNone/>
            </a:pPr>
            <a:endParaRPr lang="en-US" dirty="0"/>
          </a:p>
        </p:txBody>
      </p:sp>
      <p:sp>
        <p:nvSpPr>
          <p:cNvPr id="44" name="Text 42"/>
          <p:cNvSpPr/>
          <p:nvPr/>
        </p:nvSpPr>
        <p:spPr>
          <a:xfrm>
            <a:off x="4275423" y="3259782"/>
            <a:ext cx="443917"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10%</a:t>
            </a:r>
            <a:endParaRPr lang="en-US" sz="800" dirty="0"/>
          </a:p>
        </p:txBody>
      </p:sp>
      <p:sp>
        <p:nvSpPr>
          <p:cNvPr id="45" name="Text 43"/>
          <p:cNvSpPr/>
          <p:nvPr/>
        </p:nvSpPr>
        <p:spPr>
          <a:xfrm>
            <a:off x="4719340" y="3259782"/>
            <a:ext cx="177701" cy="157163"/>
          </a:xfrm>
          <a:prstGeom prst="rect">
            <a:avLst/>
          </a:prstGeom>
          <a:solidFill>
            <a:srgbClr val="7C3AED"/>
          </a:solidFill>
          <a:ln/>
        </p:spPr>
        <p:txBody>
          <a:bodyPr wrap="square" rtlCol="0" anchor="ctr"/>
          <a:lstStyle/>
          <a:p>
            <a:pPr indent="0" marL="0">
              <a:buNone/>
            </a:pPr>
            <a:endParaRPr lang="en-US" dirty="0"/>
          </a:p>
        </p:txBody>
      </p:sp>
      <p:sp>
        <p:nvSpPr>
          <p:cNvPr id="46" name="Text 44"/>
          <p:cNvSpPr/>
          <p:nvPr/>
        </p:nvSpPr>
        <p:spPr>
          <a:xfrm>
            <a:off x="4719340" y="3259782"/>
            <a:ext cx="177701"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4%</a:t>
            </a:r>
            <a:endParaRPr lang="en-US" sz="800" dirty="0"/>
          </a:p>
        </p:txBody>
      </p:sp>
      <p:sp>
        <p:nvSpPr>
          <p:cNvPr id="47" name="Text 45"/>
          <p:cNvSpPr/>
          <p:nvPr/>
        </p:nvSpPr>
        <p:spPr>
          <a:xfrm>
            <a:off x="457200" y="3466951"/>
            <a:ext cx="2060257" cy="164592"/>
          </a:xfrm>
          <a:prstGeom prst="rect">
            <a:avLst/>
          </a:prstGeom>
          <a:noFill/>
          <a:ln/>
        </p:spPr>
        <p:txBody>
          <a:bodyPr wrap="none" lIns="0" tIns="0" rIns="0" bIns="0" rtlCol="0" anchor="t"/>
          <a:lstStyle/>
          <a:p>
            <a:pPr algn="l" indent="0" marL="0">
              <a:lnSpc>
                <a:spcPts val="886"/>
              </a:lnSpc>
              <a:buNone/>
            </a:pPr>
            <a:r>
              <a:rPr lang="en-US" sz="800" dirty="0">
                <a:solidFill>
                  <a:srgbClr val="0F766E"/>
                </a:solidFill>
                <a:latin typeface="Carlito" pitchFamily="34" charset="0"/>
                <a:ea typeface="Carlito" pitchFamily="34" charset="-122"/>
                <a:cs typeface="Carlito" pitchFamily="34" charset="-120"/>
              </a:rPr>
              <a:t>Composite</a:t>
            </a:r>
            <a:endParaRPr lang="en-US" sz="800" dirty="0"/>
          </a:p>
        </p:txBody>
      </p:sp>
      <p:sp>
        <p:nvSpPr>
          <p:cNvPr id="48" name="Text 46"/>
          <p:cNvSpPr/>
          <p:nvPr/>
        </p:nvSpPr>
        <p:spPr>
          <a:xfrm>
            <a:off x="2109639" y="3466951"/>
            <a:ext cx="1489254" cy="164592"/>
          </a:xfrm>
          <a:prstGeom prst="rect">
            <a:avLst/>
          </a:prstGeom>
          <a:noFill/>
          <a:ln/>
        </p:spPr>
        <p:txBody>
          <a:bodyPr wrap="none" lIns="0" tIns="0" rIns="0" bIns="0" rtlCol="0" anchor="t"/>
          <a:lstStyle/>
          <a:p>
            <a:pPr algn="l" indent="0" marL="0">
              <a:lnSpc>
                <a:spcPts val="886"/>
              </a:lnSpc>
              <a:buNone/>
            </a:pPr>
            <a:r>
              <a:rPr lang="en-US" sz="800" dirty="0">
                <a:solidFill>
                  <a:srgbClr val="0F1F3D"/>
                </a:solidFill>
                <a:latin typeface="Carlito" pitchFamily="34" charset="0"/>
                <a:ea typeface="Carlito" pitchFamily="34" charset="-122"/>
                <a:cs typeface="Carlito" pitchFamily="34" charset="-120"/>
              </a:rPr>
              <a:t>Blendshapes</a:t>
            </a:r>
            <a:endParaRPr lang="en-US" sz="800" dirty="0"/>
          </a:p>
        </p:txBody>
      </p:sp>
      <p:sp>
        <p:nvSpPr>
          <p:cNvPr id="49" name="Text 47"/>
          <p:cNvSpPr/>
          <p:nvPr/>
        </p:nvSpPr>
        <p:spPr>
          <a:xfrm>
            <a:off x="3423196" y="3466951"/>
            <a:ext cx="893631" cy="164592"/>
          </a:xfrm>
          <a:prstGeom prst="rect">
            <a:avLst/>
          </a:prstGeom>
          <a:noFill/>
          <a:ln/>
        </p:spPr>
        <p:txBody>
          <a:bodyPr wrap="none" lIns="0" tIns="0" rIns="0" bIns="0" rtlCol="0" anchor="t"/>
          <a:lstStyle/>
          <a:p>
            <a:pPr algn="l" indent="0" marL="0">
              <a:lnSpc>
                <a:spcPts val="886"/>
              </a:lnSpc>
              <a:buNone/>
            </a:pPr>
            <a:r>
              <a:rPr lang="en-US" sz="800" dirty="0">
                <a:solidFill>
                  <a:srgbClr val="B91C1C"/>
                </a:solidFill>
                <a:latin typeface="Carlito" pitchFamily="34" charset="0"/>
                <a:ea typeface="Carlito" pitchFamily="34" charset="-122"/>
                <a:cs typeface="Carlito" pitchFamily="34" charset="-120"/>
              </a:rPr>
              <a:t>Cross-Group</a:t>
            </a:r>
            <a:endParaRPr lang="en-US" sz="800" dirty="0"/>
          </a:p>
        </p:txBody>
      </p:sp>
      <p:sp>
        <p:nvSpPr>
          <p:cNvPr id="50" name="Text 48"/>
          <p:cNvSpPr/>
          <p:nvPr/>
        </p:nvSpPr>
        <p:spPr>
          <a:xfrm>
            <a:off x="4228542" y="3466951"/>
            <a:ext cx="542068" cy="164592"/>
          </a:xfrm>
          <a:prstGeom prst="rect">
            <a:avLst/>
          </a:prstGeom>
          <a:noFill/>
          <a:ln/>
        </p:spPr>
        <p:txBody>
          <a:bodyPr wrap="none" lIns="0" tIns="0" rIns="0" bIns="0" rtlCol="0" anchor="t"/>
          <a:lstStyle/>
          <a:p>
            <a:pPr algn="l" indent="0" marL="0">
              <a:lnSpc>
                <a:spcPts val="886"/>
              </a:lnSpc>
              <a:buNone/>
            </a:pPr>
            <a:r>
              <a:rPr lang="en-US" sz="800" dirty="0">
                <a:solidFill>
                  <a:srgbClr val="C77B2C"/>
                </a:solidFill>
                <a:latin typeface="Carlito" pitchFamily="34" charset="0"/>
                <a:ea typeface="Carlito" pitchFamily="34" charset="-122"/>
                <a:cs typeface="Carlito" pitchFamily="34" charset="-120"/>
              </a:rPr>
              <a:t>Eye Gaze</a:t>
            </a:r>
            <a:endParaRPr lang="en-US" sz="800" dirty="0"/>
          </a:p>
        </p:txBody>
      </p:sp>
      <p:sp>
        <p:nvSpPr>
          <p:cNvPr id="51" name="Text 49"/>
          <p:cNvSpPr/>
          <p:nvPr/>
        </p:nvSpPr>
        <p:spPr>
          <a:xfrm>
            <a:off x="4694895" y="3466951"/>
            <a:ext cx="319214" cy="164592"/>
          </a:xfrm>
          <a:prstGeom prst="rect">
            <a:avLst/>
          </a:prstGeom>
          <a:noFill/>
          <a:ln/>
        </p:spPr>
        <p:txBody>
          <a:bodyPr wrap="none" lIns="0" tIns="0" rIns="0" bIns="0" rtlCol="0" anchor="t"/>
          <a:lstStyle/>
          <a:p>
            <a:pPr algn="l" indent="0" marL="0">
              <a:lnSpc>
                <a:spcPts val="886"/>
              </a:lnSpc>
              <a:buNone/>
            </a:pPr>
            <a:r>
              <a:rPr lang="en-US" sz="800" dirty="0">
                <a:solidFill>
                  <a:srgbClr val="7C3AED"/>
                </a:solidFill>
                <a:latin typeface="Carlito" pitchFamily="34" charset="0"/>
                <a:ea typeface="Carlito" pitchFamily="34" charset="-122"/>
                <a:cs typeface="Carlito" pitchFamily="34" charset="-120"/>
              </a:rPr>
              <a:t>Pose</a:t>
            </a:r>
            <a:endParaRPr lang="en-US" sz="800" dirty="0"/>
          </a:p>
        </p:txBody>
      </p:sp>
      <p:sp>
        <p:nvSpPr>
          <p:cNvPr id="52" name="Text 50"/>
          <p:cNvSpPr/>
          <p:nvPr/>
        </p:nvSpPr>
        <p:spPr>
          <a:xfrm>
            <a:off x="5054203" y="1430982"/>
            <a:ext cx="3632597" cy="769739"/>
          </a:xfrm>
          <a:prstGeom prst="roundRect">
            <a:avLst>
              <a:gd name="adj" fmla="val 4950"/>
            </a:avLst>
          </a:prstGeom>
          <a:solidFill>
            <a:srgbClr val="FFFFFF"/>
          </a:solidFill>
          <a:ln/>
        </p:spPr>
        <p:txBody>
          <a:bodyPr wrap="square" rtlCol="0" anchor="ctr"/>
          <a:lstStyle/>
          <a:p>
            <a:pPr indent="0" marL="0">
              <a:buNone/>
            </a:pPr>
            <a:endParaRPr lang="en-US" dirty="0"/>
          </a:p>
        </p:txBody>
      </p:sp>
      <p:sp>
        <p:nvSpPr>
          <p:cNvPr id="53" name="Shape 51"/>
          <p:cNvSpPr/>
          <p:nvPr/>
        </p:nvSpPr>
        <p:spPr>
          <a:xfrm>
            <a:off x="5054203" y="1434554"/>
            <a:ext cx="3632597" cy="0"/>
          </a:xfrm>
          <a:prstGeom prst="line">
            <a:avLst/>
          </a:prstGeom>
          <a:noFill/>
          <a:ln w="7144">
            <a:solidFill>
              <a:srgbClr val="D9E1EC"/>
            </a:solidFill>
            <a:prstDash val="solid"/>
          </a:ln>
        </p:spPr>
      </p:sp>
      <p:sp>
        <p:nvSpPr>
          <p:cNvPr id="54" name="Shape 52"/>
          <p:cNvSpPr/>
          <p:nvPr/>
        </p:nvSpPr>
        <p:spPr>
          <a:xfrm>
            <a:off x="8683228" y="1430982"/>
            <a:ext cx="0" cy="769739"/>
          </a:xfrm>
          <a:prstGeom prst="line">
            <a:avLst/>
          </a:prstGeom>
          <a:noFill/>
          <a:ln w="7144">
            <a:solidFill>
              <a:srgbClr val="D9E1EC"/>
            </a:solidFill>
            <a:prstDash val="solid"/>
          </a:ln>
        </p:spPr>
      </p:sp>
      <p:sp>
        <p:nvSpPr>
          <p:cNvPr id="55" name="Shape 53"/>
          <p:cNvSpPr/>
          <p:nvPr/>
        </p:nvSpPr>
        <p:spPr>
          <a:xfrm>
            <a:off x="5054203" y="2197150"/>
            <a:ext cx="3632597" cy="0"/>
          </a:xfrm>
          <a:prstGeom prst="line">
            <a:avLst/>
          </a:prstGeom>
          <a:noFill/>
          <a:ln w="7144">
            <a:solidFill>
              <a:srgbClr val="D9E1EC"/>
            </a:solidFill>
            <a:prstDash val="solid"/>
          </a:ln>
        </p:spPr>
      </p:sp>
      <p:sp>
        <p:nvSpPr>
          <p:cNvPr id="56" name="Shape 54"/>
          <p:cNvSpPr/>
          <p:nvPr/>
        </p:nvSpPr>
        <p:spPr>
          <a:xfrm>
            <a:off x="5064919" y="1430982"/>
            <a:ext cx="0" cy="769739"/>
          </a:xfrm>
          <a:prstGeom prst="line">
            <a:avLst/>
          </a:prstGeom>
          <a:noFill/>
          <a:ln w="21431">
            <a:solidFill>
              <a:srgbClr val="14B8A6"/>
            </a:solidFill>
            <a:prstDash val="solid"/>
          </a:ln>
        </p:spPr>
      </p:sp>
      <p:sp>
        <p:nvSpPr>
          <p:cNvPr id="57" name="Text 55"/>
          <p:cNvSpPr/>
          <p:nvPr/>
        </p:nvSpPr>
        <p:spPr>
          <a:xfrm>
            <a:off x="5204222" y="1538139"/>
            <a:ext cx="3456575" cy="126159"/>
          </a:xfrm>
          <a:prstGeom prst="rect">
            <a:avLst/>
          </a:prstGeom>
          <a:noFill/>
          <a:ln/>
        </p:spPr>
        <p:txBody>
          <a:bodyPr wrap="square" lIns="0" tIns="0" rIns="0" bIns="0" rtlCol="0" anchor="t">
            <a:normAutofit/>
          </a:bodyPr>
          <a:lstStyle/>
          <a:p>
            <a:pPr algn="l" indent="0" marL="0">
              <a:lnSpc>
                <a:spcPts val="928"/>
              </a:lnSpc>
              <a:buNone/>
            </a:pPr>
            <a:r>
              <a:rPr lang="en-US" sz="800" b="1" spc="87" kern="0" dirty="0">
                <a:solidFill>
                  <a:srgbClr val="0F766E"/>
                </a:solidFill>
                <a:latin typeface="Liberation Sans Narrow" pitchFamily="34" charset="0"/>
                <a:ea typeface="Liberation Sans Narrow" pitchFamily="34" charset="-122"/>
                <a:cs typeface="Liberation Sans Narrow" pitchFamily="34" charset="-120"/>
              </a:rPr>
              <a:t>TOP-RANK REVERSAL — COMPOSITE · 10D</a:t>
            </a:r>
            <a:endParaRPr lang="en-US" sz="800" dirty="0"/>
          </a:p>
        </p:txBody>
      </p:sp>
      <p:sp>
        <p:nvSpPr>
          <p:cNvPr id="58" name="Text 56"/>
          <p:cNvSpPr/>
          <p:nvPr/>
        </p:nvSpPr>
        <p:spPr>
          <a:xfrm>
            <a:off x="5204222" y="1691729"/>
            <a:ext cx="3346847" cy="401836"/>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Composite and cross-group features occupy the top ranks — a striking contrast with Boredom and Confusion, where blendshapes dominated. Engagement is captured by engineered higher-order signals.</a:t>
            </a:r>
            <a:endParaRPr lang="en-US" sz="800" dirty="0"/>
          </a:p>
        </p:txBody>
      </p:sp>
      <p:sp>
        <p:nvSpPr>
          <p:cNvPr id="59" name="Text 57"/>
          <p:cNvSpPr/>
          <p:nvPr/>
        </p:nvSpPr>
        <p:spPr>
          <a:xfrm>
            <a:off x="5054203" y="2272159"/>
            <a:ext cx="3632597" cy="769739"/>
          </a:xfrm>
          <a:prstGeom prst="roundRect">
            <a:avLst>
              <a:gd name="adj" fmla="val 4950"/>
            </a:avLst>
          </a:prstGeom>
          <a:solidFill>
            <a:srgbClr val="FFFFFF"/>
          </a:solidFill>
          <a:ln/>
        </p:spPr>
        <p:txBody>
          <a:bodyPr wrap="square" rtlCol="0" anchor="ctr"/>
          <a:lstStyle/>
          <a:p>
            <a:pPr indent="0" marL="0">
              <a:buNone/>
            </a:pPr>
            <a:endParaRPr lang="en-US" dirty="0"/>
          </a:p>
        </p:txBody>
      </p:sp>
      <p:sp>
        <p:nvSpPr>
          <p:cNvPr id="60" name="Shape 58"/>
          <p:cNvSpPr/>
          <p:nvPr/>
        </p:nvSpPr>
        <p:spPr>
          <a:xfrm>
            <a:off x="5054203" y="2275731"/>
            <a:ext cx="3632597" cy="0"/>
          </a:xfrm>
          <a:prstGeom prst="line">
            <a:avLst/>
          </a:prstGeom>
          <a:noFill/>
          <a:ln w="7144">
            <a:solidFill>
              <a:srgbClr val="D9E1EC"/>
            </a:solidFill>
            <a:prstDash val="solid"/>
          </a:ln>
        </p:spPr>
      </p:sp>
      <p:sp>
        <p:nvSpPr>
          <p:cNvPr id="61" name="Shape 59"/>
          <p:cNvSpPr/>
          <p:nvPr/>
        </p:nvSpPr>
        <p:spPr>
          <a:xfrm>
            <a:off x="8683228" y="2272159"/>
            <a:ext cx="0" cy="769739"/>
          </a:xfrm>
          <a:prstGeom prst="line">
            <a:avLst/>
          </a:prstGeom>
          <a:noFill/>
          <a:ln w="7144">
            <a:solidFill>
              <a:srgbClr val="D9E1EC"/>
            </a:solidFill>
            <a:prstDash val="solid"/>
          </a:ln>
        </p:spPr>
      </p:sp>
      <p:sp>
        <p:nvSpPr>
          <p:cNvPr id="62" name="Shape 60"/>
          <p:cNvSpPr/>
          <p:nvPr/>
        </p:nvSpPr>
        <p:spPr>
          <a:xfrm>
            <a:off x="5054203" y="3038326"/>
            <a:ext cx="3632597" cy="0"/>
          </a:xfrm>
          <a:prstGeom prst="line">
            <a:avLst/>
          </a:prstGeom>
          <a:noFill/>
          <a:ln w="7144">
            <a:solidFill>
              <a:srgbClr val="D9E1EC"/>
            </a:solidFill>
            <a:prstDash val="solid"/>
          </a:ln>
        </p:spPr>
      </p:sp>
      <p:sp>
        <p:nvSpPr>
          <p:cNvPr id="63" name="Shape 61"/>
          <p:cNvSpPr/>
          <p:nvPr/>
        </p:nvSpPr>
        <p:spPr>
          <a:xfrm>
            <a:off x="5064919" y="2272159"/>
            <a:ext cx="0" cy="769739"/>
          </a:xfrm>
          <a:prstGeom prst="line">
            <a:avLst/>
          </a:prstGeom>
          <a:noFill/>
          <a:ln w="21431">
            <a:solidFill>
              <a:srgbClr val="14B8A6"/>
            </a:solidFill>
            <a:prstDash val="solid"/>
          </a:ln>
        </p:spPr>
      </p:sp>
      <p:sp>
        <p:nvSpPr>
          <p:cNvPr id="64" name="Text 62"/>
          <p:cNvSpPr/>
          <p:nvPr/>
        </p:nvSpPr>
        <p:spPr>
          <a:xfrm>
            <a:off x="5204222" y="2379315"/>
            <a:ext cx="3456575" cy="126159"/>
          </a:xfrm>
          <a:prstGeom prst="rect">
            <a:avLst/>
          </a:prstGeom>
          <a:noFill/>
          <a:ln/>
        </p:spPr>
        <p:txBody>
          <a:bodyPr wrap="square" lIns="0" tIns="0" rIns="0" bIns="0" rtlCol="0" anchor="t">
            <a:normAutofit/>
          </a:bodyPr>
          <a:lstStyle/>
          <a:p>
            <a:pPr algn="l" indent="0" marL="0">
              <a:lnSpc>
                <a:spcPts val="928"/>
              </a:lnSpc>
              <a:buNone/>
            </a:pPr>
            <a:r>
              <a:rPr lang="en-US" sz="800" b="1" spc="87" kern="0" dirty="0">
                <a:solidFill>
                  <a:srgbClr val="0F766E"/>
                </a:solidFill>
                <a:latin typeface="Carlito" pitchFamily="34" charset="0"/>
                <a:ea typeface="Carlito" pitchFamily="34" charset="-122"/>
                <a:cs typeface="Carlito" pitchFamily="34" charset="-120"/>
              </a:rPr>
              <a:t>EYE ACTIVITY DOMINATES — COMPOSITE</a:t>
            </a:r>
            <a:endParaRPr lang="en-US" sz="800" dirty="0"/>
          </a:p>
        </p:txBody>
      </p:sp>
      <p:sp>
        <p:nvSpPr>
          <p:cNvPr id="65" name="Text 63"/>
          <p:cNvSpPr/>
          <p:nvPr/>
        </p:nvSpPr>
        <p:spPr>
          <a:xfrm>
            <a:off x="5204222" y="2532906"/>
            <a:ext cx="3346847" cy="401836"/>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eye_activity_max</a:t>
            </a:r>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 (</a:t>
            </a:r>
            <a:pPr algn="l" indent="0" marL="0">
              <a:lnSpc>
                <a:spcPts val="1055"/>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0.19</a:t>
            </a:r>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 is the single highest SHAP value across all four states. Engaged learners exhibit active visual exploration — blinks, saccades, pupil changes aggregated into one activity measure.</a:t>
            </a:r>
            <a:endParaRPr lang="en-US" sz="800" dirty="0"/>
          </a:p>
        </p:txBody>
      </p:sp>
      <p:sp>
        <p:nvSpPr>
          <p:cNvPr id="66" name="Text 64"/>
          <p:cNvSpPr/>
          <p:nvPr/>
        </p:nvSpPr>
        <p:spPr>
          <a:xfrm>
            <a:off x="5054203" y="3113336"/>
            <a:ext cx="3632597" cy="769739"/>
          </a:xfrm>
          <a:prstGeom prst="roundRect">
            <a:avLst>
              <a:gd name="adj" fmla="val 4950"/>
            </a:avLst>
          </a:prstGeom>
          <a:solidFill>
            <a:srgbClr val="FFFFFF"/>
          </a:solidFill>
          <a:ln/>
        </p:spPr>
        <p:txBody>
          <a:bodyPr wrap="square" rtlCol="0" anchor="ctr"/>
          <a:lstStyle/>
          <a:p>
            <a:pPr indent="0" marL="0">
              <a:buNone/>
            </a:pPr>
            <a:endParaRPr lang="en-US" dirty="0"/>
          </a:p>
        </p:txBody>
      </p:sp>
      <p:sp>
        <p:nvSpPr>
          <p:cNvPr id="67" name="Shape 65"/>
          <p:cNvSpPr/>
          <p:nvPr/>
        </p:nvSpPr>
        <p:spPr>
          <a:xfrm>
            <a:off x="5054203" y="3116907"/>
            <a:ext cx="3632597" cy="0"/>
          </a:xfrm>
          <a:prstGeom prst="line">
            <a:avLst/>
          </a:prstGeom>
          <a:noFill/>
          <a:ln w="7144">
            <a:solidFill>
              <a:srgbClr val="D9E1EC"/>
            </a:solidFill>
            <a:prstDash val="solid"/>
          </a:ln>
        </p:spPr>
      </p:sp>
      <p:sp>
        <p:nvSpPr>
          <p:cNvPr id="68" name="Shape 66"/>
          <p:cNvSpPr/>
          <p:nvPr/>
        </p:nvSpPr>
        <p:spPr>
          <a:xfrm>
            <a:off x="8683228" y="3113336"/>
            <a:ext cx="0" cy="769739"/>
          </a:xfrm>
          <a:prstGeom prst="line">
            <a:avLst/>
          </a:prstGeom>
          <a:noFill/>
          <a:ln w="7144">
            <a:solidFill>
              <a:srgbClr val="D9E1EC"/>
            </a:solidFill>
            <a:prstDash val="solid"/>
          </a:ln>
        </p:spPr>
      </p:sp>
      <p:sp>
        <p:nvSpPr>
          <p:cNvPr id="69" name="Shape 67"/>
          <p:cNvSpPr/>
          <p:nvPr/>
        </p:nvSpPr>
        <p:spPr>
          <a:xfrm>
            <a:off x="5054203" y="3879503"/>
            <a:ext cx="3632597" cy="0"/>
          </a:xfrm>
          <a:prstGeom prst="line">
            <a:avLst/>
          </a:prstGeom>
          <a:noFill/>
          <a:ln w="7144">
            <a:solidFill>
              <a:srgbClr val="D9E1EC"/>
            </a:solidFill>
            <a:prstDash val="solid"/>
          </a:ln>
        </p:spPr>
      </p:sp>
      <p:sp>
        <p:nvSpPr>
          <p:cNvPr id="70" name="Shape 68"/>
          <p:cNvSpPr/>
          <p:nvPr/>
        </p:nvSpPr>
        <p:spPr>
          <a:xfrm>
            <a:off x="5064919" y="3113336"/>
            <a:ext cx="0" cy="769739"/>
          </a:xfrm>
          <a:prstGeom prst="line">
            <a:avLst/>
          </a:prstGeom>
          <a:noFill/>
          <a:ln w="21431">
            <a:solidFill>
              <a:srgbClr val="14B8A6"/>
            </a:solidFill>
            <a:prstDash val="solid"/>
          </a:ln>
        </p:spPr>
      </p:sp>
      <p:sp>
        <p:nvSpPr>
          <p:cNvPr id="71" name="Text 69"/>
          <p:cNvSpPr/>
          <p:nvPr/>
        </p:nvSpPr>
        <p:spPr>
          <a:xfrm>
            <a:off x="5204222" y="3220492"/>
            <a:ext cx="3456575" cy="126159"/>
          </a:xfrm>
          <a:prstGeom prst="rect">
            <a:avLst/>
          </a:prstGeom>
          <a:noFill/>
          <a:ln/>
        </p:spPr>
        <p:txBody>
          <a:bodyPr wrap="square" lIns="0" tIns="0" rIns="0" bIns="0" rtlCol="0" anchor="t">
            <a:normAutofit/>
          </a:bodyPr>
          <a:lstStyle/>
          <a:p>
            <a:pPr algn="l" indent="0" marL="0">
              <a:lnSpc>
                <a:spcPts val="928"/>
              </a:lnSpc>
              <a:buNone/>
            </a:pPr>
            <a:r>
              <a:rPr lang="en-US" sz="800" b="1" spc="87" kern="0" dirty="0">
                <a:solidFill>
                  <a:srgbClr val="0F766E"/>
                </a:solidFill>
                <a:latin typeface="Carlito" pitchFamily="34" charset="0"/>
                <a:ea typeface="Carlito" pitchFamily="34" charset="-122"/>
                <a:cs typeface="Carlito" pitchFamily="34" charset="-120"/>
              </a:rPr>
              <a:t>INVERSE BOREDOM SIGNAL — CROSS-GROUP</a:t>
            </a:r>
            <a:endParaRPr lang="en-US" sz="800" dirty="0"/>
          </a:p>
        </p:txBody>
      </p:sp>
      <p:sp>
        <p:nvSpPr>
          <p:cNvPr id="72" name="Text 70"/>
          <p:cNvSpPr/>
          <p:nvPr/>
        </p:nvSpPr>
        <p:spPr>
          <a:xfrm>
            <a:off x="5204222" y="3374082"/>
            <a:ext cx="3346847" cy="401836"/>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corr_boredom_related_jaw</a:t>
            </a:r>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 appears with negative SHAP — high correlation between jaw dynamics and boredom indicators pushes the prediction AWAY from engagement.</a:t>
            </a:r>
            <a:endParaRPr lang="en-US" sz="800" dirty="0"/>
          </a:p>
        </p:txBody>
      </p:sp>
      <p:sp>
        <p:nvSpPr>
          <p:cNvPr id="73" name="Text 71"/>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THESIS DEFENSE</a:t>
            </a:r>
            <a:endParaRPr lang="en-US" sz="800" dirty="0"/>
          </a:p>
        </p:txBody>
      </p:sp>
      <p:sp>
        <p:nvSpPr>
          <p:cNvPr id="74" name="Text 72"/>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23 / 34</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square" lIns="0" tIns="0" rIns="0" bIns="0" rtlCol="0" anchor="t"/>
          <a:lstStyle/>
          <a:p>
            <a:pPr algn="l" indent="0" marL="0">
              <a:lnSpc>
                <a:spcPts val="928"/>
              </a:lnSpc>
              <a:buNone/>
            </a:pPr>
            <a:r>
              <a:rPr lang="en-US" sz="800" b="1" spc="136" kern="0" dirty="0">
                <a:solidFill>
                  <a:srgbClr val="14B8A6"/>
                </a:solidFill>
                <a:latin typeface="Liberation Sans Narrow" pitchFamily="34" charset="0"/>
                <a:ea typeface="Liberation Sans Narrow" pitchFamily="34" charset="-122"/>
                <a:cs typeface="Liberation Sans Narrow" pitchFamily="34" charset="-120"/>
              </a:rPr>
              <a:t>RQ2 · SHAP ANALYSIS · CONFUSION</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591395"/>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Confusion is in Distributed Weak Signals, Not One Dominant Feature</a:t>
            </a:r>
            <a:endParaRPr lang="en-US" sz="2025" dirty="0"/>
          </a:p>
        </p:txBody>
      </p:sp>
      <p:sp>
        <p:nvSpPr>
          <p:cNvPr id="5" name="Text 3"/>
          <p:cNvSpPr/>
          <p:nvPr/>
        </p:nvSpPr>
        <p:spPr>
          <a:xfrm>
            <a:off x="457200" y="1301055"/>
            <a:ext cx="6572250" cy="358759"/>
          </a:xfrm>
          <a:prstGeom prst="rect">
            <a:avLst/>
          </a:prstGeom>
          <a:noFill/>
          <a:ln/>
        </p:spPr>
        <p:txBody>
          <a:bodyPr wrap="square" lIns="0" tIns="0" rIns="0" bIns="0" rtlCol="0" anchor="t"/>
          <a:lstStyle/>
          <a:p>
            <a:pPr algn="l" indent="0" marL="0">
              <a:lnSpc>
                <a:spcPts val="1308"/>
              </a:lnSpc>
              <a:buNone/>
            </a:pPr>
            <a:r>
              <a:rPr lang="en-US" sz="844" dirty="0">
                <a:solidFill>
                  <a:srgbClr val="5B6B82"/>
                </a:solidFill>
                <a:latin typeface="Carlito" pitchFamily="34" charset="0"/>
                <a:ea typeface="Carlito" pitchFamily="34" charset="-122"/>
                <a:cs typeface="Carlito" pitchFamily="34" charset="-120"/>
              </a:rPr>
              <a:t>Top SHAP value is only </a:t>
            </a:r>
            <a:pPr algn="l" indent="0" marL="0">
              <a:lnSpc>
                <a:spcPts val="1308"/>
              </a:lnSpc>
              <a:buNone/>
            </a:pPr>
            <a:r>
              <a:rPr lang="en-US" sz="844" dirty="0">
                <a:solidFill>
                  <a:srgbClr val="5B6B82"/>
                </a:solidFill>
                <a:latin typeface="Liberation Sans Narrow" pitchFamily="34" charset="0"/>
                <a:ea typeface="Liberation Sans Narrow" pitchFamily="34" charset="-122"/>
                <a:cs typeface="Liberation Sans Narrow" pitchFamily="34" charset="-120"/>
              </a:rPr>
              <a:t>0.07</a:t>
            </a:r>
            <a:pPr algn="l" indent="0" marL="0">
              <a:lnSpc>
                <a:spcPts val="1308"/>
              </a:lnSpc>
              <a:buNone/>
            </a:pPr>
            <a:r>
              <a:rPr lang="en-US" sz="844" dirty="0">
                <a:solidFill>
                  <a:srgbClr val="5B6B82"/>
                </a:solidFill>
                <a:latin typeface="Carlito" pitchFamily="34" charset="0"/>
                <a:ea typeface="Carlito" pitchFamily="34" charset="-122"/>
                <a:cs typeface="Carlito" pitchFamily="34" charset="-120"/>
              </a:rPr>
              <a:t> — five times weaker than Boredom's </a:t>
            </a:r>
            <a:pPr algn="l" indent="0" marL="0">
              <a:lnSpc>
                <a:spcPts val="1308"/>
              </a:lnSpc>
              <a:buNone/>
            </a:pPr>
            <a:r>
              <a:rPr lang="en-US" sz="844" dirty="0">
                <a:solidFill>
                  <a:srgbClr val="5B6B82"/>
                </a:solidFill>
                <a:latin typeface="Liberation Sans Narrow" pitchFamily="34" charset="0"/>
                <a:ea typeface="Liberation Sans Narrow" pitchFamily="34" charset="-122"/>
                <a:cs typeface="Liberation Sans Narrow" pitchFamily="34" charset="-120"/>
              </a:rPr>
              <a:t>0.17</a:t>
            </a:r>
            <a:pPr algn="l" indent="0" marL="0">
              <a:lnSpc>
                <a:spcPts val="1308"/>
              </a:lnSpc>
              <a:buNone/>
            </a:pPr>
            <a:r>
              <a:rPr lang="en-US" sz="844" dirty="0">
                <a:solidFill>
                  <a:srgbClr val="5B6B82"/>
                </a:solidFill>
                <a:latin typeface="Carlito" pitchFamily="34" charset="0"/>
                <a:ea typeface="Carlito" pitchFamily="34" charset="-122"/>
                <a:cs typeface="Carlito" pitchFamily="34" charset="-120"/>
              </a:rPr>
              <a:t>. Confusion distributes its discriminative signal across many weak features, which is why the classifier defaults to predicting Low.</a:t>
            </a:r>
            <a:endParaRPr lang="en-US" sz="844" dirty="0"/>
          </a:p>
        </p:txBody>
      </p:sp>
      <p:sp>
        <p:nvSpPr>
          <p:cNvPr id="6" name="Text 4"/>
          <p:cNvSpPr/>
          <p:nvPr/>
        </p:nvSpPr>
        <p:spPr>
          <a:xfrm>
            <a:off x="457200" y="1718965"/>
            <a:ext cx="5821602" cy="119015"/>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5B6B82"/>
                </a:solidFill>
                <a:latin typeface="Liberation Sans Narrow" pitchFamily="34" charset="0"/>
                <a:ea typeface="Liberation Sans Narrow" pitchFamily="34" charset="-122"/>
                <a:cs typeface="Liberation Sans Narrow" pitchFamily="34" charset="-120"/>
              </a:rPr>
              <a:t>TOP-5 SHAP FEATURES</a:t>
            </a:r>
            <a:endParaRPr lang="en-US" sz="800" dirty="0"/>
          </a:p>
        </p:txBody>
      </p:sp>
      <p:sp>
        <p:nvSpPr>
          <p:cNvPr id="7" name="Shape 5"/>
          <p:cNvSpPr/>
          <p:nvPr/>
        </p:nvSpPr>
        <p:spPr>
          <a:xfrm>
            <a:off x="457200" y="2147590"/>
            <a:ext cx="4439841" cy="0"/>
          </a:xfrm>
          <a:prstGeom prst="line">
            <a:avLst/>
          </a:prstGeom>
          <a:noFill/>
          <a:ln w="7144">
            <a:solidFill>
              <a:srgbClr val="E8EDF4"/>
            </a:solidFill>
            <a:prstDash val="solid"/>
          </a:ln>
        </p:spPr>
      </p:sp>
      <p:sp>
        <p:nvSpPr>
          <p:cNvPr id="8" name="Text 6"/>
          <p:cNvSpPr/>
          <p:nvPr/>
        </p:nvSpPr>
        <p:spPr>
          <a:xfrm>
            <a:off x="457200" y="1924348"/>
            <a:ext cx="365760" cy="162520"/>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01</a:t>
            </a:r>
            <a:endParaRPr lang="en-US" sz="844" dirty="0"/>
          </a:p>
        </p:txBody>
      </p:sp>
      <p:sp>
        <p:nvSpPr>
          <p:cNvPr id="9" name="Text 7"/>
          <p:cNvSpPr/>
          <p:nvPr/>
        </p:nvSpPr>
        <p:spPr>
          <a:xfrm>
            <a:off x="757238" y="1937742"/>
            <a:ext cx="3143964" cy="149126"/>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boredom_indicator_vel_std</a:t>
            </a:r>
            <a:endParaRPr lang="en-US" sz="800" dirty="0"/>
          </a:p>
        </p:txBody>
      </p:sp>
      <p:sp>
        <p:nvSpPr>
          <p:cNvPr id="10" name="Text 8"/>
          <p:cNvSpPr/>
          <p:nvPr/>
        </p:nvSpPr>
        <p:spPr>
          <a:xfrm>
            <a:off x="3482578" y="1932384"/>
            <a:ext cx="685800" cy="154484"/>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0.07</a:t>
            </a:r>
            <a:endParaRPr lang="en-US" sz="800" dirty="0"/>
          </a:p>
        </p:txBody>
      </p:sp>
      <p:sp>
        <p:nvSpPr>
          <p:cNvPr id="11" name="Text 9"/>
          <p:cNvSpPr/>
          <p:nvPr/>
        </p:nvSpPr>
        <p:spPr>
          <a:xfrm>
            <a:off x="4239816" y="1912703"/>
            <a:ext cx="657225" cy="184023"/>
          </a:xfrm>
          <a:prstGeom prst="roundRect">
            <a:avLst>
              <a:gd name="adj" fmla="val 5170807"/>
            </a:avLst>
          </a:prstGeom>
          <a:solidFill>
            <a:srgbClr val="B91C1C">
              <a:alpha val="10000"/>
            </a:srgbClr>
          </a:solidFill>
          <a:ln w="7144">
            <a:solidFill>
              <a:srgbClr val="D9E1EC"/>
            </a:solidFill>
            <a:prstDash val="solid"/>
          </a:ln>
        </p:spPr>
        <p:txBody>
          <a:bodyPr wrap="square" rtlCol="0" anchor="ctr"/>
          <a:lstStyle/>
          <a:p>
            <a:pPr indent="0" marL="0">
              <a:buNone/>
            </a:pPr>
            <a:endParaRPr lang="en-US" dirty="0"/>
          </a:p>
        </p:txBody>
      </p:sp>
      <p:sp>
        <p:nvSpPr>
          <p:cNvPr id="12" name="Text 10"/>
          <p:cNvSpPr/>
          <p:nvPr/>
        </p:nvSpPr>
        <p:spPr>
          <a:xfrm>
            <a:off x="4216161" y="1922562"/>
            <a:ext cx="704535"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B91C1C"/>
                </a:solidFill>
                <a:latin typeface="Carlito" pitchFamily="34" charset="0"/>
                <a:ea typeface="Carlito" pitchFamily="34" charset="-122"/>
                <a:cs typeface="Carlito" pitchFamily="34" charset="-120"/>
              </a:rPr>
              <a:t>COMPOSITE</a:t>
            </a:r>
            <a:endParaRPr lang="en-US" sz="800" dirty="0"/>
          </a:p>
        </p:txBody>
      </p:sp>
      <p:sp>
        <p:nvSpPr>
          <p:cNvPr id="13" name="Shape 11"/>
          <p:cNvSpPr/>
          <p:nvPr/>
        </p:nvSpPr>
        <p:spPr>
          <a:xfrm>
            <a:off x="457200" y="2433340"/>
            <a:ext cx="4439841" cy="0"/>
          </a:xfrm>
          <a:prstGeom prst="line">
            <a:avLst/>
          </a:prstGeom>
          <a:noFill/>
          <a:ln w="7144">
            <a:solidFill>
              <a:srgbClr val="E8EDF4"/>
            </a:solidFill>
            <a:prstDash val="solid"/>
          </a:ln>
        </p:spPr>
      </p:sp>
      <p:sp>
        <p:nvSpPr>
          <p:cNvPr id="14" name="Text 12"/>
          <p:cNvSpPr/>
          <p:nvPr/>
        </p:nvSpPr>
        <p:spPr>
          <a:xfrm>
            <a:off x="457200" y="2210098"/>
            <a:ext cx="365760" cy="162520"/>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02</a:t>
            </a:r>
            <a:endParaRPr lang="en-US" sz="844" dirty="0"/>
          </a:p>
        </p:txBody>
      </p:sp>
      <p:sp>
        <p:nvSpPr>
          <p:cNvPr id="15" name="Text 13"/>
          <p:cNvSpPr/>
          <p:nvPr/>
        </p:nvSpPr>
        <p:spPr>
          <a:xfrm>
            <a:off x="757238" y="2223492"/>
            <a:ext cx="3056632" cy="149126"/>
          </a:xfrm>
          <a:prstGeom prst="rect">
            <a:avLst/>
          </a:prstGeom>
          <a:noFill/>
          <a:ln/>
        </p:spPr>
        <p:txBody>
          <a:bodyPr wrap="non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mouthSmileRight_median</a:t>
            </a:r>
            <a:endParaRPr lang="en-US" sz="800" dirty="0"/>
          </a:p>
        </p:txBody>
      </p:sp>
      <p:sp>
        <p:nvSpPr>
          <p:cNvPr id="16" name="Text 14"/>
          <p:cNvSpPr/>
          <p:nvPr/>
        </p:nvSpPr>
        <p:spPr>
          <a:xfrm>
            <a:off x="3482578" y="2218134"/>
            <a:ext cx="685800" cy="154484"/>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0.065</a:t>
            </a:r>
            <a:endParaRPr lang="en-US" sz="800" dirty="0"/>
          </a:p>
        </p:txBody>
      </p:sp>
      <p:sp>
        <p:nvSpPr>
          <p:cNvPr id="17" name="Text 15"/>
          <p:cNvSpPr/>
          <p:nvPr/>
        </p:nvSpPr>
        <p:spPr>
          <a:xfrm>
            <a:off x="4239816" y="2198453"/>
            <a:ext cx="657225" cy="184023"/>
          </a:xfrm>
          <a:prstGeom prst="roundRect">
            <a:avLst>
              <a:gd name="adj" fmla="val 5170807"/>
            </a:avLst>
          </a:prstGeom>
          <a:solidFill>
            <a:srgbClr val="0F1F3D">
              <a:alpha val="8000"/>
            </a:srgbClr>
          </a:solidFill>
          <a:ln w="7144">
            <a:solidFill>
              <a:srgbClr val="D9E1EC"/>
            </a:solidFill>
            <a:prstDash val="solid"/>
          </a:ln>
        </p:spPr>
        <p:txBody>
          <a:bodyPr wrap="square" rtlCol="0" anchor="ctr"/>
          <a:lstStyle/>
          <a:p>
            <a:pPr indent="0" marL="0">
              <a:buNone/>
            </a:pPr>
            <a:endParaRPr lang="en-US" dirty="0"/>
          </a:p>
        </p:txBody>
      </p:sp>
      <p:sp>
        <p:nvSpPr>
          <p:cNvPr id="18" name="Text 16"/>
          <p:cNvSpPr/>
          <p:nvPr/>
        </p:nvSpPr>
        <p:spPr>
          <a:xfrm>
            <a:off x="4178995" y="2208312"/>
            <a:ext cx="778866"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0F1F3D"/>
                </a:solidFill>
                <a:latin typeface="Carlito" pitchFamily="34" charset="0"/>
                <a:ea typeface="Carlito" pitchFamily="34" charset="-122"/>
                <a:cs typeface="Carlito" pitchFamily="34" charset="-120"/>
              </a:rPr>
              <a:t>BLENDSHAPE</a:t>
            </a:r>
            <a:endParaRPr lang="en-US" sz="800" dirty="0"/>
          </a:p>
        </p:txBody>
      </p:sp>
      <p:sp>
        <p:nvSpPr>
          <p:cNvPr id="19" name="Shape 17"/>
          <p:cNvSpPr/>
          <p:nvPr/>
        </p:nvSpPr>
        <p:spPr>
          <a:xfrm>
            <a:off x="457200" y="2719090"/>
            <a:ext cx="4439841" cy="0"/>
          </a:xfrm>
          <a:prstGeom prst="line">
            <a:avLst/>
          </a:prstGeom>
          <a:noFill/>
          <a:ln w="7144">
            <a:solidFill>
              <a:srgbClr val="E8EDF4"/>
            </a:solidFill>
            <a:prstDash val="solid"/>
          </a:ln>
        </p:spPr>
      </p:sp>
      <p:sp>
        <p:nvSpPr>
          <p:cNvPr id="20" name="Text 18"/>
          <p:cNvSpPr/>
          <p:nvPr/>
        </p:nvSpPr>
        <p:spPr>
          <a:xfrm>
            <a:off x="457200" y="2495848"/>
            <a:ext cx="365760" cy="162520"/>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03</a:t>
            </a:r>
            <a:endParaRPr lang="en-US" sz="844" dirty="0"/>
          </a:p>
        </p:txBody>
      </p:sp>
      <p:sp>
        <p:nvSpPr>
          <p:cNvPr id="21" name="Text 19"/>
          <p:cNvSpPr/>
          <p:nvPr/>
        </p:nvSpPr>
        <p:spPr>
          <a:xfrm>
            <a:off x="757238" y="2509242"/>
            <a:ext cx="3056632" cy="149126"/>
          </a:xfrm>
          <a:prstGeom prst="rect">
            <a:avLst/>
          </a:prstGeom>
          <a:noFill/>
          <a:ln/>
        </p:spPr>
        <p:txBody>
          <a:bodyPr wrap="non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browInnerUp_range</a:t>
            </a:r>
            <a:endParaRPr lang="en-US" sz="800" dirty="0"/>
          </a:p>
        </p:txBody>
      </p:sp>
      <p:sp>
        <p:nvSpPr>
          <p:cNvPr id="22" name="Text 20"/>
          <p:cNvSpPr/>
          <p:nvPr/>
        </p:nvSpPr>
        <p:spPr>
          <a:xfrm>
            <a:off x="3482578" y="2503884"/>
            <a:ext cx="685800" cy="154484"/>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0.055</a:t>
            </a:r>
            <a:endParaRPr lang="en-US" sz="800" dirty="0"/>
          </a:p>
        </p:txBody>
      </p:sp>
      <p:sp>
        <p:nvSpPr>
          <p:cNvPr id="23" name="Text 21"/>
          <p:cNvSpPr/>
          <p:nvPr/>
        </p:nvSpPr>
        <p:spPr>
          <a:xfrm>
            <a:off x="4239816" y="2484203"/>
            <a:ext cx="657225" cy="184023"/>
          </a:xfrm>
          <a:prstGeom prst="roundRect">
            <a:avLst>
              <a:gd name="adj" fmla="val 5170807"/>
            </a:avLst>
          </a:prstGeom>
          <a:solidFill>
            <a:srgbClr val="0F1F3D">
              <a:alpha val="8000"/>
            </a:srgbClr>
          </a:solidFill>
          <a:ln w="7144">
            <a:solidFill>
              <a:srgbClr val="D9E1EC"/>
            </a:solidFill>
            <a:prstDash val="solid"/>
          </a:ln>
        </p:spPr>
        <p:txBody>
          <a:bodyPr wrap="square" rtlCol="0" anchor="ctr"/>
          <a:lstStyle/>
          <a:p>
            <a:pPr indent="0" marL="0">
              <a:buNone/>
            </a:pPr>
            <a:endParaRPr lang="en-US" dirty="0"/>
          </a:p>
        </p:txBody>
      </p:sp>
      <p:sp>
        <p:nvSpPr>
          <p:cNvPr id="24" name="Text 22"/>
          <p:cNvSpPr/>
          <p:nvPr/>
        </p:nvSpPr>
        <p:spPr>
          <a:xfrm>
            <a:off x="4178995" y="2494062"/>
            <a:ext cx="778866"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0F1F3D"/>
                </a:solidFill>
                <a:latin typeface="Carlito" pitchFamily="34" charset="0"/>
                <a:ea typeface="Carlito" pitchFamily="34" charset="-122"/>
                <a:cs typeface="Carlito" pitchFamily="34" charset="-120"/>
              </a:rPr>
              <a:t>BLENDSHAPE</a:t>
            </a:r>
            <a:endParaRPr lang="en-US" sz="800" dirty="0"/>
          </a:p>
        </p:txBody>
      </p:sp>
      <p:sp>
        <p:nvSpPr>
          <p:cNvPr id="25" name="Shape 23"/>
          <p:cNvSpPr/>
          <p:nvPr/>
        </p:nvSpPr>
        <p:spPr>
          <a:xfrm>
            <a:off x="457200" y="3004840"/>
            <a:ext cx="4439841" cy="0"/>
          </a:xfrm>
          <a:prstGeom prst="line">
            <a:avLst/>
          </a:prstGeom>
          <a:noFill/>
          <a:ln w="7144">
            <a:solidFill>
              <a:srgbClr val="E8EDF4"/>
            </a:solidFill>
            <a:prstDash val="solid"/>
          </a:ln>
        </p:spPr>
      </p:sp>
      <p:sp>
        <p:nvSpPr>
          <p:cNvPr id="26" name="Text 24"/>
          <p:cNvSpPr/>
          <p:nvPr/>
        </p:nvSpPr>
        <p:spPr>
          <a:xfrm>
            <a:off x="457200" y="2781598"/>
            <a:ext cx="365760" cy="162520"/>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04</a:t>
            </a:r>
            <a:endParaRPr lang="en-US" sz="844" dirty="0"/>
          </a:p>
        </p:txBody>
      </p:sp>
      <p:sp>
        <p:nvSpPr>
          <p:cNvPr id="27" name="Text 25"/>
          <p:cNvSpPr/>
          <p:nvPr/>
        </p:nvSpPr>
        <p:spPr>
          <a:xfrm>
            <a:off x="757238" y="2794992"/>
            <a:ext cx="3143964" cy="149126"/>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eyeLookDownLeft_kurtosis</a:t>
            </a:r>
            <a:endParaRPr lang="en-US" sz="800" dirty="0"/>
          </a:p>
        </p:txBody>
      </p:sp>
      <p:sp>
        <p:nvSpPr>
          <p:cNvPr id="28" name="Text 26"/>
          <p:cNvSpPr/>
          <p:nvPr/>
        </p:nvSpPr>
        <p:spPr>
          <a:xfrm>
            <a:off x="3482578" y="2789634"/>
            <a:ext cx="685800" cy="154484"/>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0.05</a:t>
            </a:r>
            <a:endParaRPr lang="en-US" sz="800" dirty="0"/>
          </a:p>
        </p:txBody>
      </p:sp>
      <p:sp>
        <p:nvSpPr>
          <p:cNvPr id="29" name="Text 27"/>
          <p:cNvSpPr/>
          <p:nvPr/>
        </p:nvSpPr>
        <p:spPr>
          <a:xfrm>
            <a:off x="4239816" y="2769953"/>
            <a:ext cx="657225" cy="184023"/>
          </a:xfrm>
          <a:prstGeom prst="roundRect">
            <a:avLst>
              <a:gd name="adj" fmla="val 5170807"/>
            </a:avLst>
          </a:prstGeom>
          <a:solidFill>
            <a:srgbClr val="C77B2C">
              <a:alpha val="14000"/>
            </a:srgbClr>
          </a:solidFill>
          <a:ln w="7144">
            <a:solidFill>
              <a:srgbClr val="D9E1EC"/>
            </a:solidFill>
            <a:prstDash val="solid"/>
          </a:ln>
        </p:spPr>
        <p:txBody>
          <a:bodyPr wrap="square" rtlCol="0" anchor="ctr"/>
          <a:lstStyle/>
          <a:p>
            <a:pPr indent="0" marL="0">
              <a:buNone/>
            </a:pPr>
            <a:endParaRPr lang="en-US" dirty="0"/>
          </a:p>
        </p:txBody>
      </p:sp>
      <p:sp>
        <p:nvSpPr>
          <p:cNvPr id="30" name="Text 28"/>
          <p:cNvSpPr/>
          <p:nvPr/>
        </p:nvSpPr>
        <p:spPr>
          <a:xfrm>
            <a:off x="4239816" y="2779812"/>
            <a:ext cx="657225"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C77B2C"/>
                </a:solidFill>
                <a:latin typeface="Carlito" pitchFamily="34" charset="0"/>
                <a:ea typeface="Carlito" pitchFamily="34" charset="-122"/>
                <a:cs typeface="Carlito" pitchFamily="34" charset="-120"/>
              </a:rPr>
              <a:t>EYE GAZE</a:t>
            </a:r>
            <a:endParaRPr lang="en-US" sz="800" dirty="0"/>
          </a:p>
        </p:txBody>
      </p:sp>
      <p:sp>
        <p:nvSpPr>
          <p:cNvPr id="31" name="Text 29"/>
          <p:cNvSpPr/>
          <p:nvPr/>
        </p:nvSpPr>
        <p:spPr>
          <a:xfrm>
            <a:off x="457200" y="3067348"/>
            <a:ext cx="365760" cy="173593"/>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05</a:t>
            </a:r>
            <a:endParaRPr lang="en-US" sz="844" dirty="0"/>
          </a:p>
        </p:txBody>
      </p:sp>
      <p:sp>
        <p:nvSpPr>
          <p:cNvPr id="32" name="Text 30"/>
          <p:cNvSpPr/>
          <p:nvPr/>
        </p:nvSpPr>
        <p:spPr>
          <a:xfrm>
            <a:off x="757238" y="3080742"/>
            <a:ext cx="3056632" cy="164592"/>
          </a:xfrm>
          <a:prstGeom prst="rect">
            <a:avLst/>
          </a:prstGeom>
          <a:noFill/>
          <a:ln/>
        </p:spPr>
        <p:txBody>
          <a:bodyPr wrap="non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eyeWideLeft_std</a:t>
            </a:r>
            <a:endParaRPr lang="en-US" sz="800" dirty="0"/>
          </a:p>
        </p:txBody>
      </p:sp>
      <p:sp>
        <p:nvSpPr>
          <p:cNvPr id="33" name="Text 31"/>
          <p:cNvSpPr/>
          <p:nvPr/>
        </p:nvSpPr>
        <p:spPr>
          <a:xfrm>
            <a:off x="3482578" y="3075384"/>
            <a:ext cx="685800" cy="164592"/>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0.045</a:t>
            </a:r>
            <a:endParaRPr lang="en-US" sz="800" dirty="0"/>
          </a:p>
        </p:txBody>
      </p:sp>
      <p:sp>
        <p:nvSpPr>
          <p:cNvPr id="34" name="Text 32"/>
          <p:cNvSpPr/>
          <p:nvPr/>
        </p:nvSpPr>
        <p:spPr>
          <a:xfrm>
            <a:off x="4239816" y="3055703"/>
            <a:ext cx="657225" cy="184023"/>
          </a:xfrm>
          <a:prstGeom prst="roundRect">
            <a:avLst>
              <a:gd name="adj" fmla="val 5170807"/>
            </a:avLst>
          </a:prstGeom>
          <a:solidFill>
            <a:srgbClr val="0F1F3D">
              <a:alpha val="8000"/>
            </a:srgbClr>
          </a:solidFill>
          <a:ln w="7144">
            <a:solidFill>
              <a:srgbClr val="D9E1EC"/>
            </a:solidFill>
            <a:prstDash val="solid"/>
          </a:ln>
        </p:spPr>
        <p:txBody>
          <a:bodyPr wrap="square" rtlCol="0" anchor="ctr"/>
          <a:lstStyle/>
          <a:p>
            <a:pPr indent="0" marL="0">
              <a:buNone/>
            </a:pPr>
            <a:endParaRPr lang="en-US" dirty="0"/>
          </a:p>
        </p:txBody>
      </p:sp>
      <p:sp>
        <p:nvSpPr>
          <p:cNvPr id="35" name="Text 33"/>
          <p:cNvSpPr/>
          <p:nvPr/>
        </p:nvSpPr>
        <p:spPr>
          <a:xfrm>
            <a:off x="4178995" y="3065562"/>
            <a:ext cx="778866"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0F1F3D"/>
                </a:solidFill>
                <a:latin typeface="Carlito" pitchFamily="34" charset="0"/>
                <a:ea typeface="Carlito" pitchFamily="34" charset="-122"/>
                <a:cs typeface="Carlito" pitchFamily="34" charset="-120"/>
              </a:rPr>
              <a:t>BLENDSHAPE</a:t>
            </a:r>
            <a:endParaRPr lang="en-US" sz="800" dirty="0"/>
          </a:p>
        </p:txBody>
      </p:sp>
      <p:sp>
        <p:nvSpPr>
          <p:cNvPr id="36" name="Text 34"/>
          <p:cNvSpPr/>
          <p:nvPr/>
        </p:nvSpPr>
        <p:spPr>
          <a:xfrm>
            <a:off x="457200" y="3387030"/>
            <a:ext cx="5163028" cy="133302"/>
          </a:xfrm>
          <a:prstGeom prst="rect">
            <a:avLst/>
          </a:prstGeom>
          <a:noFill/>
          <a:ln/>
        </p:spPr>
        <p:txBody>
          <a:bodyPr wrap="square" lIns="0" tIns="0" rIns="0" bIns="0" rtlCol="0" anchor="t">
            <a:normAutofit/>
          </a:bodyPr>
          <a:lstStyle/>
          <a:p>
            <a:pPr algn="l" indent="0" marL="0">
              <a:lnSpc>
                <a:spcPts val="928"/>
              </a:lnSpc>
              <a:buNone/>
            </a:pPr>
            <a:r>
              <a:rPr lang="en-US" sz="800" spc="111" kern="0" dirty="0">
                <a:solidFill>
                  <a:srgbClr val="5B6B82"/>
                </a:solidFill>
                <a:latin typeface="Liberation Sans Narrow" pitchFamily="34" charset="0"/>
                <a:ea typeface="Liberation Sans Narrow" pitchFamily="34" charset="-122"/>
                <a:cs typeface="Liberation Sans Narrow" pitchFamily="34" charset="-120"/>
              </a:rPr>
              <a:t>CATEGORY CONTRIBUTION (TOP-30)</a:t>
            </a:r>
            <a:endParaRPr lang="en-US" sz="800" dirty="0"/>
          </a:p>
        </p:txBody>
      </p:sp>
      <p:sp>
        <p:nvSpPr>
          <p:cNvPr id="37" name="Text 35"/>
          <p:cNvSpPr/>
          <p:nvPr/>
        </p:nvSpPr>
        <p:spPr>
          <a:xfrm>
            <a:off x="457200" y="3547765"/>
            <a:ext cx="1775892" cy="157163"/>
          </a:xfrm>
          <a:prstGeom prst="rect">
            <a:avLst/>
          </a:prstGeom>
          <a:solidFill>
            <a:srgbClr val="0F1F3D"/>
          </a:solidFill>
          <a:ln/>
        </p:spPr>
        <p:txBody>
          <a:bodyPr wrap="square" rtlCol="0" anchor="ctr"/>
          <a:lstStyle/>
          <a:p>
            <a:pPr indent="0" marL="0">
              <a:buNone/>
            </a:pPr>
            <a:endParaRPr lang="en-US" dirty="0"/>
          </a:p>
        </p:txBody>
      </p:sp>
      <p:sp>
        <p:nvSpPr>
          <p:cNvPr id="38" name="Text 36"/>
          <p:cNvSpPr/>
          <p:nvPr/>
        </p:nvSpPr>
        <p:spPr>
          <a:xfrm>
            <a:off x="457200" y="3547765"/>
            <a:ext cx="1775892"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40%</a:t>
            </a:r>
            <a:endParaRPr lang="en-US" sz="800" dirty="0"/>
          </a:p>
        </p:txBody>
      </p:sp>
      <p:sp>
        <p:nvSpPr>
          <p:cNvPr id="39" name="Text 37"/>
          <p:cNvSpPr/>
          <p:nvPr/>
        </p:nvSpPr>
        <p:spPr>
          <a:xfrm>
            <a:off x="2233092" y="3547765"/>
            <a:ext cx="976796" cy="157163"/>
          </a:xfrm>
          <a:prstGeom prst="rect">
            <a:avLst/>
          </a:prstGeom>
          <a:solidFill>
            <a:srgbClr val="14B8A6"/>
          </a:solidFill>
          <a:ln/>
        </p:spPr>
        <p:txBody>
          <a:bodyPr wrap="square" rtlCol="0" anchor="ctr"/>
          <a:lstStyle/>
          <a:p>
            <a:pPr indent="0" marL="0">
              <a:buNone/>
            </a:pPr>
            <a:endParaRPr lang="en-US" dirty="0"/>
          </a:p>
        </p:txBody>
      </p:sp>
      <p:sp>
        <p:nvSpPr>
          <p:cNvPr id="40" name="Text 38"/>
          <p:cNvSpPr/>
          <p:nvPr/>
        </p:nvSpPr>
        <p:spPr>
          <a:xfrm>
            <a:off x="2233092" y="3547765"/>
            <a:ext cx="976796"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22%</a:t>
            </a:r>
            <a:endParaRPr lang="en-US" sz="800" dirty="0"/>
          </a:p>
        </p:txBody>
      </p:sp>
      <p:sp>
        <p:nvSpPr>
          <p:cNvPr id="41" name="Text 39"/>
          <p:cNvSpPr/>
          <p:nvPr/>
        </p:nvSpPr>
        <p:spPr>
          <a:xfrm>
            <a:off x="3209888" y="3547765"/>
            <a:ext cx="887946" cy="157163"/>
          </a:xfrm>
          <a:prstGeom prst="rect">
            <a:avLst/>
          </a:prstGeom>
          <a:solidFill>
            <a:srgbClr val="C77B2C"/>
          </a:solidFill>
          <a:ln/>
        </p:spPr>
        <p:txBody>
          <a:bodyPr wrap="square" rtlCol="0" anchor="ctr"/>
          <a:lstStyle/>
          <a:p>
            <a:pPr indent="0" marL="0">
              <a:buNone/>
            </a:pPr>
            <a:endParaRPr lang="en-US" dirty="0"/>
          </a:p>
        </p:txBody>
      </p:sp>
      <p:sp>
        <p:nvSpPr>
          <p:cNvPr id="42" name="Text 40"/>
          <p:cNvSpPr/>
          <p:nvPr/>
        </p:nvSpPr>
        <p:spPr>
          <a:xfrm>
            <a:off x="3209888" y="3547765"/>
            <a:ext cx="887946"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20%</a:t>
            </a:r>
            <a:endParaRPr lang="en-US" sz="800" dirty="0"/>
          </a:p>
        </p:txBody>
      </p:sp>
      <p:sp>
        <p:nvSpPr>
          <p:cNvPr id="43" name="Text 41"/>
          <p:cNvSpPr/>
          <p:nvPr/>
        </p:nvSpPr>
        <p:spPr>
          <a:xfrm>
            <a:off x="4097834" y="3547765"/>
            <a:ext cx="443917" cy="157163"/>
          </a:xfrm>
          <a:prstGeom prst="rect">
            <a:avLst/>
          </a:prstGeom>
          <a:solidFill>
            <a:srgbClr val="B91C1C"/>
          </a:solidFill>
          <a:ln/>
        </p:spPr>
        <p:txBody>
          <a:bodyPr wrap="square" rtlCol="0" anchor="ctr"/>
          <a:lstStyle/>
          <a:p>
            <a:pPr indent="0" marL="0">
              <a:buNone/>
            </a:pPr>
            <a:endParaRPr lang="en-US" dirty="0"/>
          </a:p>
        </p:txBody>
      </p:sp>
      <p:sp>
        <p:nvSpPr>
          <p:cNvPr id="44" name="Text 42"/>
          <p:cNvSpPr/>
          <p:nvPr/>
        </p:nvSpPr>
        <p:spPr>
          <a:xfrm>
            <a:off x="4097834" y="3547765"/>
            <a:ext cx="443917"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10%</a:t>
            </a:r>
            <a:endParaRPr lang="en-US" sz="800" dirty="0"/>
          </a:p>
        </p:txBody>
      </p:sp>
      <p:sp>
        <p:nvSpPr>
          <p:cNvPr id="45" name="Text 43"/>
          <p:cNvSpPr/>
          <p:nvPr/>
        </p:nvSpPr>
        <p:spPr>
          <a:xfrm>
            <a:off x="4541751" y="3547765"/>
            <a:ext cx="355290" cy="157163"/>
          </a:xfrm>
          <a:prstGeom prst="rect">
            <a:avLst/>
          </a:prstGeom>
          <a:solidFill>
            <a:srgbClr val="7C3AED"/>
          </a:solidFill>
          <a:ln/>
        </p:spPr>
        <p:txBody>
          <a:bodyPr wrap="square" rtlCol="0" anchor="ctr"/>
          <a:lstStyle/>
          <a:p>
            <a:pPr indent="0" marL="0">
              <a:buNone/>
            </a:pPr>
            <a:endParaRPr lang="en-US" dirty="0"/>
          </a:p>
        </p:txBody>
      </p:sp>
      <p:sp>
        <p:nvSpPr>
          <p:cNvPr id="46" name="Text 44"/>
          <p:cNvSpPr/>
          <p:nvPr/>
        </p:nvSpPr>
        <p:spPr>
          <a:xfrm>
            <a:off x="4541751" y="3547765"/>
            <a:ext cx="355290"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8%</a:t>
            </a:r>
            <a:endParaRPr lang="en-US" sz="800" dirty="0"/>
          </a:p>
        </p:txBody>
      </p:sp>
      <p:sp>
        <p:nvSpPr>
          <p:cNvPr id="47" name="Text 45"/>
          <p:cNvSpPr/>
          <p:nvPr/>
        </p:nvSpPr>
        <p:spPr>
          <a:xfrm>
            <a:off x="457200" y="3754934"/>
            <a:ext cx="2001022" cy="164592"/>
          </a:xfrm>
          <a:prstGeom prst="rect">
            <a:avLst/>
          </a:prstGeom>
          <a:noFill/>
          <a:ln/>
        </p:spPr>
        <p:txBody>
          <a:bodyPr wrap="none" lIns="0" tIns="0" rIns="0" bIns="0" rtlCol="0" anchor="t"/>
          <a:lstStyle/>
          <a:p>
            <a:pPr algn="l" indent="0" marL="0">
              <a:lnSpc>
                <a:spcPts val="886"/>
              </a:lnSpc>
              <a:buNone/>
            </a:pPr>
            <a:r>
              <a:rPr lang="en-US" sz="800" dirty="0">
                <a:solidFill>
                  <a:srgbClr val="0F1F3D"/>
                </a:solidFill>
                <a:latin typeface="Carlito" pitchFamily="34" charset="0"/>
                <a:ea typeface="Carlito" pitchFamily="34" charset="-122"/>
                <a:cs typeface="Carlito" pitchFamily="34" charset="-120"/>
              </a:rPr>
              <a:t>Blendshapes</a:t>
            </a:r>
            <a:endParaRPr lang="en-US" sz="800" dirty="0"/>
          </a:p>
        </p:txBody>
      </p:sp>
      <p:sp>
        <p:nvSpPr>
          <p:cNvPr id="48" name="Text 46"/>
          <p:cNvSpPr/>
          <p:nvPr/>
        </p:nvSpPr>
        <p:spPr>
          <a:xfrm>
            <a:off x="2207419" y="3754934"/>
            <a:ext cx="1201865" cy="164592"/>
          </a:xfrm>
          <a:prstGeom prst="rect">
            <a:avLst/>
          </a:prstGeom>
          <a:noFill/>
          <a:ln/>
        </p:spPr>
        <p:txBody>
          <a:bodyPr wrap="none" lIns="0" tIns="0" rIns="0" bIns="0" rtlCol="0" anchor="t"/>
          <a:lstStyle/>
          <a:p>
            <a:pPr algn="l" indent="0" marL="0">
              <a:lnSpc>
                <a:spcPts val="886"/>
              </a:lnSpc>
              <a:buNone/>
            </a:pPr>
            <a:r>
              <a:rPr lang="en-US" sz="800" dirty="0">
                <a:solidFill>
                  <a:srgbClr val="0F766E"/>
                </a:solidFill>
                <a:latin typeface="Carlito" pitchFamily="34" charset="0"/>
                <a:ea typeface="Carlito" pitchFamily="34" charset="-122"/>
                <a:cs typeface="Carlito" pitchFamily="34" charset="-120"/>
              </a:rPr>
              <a:t>Composite</a:t>
            </a:r>
            <a:endParaRPr lang="en-US" sz="800" dirty="0"/>
          </a:p>
        </p:txBody>
      </p:sp>
      <p:sp>
        <p:nvSpPr>
          <p:cNvPr id="49" name="Text 47"/>
          <p:cNvSpPr/>
          <p:nvPr/>
        </p:nvSpPr>
        <p:spPr>
          <a:xfrm>
            <a:off x="3189238" y="3754934"/>
            <a:ext cx="1092708" cy="164592"/>
          </a:xfrm>
          <a:prstGeom prst="rect">
            <a:avLst/>
          </a:prstGeom>
          <a:noFill/>
          <a:ln/>
        </p:spPr>
        <p:txBody>
          <a:bodyPr wrap="none" lIns="0" tIns="0" rIns="0" bIns="0" rtlCol="0" anchor="t"/>
          <a:lstStyle/>
          <a:p>
            <a:pPr algn="l" indent="0" marL="0">
              <a:lnSpc>
                <a:spcPts val="886"/>
              </a:lnSpc>
              <a:buNone/>
            </a:pPr>
            <a:r>
              <a:rPr lang="en-US" sz="800" dirty="0">
                <a:solidFill>
                  <a:srgbClr val="C77B2C"/>
                </a:solidFill>
                <a:latin typeface="Carlito" pitchFamily="34" charset="0"/>
                <a:ea typeface="Carlito" pitchFamily="34" charset="-122"/>
                <a:cs typeface="Carlito" pitchFamily="34" charset="-120"/>
              </a:rPr>
              <a:t>Eye Gaze</a:t>
            </a:r>
            <a:endParaRPr lang="en-US" sz="800" dirty="0"/>
          </a:p>
        </p:txBody>
      </p:sp>
      <p:sp>
        <p:nvSpPr>
          <p:cNvPr id="50" name="Text 48"/>
          <p:cNvSpPr/>
          <p:nvPr/>
        </p:nvSpPr>
        <p:spPr>
          <a:xfrm>
            <a:off x="4085779" y="3754934"/>
            <a:ext cx="674406" cy="164592"/>
          </a:xfrm>
          <a:prstGeom prst="rect">
            <a:avLst/>
          </a:prstGeom>
          <a:noFill/>
          <a:ln/>
        </p:spPr>
        <p:txBody>
          <a:bodyPr wrap="none" lIns="0" tIns="0" rIns="0" bIns="0" rtlCol="0" anchor="t"/>
          <a:lstStyle/>
          <a:p>
            <a:pPr algn="l" indent="0" marL="0">
              <a:lnSpc>
                <a:spcPts val="886"/>
              </a:lnSpc>
              <a:buNone/>
            </a:pPr>
            <a:r>
              <a:rPr lang="en-US" sz="800" dirty="0">
                <a:solidFill>
                  <a:srgbClr val="B91C1C"/>
                </a:solidFill>
                <a:latin typeface="Carlito" pitchFamily="34" charset="0"/>
                <a:ea typeface="Carlito" pitchFamily="34" charset="-122"/>
                <a:cs typeface="Carlito" pitchFamily="34" charset="-120"/>
              </a:rPr>
              <a:t>Cross</a:t>
            </a:r>
            <a:endParaRPr lang="en-US" sz="800" dirty="0"/>
          </a:p>
        </p:txBody>
      </p:sp>
      <p:sp>
        <p:nvSpPr>
          <p:cNvPr id="51" name="Text 49"/>
          <p:cNvSpPr/>
          <p:nvPr/>
        </p:nvSpPr>
        <p:spPr>
          <a:xfrm>
            <a:off x="4555480" y="3754934"/>
            <a:ext cx="539489" cy="164592"/>
          </a:xfrm>
          <a:prstGeom prst="rect">
            <a:avLst/>
          </a:prstGeom>
          <a:noFill/>
          <a:ln/>
        </p:spPr>
        <p:txBody>
          <a:bodyPr wrap="none" lIns="0" tIns="0" rIns="0" bIns="0" rtlCol="0" anchor="t"/>
          <a:lstStyle/>
          <a:p>
            <a:pPr algn="l" indent="0" marL="0">
              <a:lnSpc>
                <a:spcPts val="886"/>
              </a:lnSpc>
              <a:buNone/>
            </a:pPr>
            <a:r>
              <a:rPr lang="en-US" sz="800" dirty="0">
                <a:solidFill>
                  <a:srgbClr val="7C3AED"/>
                </a:solidFill>
                <a:latin typeface="Carlito" pitchFamily="34" charset="0"/>
                <a:ea typeface="Carlito" pitchFamily="34" charset="-122"/>
                <a:cs typeface="Carlito" pitchFamily="34" charset="-120"/>
              </a:rPr>
              <a:t>Pose</a:t>
            </a:r>
            <a:endParaRPr lang="en-US" sz="800" dirty="0"/>
          </a:p>
        </p:txBody>
      </p:sp>
      <p:sp>
        <p:nvSpPr>
          <p:cNvPr id="52" name="Text 50"/>
          <p:cNvSpPr/>
          <p:nvPr/>
        </p:nvSpPr>
        <p:spPr>
          <a:xfrm>
            <a:off x="5054203" y="1718965"/>
            <a:ext cx="3632597" cy="769739"/>
          </a:xfrm>
          <a:prstGeom prst="roundRect">
            <a:avLst>
              <a:gd name="adj" fmla="val 4950"/>
            </a:avLst>
          </a:prstGeom>
          <a:solidFill>
            <a:srgbClr val="FFFFFF"/>
          </a:solidFill>
          <a:ln/>
        </p:spPr>
        <p:txBody>
          <a:bodyPr wrap="square" rtlCol="0" anchor="ctr"/>
          <a:lstStyle/>
          <a:p>
            <a:pPr indent="0" marL="0">
              <a:buNone/>
            </a:pPr>
            <a:endParaRPr lang="en-US" dirty="0"/>
          </a:p>
        </p:txBody>
      </p:sp>
      <p:sp>
        <p:nvSpPr>
          <p:cNvPr id="53" name="Shape 51"/>
          <p:cNvSpPr/>
          <p:nvPr/>
        </p:nvSpPr>
        <p:spPr>
          <a:xfrm>
            <a:off x="5054203" y="1722537"/>
            <a:ext cx="3632597" cy="0"/>
          </a:xfrm>
          <a:prstGeom prst="line">
            <a:avLst/>
          </a:prstGeom>
          <a:noFill/>
          <a:ln w="7144">
            <a:solidFill>
              <a:srgbClr val="D9E1EC"/>
            </a:solidFill>
            <a:prstDash val="solid"/>
          </a:ln>
        </p:spPr>
      </p:sp>
      <p:sp>
        <p:nvSpPr>
          <p:cNvPr id="54" name="Shape 52"/>
          <p:cNvSpPr/>
          <p:nvPr/>
        </p:nvSpPr>
        <p:spPr>
          <a:xfrm>
            <a:off x="8683228" y="1718965"/>
            <a:ext cx="0" cy="769739"/>
          </a:xfrm>
          <a:prstGeom prst="line">
            <a:avLst/>
          </a:prstGeom>
          <a:noFill/>
          <a:ln w="7144">
            <a:solidFill>
              <a:srgbClr val="D9E1EC"/>
            </a:solidFill>
            <a:prstDash val="solid"/>
          </a:ln>
        </p:spPr>
      </p:sp>
      <p:sp>
        <p:nvSpPr>
          <p:cNvPr id="55" name="Shape 53"/>
          <p:cNvSpPr/>
          <p:nvPr/>
        </p:nvSpPr>
        <p:spPr>
          <a:xfrm>
            <a:off x="5054203" y="2485132"/>
            <a:ext cx="3632597" cy="0"/>
          </a:xfrm>
          <a:prstGeom prst="line">
            <a:avLst/>
          </a:prstGeom>
          <a:noFill/>
          <a:ln w="7144">
            <a:solidFill>
              <a:srgbClr val="D9E1EC"/>
            </a:solidFill>
            <a:prstDash val="solid"/>
          </a:ln>
        </p:spPr>
      </p:sp>
      <p:sp>
        <p:nvSpPr>
          <p:cNvPr id="56" name="Shape 54"/>
          <p:cNvSpPr/>
          <p:nvPr/>
        </p:nvSpPr>
        <p:spPr>
          <a:xfrm>
            <a:off x="5064919" y="1718965"/>
            <a:ext cx="0" cy="769739"/>
          </a:xfrm>
          <a:prstGeom prst="line">
            <a:avLst/>
          </a:prstGeom>
          <a:noFill/>
          <a:ln w="21431">
            <a:solidFill>
              <a:srgbClr val="14B8A6"/>
            </a:solidFill>
            <a:prstDash val="solid"/>
          </a:ln>
        </p:spPr>
      </p:sp>
      <p:sp>
        <p:nvSpPr>
          <p:cNvPr id="57" name="Text 55"/>
          <p:cNvSpPr/>
          <p:nvPr/>
        </p:nvSpPr>
        <p:spPr>
          <a:xfrm>
            <a:off x="5204222" y="1826121"/>
            <a:ext cx="3456575" cy="126159"/>
          </a:xfrm>
          <a:prstGeom prst="rect">
            <a:avLst/>
          </a:prstGeom>
          <a:noFill/>
          <a:ln/>
        </p:spPr>
        <p:txBody>
          <a:bodyPr wrap="square" lIns="0" tIns="0" rIns="0" bIns="0" rtlCol="0" anchor="t">
            <a:normAutofit/>
          </a:bodyPr>
          <a:lstStyle/>
          <a:p>
            <a:pPr algn="l" indent="0" marL="0">
              <a:lnSpc>
                <a:spcPts val="928"/>
              </a:lnSpc>
              <a:buNone/>
            </a:pPr>
            <a:r>
              <a:rPr lang="en-US" sz="800" b="1" spc="87" kern="0" dirty="0">
                <a:solidFill>
                  <a:srgbClr val="0F766E"/>
                </a:solidFill>
                <a:latin typeface="Liberation Sans Narrow" pitchFamily="34" charset="0"/>
                <a:ea typeface="Liberation Sans Narrow" pitchFamily="34" charset="-122"/>
                <a:cs typeface="Liberation Sans Narrow" pitchFamily="34" charset="-120"/>
              </a:rPr>
              <a:t>TOP-RANK COMPOSITE — COMPOSITE · 10D</a:t>
            </a:r>
            <a:endParaRPr lang="en-US" sz="800" dirty="0"/>
          </a:p>
        </p:txBody>
      </p:sp>
      <p:sp>
        <p:nvSpPr>
          <p:cNvPr id="58" name="Text 56"/>
          <p:cNvSpPr/>
          <p:nvPr/>
        </p:nvSpPr>
        <p:spPr>
          <a:xfrm>
            <a:off x="5204222" y="1979712"/>
            <a:ext cx="3346847" cy="401836"/>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boredom_indicator_vel_std</a:t>
            </a:r>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 is the top feature — a cross-emotion signal. Confusion and boredom share attentional-disruption mechanisms (D'Mello &amp; Graesser).</a:t>
            </a:r>
            <a:endParaRPr lang="en-US" sz="800" dirty="0"/>
          </a:p>
        </p:txBody>
      </p:sp>
      <p:sp>
        <p:nvSpPr>
          <p:cNvPr id="59" name="Text 57"/>
          <p:cNvSpPr/>
          <p:nvPr/>
        </p:nvSpPr>
        <p:spPr>
          <a:xfrm>
            <a:off x="5054203" y="2560141"/>
            <a:ext cx="3632597" cy="769739"/>
          </a:xfrm>
          <a:prstGeom prst="roundRect">
            <a:avLst>
              <a:gd name="adj" fmla="val 4950"/>
            </a:avLst>
          </a:prstGeom>
          <a:solidFill>
            <a:srgbClr val="FFFFFF"/>
          </a:solidFill>
          <a:ln/>
        </p:spPr>
        <p:txBody>
          <a:bodyPr wrap="square" rtlCol="0" anchor="ctr"/>
          <a:lstStyle/>
          <a:p>
            <a:pPr indent="0" marL="0">
              <a:buNone/>
            </a:pPr>
            <a:endParaRPr lang="en-US" dirty="0"/>
          </a:p>
        </p:txBody>
      </p:sp>
      <p:sp>
        <p:nvSpPr>
          <p:cNvPr id="60" name="Shape 58"/>
          <p:cNvSpPr/>
          <p:nvPr/>
        </p:nvSpPr>
        <p:spPr>
          <a:xfrm>
            <a:off x="5054203" y="2563713"/>
            <a:ext cx="3632597" cy="0"/>
          </a:xfrm>
          <a:prstGeom prst="line">
            <a:avLst/>
          </a:prstGeom>
          <a:noFill/>
          <a:ln w="7144">
            <a:solidFill>
              <a:srgbClr val="D9E1EC"/>
            </a:solidFill>
            <a:prstDash val="solid"/>
          </a:ln>
        </p:spPr>
      </p:sp>
      <p:sp>
        <p:nvSpPr>
          <p:cNvPr id="61" name="Shape 59"/>
          <p:cNvSpPr/>
          <p:nvPr/>
        </p:nvSpPr>
        <p:spPr>
          <a:xfrm>
            <a:off x="8683228" y="2560141"/>
            <a:ext cx="0" cy="769739"/>
          </a:xfrm>
          <a:prstGeom prst="line">
            <a:avLst/>
          </a:prstGeom>
          <a:noFill/>
          <a:ln w="7144">
            <a:solidFill>
              <a:srgbClr val="D9E1EC"/>
            </a:solidFill>
            <a:prstDash val="solid"/>
          </a:ln>
        </p:spPr>
      </p:sp>
      <p:sp>
        <p:nvSpPr>
          <p:cNvPr id="62" name="Shape 60"/>
          <p:cNvSpPr/>
          <p:nvPr/>
        </p:nvSpPr>
        <p:spPr>
          <a:xfrm>
            <a:off x="5054203" y="3326309"/>
            <a:ext cx="3632597" cy="0"/>
          </a:xfrm>
          <a:prstGeom prst="line">
            <a:avLst/>
          </a:prstGeom>
          <a:noFill/>
          <a:ln w="7144">
            <a:solidFill>
              <a:srgbClr val="D9E1EC"/>
            </a:solidFill>
            <a:prstDash val="solid"/>
          </a:ln>
        </p:spPr>
      </p:sp>
      <p:sp>
        <p:nvSpPr>
          <p:cNvPr id="63" name="Shape 61"/>
          <p:cNvSpPr/>
          <p:nvPr/>
        </p:nvSpPr>
        <p:spPr>
          <a:xfrm>
            <a:off x="5064919" y="2560141"/>
            <a:ext cx="0" cy="769739"/>
          </a:xfrm>
          <a:prstGeom prst="line">
            <a:avLst/>
          </a:prstGeom>
          <a:noFill/>
          <a:ln w="21431">
            <a:solidFill>
              <a:srgbClr val="14B8A6"/>
            </a:solidFill>
            <a:prstDash val="solid"/>
          </a:ln>
        </p:spPr>
      </p:sp>
      <p:sp>
        <p:nvSpPr>
          <p:cNvPr id="64" name="Text 62"/>
          <p:cNvSpPr/>
          <p:nvPr/>
        </p:nvSpPr>
        <p:spPr>
          <a:xfrm>
            <a:off x="5204222" y="2667298"/>
            <a:ext cx="3456575" cy="126159"/>
          </a:xfrm>
          <a:prstGeom prst="rect">
            <a:avLst/>
          </a:prstGeom>
          <a:noFill/>
          <a:ln/>
        </p:spPr>
        <p:txBody>
          <a:bodyPr wrap="square" lIns="0" tIns="0" rIns="0" bIns="0" rtlCol="0" anchor="t">
            <a:normAutofit/>
          </a:bodyPr>
          <a:lstStyle/>
          <a:p>
            <a:pPr algn="l" indent="0" marL="0">
              <a:lnSpc>
                <a:spcPts val="928"/>
              </a:lnSpc>
              <a:buNone/>
            </a:pPr>
            <a:r>
              <a:rPr lang="en-US" sz="800" b="1" spc="87" kern="0" dirty="0">
                <a:solidFill>
                  <a:srgbClr val="0F766E"/>
                </a:solidFill>
                <a:latin typeface="Liberation Sans Narrow" pitchFamily="34" charset="0"/>
                <a:ea typeface="Liberation Sans Narrow" pitchFamily="34" charset="-122"/>
                <a:cs typeface="Liberation Sans Narrow" pitchFamily="34" charset="-120"/>
              </a:rPr>
              <a:t>GAZE-PATTERN SIGNAL — EYE GAZE · 6D</a:t>
            </a:r>
            <a:endParaRPr lang="en-US" sz="800" dirty="0"/>
          </a:p>
        </p:txBody>
      </p:sp>
      <p:sp>
        <p:nvSpPr>
          <p:cNvPr id="65" name="Text 63"/>
          <p:cNvSpPr/>
          <p:nvPr/>
        </p:nvSpPr>
        <p:spPr>
          <a:xfrm>
            <a:off x="5204222" y="2820888"/>
            <a:ext cx="3346847" cy="401836"/>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eyeLookDownLeft_kurtosis</a:t>
            </a:r>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 captures occasional intense downward glances — information-seeking behavior of confused learners. High kurtosis = heavy-tail = rare but intense events.</a:t>
            </a:r>
            <a:endParaRPr lang="en-US" sz="800" dirty="0"/>
          </a:p>
        </p:txBody>
      </p:sp>
      <p:sp>
        <p:nvSpPr>
          <p:cNvPr id="66" name="Text 64"/>
          <p:cNvSpPr/>
          <p:nvPr/>
        </p:nvSpPr>
        <p:spPr>
          <a:xfrm>
            <a:off x="5054203" y="3401318"/>
            <a:ext cx="3632597" cy="769739"/>
          </a:xfrm>
          <a:prstGeom prst="roundRect">
            <a:avLst>
              <a:gd name="adj" fmla="val 4950"/>
            </a:avLst>
          </a:prstGeom>
          <a:solidFill>
            <a:srgbClr val="FFFFFF"/>
          </a:solidFill>
          <a:ln/>
        </p:spPr>
        <p:txBody>
          <a:bodyPr wrap="square" rtlCol="0" anchor="ctr"/>
          <a:lstStyle/>
          <a:p>
            <a:pPr indent="0" marL="0">
              <a:buNone/>
            </a:pPr>
            <a:endParaRPr lang="en-US" dirty="0"/>
          </a:p>
        </p:txBody>
      </p:sp>
      <p:sp>
        <p:nvSpPr>
          <p:cNvPr id="67" name="Shape 65"/>
          <p:cNvSpPr/>
          <p:nvPr/>
        </p:nvSpPr>
        <p:spPr>
          <a:xfrm>
            <a:off x="5054203" y="3404890"/>
            <a:ext cx="3632597" cy="0"/>
          </a:xfrm>
          <a:prstGeom prst="line">
            <a:avLst/>
          </a:prstGeom>
          <a:noFill/>
          <a:ln w="7144">
            <a:solidFill>
              <a:srgbClr val="D9E1EC"/>
            </a:solidFill>
            <a:prstDash val="solid"/>
          </a:ln>
        </p:spPr>
      </p:sp>
      <p:sp>
        <p:nvSpPr>
          <p:cNvPr id="68" name="Shape 66"/>
          <p:cNvSpPr/>
          <p:nvPr/>
        </p:nvSpPr>
        <p:spPr>
          <a:xfrm>
            <a:off x="8683228" y="3401318"/>
            <a:ext cx="0" cy="769739"/>
          </a:xfrm>
          <a:prstGeom prst="line">
            <a:avLst/>
          </a:prstGeom>
          <a:noFill/>
          <a:ln w="7144">
            <a:solidFill>
              <a:srgbClr val="D9E1EC"/>
            </a:solidFill>
            <a:prstDash val="solid"/>
          </a:ln>
        </p:spPr>
      </p:sp>
      <p:sp>
        <p:nvSpPr>
          <p:cNvPr id="69" name="Shape 67"/>
          <p:cNvSpPr/>
          <p:nvPr/>
        </p:nvSpPr>
        <p:spPr>
          <a:xfrm>
            <a:off x="5054203" y="4167485"/>
            <a:ext cx="3632597" cy="0"/>
          </a:xfrm>
          <a:prstGeom prst="line">
            <a:avLst/>
          </a:prstGeom>
          <a:noFill/>
          <a:ln w="7144">
            <a:solidFill>
              <a:srgbClr val="D9E1EC"/>
            </a:solidFill>
            <a:prstDash val="solid"/>
          </a:ln>
        </p:spPr>
      </p:sp>
      <p:sp>
        <p:nvSpPr>
          <p:cNvPr id="70" name="Shape 68"/>
          <p:cNvSpPr/>
          <p:nvPr/>
        </p:nvSpPr>
        <p:spPr>
          <a:xfrm>
            <a:off x="5064919" y="3401318"/>
            <a:ext cx="0" cy="769739"/>
          </a:xfrm>
          <a:prstGeom prst="line">
            <a:avLst/>
          </a:prstGeom>
          <a:noFill/>
          <a:ln w="21431">
            <a:solidFill>
              <a:srgbClr val="14B8A6"/>
            </a:solidFill>
            <a:prstDash val="solid"/>
          </a:ln>
        </p:spPr>
      </p:sp>
      <p:sp>
        <p:nvSpPr>
          <p:cNvPr id="71" name="Text 69"/>
          <p:cNvSpPr/>
          <p:nvPr/>
        </p:nvSpPr>
        <p:spPr>
          <a:xfrm>
            <a:off x="5204222" y="3508474"/>
            <a:ext cx="3456575" cy="126159"/>
          </a:xfrm>
          <a:prstGeom prst="rect">
            <a:avLst/>
          </a:prstGeom>
          <a:noFill/>
          <a:ln/>
        </p:spPr>
        <p:txBody>
          <a:bodyPr wrap="square" lIns="0" tIns="0" rIns="0" bIns="0" rtlCol="0" anchor="t">
            <a:normAutofit/>
          </a:bodyPr>
          <a:lstStyle/>
          <a:p>
            <a:pPr algn="l" indent="0" marL="0">
              <a:lnSpc>
                <a:spcPts val="928"/>
              </a:lnSpc>
              <a:buNone/>
            </a:pPr>
            <a:r>
              <a:rPr lang="en-US" sz="800" b="1" spc="87" kern="0" dirty="0">
                <a:solidFill>
                  <a:srgbClr val="0F766E"/>
                </a:solidFill>
                <a:latin typeface="Carlito" pitchFamily="34" charset="0"/>
                <a:ea typeface="Carlito" pitchFamily="34" charset="-122"/>
                <a:cs typeface="Carlito" pitchFamily="34" charset="-120"/>
              </a:rPr>
              <a:t>WEAK DISTRIBUTED SIGNATURE — ALL CATEGORIES</a:t>
            </a:r>
            <a:endParaRPr lang="en-US" sz="800" dirty="0"/>
          </a:p>
        </p:txBody>
      </p:sp>
      <p:sp>
        <p:nvSpPr>
          <p:cNvPr id="72" name="Text 70"/>
          <p:cNvSpPr/>
          <p:nvPr/>
        </p:nvSpPr>
        <p:spPr>
          <a:xfrm>
            <a:off x="5204222" y="3662065"/>
            <a:ext cx="3346847" cy="401836"/>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Confusion has no single dominant feature. The classifier spreads its decision across many weak signals — explaining the Low-class collapse seen in the confusion matrix.</a:t>
            </a:r>
            <a:endParaRPr lang="en-US" sz="800" dirty="0"/>
          </a:p>
        </p:txBody>
      </p:sp>
      <p:sp>
        <p:nvSpPr>
          <p:cNvPr id="73" name="Text 71"/>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THESIS DEFENSE</a:t>
            </a:r>
            <a:endParaRPr lang="en-US" sz="800" dirty="0"/>
          </a:p>
        </p:txBody>
      </p:sp>
      <p:sp>
        <p:nvSpPr>
          <p:cNvPr id="74" name="Text 72"/>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24 / 34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square" lIns="0" tIns="0" rIns="0" bIns="0" rtlCol="0" anchor="t"/>
          <a:lstStyle/>
          <a:p>
            <a:pPr algn="l" indent="0" marL="0">
              <a:lnSpc>
                <a:spcPts val="928"/>
              </a:lnSpc>
              <a:buNone/>
            </a:pPr>
            <a:r>
              <a:rPr lang="en-US" sz="800" b="1" spc="136" kern="0" dirty="0">
                <a:solidFill>
                  <a:srgbClr val="14B8A6"/>
                </a:solidFill>
                <a:latin typeface="Liberation Sans Narrow" pitchFamily="34" charset="0"/>
                <a:ea typeface="Liberation Sans Narrow" pitchFamily="34" charset="-122"/>
                <a:cs typeface="Liberation Sans Narrow" pitchFamily="34" charset="-120"/>
              </a:rPr>
              <a:t>RQ2 · SHAP ANALYSIS · FRUSTRATION</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591395"/>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Frustration is in the Jaw, the Sneer, and the Bursting Patterns</a:t>
            </a:r>
            <a:endParaRPr lang="en-US" sz="2025" dirty="0"/>
          </a:p>
        </p:txBody>
      </p:sp>
      <p:sp>
        <p:nvSpPr>
          <p:cNvPr id="5" name="Text 3"/>
          <p:cNvSpPr/>
          <p:nvPr/>
        </p:nvSpPr>
        <p:spPr>
          <a:xfrm>
            <a:off x="457200" y="1301055"/>
            <a:ext cx="6572250" cy="358759"/>
          </a:xfrm>
          <a:prstGeom prst="rect">
            <a:avLst/>
          </a:prstGeom>
          <a:noFill/>
          <a:ln/>
        </p:spPr>
        <p:txBody>
          <a:bodyPr wrap="square" lIns="0" tIns="0" rIns="0" bIns="0" rtlCol="0" anchor="t"/>
          <a:lstStyle/>
          <a:p>
            <a:pPr algn="l" indent="0" marL="0">
              <a:lnSpc>
                <a:spcPts val="1308"/>
              </a:lnSpc>
              <a:buNone/>
            </a:pPr>
            <a:r>
              <a:rPr lang="en-US" sz="844" dirty="0">
                <a:solidFill>
                  <a:srgbClr val="5B6B82"/>
                </a:solidFill>
                <a:latin typeface="Carlito" pitchFamily="34" charset="0"/>
                <a:ea typeface="Carlito" pitchFamily="34" charset="-122"/>
                <a:cs typeface="Carlito" pitchFamily="34" charset="-120"/>
              </a:rPr>
              <a:t>Mouth, jaw, and nose blendshapes reflect muscular tension. Dynamics capture uneven bursting expression patterns — frustration is not constant; it spikes.</a:t>
            </a:r>
            <a:endParaRPr lang="en-US" sz="844" dirty="0"/>
          </a:p>
        </p:txBody>
      </p:sp>
      <p:sp>
        <p:nvSpPr>
          <p:cNvPr id="6" name="Text 4"/>
          <p:cNvSpPr/>
          <p:nvPr/>
        </p:nvSpPr>
        <p:spPr>
          <a:xfrm>
            <a:off x="457200" y="1718965"/>
            <a:ext cx="5821602" cy="119015"/>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5B6B82"/>
                </a:solidFill>
                <a:latin typeface="Liberation Sans Narrow" pitchFamily="34" charset="0"/>
                <a:ea typeface="Liberation Sans Narrow" pitchFamily="34" charset="-122"/>
                <a:cs typeface="Liberation Sans Narrow" pitchFamily="34" charset="-120"/>
              </a:rPr>
              <a:t>TOP-5 SHAP FEATURES</a:t>
            </a:r>
            <a:endParaRPr lang="en-US" sz="800" dirty="0"/>
          </a:p>
        </p:txBody>
      </p:sp>
      <p:sp>
        <p:nvSpPr>
          <p:cNvPr id="7" name="Shape 5"/>
          <p:cNvSpPr/>
          <p:nvPr/>
        </p:nvSpPr>
        <p:spPr>
          <a:xfrm>
            <a:off x="457200" y="2147590"/>
            <a:ext cx="4439841" cy="0"/>
          </a:xfrm>
          <a:prstGeom prst="line">
            <a:avLst/>
          </a:prstGeom>
          <a:noFill/>
          <a:ln w="7144">
            <a:solidFill>
              <a:srgbClr val="E8EDF4"/>
            </a:solidFill>
            <a:prstDash val="solid"/>
          </a:ln>
        </p:spPr>
      </p:sp>
      <p:sp>
        <p:nvSpPr>
          <p:cNvPr id="8" name="Text 6"/>
          <p:cNvSpPr/>
          <p:nvPr/>
        </p:nvSpPr>
        <p:spPr>
          <a:xfrm>
            <a:off x="457200" y="1924348"/>
            <a:ext cx="365760" cy="162520"/>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01</a:t>
            </a:r>
            <a:endParaRPr lang="en-US" sz="844" dirty="0"/>
          </a:p>
        </p:txBody>
      </p:sp>
      <p:sp>
        <p:nvSpPr>
          <p:cNvPr id="9" name="Text 7"/>
          <p:cNvSpPr/>
          <p:nvPr/>
        </p:nvSpPr>
        <p:spPr>
          <a:xfrm>
            <a:off x="757238" y="1937742"/>
            <a:ext cx="3056632" cy="149126"/>
          </a:xfrm>
          <a:prstGeom prst="rect">
            <a:avLst/>
          </a:prstGeom>
          <a:noFill/>
          <a:ln/>
        </p:spPr>
        <p:txBody>
          <a:bodyPr wrap="non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mouthPucker_iqr</a:t>
            </a:r>
            <a:endParaRPr lang="en-US" sz="800" dirty="0"/>
          </a:p>
        </p:txBody>
      </p:sp>
      <p:sp>
        <p:nvSpPr>
          <p:cNvPr id="10" name="Text 8"/>
          <p:cNvSpPr/>
          <p:nvPr/>
        </p:nvSpPr>
        <p:spPr>
          <a:xfrm>
            <a:off x="3482578" y="1932384"/>
            <a:ext cx="685800" cy="154484"/>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0.075</a:t>
            </a:r>
            <a:endParaRPr lang="en-US" sz="800" dirty="0"/>
          </a:p>
        </p:txBody>
      </p:sp>
      <p:sp>
        <p:nvSpPr>
          <p:cNvPr id="11" name="Text 9"/>
          <p:cNvSpPr/>
          <p:nvPr/>
        </p:nvSpPr>
        <p:spPr>
          <a:xfrm>
            <a:off x="4239816" y="1912703"/>
            <a:ext cx="657225" cy="184023"/>
          </a:xfrm>
          <a:prstGeom prst="roundRect">
            <a:avLst>
              <a:gd name="adj" fmla="val 5170807"/>
            </a:avLst>
          </a:prstGeom>
          <a:solidFill>
            <a:srgbClr val="0F1F3D">
              <a:alpha val="8000"/>
            </a:srgbClr>
          </a:solidFill>
          <a:ln w="7144">
            <a:solidFill>
              <a:srgbClr val="D9E1EC"/>
            </a:solidFill>
            <a:prstDash val="solid"/>
          </a:ln>
        </p:spPr>
        <p:txBody>
          <a:bodyPr wrap="square" rtlCol="0" anchor="ctr"/>
          <a:lstStyle/>
          <a:p>
            <a:pPr indent="0" marL="0">
              <a:buNone/>
            </a:pPr>
            <a:endParaRPr lang="en-US" dirty="0"/>
          </a:p>
        </p:txBody>
      </p:sp>
      <p:sp>
        <p:nvSpPr>
          <p:cNvPr id="12" name="Text 10"/>
          <p:cNvSpPr/>
          <p:nvPr/>
        </p:nvSpPr>
        <p:spPr>
          <a:xfrm>
            <a:off x="4178995" y="1922562"/>
            <a:ext cx="778866"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0F1F3D"/>
                </a:solidFill>
                <a:latin typeface="Carlito" pitchFamily="34" charset="0"/>
                <a:ea typeface="Carlito" pitchFamily="34" charset="-122"/>
                <a:cs typeface="Carlito" pitchFamily="34" charset="-120"/>
              </a:rPr>
              <a:t>BLENDSHAPE</a:t>
            </a:r>
            <a:endParaRPr lang="en-US" sz="800" dirty="0"/>
          </a:p>
        </p:txBody>
      </p:sp>
      <p:sp>
        <p:nvSpPr>
          <p:cNvPr id="13" name="Shape 11"/>
          <p:cNvSpPr/>
          <p:nvPr/>
        </p:nvSpPr>
        <p:spPr>
          <a:xfrm>
            <a:off x="457200" y="2433340"/>
            <a:ext cx="4439841" cy="0"/>
          </a:xfrm>
          <a:prstGeom prst="line">
            <a:avLst/>
          </a:prstGeom>
          <a:noFill/>
          <a:ln w="7144">
            <a:solidFill>
              <a:srgbClr val="E8EDF4"/>
            </a:solidFill>
            <a:prstDash val="solid"/>
          </a:ln>
        </p:spPr>
      </p:sp>
      <p:sp>
        <p:nvSpPr>
          <p:cNvPr id="14" name="Text 12"/>
          <p:cNvSpPr/>
          <p:nvPr/>
        </p:nvSpPr>
        <p:spPr>
          <a:xfrm>
            <a:off x="457200" y="2210098"/>
            <a:ext cx="365760" cy="162520"/>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02</a:t>
            </a:r>
            <a:endParaRPr lang="en-US" sz="844" dirty="0"/>
          </a:p>
        </p:txBody>
      </p:sp>
      <p:sp>
        <p:nvSpPr>
          <p:cNvPr id="15" name="Text 13"/>
          <p:cNvSpPr/>
          <p:nvPr/>
        </p:nvSpPr>
        <p:spPr>
          <a:xfrm>
            <a:off x="757238" y="2223492"/>
            <a:ext cx="3143964" cy="149126"/>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boredom_indicator_vel_std</a:t>
            </a:r>
            <a:endParaRPr lang="en-US" sz="800" dirty="0"/>
          </a:p>
        </p:txBody>
      </p:sp>
      <p:sp>
        <p:nvSpPr>
          <p:cNvPr id="16" name="Text 14"/>
          <p:cNvSpPr/>
          <p:nvPr/>
        </p:nvSpPr>
        <p:spPr>
          <a:xfrm>
            <a:off x="3482578" y="2218134"/>
            <a:ext cx="685800" cy="154484"/>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0.065</a:t>
            </a:r>
            <a:endParaRPr lang="en-US" sz="800" dirty="0"/>
          </a:p>
        </p:txBody>
      </p:sp>
      <p:sp>
        <p:nvSpPr>
          <p:cNvPr id="17" name="Text 15"/>
          <p:cNvSpPr/>
          <p:nvPr/>
        </p:nvSpPr>
        <p:spPr>
          <a:xfrm>
            <a:off x="4239816" y="2198453"/>
            <a:ext cx="657225" cy="184023"/>
          </a:xfrm>
          <a:prstGeom prst="roundRect">
            <a:avLst>
              <a:gd name="adj" fmla="val 5170807"/>
            </a:avLst>
          </a:prstGeom>
          <a:solidFill>
            <a:srgbClr val="B91C1C">
              <a:alpha val="10000"/>
            </a:srgbClr>
          </a:solidFill>
          <a:ln w="7144">
            <a:solidFill>
              <a:srgbClr val="D9E1EC"/>
            </a:solidFill>
            <a:prstDash val="solid"/>
          </a:ln>
        </p:spPr>
        <p:txBody>
          <a:bodyPr wrap="square" rtlCol="0" anchor="ctr"/>
          <a:lstStyle/>
          <a:p>
            <a:pPr indent="0" marL="0">
              <a:buNone/>
            </a:pPr>
            <a:endParaRPr lang="en-US" dirty="0"/>
          </a:p>
        </p:txBody>
      </p:sp>
      <p:sp>
        <p:nvSpPr>
          <p:cNvPr id="18" name="Text 16"/>
          <p:cNvSpPr/>
          <p:nvPr/>
        </p:nvSpPr>
        <p:spPr>
          <a:xfrm>
            <a:off x="4216161" y="2208312"/>
            <a:ext cx="704535"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B91C1C"/>
                </a:solidFill>
                <a:latin typeface="Carlito" pitchFamily="34" charset="0"/>
                <a:ea typeface="Carlito" pitchFamily="34" charset="-122"/>
                <a:cs typeface="Carlito" pitchFamily="34" charset="-120"/>
              </a:rPr>
              <a:t>COMPOSITE</a:t>
            </a:r>
            <a:endParaRPr lang="en-US" sz="800" dirty="0"/>
          </a:p>
        </p:txBody>
      </p:sp>
      <p:sp>
        <p:nvSpPr>
          <p:cNvPr id="19" name="Shape 17"/>
          <p:cNvSpPr/>
          <p:nvPr/>
        </p:nvSpPr>
        <p:spPr>
          <a:xfrm>
            <a:off x="457200" y="2719090"/>
            <a:ext cx="4439841" cy="0"/>
          </a:xfrm>
          <a:prstGeom prst="line">
            <a:avLst/>
          </a:prstGeom>
          <a:noFill/>
          <a:ln w="7144">
            <a:solidFill>
              <a:srgbClr val="E8EDF4"/>
            </a:solidFill>
            <a:prstDash val="solid"/>
          </a:ln>
        </p:spPr>
      </p:sp>
      <p:sp>
        <p:nvSpPr>
          <p:cNvPr id="20" name="Text 18"/>
          <p:cNvSpPr/>
          <p:nvPr/>
        </p:nvSpPr>
        <p:spPr>
          <a:xfrm>
            <a:off x="457200" y="2495848"/>
            <a:ext cx="365760" cy="162520"/>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03</a:t>
            </a:r>
            <a:endParaRPr lang="en-US" sz="844" dirty="0"/>
          </a:p>
        </p:txBody>
      </p:sp>
      <p:sp>
        <p:nvSpPr>
          <p:cNvPr id="21" name="Text 19"/>
          <p:cNvSpPr/>
          <p:nvPr/>
        </p:nvSpPr>
        <p:spPr>
          <a:xfrm>
            <a:off x="757238" y="2509242"/>
            <a:ext cx="3411784" cy="149126"/>
          </a:xfrm>
          <a:prstGeom prst="rect">
            <a:avLst/>
          </a:prstGeom>
          <a:noFill/>
          <a:ln/>
        </p:spPr>
        <p:txBody>
          <a:bodyPr wrap="non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jawRight_std</a:t>
            </a:r>
            <a:endParaRPr lang="en-US" sz="800" dirty="0"/>
          </a:p>
        </p:txBody>
      </p:sp>
      <p:sp>
        <p:nvSpPr>
          <p:cNvPr id="22" name="Text 20"/>
          <p:cNvSpPr/>
          <p:nvPr/>
        </p:nvSpPr>
        <p:spPr>
          <a:xfrm>
            <a:off x="3482578" y="2503884"/>
            <a:ext cx="685800" cy="154484"/>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0.060</a:t>
            </a:r>
            <a:endParaRPr lang="en-US" sz="800" dirty="0"/>
          </a:p>
        </p:txBody>
      </p:sp>
      <p:sp>
        <p:nvSpPr>
          <p:cNvPr id="23" name="Text 21"/>
          <p:cNvSpPr/>
          <p:nvPr/>
        </p:nvSpPr>
        <p:spPr>
          <a:xfrm>
            <a:off x="4239816" y="2484203"/>
            <a:ext cx="657225" cy="184023"/>
          </a:xfrm>
          <a:prstGeom prst="roundRect">
            <a:avLst>
              <a:gd name="adj" fmla="val 5170807"/>
            </a:avLst>
          </a:prstGeom>
          <a:solidFill>
            <a:srgbClr val="0F1F3D">
              <a:alpha val="8000"/>
            </a:srgbClr>
          </a:solidFill>
          <a:ln w="7144">
            <a:solidFill>
              <a:srgbClr val="D9E1EC"/>
            </a:solidFill>
            <a:prstDash val="solid"/>
          </a:ln>
        </p:spPr>
        <p:txBody>
          <a:bodyPr wrap="square" rtlCol="0" anchor="ctr"/>
          <a:lstStyle/>
          <a:p>
            <a:pPr indent="0" marL="0">
              <a:buNone/>
            </a:pPr>
            <a:endParaRPr lang="en-US" dirty="0"/>
          </a:p>
        </p:txBody>
      </p:sp>
      <p:sp>
        <p:nvSpPr>
          <p:cNvPr id="24" name="Text 22"/>
          <p:cNvSpPr/>
          <p:nvPr/>
        </p:nvSpPr>
        <p:spPr>
          <a:xfrm>
            <a:off x="4178995" y="2494062"/>
            <a:ext cx="778866"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0F1F3D"/>
                </a:solidFill>
                <a:latin typeface="Carlito" pitchFamily="34" charset="0"/>
                <a:ea typeface="Carlito" pitchFamily="34" charset="-122"/>
                <a:cs typeface="Carlito" pitchFamily="34" charset="-120"/>
              </a:rPr>
              <a:t>BLENDSHAPE</a:t>
            </a:r>
            <a:endParaRPr lang="en-US" sz="800" dirty="0"/>
          </a:p>
        </p:txBody>
      </p:sp>
      <p:sp>
        <p:nvSpPr>
          <p:cNvPr id="25" name="Shape 23"/>
          <p:cNvSpPr/>
          <p:nvPr/>
        </p:nvSpPr>
        <p:spPr>
          <a:xfrm>
            <a:off x="457200" y="3004840"/>
            <a:ext cx="4439841" cy="0"/>
          </a:xfrm>
          <a:prstGeom prst="line">
            <a:avLst/>
          </a:prstGeom>
          <a:noFill/>
          <a:ln w="7144">
            <a:solidFill>
              <a:srgbClr val="E8EDF4"/>
            </a:solidFill>
            <a:prstDash val="solid"/>
          </a:ln>
        </p:spPr>
      </p:sp>
      <p:sp>
        <p:nvSpPr>
          <p:cNvPr id="26" name="Text 24"/>
          <p:cNvSpPr/>
          <p:nvPr/>
        </p:nvSpPr>
        <p:spPr>
          <a:xfrm>
            <a:off x="457200" y="2781598"/>
            <a:ext cx="365760" cy="162520"/>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04</a:t>
            </a:r>
            <a:endParaRPr lang="en-US" sz="844" dirty="0"/>
          </a:p>
        </p:txBody>
      </p:sp>
      <p:sp>
        <p:nvSpPr>
          <p:cNvPr id="27" name="Text 25"/>
          <p:cNvSpPr/>
          <p:nvPr/>
        </p:nvSpPr>
        <p:spPr>
          <a:xfrm>
            <a:off x="757238" y="2794992"/>
            <a:ext cx="3143964" cy="149126"/>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combined_gaze_vertical_iqr</a:t>
            </a:r>
            <a:endParaRPr lang="en-US" sz="800" dirty="0"/>
          </a:p>
        </p:txBody>
      </p:sp>
      <p:sp>
        <p:nvSpPr>
          <p:cNvPr id="28" name="Text 26"/>
          <p:cNvSpPr/>
          <p:nvPr/>
        </p:nvSpPr>
        <p:spPr>
          <a:xfrm>
            <a:off x="3482578" y="2789634"/>
            <a:ext cx="685800" cy="154484"/>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0.055</a:t>
            </a:r>
            <a:endParaRPr lang="en-US" sz="800" dirty="0"/>
          </a:p>
        </p:txBody>
      </p:sp>
      <p:sp>
        <p:nvSpPr>
          <p:cNvPr id="29" name="Text 27"/>
          <p:cNvSpPr/>
          <p:nvPr/>
        </p:nvSpPr>
        <p:spPr>
          <a:xfrm>
            <a:off x="4239816" y="2769953"/>
            <a:ext cx="657225" cy="184023"/>
          </a:xfrm>
          <a:prstGeom prst="roundRect">
            <a:avLst>
              <a:gd name="adj" fmla="val 5170807"/>
            </a:avLst>
          </a:prstGeom>
          <a:solidFill>
            <a:srgbClr val="C77B2C">
              <a:alpha val="14000"/>
            </a:srgbClr>
          </a:solidFill>
          <a:ln w="7144">
            <a:solidFill>
              <a:srgbClr val="D9E1EC"/>
            </a:solidFill>
            <a:prstDash val="solid"/>
          </a:ln>
        </p:spPr>
        <p:txBody>
          <a:bodyPr wrap="square" rtlCol="0" anchor="ctr"/>
          <a:lstStyle/>
          <a:p>
            <a:pPr indent="0" marL="0">
              <a:buNone/>
            </a:pPr>
            <a:endParaRPr lang="en-US" dirty="0"/>
          </a:p>
        </p:txBody>
      </p:sp>
      <p:sp>
        <p:nvSpPr>
          <p:cNvPr id="30" name="Text 28"/>
          <p:cNvSpPr/>
          <p:nvPr/>
        </p:nvSpPr>
        <p:spPr>
          <a:xfrm>
            <a:off x="4239816" y="2779812"/>
            <a:ext cx="657225"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C77B2C"/>
                </a:solidFill>
                <a:latin typeface="Carlito" pitchFamily="34" charset="0"/>
                <a:ea typeface="Carlito" pitchFamily="34" charset="-122"/>
                <a:cs typeface="Carlito" pitchFamily="34" charset="-120"/>
              </a:rPr>
              <a:t>EYE GAZE</a:t>
            </a:r>
            <a:endParaRPr lang="en-US" sz="800" dirty="0"/>
          </a:p>
        </p:txBody>
      </p:sp>
      <p:sp>
        <p:nvSpPr>
          <p:cNvPr id="31" name="Text 29"/>
          <p:cNvSpPr/>
          <p:nvPr/>
        </p:nvSpPr>
        <p:spPr>
          <a:xfrm>
            <a:off x="457200" y="3067348"/>
            <a:ext cx="365760" cy="173593"/>
          </a:xfrm>
          <a:prstGeom prst="rect">
            <a:avLst/>
          </a:prstGeom>
          <a:noFill/>
          <a:ln/>
        </p:spPr>
        <p:txBody>
          <a:bodyPr wrap="none" lIns="0" tIns="0" rIns="0" bIns="0" rtlCol="0" anchor="t"/>
          <a:lstStyle/>
          <a:p>
            <a:pPr algn="l" indent="0" marL="0">
              <a:lnSpc>
                <a:spcPts val="1266"/>
              </a:lnSpc>
              <a:buNone/>
            </a:pPr>
            <a:r>
              <a:rPr lang="en-US" sz="844" b="1" dirty="0">
                <a:solidFill>
                  <a:srgbClr val="14B8A6"/>
                </a:solidFill>
                <a:latin typeface="Liberation Sans Narrow" pitchFamily="34" charset="0"/>
                <a:ea typeface="Liberation Sans Narrow" pitchFamily="34" charset="-122"/>
                <a:cs typeface="Liberation Sans Narrow" pitchFamily="34" charset="-120"/>
              </a:rPr>
              <a:t>05</a:t>
            </a:r>
            <a:endParaRPr lang="en-US" sz="844" dirty="0"/>
          </a:p>
        </p:txBody>
      </p:sp>
      <p:sp>
        <p:nvSpPr>
          <p:cNvPr id="32" name="Text 30"/>
          <p:cNvSpPr/>
          <p:nvPr/>
        </p:nvSpPr>
        <p:spPr>
          <a:xfrm>
            <a:off x="757238" y="3080742"/>
            <a:ext cx="3056632" cy="164592"/>
          </a:xfrm>
          <a:prstGeom prst="rect">
            <a:avLst/>
          </a:prstGeom>
          <a:noFill/>
          <a:ln/>
        </p:spPr>
        <p:txBody>
          <a:bodyPr wrap="non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noseSneerLeft_max</a:t>
            </a:r>
            <a:endParaRPr lang="en-US" sz="800" dirty="0"/>
          </a:p>
        </p:txBody>
      </p:sp>
      <p:sp>
        <p:nvSpPr>
          <p:cNvPr id="33" name="Text 31"/>
          <p:cNvSpPr/>
          <p:nvPr/>
        </p:nvSpPr>
        <p:spPr>
          <a:xfrm>
            <a:off x="3482578" y="3075384"/>
            <a:ext cx="685800" cy="164592"/>
          </a:xfrm>
          <a:prstGeom prst="rect">
            <a:avLst/>
          </a:prstGeom>
          <a:noFill/>
          <a:ln/>
        </p:spPr>
        <p:txBody>
          <a:bodyPr wrap="none" lIns="0" tIns="0" rIns="0" bIns="0" rtlCol="0" anchor="t"/>
          <a:lstStyle/>
          <a:p>
            <a:pPr algn="r" indent="0" marL="0">
              <a:lnSpc>
                <a:spcPts val="1139"/>
              </a:lnSpc>
              <a:buNone/>
            </a:pPr>
            <a:r>
              <a:rPr lang="en-US" sz="800" b="1" dirty="0">
                <a:solidFill>
                  <a:srgbClr val="0F1F3D"/>
                </a:solidFill>
                <a:latin typeface="Liberation Sans Narrow" pitchFamily="34" charset="0"/>
                <a:ea typeface="Liberation Sans Narrow" pitchFamily="34" charset="-122"/>
                <a:cs typeface="Liberation Sans Narrow" pitchFamily="34" charset="-120"/>
              </a:rPr>
              <a:t>0.052</a:t>
            </a:r>
            <a:endParaRPr lang="en-US" sz="800" dirty="0"/>
          </a:p>
        </p:txBody>
      </p:sp>
      <p:sp>
        <p:nvSpPr>
          <p:cNvPr id="34" name="Text 32"/>
          <p:cNvSpPr/>
          <p:nvPr/>
        </p:nvSpPr>
        <p:spPr>
          <a:xfrm>
            <a:off x="4239816" y="3055703"/>
            <a:ext cx="657225" cy="184023"/>
          </a:xfrm>
          <a:prstGeom prst="roundRect">
            <a:avLst>
              <a:gd name="adj" fmla="val 5170807"/>
            </a:avLst>
          </a:prstGeom>
          <a:solidFill>
            <a:srgbClr val="0F1F3D">
              <a:alpha val="8000"/>
            </a:srgbClr>
          </a:solidFill>
          <a:ln w="7144">
            <a:solidFill>
              <a:srgbClr val="D9E1EC"/>
            </a:solidFill>
            <a:prstDash val="solid"/>
          </a:ln>
        </p:spPr>
        <p:txBody>
          <a:bodyPr wrap="square" rtlCol="0" anchor="ctr"/>
          <a:lstStyle/>
          <a:p>
            <a:pPr indent="0" marL="0">
              <a:buNone/>
            </a:pPr>
            <a:endParaRPr lang="en-US" dirty="0"/>
          </a:p>
        </p:txBody>
      </p:sp>
      <p:sp>
        <p:nvSpPr>
          <p:cNvPr id="35" name="Text 33"/>
          <p:cNvSpPr/>
          <p:nvPr/>
        </p:nvSpPr>
        <p:spPr>
          <a:xfrm>
            <a:off x="4178995" y="3065562"/>
            <a:ext cx="778866"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0F1F3D"/>
                </a:solidFill>
                <a:latin typeface="Carlito" pitchFamily="34" charset="0"/>
                <a:ea typeface="Carlito" pitchFamily="34" charset="-122"/>
                <a:cs typeface="Carlito" pitchFamily="34" charset="-120"/>
              </a:rPr>
              <a:t>BLENDSHAPE</a:t>
            </a:r>
            <a:endParaRPr lang="en-US" sz="800" dirty="0"/>
          </a:p>
        </p:txBody>
      </p:sp>
      <p:sp>
        <p:nvSpPr>
          <p:cNvPr id="36" name="Text 34"/>
          <p:cNvSpPr/>
          <p:nvPr/>
        </p:nvSpPr>
        <p:spPr>
          <a:xfrm>
            <a:off x="457200" y="3387030"/>
            <a:ext cx="5163028" cy="133302"/>
          </a:xfrm>
          <a:prstGeom prst="rect">
            <a:avLst/>
          </a:prstGeom>
          <a:noFill/>
          <a:ln/>
        </p:spPr>
        <p:txBody>
          <a:bodyPr wrap="square" lIns="0" tIns="0" rIns="0" bIns="0" rtlCol="0" anchor="t">
            <a:normAutofit/>
          </a:bodyPr>
          <a:lstStyle/>
          <a:p>
            <a:pPr algn="l" indent="0" marL="0">
              <a:lnSpc>
                <a:spcPts val="928"/>
              </a:lnSpc>
              <a:buNone/>
            </a:pPr>
            <a:r>
              <a:rPr lang="en-US" sz="800" spc="111" kern="0" dirty="0">
                <a:solidFill>
                  <a:srgbClr val="5B6B82"/>
                </a:solidFill>
                <a:latin typeface="Liberation Sans Narrow" pitchFamily="34" charset="0"/>
                <a:ea typeface="Liberation Sans Narrow" pitchFamily="34" charset="-122"/>
                <a:cs typeface="Liberation Sans Narrow" pitchFamily="34" charset="-120"/>
              </a:rPr>
              <a:t>CATEGORY CONTRIBUTION (TOP-30)</a:t>
            </a:r>
            <a:endParaRPr lang="en-US" sz="800" dirty="0"/>
          </a:p>
        </p:txBody>
      </p:sp>
      <p:sp>
        <p:nvSpPr>
          <p:cNvPr id="37" name="Text 35"/>
          <p:cNvSpPr/>
          <p:nvPr/>
        </p:nvSpPr>
        <p:spPr>
          <a:xfrm>
            <a:off x="457200" y="3547765"/>
            <a:ext cx="2131070" cy="157163"/>
          </a:xfrm>
          <a:prstGeom prst="rect">
            <a:avLst/>
          </a:prstGeom>
          <a:solidFill>
            <a:srgbClr val="0F1F3D"/>
          </a:solidFill>
          <a:ln/>
        </p:spPr>
        <p:txBody>
          <a:bodyPr wrap="square" rtlCol="0" anchor="ctr"/>
          <a:lstStyle/>
          <a:p>
            <a:pPr indent="0" marL="0">
              <a:buNone/>
            </a:pPr>
            <a:endParaRPr lang="en-US" dirty="0"/>
          </a:p>
        </p:txBody>
      </p:sp>
      <p:sp>
        <p:nvSpPr>
          <p:cNvPr id="38" name="Text 36"/>
          <p:cNvSpPr/>
          <p:nvPr/>
        </p:nvSpPr>
        <p:spPr>
          <a:xfrm>
            <a:off x="457200" y="3547765"/>
            <a:ext cx="2131070"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48%</a:t>
            </a:r>
            <a:endParaRPr lang="en-US" sz="800" dirty="0"/>
          </a:p>
        </p:txBody>
      </p:sp>
      <p:sp>
        <p:nvSpPr>
          <p:cNvPr id="39" name="Text 37"/>
          <p:cNvSpPr/>
          <p:nvPr/>
        </p:nvSpPr>
        <p:spPr>
          <a:xfrm>
            <a:off x="2588270" y="3547765"/>
            <a:ext cx="887946" cy="157163"/>
          </a:xfrm>
          <a:prstGeom prst="rect">
            <a:avLst/>
          </a:prstGeom>
          <a:solidFill>
            <a:srgbClr val="14B8A6"/>
          </a:solidFill>
          <a:ln/>
        </p:spPr>
        <p:txBody>
          <a:bodyPr wrap="square" rtlCol="0" anchor="ctr"/>
          <a:lstStyle/>
          <a:p>
            <a:pPr indent="0" marL="0">
              <a:buNone/>
            </a:pPr>
            <a:endParaRPr lang="en-US" dirty="0"/>
          </a:p>
        </p:txBody>
      </p:sp>
      <p:sp>
        <p:nvSpPr>
          <p:cNvPr id="40" name="Text 38"/>
          <p:cNvSpPr/>
          <p:nvPr/>
        </p:nvSpPr>
        <p:spPr>
          <a:xfrm>
            <a:off x="2588270" y="3547765"/>
            <a:ext cx="887946"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20%</a:t>
            </a:r>
            <a:endParaRPr lang="en-US" sz="800" dirty="0"/>
          </a:p>
        </p:txBody>
      </p:sp>
      <p:sp>
        <p:nvSpPr>
          <p:cNvPr id="41" name="Text 39"/>
          <p:cNvSpPr/>
          <p:nvPr/>
        </p:nvSpPr>
        <p:spPr>
          <a:xfrm>
            <a:off x="3476216" y="3547765"/>
            <a:ext cx="710357" cy="157163"/>
          </a:xfrm>
          <a:prstGeom prst="rect">
            <a:avLst/>
          </a:prstGeom>
          <a:solidFill>
            <a:srgbClr val="C77B2C"/>
          </a:solidFill>
          <a:ln/>
        </p:spPr>
        <p:txBody>
          <a:bodyPr wrap="square" rtlCol="0" anchor="ctr"/>
          <a:lstStyle/>
          <a:p>
            <a:pPr indent="0" marL="0">
              <a:buNone/>
            </a:pPr>
            <a:endParaRPr lang="en-US" dirty="0"/>
          </a:p>
        </p:txBody>
      </p:sp>
      <p:sp>
        <p:nvSpPr>
          <p:cNvPr id="42" name="Text 40"/>
          <p:cNvSpPr/>
          <p:nvPr/>
        </p:nvSpPr>
        <p:spPr>
          <a:xfrm>
            <a:off x="3476216" y="3547765"/>
            <a:ext cx="710357"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16%</a:t>
            </a:r>
            <a:endParaRPr lang="en-US" sz="800" dirty="0"/>
          </a:p>
        </p:txBody>
      </p:sp>
      <p:sp>
        <p:nvSpPr>
          <p:cNvPr id="43" name="Text 41"/>
          <p:cNvSpPr/>
          <p:nvPr/>
        </p:nvSpPr>
        <p:spPr>
          <a:xfrm>
            <a:off x="4186572" y="3547765"/>
            <a:ext cx="444029" cy="157163"/>
          </a:xfrm>
          <a:prstGeom prst="rect">
            <a:avLst/>
          </a:prstGeom>
          <a:solidFill>
            <a:srgbClr val="7C3AED"/>
          </a:solidFill>
          <a:ln/>
        </p:spPr>
        <p:txBody>
          <a:bodyPr wrap="square" rtlCol="0" anchor="ctr"/>
          <a:lstStyle/>
          <a:p>
            <a:pPr indent="0" marL="0">
              <a:buNone/>
            </a:pPr>
            <a:endParaRPr lang="en-US" dirty="0"/>
          </a:p>
        </p:txBody>
      </p:sp>
      <p:sp>
        <p:nvSpPr>
          <p:cNvPr id="44" name="Text 42"/>
          <p:cNvSpPr/>
          <p:nvPr/>
        </p:nvSpPr>
        <p:spPr>
          <a:xfrm>
            <a:off x="4186572" y="3547765"/>
            <a:ext cx="444029"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10%</a:t>
            </a:r>
            <a:endParaRPr lang="en-US" sz="800" dirty="0"/>
          </a:p>
        </p:txBody>
      </p:sp>
      <p:sp>
        <p:nvSpPr>
          <p:cNvPr id="45" name="Text 43"/>
          <p:cNvSpPr/>
          <p:nvPr/>
        </p:nvSpPr>
        <p:spPr>
          <a:xfrm>
            <a:off x="4630601" y="3547765"/>
            <a:ext cx="266440" cy="157163"/>
          </a:xfrm>
          <a:prstGeom prst="rect">
            <a:avLst/>
          </a:prstGeom>
          <a:solidFill>
            <a:srgbClr val="B91C1C"/>
          </a:solidFill>
          <a:ln/>
        </p:spPr>
        <p:txBody>
          <a:bodyPr wrap="square" rtlCol="0" anchor="ctr"/>
          <a:lstStyle/>
          <a:p>
            <a:pPr indent="0" marL="0">
              <a:buNone/>
            </a:pPr>
            <a:endParaRPr lang="en-US" dirty="0"/>
          </a:p>
        </p:txBody>
      </p:sp>
      <p:sp>
        <p:nvSpPr>
          <p:cNvPr id="46" name="Text 44"/>
          <p:cNvSpPr/>
          <p:nvPr/>
        </p:nvSpPr>
        <p:spPr>
          <a:xfrm>
            <a:off x="4630601" y="3547765"/>
            <a:ext cx="266440" cy="157163"/>
          </a:xfrm>
          <a:prstGeom prst="rect">
            <a:avLst/>
          </a:prstGeom>
          <a:noFill/>
          <a:ln/>
        </p:spPr>
        <p:txBody>
          <a:bodyPr wrap="none" lIns="0" tIns="0" rIns="0" bIns="0" rtlCol="0" anchor="ctr"/>
          <a:lstStyle/>
          <a:p>
            <a:pPr algn="ctr" indent="0" marL="0">
              <a:lnSpc>
                <a:spcPts val="844"/>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6%</a:t>
            </a:r>
            <a:endParaRPr lang="en-US" sz="800" dirty="0"/>
          </a:p>
        </p:txBody>
      </p:sp>
      <p:sp>
        <p:nvSpPr>
          <p:cNvPr id="47" name="Text 45"/>
          <p:cNvSpPr/>
          <p:nvPr/>
        </p:nvSpPr>
        <p:spPr>
          <a:xfrm>
            <a:off x="457200" y="3754934"/>
            <a:ext cx="2401200" cy="164592"/>
          </a:xfrm>
          <a:prstGeom prst="rect">
            <a:avLst/>
          </a:prstGeom>
          <a:noFill/>
          <a:ln/>
        </p:spPr>
        <p:txBody>
          <a:bodyPr wrap="none" lIns="0" tIns="0" rIns="0" bIns="0" rtlCol="0" anchor="t"/>
          <a:lstStyle/>
          <a:p>
            <a:pPr algn="l" indent="0" marL="0">
              <a:lnSpc>
                <a:spcPts val="886"/>
              </a:lnSpc>
              <a:buNone/>
            </a:pPr>
            <a:r>
              <a:rPr lang="en-US" sz="800" dirty="0">
                <a:solidFill>
                  <a:srgbClr val="0F1F3D"/>
                </a:solidFill>
                <a:latin typeface="Carlito" pitchFamily="34" charset="0"/>
                <a:ea typeface="Carlito" pitchFamily="34" charset="-122"/>
                <a:cs typeface="Carlito" pitchFamily="34" charset="-120"/>
              </a:rPr>
              <a:t>Blendshapes</a:t>
            </a:r>
            <a:endParaRPr lang="en-US" sz="800" dirty="0"/>
          </a:p>
        </p:txBody>
      </p:sp>
      <p:sp>
        <p:nvSpPr>
          <p:cNvPr id="48" name="Text 46"/>
          <p:cNvSpPr/>
          <p:nvPr/>
        </p:nvSpPr>
        <p:spPr>
          <a:xfrm>
            <a:off x="2548868" y="3754934"/>
            <a:ext cx="1092708" cy="164592"/>
          </a:xfrm>
          <a:prstGeom prst="rect">
            <a:avLst/>
          </a:prstGeom>
          <a:noFill/>
          <a:ln/>
        </p:spPr>
        <p:txBody>
          <a:bodyPr wrap="none" lIns="0" tIns="0" rIns="0" bIns="0" rtlCol="0" anchor="t"/>
          <a:lstStyle/>
          <a:p>
            <a:pPr algn="l" indent="0" marL="0">
              <a:lnSpc>
                <a:spcPts val="886"/>
              </a:lnSpc>
              <a:buNone/>
            </a:pPr>
            <a:r>
              <a:rPr lang="en-US" sz="800" dirty="0">
                <a:solidFill>
                  <a:srgbClr val="0F766E"/>
                </a:solidFill>
                <a:latin typeface="Carlito" pitchFamily="34" charset="0"/>
                <a:ea typeface="Carlito" pitchFamily="34" charset="-122"/>
                <a:cs typeface="Carlito" pitchFamily="34" charset="-120"/>
              </a:rPr>
              <a:t>Composite</a:t>
            </a:r>
            <a:endParaRPr lang="en-US" sz="800" dirty="0"/>
          </a:p>
        </p:txBody>
      </p:sp>
      <p:sp>
        <p:nvSpPr>
          <p:cNvPr id="49" name="Text 47"/>
          <p:cNvSpPr/>
          <p:nvPr/>
        </p:nvSpPr>
        <p:spPr>
          <a:xfrm>
            <a:off x="3445408" y="3754934"/>
            <a:ext cx="874109" cy="164592"/>
          </a:xfrm>
          <a:prstGeom prst="rect">
            <a:avLst/>
          </a:prstGeom>
          <a:noFill/>
          <a:ln/>
        </p:spPr>
        <p:txBody>
          <a:bodyPr wrap="none" lIns="0" tIns="0" rIns="0" bIns="0" rtlCol="0" anchor="t"/>
          <a:lstStyle/>
          <a:p>
            <a:pPr algn="l" indent="0" marL="0">
              <a:lnSpc>
                <a:spcPts val="886"/>
              </a:lnSpc>
              <a:buNone/>
            </a:pPr>
            <a:r>
              <a:rPr lang="en-US" sz="800" dirty="0">
                <a:solidFill>
                  <a:srgbClr val="C77B2C"/>
                </a:solidFill>
                <a:latin typeface="Carlito" pitchFamily="34" charset="0"/>
                <a:ea typeface="Carlito" pitchFamily="34" charset="-122"/>
                <a:cs typeface="Carlito" pitchFamily="34" charset="-120"/>
              </a:rPr>
              <a:t>Eye Gaze</a:t>
            </a:r>
            <a:endParaRPr lang="en-US" sz="800" dirty="0"/>
          </a:p>
        </p:txBody>
      </p:sp>
      <p:sp>
        <p:nvSpPr>
          <p:cNvPr id="50" name="Text 48"/>
          <p:cNvSpPr/>
          <p:nvPr/>
        </p:nvSpPr>
        <p:spPr>
          <a:xfrm>
            <a:off x="4171169" y="3754934"/>
            <a:ext cx="674406" cy="164592"/>
          </a:xfrm>
          <a:prstGeom prst="rect">
            <a:avLst/>
          </a:prstGeom>
          <a:noFill/>
          <a:ln/>
        </p:spPr>
        <p:txBody>
          <a:bodyPr wrap="none" lIns="0" tIns="0" rIns="0" bIns="0" rtlCol="0" anchor="t"/>
          <a:lstStyle/>
          <a:p>
            <a:pPr algn="l" indent="0" marL="0">
              <a:lnSpc>
                <a:spcPts val="886"/>
              </a:lnSpc>
              <a:buNone/>
            </a:pPr>
            <a:r>
              <a:rPr lang="en-US" sz="800" dirty="0">
                <a:solidFill>
                  <a:srgbClr val="7C3AED"/>
                </a:solidFill>
                <a:latin typeface="Carlito" pitchFamily="34" charset="0"/>
                <a:ea typeface="Carlito" pitchFamily="34" charset="-122"/>
                <a:cs typeface="Carlito" pitchFamily="34" charset="-120"/>
              </a:rPr>
              <a:t>Dyn.</a:t>
            </a:r>
            <a:endParaRPr lang="en-US" sz="800" dirty="0"/>
          </a:p>
        </p:txBody>
      </p:sp>
      <p:sp>
        <p:nvSpPr>
          <p:cNvPr id="51" name="Text 49"/>
          <p:cNvSpPr/>
          <p:nvPr/>
        </p:nvSpPr>
        <p:spPr>
          <a:xfrm>
            <a:off x="4640870" y="3754934"/>
            <a:ext cx="404573" cy="164592"/>
          </a:xfrm>
          <a:prstGeom prst="rect">
            <a:avLst/>
          </a:prstGeom>
          <a:noFill/>
          <a:ln/>
        </p:spPr>
        <p:txBody>
          <a:bodyPr wrap="none" lIns="0" tIns="0" rIns="0" bIns="0" rtlCol="0" anchor="t"/>
          <a:lstStyle/>
          <a:p>
            <a:pPr algn="l" indent="0" marL="0">
              <a:lnSpc>
                <a:spcPts val="886"/>
              </a:lnSpc>
              <a:buNone/>
            </a:pPr>
            <a:r>
              <a:rPr lang="en-US" sz="800" dirty="0">
                <a:solidFill>
                  <a:srgbClr val="B91C1C"/>
                </a:solidFill>
                <a:latin typeface="Carlito" pitchFamily="34" charset="0"/>
                <a:ea typeface="Carlito" pitchFamily="34" charset="-122"/>
                <a:cs typeface="Carlito" pitchFamily="34" charset="-120"/>
              </a:rPr>
              <a:t>Cross</a:t>
            </a:r>
            <a:endParaRPr lang="en-US" sz="800" dirty="0"/>
          </a:p>
        </p:txBody>
      </p:sp>
      <p:sp>
        <p:nvSpPr>
          <p:cNvPr id="52" name="Text 50"/>
          <p:cNvSpPr/>
          <p:nvPr/>
        </p:nvSpPr>
        <p:spPr>
          <a:xfrm>
            <a:off x="5054203" y="1718965"/>
            <a:ext cx="3632597" cy="903684"/>
          </a:xfrm>
          <a:prstGeom prst="roundRect">
            <a:avLst>
              <a:gd name="adj" fmla="val 4216"/>
            </a:avLst>
          </a:prstGeom>
          <a:solidFill>
            <a:srgbClr val="FFFFFF"/>
          </a:solidFill>
          <a:ln/>
        </p:spPr>
        <p:txBody>
          <a:bodyPr wrap="square" rtlCol="0" anchor="ctr"/>
          <a:lstStyle/>
          <a:p>
            <a:pPr indent="0" marL="0">
              <a:buNone/>
            </a:pPr>
            <a:endParaRPr lang="en-US" dirty="0"/>
          </a:p>
        </p:txBody>
      </p:sp>
      <p:sp>
        <p:nvSpPr>
          <p:cNvPr id="53" name="Shape 51"/>
          <p:cNvSpPr/>
          <p:nvPr/>
        </p:nvSpPr>
        <p:spPr>
          <a:xfrm>
            <a:off x="5054203" y="1722537"/>
            <a:ext cx="3632597" cy="0"/>
          </a:xfrm>
          <a:prstGeom prst="line">
            <a:avLst/>
          </a:prstGeom>
          <a:noFill/>
          <a:ln w="7144">
            <a:solidFill>
              <a:srgbClr val="D9E1EC"/>
            </a:solidFill>
            <a:prstDash val="solid"/>
          </a:ln>
        </p:spPr>
      </p:sp>
      <p:sp>
        <p:nvSpPr>
          <p:cNvPr id="54" name="Shape 52"/>
          <p:cNvSpPr/>
          <p:nvPr/>
        </p:nvSpPr>
        <p:spPr>
          <a:xfrm>
            <a:off x="8683228" y="1718965"/>
            <a:ext cx="0" cy="903684"/>
          </a:xfrm>
          <a:prstGeom prst="line">
            <a:avLst/>
          </a:prstGeom>
          <a:noFill/>
          <a:ln w="7144">
            <a:solidFill>
              <a:srgbClr val="D9E1EC"/>
            </a:solidFill>
            <a:prstDash val="solid"/>
          </a:ln>
        </p:spPr>
      </p:sp>
      <p:sp>
        <p:nvSpPr>
          <p:cNvPr id="55" name="Shape 53"/>
          <p:cNvSpPr/>
          <p:nvPr/>
        </p:nvSpPr>
        <p:spPr>
          <a:xfrm>
            <a:off x="5054203" y="2619077"/>
            <a:ext cx="3632597" cy="0"/>
          </a:xfrm>
          <a:prstGeom prst="line">
            <a:avLst/>
          </a:prstGeom>
          <a:noFill/>
          <a:ln w="7144">
            <a:solidFill>
              <a:srgbClr val="D9E1EC"/>
            </a:solidFill>
            <a:prstDash val="solid"/>
          </a:ln>
        </p:spPr>
      </p:sp>
      <p:sp>
        <p:nvSpPr>
          <p:cNvPr id="56" name="Shape 54"/>
          <p:cNvSpPr/>
          <p:nvPr/>
        </p:nvSpPr>
        <p:spPr>
          <a:xfrm>
            <a:off x="5064919" y="1718965"/>
            <a:ext cx="0" cy="903684"/>
          </a:xfrm>
          <a:prstGeom prst="line">
            <a:avLst/>
          </a:prstGeom>
          <a:noFill/>
          <a:ln w="21431">
            <a:solidFill>
              <a:srgbClr val="14B8A6"/>
            </a:solidFill>
            <a:prstDash val="solid"/>
          </a:ln>
        </p:spPr>
      </p:sp>
      <p:sp>
        <p:nvSpPr>
          <p:cNvPr id="57" name="Text 55"/>
          <p:cNvSpPr/>
          <p:nvPr/>
        </p:nvSpPr>
        <p:spPr>
          <a:xfrm>
            <a:off x="5204222" y="1826121"/>
            <a:ext cx="3456575" cy="126159"/>
          </a:xfrm>
          <a:prstGeom prst="rect">
            <a:avLst/>
          </a:prstGeom>
          <a:noFill/>
          <a:ln/>
        </p:spPr>
        <p:txBody>
          <a:bodyPr wrap="square" lIns="0" tIns="0" rIns="0" bIns="0" rtlCol="0" anchor="t">
            <a:normAutofit/>
          </a:bodyPr>
          <a:lstStyle/>
          <a:p>
            <a:pPr algn="l" indent="0" marL="0">
              <a:lnSpc>
                <a:spcPts val="928"/>
              </a:lnSpc>
              <a:buNone/>
            </a:pPr>
            <a:r>
              <a:rPr lang="en-US" sz="800" b="1" spc="87" kern="0" dirty="0">
                <a:solidFill>
                  <a:srgbClr val="0F766E"/>
                </a:solidFill>
                <a:latin typeface="Carlito" pitchFamily="34" charset="0"/>
                <a:ea typeface="Carlito" pitchFamily="34" charset="-122"/>
                <a:cs typeface="Carlito" pitchFamily="34" charset="-120"/>
              </a:rPr>
              <a:t>MOUTH / JAW / NOSE FOCUS — BLENDSHAPES · 52D</a:t>
            </a:r>
            <a:endParaRPr lang="en-US" sz="800" dirty="0"/>
          </a:p>
        </p:txBody>
      </p:sp>
      <p:sp>
        <p:nvSpPr>
          <p:cNvPr id="58" name="Text 56"/>
          <p:cNvSpPr/>
          <p:nvPr/>
        </p:nvSpPr>
        <p:spPr>
          <a:xfrm>
            <a:off x="5204222" y="1979712"/>
            <a:ext cx="3346847" cy="535781"/>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Mouth, jaw, and nose blendshapes reflect muscular tension — a distinctly different regional focus than Boredom (smile-centered) or Confusion (brow/eye-centered). </a:t>
            </a:r>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mouthPucker_iqr</a:t>
            </a:r>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 (AU 18) captures fluctuating lip compression.</a:t>
            </a:r>
            <a:endParaRPr lang="en-US" sz="800" dirty="0"/>
          </a:p>
        </p:txBody>
      </p:sp>
      <p:sp>
        <p:nvSpPr>
          <p:cNvPr id="59" name="Text 57"/>
          <p:cNvSpPr/>
          <p:nvPr/>
        </p:nvSpPr>
        <p:spPr>
          <a:xfrm>
            <a:off x="5054203" y="2694087"/>
            <a:ext cx="3632597" cy="769739"/>
          </a:xfrm>
          <a:prstGeom prst="roundRect">
            <a:avLst>
              <a:gd name="adj" fmla="val 4950"/>
            </a:avLst>
          </a:prstGeom>
          <a:solidFill>
            <a:srgbClr val="FFFFFF"/>
          </a:solidFill>
          <a:ln/>
        </p:spPr>
        <p:txBody>
          <a:bodyPr wrap="square" rtlCol="0" anchor="ctr"/>
          <a:lstStyle/>
          <a:p>
            <a:pPr indent="0" marL="0">
              <a:buNone/>
            </a:pPr>
            <a:endParaRPr lang="en-US" dirty="0"/>
          </a:p>
        </p:txBody>
      </p:sp>
      <p:sp>
        <p:nvSpPr>
          <p:cNvPr id="60" name="Shape 58"/>
          <p:cNvSpPr/>
          <p:nvPr/>
        </p:nvSpPr>
        <p:spPr>
          <a:xfrm>
            <a:off x="5054203" y="2697659"/>
            <a:ext cx="3632597" cy="0"/>
          </a:xfrm>
          <a:prstGeom prst="line">
            <a:avLst/>
          </a:prstGeom>
          <a:noFill/>
          <a:ln w="7144">
            <a:solidFill>
              <a:srgbClr val="D9E1EC"/>
            </a:solidFill>
            <a:prstDash val="solid"/>
          </a:ln>
        </p:spPr>
      </p:sp>
      <p:sp>
        <p:nvSpPr>
          <p:cNvPr id="61" name="Shape 59"/>
          <p:cNvSpPr/>
          <p:nvPr/>
        </p:nvSpPr>
        <p:spPr>
          <a:xfrm>
            <a:off x="8683228" y="2694087"/>
            <a:ext cx="0" cy="769739"/>
          </a:xfrm>
          <a:prstGeom prst="line">
            <a:avLst/>
          </a:prstGeom>
          <a:noFill/>
          <a:ln w="7144">
            <a:solidFill>
              <a:srgbClr val="D9E1EC"/>
            </a:solidFill>
            <a:prstDash val="solid"/>
          </a:ln>
        </p:spPr>
      </p:sp>
      <p:sp>
        <p:nvSpPr>
          <p:cNvPr id="62" name="Shape 60"/>
          <p:cNvSpPr/>
          <p:nvPr/>
        </p:nvSpPr>
        <p:spPr>
          <a:xfrm>
            <a:off x="5054203" y="3460254"/>
            <a:ext cx="3632597" cy="0"/>
          </a:xfrm>
          <a:prstGeom prst="line">
            <a:avLst/>
          </a:prstGeom>
          <a:noFill/>
          <a:ln w="7144">
            <a:solidFill>
              <a:srgbClr val="D9E1EC"/>
            </a:solidFill>
            <a:prstDash val="solid"/>
          </a:ln>
        </p:spPr>
      </p:sp>
      <p:sp>
        <p:nvSpPr>
          <p:cNvPr id="63" name="Shape 61"/>
          <p:cNvSpPr/>
          <p:nvPr/>
        </p:nvSpPr>
        <p:spPr>
          <a:xfrm>
            <a:off x="5064919" y="2694087"/>
            <a:ext cx="0" cy="769739"/>
          </a:xfrm>
          <a:prstGeom prst="line">
            <a:avLst/>
          </a:prstGeom>
          <a:noFill/>
          <a:ln w="21431">
            <a:solidFill>
              <a:srgbClr val="14B8A6"/>
            </a:solidFill>
            <a:prstDash val="solid"/>
          </a:ln>
        </p:spPr>
      </p:sp>
      <p:sp>
        <p:nvSpPr>
          <p:cNvPr id="64" name="Text 62"/>
          <p:cNvSpPr/>
          <p:nvPr/>
        </p:nvSpPr>
        <p:spPr>
          <a:xfrm>
            <a:off x="5204222" y="2801243"/>
            <a:ext cx="3456575" cy="126159"/>
          </a:xfrm>
          <a:prstGeom prst="rect">
            <a:avLst/>
          </a:prstGeom>
          <a:noFill/>
          <a:ln/>
        </p:spPr>
        <p:txBody>
          <a:bodyPr wrap="square" lIns="0" tIns="0" rIns="0" bIns="0" rtlCol="0" anchor="t">
            <a:normAutofit/>
          </a:bodyPr>
          <a:lstStyle/>
          <a:p>
            <a:pPr algn="l" indent="0" marL="0">
              <a:lnSpc>
                <a:spcPts val="928"/>
              </a:lnSpc>
              <a:buNone/>
            </a:pPr>
            <a:r>
              <a:rPr lang="en-US" sz="800" b="1" spc="87" kern="0" dirty="0">
                <a:solidFill>
                  <a:srgbClr val="0F766E"/>
                </a:solidFill>
                <a:latin typeface="Carlito" pitchFamily="34" charset="0"/>
                <a:ea typeface="Carlito" pitchFamily="34" charset="-122"/>
                <a:cs typeface="Carlito" pitchFamily="34" charset="-120"/>
              </a:rPr>
              <a:t>CROSS-EMOTION UTILITY — COMPOSITE · 10D</a:t>
            </a:r>
            <a:endParaRPr lang="en-US" sz="800" dirty="0"/>
          </a:p>
        </p:txBody>
      </p:sp>
      <p:sp>
        <p:nvSpPr>
          <p:cNvPr id="65" name="Text 63"/>
          <p:cNvSpPr/>
          <p:nvPr/>
        </p:nvSpPr>
        <p:spPr>
          <a:xfrm>
            <a:off x="5204222" y="2954834"/>
            <a:ext cx="3346847" cy="401836"/>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boredom_indicator_vel_std</a:t>
            </a:r>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 reappears (also top-5 for Confusion) — confirms its cross-emotion diagnostic utility. The same signal that flags Boredom also helps detect Frustration.</a:t>
            </a:r>
            <a:endParaRPr lang="en-US" sz="800" dirty="0"/>
          </a:p>
        </p:txBody>
      </p:sp>
      <p:sp>
        <p:nvSpPr>
          <p:cNvPr id="66" name="Text 64"/>
          <p:cNvSpPr/>
          <p:nvPr/>
        </p:nvSpPr>
        <p:spPr>
          <a:xfrm>
            <a:off x="5054203" y="3535263"/>
            <a:ext cx="3632597" cy="769739"/>
          </a:xfrm>
          <a:prstGeom prst="roundRect">
            <a:avLst>
              <a:gd name="adj" fmla="val 4950"/>
            </a:avLst>
          </a:prstGeom>
          <a:solidFill>
            <a:srgbClr val="FFFFFF"/>
          </a:solidFill>
          <a:ln/>
        </p:spPr>
        <p:txBody>
          <a:bodyPr wrap="square" rtlCol="0" anchor="ctr"/>
          <a:lstStyle/>
          <a:p>
            <a:pPr indent="0" marL="0">
              <a:buNone/>
            </a:pPr>
            <a:endParaRPr lang="en-US" dirty="0"/>
          </a:p>
        </p:txBody>
      </p:sp>
      <p:sp>
        <p:nvSpPr>
          <p:cNvPr id="67" name="Shape 65"/>
          <p:cNvSpPr/>
          <p:nvPr/>
        </p:nvSpPr>
        <p:spPr>
          <a:xfrm>
            <a:off x="5054203" y="3538835"/>
            <a:ext cx="3632597" cy="0"/>
          </a:xfrm>
          <a:prstGeom prst="line">
            <a:avLst/>
          </a:prstGeom>
          <a:noFill/>
          <a:ln w="7144">
            <a:solidFill>
              <a:srgbClr val="D9E1EC"/>
            </a:solidFill>
            <a:prstDash val="solid"/>
          </a:ln>
        </p:spPr>
      </p:sp>
      <p:sp>
        <p:nvSpPr>
          <p:cNvPr id="68" name="Shape 66"/>
          <p:cNvSpPr/>
          <p:nvPr/>
        </p:nvSpPr>
        <p:spPr>
          <a:xfrm>
            <a:off x="8683228" y="3535263"/>
            <a:ext cx="0" cy="769739"/>
          </a:xfrm>
          <a:prstGeom prst="line">
            <a:avLst/>
          </a:prstGeom>
          <a:noFill/>
          <a:ln w="7144">
            <a:solidFill>
              <a:srgbClr val="D9E1EC"/>
            </a:solidFill>
            <a:prstDash val="solid"/>
          </a:ln>
        </p:spPr>
      </p:sp>
      <p:sp>
        <p:nvSpPr>
          <p:cNvPr id="69" name="Shape 67"/>
          <p:cNvSpPr/>
          <p:nvPr/>
        </p:nvSpPr>
        <p:spPr>
          <a:xfrm>
            <a:off x="5054203" y="4301430"/>
            <a:ext cx="3632597" cy="0"/>
          </a:xfrm>
          <a:prstGeom prst="line">
            <a:avLst/>
          </a:prstGeom>
          <a:noFill/>
          <a:ln w="7144">
            <a:solidFill>
              <a:srgbClr val="D9E1EC"/>
            </a:solidFill>
            <a:prstDash val="solid"/>
          </a:ln>
        </p:spPr>
      </p:sp>
      <p:sp>
        <p:nvSpPr>
          <p:cNvPr id="70" name="Shape 68"/>
          <p:cNvSpPr/>
          <p:nvPr/>
        </p:nvSpPr>
        <p:spPr>
          <a:xfrm>
            <a:off x="5064919" y="3535263"/>
            <a:ext cx="0" cy="769739"/>
          </a:xfrm>
          <a:prstGeom prst="line">
            <a:avLst/>
          </a:prstGeom>
          <a:noFill/>
          <a:ln w="21431">
            <a:solidFill>
              <a:srgbClr val="14B8A6"/>
            </a:solidFill>
            <a:prstDash val="solid"/>
          </a:ln>
        </p:spPr>
      </p:sp>
      <p:sp>
        <p:nvSpPr>
          <p:cNvPr id="71" name="Text 69"/>
          <p:cNvSpPr/>
          <p:nvPr/>
        </p:nvSpPr>
        <p:spPr>
          <a:xfrm>
            <a:off x="5204222" y="3642420"/>
            <a:ext cx="3456575" cy="126159"/>
          </a:xfrm>
          <a:prstGeom prst="rect">
            <a:avLst/>
          </a:prstGeom>
          <a:noFill/>
          <a:ln/>
        </p:spPr>
        <p:txBody>
          <a:bodyPr wrap="square" lIns="0" tIns="0" rIns="0" bIns="0" rtlCol="0" anchor="t">
            <a:normAutofit/>
          </a:bodyPr>
          <a:lstStyle/>
          <a:p>
            <a:pPr algn="l" indent="0" marL="0">
              <a:lnSpc>
                <a:spcPts val="928"/>
              </a:lnSpc>
              <a:buNone/>
            </a:pPr>
            <a:r>
              <a:rPr lang="en-US" sz="800" b="1" spc="87" kern="0" dirty="0">
                <a:solidFill>
                  <a:srgbClr val="0F766E"/>
                </a:solidFill>
                <a:latin typeface="Carlito" pitchFamily="34" charset="0"/>
                <a:ea typeface="Carlito" pitchFamily="34" charset="-122"/>
                <a:cs typeface="Carlito" pitchFamily="34" charset="-120"/>
              </a:rPr>
              <a:t>STATE-SPECIFIC SIGNATURE — NOSESNEERLEFT_MAX</a:t>
            </a:r>
            <a:endParaRPr lang="en-US" sz="800" dirty="0"/>
          </a:p>
        </p:txBody>
      </p:sp>
      <p:sp>
        <p:nvSpPr>
          <p:cNvPr id="72" name="Text 70"/>
          <p:cNvSpPr/>
          <p:nvPr/>
        </p:nvSpPr>
        <p:spPr>
          <a:xfrm>
            <a:off x="5204222" y="3796010"/>
            <a:ext cx="3346847" cy="401836"/>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ourier New" pitchFamily="34" charset="0"/>
                <a:ea typeface="Courier New" pitchFamily="34" charset="-122"/>
                <a:cs typeface="Courier New" pitchFamily="34" charset="-120"/>
              </a:rPr>
              <a:t>noseSneerLeft_max</a:t>
            </a:r>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 (AU 9) appears EXCLUSIVELY in the Frustration top-5 — a distinctive marker of contempt/frustration in FACS literature. Left-side lateralization reflects right-hemisphere dominance for negative emotion.</a:t>
            </a:r>
            <a:endParaRPr lang="en-US" sz="800" dirty="0"/>
          </a:p>
        </p:txBody>
      </p:sp>
      <p:sp>
        <p:nvSpPr>
          <p:cNvPr id="73" name="Text 71"/>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THESIS DEFENSE</a:t>
            </a:r>
            <a:endParaRPr lang="en-US" sz="800" dirty="0"/>
          </a:p>
        </p:txBody>
      </p:sp>
      <p:sp>
        <p:nvSpPr>
          <p:cNvPr id="74" name="Text 72"/>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25 / 34</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square" lIns="0" tIns="0" rIns="0" bIns="0" rtlCol="0" anchor="t"/>
          <a:lstStyle/>
          <a:p>
            <a:pPr algn="l" indent="0" marL="0">
              <a:lnSpc>
                <a:spcPts val="928"/>
              </a:lnSpc>
              <a:buNone/>
            </a:pPr>
            <a:r>
              <a:rPr lang="en-US" sz="800" b="1" spc="136" kern="0" dirty="0">
                <a:solidFill>
                  <a:srgbClr val="14B8A6"/>
                </a:solidFill>
                <a:latin typeface="Liberation Sans Narrow" pitchFamily="34" charset="0"/>
                <a:ea typeface="Liberation Sans Narrow" pitchFamily="34" charset="-122"/>
                <a:cs typeface="Liberation Sans Narrow" pitchFamily="34" charset="-120"/>
              </a:rPr>
              <a:t>RQ2 · CROSS-STATE SHAP CONVERGENCE</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591395"/>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Each Emotion Has Its Own Feature Fingerprint — With Bridges</a:t>
            </a:r>
            <a:endParaRPr lang="en-US" sz="2025" dirty="0"/>
          </a:p>
        </p:txBody>
      </p:sp>
      <p:sp>
        <p:nvSpPr>
          <p:cNvPr id="5" name="Text 3"/>
          <p:cNvSpPr/>
          <p:nvPr/>
        </p:nvSpPr>
        <p:spPr>
          <a:xfrm>
            <a:off x="457200" y="1301055"/>
            <a:ext cx="6572250" cy="358759"/>
          </a:xfrm>
          <a:prstGeom prst="rect">
            <a:avLst/>
          </a:prstGeom>
          <a:noFill/>
          <a:ln/>
        </p:spPr>
        <p:txBody>
          <a:bodyPr wrap="square" lIns="0" tIns="0" rIns="0" bIns="0" rtlCol="0" anchor="t"/>
          <a:lstStyle/>
          <a:p>
            <a:pPr algn="l" indent="0" marL="0">
              <a:lnSpc>
                <a:spcPts val="1308"/>
              </a:lnSpc>
              <a:buNone/>
            </a:pPr>
            <a:r>
              <a:rPr lang="en-US" sz="844" dirty="0">
                <a:solidFill>
                  <a:srgbClr val="5B6B82"/>
                </a:solidFill>
                <a:latin typeface="Carlito" pitchFamily="34" charset="0"/>
                <a:ea typeface="Carlito" pitchFamily="34" charset="-122"/>
                <a:cs typeface="Carlito" pitchFamily="34" charset="-120"/>
              </a:rPr>
              <a:t>Top-5 features per affective state by mean absolute SHAP value. Three convergent patterns and three state-specific signatures emerge.</a:t>
            </a:r>
            <a:endParaRPr lang="en-US" sz="844"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718965"/>
          <a:ext cx="8229600" cy="914400"/>
        </p:xfrm>
        <a:graphic>
          <a:graphicData uri="http://schemas.openxmlformats.org/drawingml/2006/table">
            <a:tbl>
              <a:tblPr/>
              <a:tblGrid>
                <a:gridCol w="434876"/>
                <a:gridCol w="1977033"/>
                <a:gridCol w="1867979"/>
                <a:gridCol w="1922450"/>
                <a:gridCol w="2027262"/>
              </a:tblGrid>
              <a:tr h="0">
                <a:tc>
                  <a:txBody>
                    <a:bodyPr/>
                    <a:lstStyle/>
                    <a:p>
                      <a:pPr algn="ctr" indent="0" marL="0">
                        <a:buNone/>
                      </a:pPr>
                      <a:r>
                        <a:rPr lang="en-US" sz="800" b="1" dirty="0">
                          <a:solidFill>
                            <a:srgbClr val="5B6B82"/>
                          </a:solidFill>
                          <a:latin typeface="Carlito" pitchFamily="34" charset="0"/>
                          <a:ea typeface="Carlito" pitchFamily="34" charset="-122"/>
                          <a:cs typeface="Carlito" pitchFamily="34" charset="-120"/>
                        </a:rPr>
                        <a:t>Rank</a:t>
                      </a:r>
                      <a:endParaRPr lang="en-US" sz="800" dirty="0">
                        <a:latin typeface="Carlito" charset="0"/>
                        <a:ea typeface="Carlito" charset="0"/>
                        <a:cs typeface="Carlito" charset="0"/>
                      </a:endParaRPr>
                    </a:p>
                  </a:txBody>
                  <a:tcPr marL="64294" marR="71438" marT="71438"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c>
                  <a:txBody>
                    <a:bodyPr/>
                    <a:lstStyle/>
                    <a:p>
                      <a:pPr algn="l" indent="0" marL="0">
                        <a:buNone/>
                      </a:pPr>
                      <a:r>
                        <a:rPr lang="en-US" sz="800" b="1" dirty="0">
                          <a:solidFill>
                            <a:srgbClr val="5B6B82"/>
                          </a:solidFill>
                          <a:latin typeface="Carlito" pitchFamily="34" charset="0"/>
                          <a:ea typeface="Carlito" pitchFamily="34" charset="-122"/>
                          <a:cs typeface="Carlito" pitchFamily="34" charset="-120"/>
                        </a:rPr>
                        <a:t>Boredom</a:t>
                      </a:r>
                      <a:endParaRPr lang="en-US" sz="800" dirty="0">
                        <a:latin typeface="Carlito" charset="0"/>
                        <a:ea typeface="Carlito" charset="0"/>
                        <a:cs typeface="Carlito" charset="0"/>
                      </a:endParaRPr>
                    </a:p>
                  </a:txBody>
                  <a:tcPr marL="64294" marR="71438" marT="71438"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c>
                  <a:txBody>
                    <a:bodyPr/>
                    <a:lstStyle/>
                    <a:p>
                      <a:pPr algn="l" indent="0" marL="0">
                        <a:buNone/>
                      </a:pPr>
                      <a:r>
                        <a:rPr lang="en-US" sz="800" b="1" dirty="0">
                          <a:solidFill>
                            <a:srgbClr val="5B6B82"/>
                          </a:solidFill>
                          <a:latin typeface="Carlito" pitchFamily="34" charset="0"/>
                          <a:ea typeface="Carlito" pitchFamily="34" charset="-122"/>
                          <a:cs typeface="Carlito" pitchFamily="34" charset="-120"/>
                        </a:rPr>
                        <a:t>Engagement</a:t>
                      </a:r>
                      <a:endParaRPr lang="en-US" sz="800" dirty="0">
                        <a:latin typeface="Carlito" charset="0"/>
                        <a:ea typeface="Carlito" charset="0"/>
                        <a:cs typeface="Carlito" charset="0"/>
                      </a:endParaRPr>
                    </a:p>
                  </a:txBody>
                  <a:tcPr marL="64294" marR="71438" marT="71438"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c>
                  <a:txBody>
                    <a:bodyPr/>
                    <a:lstStyle/>
                    <a:p>
                      <a:pPr algn="l" indent="0" marL="0">
                        <a:buNone/>
                      </a:pPr>
                      <a:r>
                        <a:rPr lang="en-US" sz="800" b="1" dirty="0">
                          <a:solidFill>
                            <a:srgbClr val="5B6B82"/>
                          </a:solidFill>
                          <a:latin typeface="Carlito" pitchFamily="34" charset="0"/>
                          <a:ea typeface="Carlito" pitchFamily="34" charset="-122"/>
                          <a:cs typeface="Carlito" pitchFamily="34" charset="-120"/>
                        </a:rPr>
                        <a:t>Confusion</a:t>
                      </a:r>
                      <a:endParaRPr lang="en-US" sz="800" dirty="0">
                        <a:latin typeface="Carlito" charset="0"/>
                        <a:ea typeface="Carlito" charset="0"/>
                        <a:cs typeface="Carlito" charset="0"/>
                      </a:endParaRPr>
                    </a:p>
                  </a:txBody>
                  <a:tcPr marL="64294" marR="71438" marT="71438"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c>
                  <a:txBody>
                    <a:bodyPr/>
                    <a:lstStyle/>
                    <a:p>
                      <a:pPr algn="l" indent="0" marL="0">
                        <a:buNone/>
                      </a:pPr>
                      <a:r>
                        <a:rPr lang="en-US" sz="800" b="1" dirty="0">
                          <a:solidFill>
                            <a:srgbClr val="5B6B82"/>
                          </a:solidFill>
                          <a:latin typeface="Carlito" pitchFamily="34" charset="0"/>
                          <a:ea typeface="Carlito" pitchFamily="34" charset="-122"/>
                          <a:cs typeface="Carlito" pitchFamily="34" charset="-120"/>
                        </a:rPr>
                        <a:t>Frustration</a:t>
                      </a:r>
                      <a:endParaRPr lang="en-US" sz="800" dirty="0">
                        <a:latin typeface="Carlito" charset="0"/>
                        <a:ea typeface="Carlito" charset="0"/>
                        <a:cs typeface="Carlito" charset="0"/>
                      </a:endParaRPr>
                    </a:p>
                  </a:txBody>
                  <a:tcPr marL="64294" marR="71438" marT="71438"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r>
              <a:tr h="0">
                <a:tc>
                  <a:txBody>
                    <a:bodyPr/>
                    <a:lstStyle/>
                    <a:p>
                      <a:pPr algn="ctr" indent="0" marL="0">
                        <a:buNone/>
                      </a:pPr>
                      <a:r>
                        <a:rPr lang="en-US" sz="844" b="1" dirty="0">
                          <a:solidFill>
                            <a:srgbClr val="14B8A6"/>
                          </a:solidFill>
                          <a:latin typeface="Courier New" pitchFamily="34" charset="0"/>
                          <a:ea typeface="Courier New" pitchFamily="34" charset="-122"/>
                          <a:cs typeface="Courier New" pitchFamily="34" charset="-120"/>
                        </a:rPr>
                        <a:t>1</a:t>
                      </a:r>
                      <a:endParaRPr lang="en-US" sz="844"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mouthSmileRight_median (0.17)</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eye_activity_max (0.19)</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boredom_indicator_vel_std (0.07)</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mouthPucker_iqr (0.075)</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ctr" indent="0" marL="0">
                        <a:buNone/>
                      </a:pPr>
                      <a:r>
                        <a:rPr lang="en-US" sz="844" b="1" dirty="0">
                          <a:solidFill>
                            <a:srgbClr val="14B8A6"/>
                          </a:solidFill>
                          <a:latin typeface="Courier New" pitchFamily="34" charset="0"/>
                          <a:ea typeface="Courier New" pitchFamily="34" charset="-122"/>
                          <a:cs typeface="Courier New" pitchFamily="34" charset="-120"/>
                        </a:rPr>
                        <a:t>2</a:t>
                      </a:r>
                      <a:endParaRPr lang="en-US" sz="844"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browInnerUp_range (0.10)</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eye_activity_p75 (0.15)</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mouthSmileRight_median (0.065)</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boredom_indicator_vel_std (0.065)</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ctr" indent="0" marL="0">
                        <a:buNone/>
                      </a:pPr>
                      <a:r>
                        <a:rPr lang="en-US" sz="844" b="1" dirty="0">
                          <a:solidFill>
                            <a:srgbClr val="14B8A6"/>
                          </a:solidFill>
                          <a:latin typeface="Courier New" pitchFamily="34" charset="0"/>
                          <a:ea typeface="Courier New" pitchFamily="34" charset="-122"/>
                          <a:cs typeface="Courier New" pitchFamily="34" charset="-120"/>
                        </a:rPr>
                        <a:t>3</a:t>
                      </a:r>
                      <a:endParaRPr lang="en-US" sz="844"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mouthPressRight_mean (0.09)</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corr_boredom_related_jaw (0.12)</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browInnerUp_range (0.055)</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jawRight_std (0.060)</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ctr" indent="0" marL="0">
                        <a:buNone/>
                      </a:pPr>
                      <a:r>
                        <a:rPr lang="en-US" sz="844" b="1" dirty="0">
                          <a:solidFill>
                            <a:srgbClr val="14B8A6"/>
                          </a:solidFill>
                          <a:latin typeface="Courier New" pitchFamily="34" charset="0"/>
                          <a:ea typeface="Courier New" pitchFamily="34" charset="-122"/>
                          <a:cs typeface="Courier New" pitchFamily="34" charset="-120"/>
                        </a:rPr>
                        <a:t>4</a:t>
                      </a:r>
                      <a:endParaRPr lang="en-US" sz="844"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head_roll_vel_max_abs (0.07)</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boredom_indicator_std (0.11)</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eyeLookDownLeft_kurtosis (0.05)</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combined_gaze_vertical_iqr (0.055)</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ctr" indent="0" marL="0">
                        <a:buNone/>
                      </a:pPr>
                      <a:r>
                        <a:rPr lang="en-US" sz="844" b="1" dirty="0">
                          <a:solidFill>
                            <a:srgbClr val="14B8A6"/>
                          </a:solidFill>
                          <a:latin typeface="Courier New" pitchFamily="34" charset="0"/>
                          <a:ea typeface="Courier New" pitchFamily="34" charset="-122"/>
                          <a:cs typeface="Courier New" pitchFamily="34" charset="-120"/>
                        </a:rPr>
                        <a:t>5</a:t>
                      </a:r>
                      <a:endParaRPr lang="en-US" sz="844"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combined_gaze_vertical_iqr (0.06)</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corr_composite_mouth (0.10)</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eyeWideLeft_std (0.045)</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0F1F3D"/>
                          </a:solidFill>
                          <a:latin typeface="Courier New" pitchFamily="34" charset="0"/>
                          <a:ea typeface="Courier New" pitchFamily="34" charset="-122"/>
                          <a:cs typeface="Courier New" pitchFamily="34" charset="-120"/>
                        </a:rPr>
                        <a:t>noseSneerLeft_max (0.052)</a:t>
                      </a:r>
                      <a:endParaRPr lang="en-US" sz="800" dirty="0">
                        <a:latin typeface="Courier New" charset="0"/>
                        <a:ea typeface="Courier New" charset="0"/>
                        <a:cs typeface="Courier New" charset="0"/>
                      </a:endParaRPr>
                    </a:p>
                  </a:txBody>
                  <a:tcPr marL="71438" marR="85725" marT="85725"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7" name="Text 4"/>
          <p:cNvSpPr/>
          <p:nvPr/>
        </p:nvSpPr>
        <p:spPr>
          <a:xfrm>
            <a:off x="457200" y="3619202"/>
            <a:ext cx="2686050" cy="875109"/>
          </a:xfrm>
          <a:prstGeom prst="roundRect">
            <a:avLst>
              <a:gd name="adj" fmla="val 8707"/>
            </a:avLst>
          </a:prstGeom>
          <a:solidFill>
            <a:srgbClr val="F6F8FB"/>
          </a:solidFill>
          <a:ln/>
        </p:spPr>
        <p:txBody>
          <a:bodyPr wrap="square" rtlCol="0" anchor="ctr"/>
          <a:lstStyle/>
          <a:p>
            <a:pPr indent="0" marL="0">
              <a:buNone/>
            </a:pPr>
            <a:endParaRPr lang="en-US" dirty="0"/>
          </a:p>
        </p:txBody>
      </p:sp>
      <p:sp>
        <p:nvSpPr>
          <p:cNvPr id="8" name="Text 5"/>
          <p:cNvSpPr/>
          <p:nvPr/>
        </p:nvSpPr>
        <p:spPr>
          <a:xfrm>
            <a:off x="571500" y="3719215"/>
            <a:ext cx="2457450" cy="133302"/>
          </a:xfrm>
          <a:prstGeom prst="rect">
            <a:avLst/>
          </a:prstGeom>
          <a:noFill/>
          <a:ln/>
        </p:spPr>
        <p:txBody>
          <a:bodyPr wrap="none" lIns="0" tIns="0" rIns="0" bIns="0" rtlCol="0" anchor="t">
            <a:normAutofit/>
          </a:bodyPr>
          <a:lstStyle/>
          <a:p>
            <a:pPr algn="l" indent="0" marL="0">
              <a:lnSpc>
                <a:spcPts val="928"/>
              </a:lnSpc>
              <a:buNone/>
            </a:pPr>
            <a:r>
              <a:rPr lang="en-US" sz="800" b="1" spc="87" kern="0" dirty="0">
                <a:solidFill>
                  <a:srgbClr val="0F766E"/>
                </a:solidFill>
                <a:latin typeface="Carlito" pitchFamily="34" charset="0"/>
                <a:ea typeface="Carlito" pitchFamily="34" charset="-122"/>
                <a:cs typeface="Carlito" pitchFamily="34" charset="-120"/>
              </a:rPr>
              <a:t>TRANSDIAGNOSTIC FEATURE</a:t>
            </a:r>
            <a:endParaRPr lang="en-US" sz="800" dirty="0"/>
          </a:p>
        </p:txBody>
      </p:sp>
      <p:sp>
        <p:nvSpPr>
          <p:cNvPr id="9" name="Text 6"/>
          <p:cNvSpPr/>
          <p:nvPr/>
        </p:nvSpPr>
        <p:spPr>
          <a:xfrm>
            <a:off x="571500" y="3879949"/>
            <a:ext cx="2457450" cy="514350"/>
          </a:xfrm>
          <a:prstGeom prst="rect">
            <a:avLst/>
          </a:prstGeom>
          <a:noFill/>
          <a:ln/>
        </p:spPr>
        <p:txBody>
          <a:bodyPr wrap="square" lIns="0" tIns="0" rIns="0" bIns="0" rtlCol="0" anchor="t"/>
          <a:lstStyle/>
          <a:p>
            <a:pPr algn="l" indent="0" marL="0">
              <a:lnSpc>
                <a:spcPts val="1013"/>
              </a:lnSpc>
              <a:buNone/>
            </a:pPr>
            <a:r>
              <a:rPr lang="en-US" sz="800" dirty="0">
                <a:solidFill>
                  <a:srgbClr val="0F1F3D"/>
                </a:solidFill>
                <a:latin typeface="Courier New" pitchFamily="34" charset="0"/>
                <a:ea typeface="Courier New" pitchFamily="34" charset="-122"/>
                <a:cs typeface="Courier New" pitchFamily="34" charset="-120"/>
              </a:rPr>
              <a:t>mouthSmileRight_median</a:t>
            </a:r>
            <a:pPr algn="l" indent="0" marL="0">
              <a:lnSpc>
                <a:spcPts val="1013"/>
              </a:lnSpc>
              <a:buNone/>
            </a:pPr>
            <a:r>
              <a:rPr lang="en-US" sz="800" dirty="0">
                <a:solidFill>
                  <a:srgbClr val="0F1F3D"/>
                </a:solidFill>
                <a:latin typeface="Carlito" pitchFamily="34" charset="0"/>
                <a:ea typeface="Carlito" pitchFamily="34" charset="-122"/>
                <a:cs typeface="Carlito" pitchFamily="34" charset="-120"/>
              </a:rPr>
              <a:t> appears in top-5 for Boredom (rank 1), Confusion (rank 2), and Frustration (rank 6). Direction varies: high smile → boredom, away from confusion.</a:t>
            </a:r>
            <a:endParaRPr lang="en-US" sz="800" dirty="0"/>
          </a:p>
        </p:txBody>
      </p:sp>
      <p:sp>
        <p:nvSpPr>
          <p:cNvPr id="10" name="Text 7"/>
          <p:cNvSpPr/>
          <p:nvPr/>
        </p:nvSpPr>
        <p:spPr>
          <a:xfrm>
            <a:off x="3228975" y="3619202"/>
            <a:ext cx="2686050" cy="875109"/>
          </a:xfrm>
          <a:prstGeom prst="roundRect">
            <a:avLst>
              <a:gd name="adj" fmla="val 8707"/>
            </a:avLst>
          </a:prstGeom>
          <a:solidFill>
            <a:srgbClr val="F6F8FB"/>
          </a:solidFill>
          <a:ln/>
        </p:spPr>
        <p:txBody>
          <a:bodyPr wrap="square" rtlCol="0" anchor="ctr"/>
          <a:lstStyle/>
          <a:p>
            <a:pPr indent="0" marL="0">
              <a:buNone/>
            </a:pPr>
            <a:endParaRPr lang="en-US" dirty="0"/>
          </a:p>
        </p:txBody>
      </p:sp>
      <p:sp>
        <p:nvSpPr>
          <p:cNvPr id="11" name="Text 8"/>
          <p:cNvSpPr/>
          <p:nvPr/>
        </p:nvSpPr>
        <p:spPr>
          <a:xfrm>
            <a:off x="3343275" y="3719215"/>
            <a:ext cx="2457450" cy="133302"/>
          </a:xfrm>
          <a:prstGeom prst="rect">
            <a:avLst/>
          </a:prstGeom>
          <a:noFill/>
          <a:ln/>
        </p:spPr>
        <p:txBody>
          <a:bodyPr wrap="none" lIns="0" tIns="0" rIns="0" bIns="0" rtlCol="0" anchor="t">
            <a:normAutofit/>
          </a:bodyPr>
          <a:lstStyle/>
          <a:p>
            <a:pPr algn="l" indent="0" marL="0">
              <a:lnSpc>
                <a:spcPts val="928"/>
              </a:lnSpc>
              <a:buNone/>
            </a:pPr>
            <a:r>
              <a:rPr lang="en-US" sz="800" b="1" spc="87" kern="0" dirty="0">
                <a:solidFill>
                  <a:srgbClr val="0F766E"/>
                </a:solidFill>
                <a:latin typeface="Carlito" pitchFamily="34" charset="0"/>
                <a:ea typeface="Carlito" pitchFamily="34" charset="-122"/>
                <a:cs typeface="Carlito" pitchFamily="34" charset="-120"/>
              </a:rPr>
              <a:t>CROSS-STATE BRIDGE</a:t>
            </a:r>
            <a:endParaRPr lang="en-US" sz="800" dirty="0"/>
          </a:p>
        </p:txBody>
      </p:sp>
      <p:sp>
        <p:nvSpPr>
          <p:cNvPr id="12" name="Text 9"/>
          <p:cNvSpPr/>
          <p:nvPr/>
        </p:nvSpPr>
        <p:spPr>
          <a:xfrm>
            <a:off x="3343275" y="3879949"/>
            <a:ext cx="2457450" cy="493776"/>
          </a:xfrm>
          <a:prstGeom prst="rect">
            <a:avLst/>
          </a:prstGeom>
          <a:noFill/>
          <a:ln/>
        </p:spPr>
        <p:txBody>
          <a:bodyPr wrap="square" lIns="0" tIns="0" rIns="0" bIns="0" rtlCol="0" anchor="t"/>
          <a:lstStyle/>
          <a:p>
            <a:pPr algn="l" indent="0" marL="0">
              <a:lnSpc>
                <a:spcPts val="1013"/>
              </a:lnSpc>
              <a:buNone/>
            </a:pPr>
            <a:r>
              <a:rPr lang="en-US" sz="800" dirty="0">
                <a:solidFill>
                  <a:srgbClr val="0F1F3D"/>
                </a:solidFill>
                <a:latin typeface="Courier New" pitchFamily="34" charset="0"/>
                <a:ea typeface="Courier New" pitchFamily="34" charset="-122"/>
                <a:cs typeface="Courier New" pitchFamily="34" charset="-120"/>
              </a:rPr>
              <a:t>boredom_indicator_vel_std</a:t>
            </a:r>
            <a:pPr algn="l" indent="0" marL="0">
              <a:lnSpc>
                <a:spcPts val="1013"/>
              </a:lnSpc>
              <a:buNone/>
            </a:pPr>
            <a:r>
              <a:rPr lang="en-US" sz="800" dirty="0">
                <a:solidFill>
                  <a:srgbClr val="0F1F3D"/>
                </a:solidFill>
                <a:latin typeface="Carlito" pitchFamily="34" charset="0"/>
                <a:ea typeface="Carlito" pitchFamily="34" charset="-122"/>
                <a:cs typeface="Carlito" pitchFamily="34" charset="-120"/>
              </a:rPr>
              <a:t> appears in top-5 for both Confusion (rank 1) and Frustration (rank 2). Validates D'Mello &amp; Graesser's affective-transition theory.</a:t>
            </a:r>
            <a:endParaRPr lang="en-US" sz="800" dirty="0"/>
          </a:p>
        </p:txBody>
      </p:sp>
      <p:sp>
        <p:nvSpPr>
          <p:cNvPr id="13" name="Text 10"/>
          <p:cNvSpPr/>
          <p:nvPr/>
        </p:nvSpPr>
        <p:spPr>
          <a:xfrm>
            <a:off x="6000750" y="3619202"/>
            <a:ext cx="2686050" cy="875109"/>
          </a:xfrm>
          <a:prstGeom prst="roundRect">
            <a:avLst>
              <a:gd name="adj" fmla="val 8707"/>
            </a:avLst>
          </a:prstGeom>
          <a:solidFill>
            <a:srgbClr val="F6F8FB"/>
          </a:solidFill>
          <a:ln/>
        </p:spPr>
        <p:txBody>
          <a:bodyPr wrap="square" rtlCol="0" anchor="ctr"/>
          <a:lstStyle/>
          <a:p>
            <a:pPr indent="0" marL="0">
              <a:buNone/>
            </a:pPr>
            <a:endParaRPr lang="en-US" dirty="0"/>
          </a:p>
        </p:txBody>
      </p:sp>
      <p:sp>
        <p:nvSpPr>
          <p:cNvPr id="14" name="Text 11"/>
          <p:cNvSpPr/>
          <p:nvPr/>
        </p:nvSpPr>
        <p:spPr>
          <a:xfrm>
            <a:off x="6115050" y="3719215"/>
            <a:ext cx="2567178" cy="133302"/>
          </a:xfrm>
          <a:prstGeom prst="rect">
            <a:avLst/>
          </a:prstGeom>
          <a:noFill/>
          <a:ln/>
        </p:spPr>
        <p:txBody>
          <a:bodyPr wrap="square" lIns="0" tIns="0" rIns="0" bIns="0" rtlCol="0" anchor="t">
            <a:normAutofit/>
          </a:bodyPr>
          <a:lstStyle/>
          <a:p>
            <a:pPr algn="l" indent="0" marL="0">
              <a:lnSpc>
                <a:spcPts val="928"/>
              </a:lnSpc>
              <a:buNone/>
            </a:pPr>
            <a:r>
              <a:rPr lang="en-US" sz="800" b="1" spc="87" kern="0" dirty="0">
                <a:solidFill>
                  <a:srgbClr val="0F766E"/>
                </a:solidFill>
                <a:latin typeface="Carlito" pitchFamily="34" charset="0"/>
                <a:ea typeface="Carlito" pitchFamily="34" charset="-122"/>
                <a:cs typeface="Carlito" pitchFamily="34" charset="-120"/>
              </a:rPr>
              <a:t>STATE-SPECIFIC SIGNATURES</a:t>
            </a:r>
            <a:endParaRPr lang="en-US" sz="800" dirty="0"/>
          </a:p>
        </p:txBody>
      </p:sp>
      <p:sp>
        <p:nvSpPr>
          <p:cNvPr id="15" name="Text 12"/>
          <p:cNvSpPr/>
          <p:nvPr/>
        </p:nvSpPr>
        <p:spPr>
          <a:xfrm>
            <a:off x="6115050" y="3879949"/>
            <a:ext cx="2457450" cy="514350"/>
          </a:xfrm>
          <a:prstGeom prst="rect">
            <a:avLst/>
          </a:prstGeom>
          <a:noFill/>
          <a:ln/>
        </p:spPr>
        <p:txBody>
          <a:bodyPr wrap="square" lIns="0" tIns="0" rIns="0" bIns="0" rtlCol="0" anchor="t"/>
          <a:lstStyle/>
          <a:p>
            <a:pPr algn="l" indent="0" marL="0">
              <a:lnSpc>
                <a:spcPts val="1013"/>
              </a:lnSpc>
              <a:buNone/>
            </a:pPr>
            <a:r>
              <a:rPr lang="en-US" sz="800" dirty="0">
                <a:solidFill>
                  <a:srgbClr val="0F1F3D"/>
                </a:solidFill>
                <a:latin typeface="Courier New" pitchFamily="34" charset="0"/>
                <a:ea typeface="Courier New" pitchFamily="34" charset="-122"/>
                <a:cs typeface="Courier New" pitchFamily="34" charset="-120"/>
              </a:rPr>
              <a:t>eye_activity_max</a:t>
            </a:r>
            <a:pPr algn="l" indent="0" marL="0">
              <a:lnSpc>
                <a:spcPts val="1013"/>
              </a:lnSpc>
              <a:buNone/>
            </a:pPr>
            <a:r>
              <a:rPr lang="en-US" sz="800" dirty="0">
                <a:solidFill>
                  <a:srgbClr val="0F1F3D"/>
                </a:solidFill>
                <a:latin typeface="Carlito" pitchFamily="34" charset="0"/>
                <a:ea typeface="Carlito" pitchFamily="34" charset="-122"/>
                <a:cs typeface="Carlito" pitchFamily="34" charset="-120"/>
              </a:rPr>
              <a:t> → Engagement only. </a:t>
            </a:r>
            <a:pPr algn="l" indent="0" marL="0">
              <a:lnSpc>
                <a:spcPts val="1013"/>
              </a:lnSpc>
              <a:buNone/>
            </a:pPr>
            <a:r>
              <a:rPr lang="en-US" sz="800" dirty="0">
                <a:solidFill>
                  <a:srgbClr val="0F1F3D"/>
                </a:solidFill>
                <a:latin typeface="Courier New" pitchFamily="34" charset="0"/>
                <a:ea typeface="Courier New" pitchFamily="34" charset="-122"/>
                <a:cs typeface="Courier New" pitchFamily="34" charset="-120"/>
              </a:rPr>
              <a:t>noseSneerLeft_max</a:t>
            </a:r>
            <a:pPr algn="l" indent="0" marL="0">
              <a:lnSpc>
                <a:spcPts val="1013"/>
              </a:lnSpc>
              <a:buNone/>
            </a:pPr>
            <a:r>
              <a:rPr lang="en-US" sz="800" dirty="0">
                <a:solidFill>
                  <a:srgbClr val="0F1F3D"/>
                </a:solidFill>
                <a:latin typeface="Carlito" pitchFamily="34" charset="0"/>
                <a:ea typeface="Carlito" pitchFamily="34" charset="-122"/>
                <a:cs typeface="Carlito" pitchFamily="34" charset="-120"/>
              </a:rPr>
              <a:t> → Frustration only. </a:t>
            </a:r>
            <a:pPr algn="l" indent="0" marL="0">
              <a:lnSpc>
                <a:spcPts val="1013"/>
              </a:lnSpc>
              <a:buNone/>
            </a:pPr>
            <a:r>
              <a:rPr lang="en-US" sz="800" dirty="0">
                <a:solidFill>
                  <a:srgbClr val="0F1F3D"/>
                </a:solidFill>
                <a:latin typeface="Courier New" pitchFamily="34" charset="0"/>
                <a:ea typeface="Courier New" pitchFamily="34" charset="-122"/>
                <a:cs typeface="Courier New" pitchFamily="34" charset="-120"/>
              </a:rPr>
              <a:t>head_roll_vel_max_abs</a:t>
            </a:r>
            <a:pPr algn="l" indent="0" marL="0">
              <a:lnSpc>
                <a:spcPts val="1013"/>
              </a:lnSpc>
              <a:buNone/>
            </a:pPr>
            <a:r>
              <a:rPr lang="en-US" sz="800" dirty="0">
                <a:solidFill>
                  <a:srgbClr val="0F1F3D"/>
                </a:solidFill>
                <a:latin typeface="Carlito" pitchFamily="34" charset="0"/>
                <a:ea typeface="Carlito" pitchFamily="34" charset="-122"/>
                <a:cs typeface="Carlito" pitchFamily="34" charset="-120"/>
              </a:rPr>
              <a:t> → Boredom only. These are unambiguous intervention signals.</a:t>
            </a:r>
            <a:endParaRPr lang="en-US" sz="800" dirty="0"/>
          </a:p>
        </p:txBody>
      </p:sp>
      <p:sp>
        <p:nvSpPr>
          <p:cNvPr id="16" name="Text 13"/>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THESIS DEFENSE</a:t>
            </a:r>
            <a:endParaRPr lang="en-US" sz="800" dirty="0"/>
          </a:p>
        </p:txBody>
      </p:sp>
      <p:sp>
        <p:nvSpPr>
          <p:cNvPr id="17" name="Text 14"/>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26 / 34</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square" lIns="0" tIns="0" rIns="0" bIns="0" rtlCol="0" anchor="t"/>
          <a:lstStyle/>
          <a:p>
            <a:pPr algn="l" indent="0" marL="0">
              <a:lnSpc>
                <a:spcPts val="928"/>
              </a:lnSpc>
              <a:buNone/>
            </a:pPr>
            <a:r>
              <a:rPr lang="en-US" sz="800" b="1" spc="136" kern="0" dirty="0">
                <a:solidFill>
                  <a:srgbClr val="14B8A6"/>
                </a:solidFill>
                <a:latin typeface="Carlito" pitchFamily="34" charset="0"/>
                <a:ea typeface="Carlito" pitchFamily="34" charset="-122"/>
                <a:cs typeface="Carlito" pitchFamily="34" charset="-120"/>
              </a:rPr>
              <a:t>RQ2 · PERMUTATION IMPORTANCE · CROSS-STATE</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303413"/>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Feature-Group Prominence Shifts Across the Four States</a:t>
            </a:r>
            <a:endParaRPr lang="en-US" sz="2025" dirty="0"/>
          </a:p>
        </p:txBody>
      </p:sp>
      <p:sp>
        <p:nvSpPr>
          <p:cNvPr id="5" name="Text 3"/>
          <p:cNvSpPr/>
          <p:nvPr/>
        </p:nvSpPr>
        <p:spPr>
          <a:xfrm>
            <a:off x="457200" y="1013073"/>
            <a:ext cx="6572250" cy="358759"/>
          </a:xfrm>
          <a:prstGeom prst="rect">
            <a:avLst/>
          </a:prstGeom>
          <a:noFill/>
          <a:ln/>
        </p:spPr>
        <p:txBody>
          <a:bodyPr wrap="square" lIns="0" tIns="0" rIns="0" bIns="0" rtlCol="0" anchor="t"/>
          <a:lstStyle/>
          <a:p>
            <a:pPr algn="l" indent="0" marL="0">
              <a:lnSpc>
                <a:spcPts val="1308"/>
              </a:lnSpc>
              <a:buNone/>
            </a:pPr>
            <a:r>
              <a:rPr lang="en-US" sz="844" dirty="0">
                <a:solidFill>
                  <a:srgbClr val="5B6B82"/>
                </a:solidFill>
                <a:latin typeface="Carlito" pitchFamily="34" charset="0"/>
                <a:ea typeface="Carlito" pitchFamily="34" charset="-122"/>
                <a:cs typeface="Carlito" pitchFamily="34" charset="-120"/>
              </a:rPr>
              <a:t>Permutation importance validates the SHAP rankings and reveals the per-state feature fingerprint — no single feature group carries all four emotions.</a:t>
            </a:r>
            <a:endParaRPr lang="en-US" sz="844"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430982"/>
          <a:ext cx="8229600" cy="914400"/>
        </p:xfrm>
        <a:graphic>
          <a:graphicData uri="http://schemas.openxmlformats.org/drawingml/2006/table">
            <a:tbl>
              <a:tblPr/>
              <a:tblGrid>
                <a:gridCol w="2139665"/>
                <a:gridCol w="1710258"/>
                <a:gridCol w="1400063"/>
                <a:gridCol w="1364010"/>
                <a:gridCol w="1615604"/>
              </a:tblGrid>
              <a:tr h="0">
                <a:tc>
                  <a:txBody>
                    <a:bodyPr/>
                    <a:lstStyle/>
                    <a:p>
                      <a:pPr algn="l" indent="0" marL="0">
                        <a:buNone/>
                      </a:pPr>
                      <a:r>
                        <a:rPr lang="en-US" sz="800" b="1" dirty="0">
                          <a:solidFill>
                            <a:srgbClr val="5B6B82"/>
                          </a:solidFill>
                          <a:latin typeface="Carlito" pitchFamily="34" charset="0"/>
                          <a:ea typeface="Carlito" pitchFamily="34" charset="-122"/>
                          <a:cs typeface="Carlito" pitchFamily="34" charset="-120"/>
                        </a:rPr>
                        <a:t>Feature Group</a:t>
                      </a:r>
                      <a:endParaRPr lang="en-US" sz="800" dirty="0">
                        <a:latin typeface="Carlito" charset="0"/>
                        <a:ea typeface="Carlito" charset="0"/>
                        <a:cs typeface="Carlito" charset="0"/>
                      </a:endParaRPr>
                    </a:p>
                  </a:txBody>
                  <a:tcPr marL="71438" marR="57150" marT="57150"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c>
                  <a:txBody>
                    <a:bodyPr/>
                    <a:lstStyle/>
                    <a:p>
                      <a:pPr algn="ctr" indent="0" marL="0">
                        <a:buNone/>
                      </a:pPr>
                      <a:r>
                        <a:rPr lang="en-US" sz="800" b="1" dirty="0">
                          <a:solidFill>
                            <a:srgbClr val="5B6B82"/>
                          </a:solidFill>
                          <a:latin typeface="Carlito" pitchFamily="34" charset="0"/>
                          <a:ea typeface="Carlito" pitchFamily="34" charset="-122"/>
                          <a:cs typeface="Carlito" pitchFamily="34" charset="-120"/>
                        </a:rPr>
                        <a:t>Boredom</a:t>
                      </a:r>
                      <a:endParaRPr lang="en-US" sz="800" dirty="0">
                        <a:latin typeface="Carlito" charset="0"/>
                        <a:ea typeface="Carlito" charset="0"/>
                        <a:cs typeface="Carlito" charset="0"/>
                      </a:endParaRPr>
                    </a:p>
                  </a:txBody>
                  <a:tcPr marL="71438" marR="57150" marT="57150"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c>
                  <a:txBody>
                    <a:bodyPr/>
                    <a:lstStyle/>
                    <a:p>
                      <a:pPr algn="ctr" indent="0" marL="0">
                        <a:buNone/>
                      </a:pPr>
                      <a:r>
                        <a:rPr lang="en-US" sz="800" b="1" dirty="0">
                          <a:solidFill>
                            <a:srgbClr val="5B6B82"/>
                          </a:solidFill>
                          <a:latin typeface="Carlito" pitchFamily="34" charset="0"/>
                          <a:ea typeface="Carlito" pitchFamily="34" charset="-122"/>
                          <a:cs typeface="Carlito" pitchFamily="34" charset="-120"/>
                        </a:rPr>
                        <a:t>Engagement</a:t>
                      </a:r>
                      <a:endParaRPr lang="en-US" sz="800" dirty="0">
                        <a:latin typeface="Carlito" charset="0"/>
                        <a:ea typeface="Carlito" charset="0"/>
                        <a:cs typeface="Carlito" charset="0"/>
                      </a:endParaRPr>
                    </a:p>
                  </a:txBody>
                  <a:tcPr marL="71438" marR="57150" marT="57150"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c>
                  <a:txBody>
                    <a:bodyPr/>
                    <a:lstStyle/>
                    <a:p>
                      <a:pPr algn="ctr" indent="0" marL="0">
                        <a:buNone/>
                      </a:pPr>
                      <a:r>
                        <a:rPr lang="en-US" sz="800" b="1" dirty="0">
                          <a:solidFill>
                            <a:srgbClr val="5B6B82"/>
                          </a:solidFill>
                          <a:latin typeface="Carlito" pitchFamily="34" charset="0"/>
                          <a:ea typeface="Carlito" pitchFamily="34" charset="-122"/>
                          <a:cs typeface="Carlito" pitchFamily="34" charset="-120"/>
                        </a:rPr>
                        <a:t>Confusion</a:t>
                      </a:r>
                      <a:endParaRPr lang="en-US" sz="800" dirty="0">
                        <a:latin typeface="Carlito" charset="0"/>
                        <a:ea typeface="Carlito" charset="0"/>
                        <a:cs typeface="Carlito" charset="0"/>
                      </a:endParaRPr>
                    </a:p>
                  </a:txBody>
                  <a:tcPr marL="71438" marR="57150" marT="57150"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c>
                  <a:txBody>
                    <a:bodyPr/>
                    <a:lstStyle/>
                    <a:p>
                      <a:pPr algn="ctr" indent="0" marL="0">
                        <a:buNone/>
                      </a:pPr>
                      <a:r>
                        <a:rPr lang="en-US" sz="800" b="1" dirty="0">
                          <a:solidFill>
                            <a:srgbClr val="5B6B82"/>
                          </a:solidFill>
                          <a:latin typeface="Carlito" pitchFamily="34" charset="0"/>
                          <a:ea typeface="Carlito" pitchFamily="34" charset="-122"/>
                          <a:cs typeface="Carlito" pitchFamily="34" charset="-120"/>
                        </a:rPr>
                        <a:t>Frustration</a:t>
                      </a:r>
                      <a:endParaRPr lang="en-US" sz="800" dirty="0">
                        <a:latin typeface="Carlito" charset="0"/>
                        <a:ea typeface="Carlito" charset="0"/>
                        <a:cs typeface="Carlito" charset="0"/>
                      </a:endParaRPr>
                    </a:p>
                  </a:txBody>
                  <a:tcPr marL="71438" marR="57150" marT="57150"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r>
              <a:tr h="0">
                <a:tc>
                  <a:txBody>
                    <a:bodyPr/>
                    <a:lstStyle/>
                    <a:p>
                      <a:pPr algn="l" indent="0" marL="0">
                        <a:buNone/>
                      </a:pPr>
                      <a:r>
                        <a:rPr lang="en-US" sz="800" b="1" dirty="0">
                          <a:solidFill>
                            <a:srgbClr val="0F1F3D"/>
                          </a:solidFill>
                          <a:latin typeface="Carlito" pitchFamily="34" charset="0"/>
                          <a:ea typeface="Carlito" pitchFamily="34" charset="-122"/>
                          <a:cs typeface="Carlito" pitchFamily="34" charset="-120"/>
                        </a:rPr>
                        <a:t>Blendshapes · 52D</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●●●Dominant · muscle suppression</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●●○Bulk but less exclusive</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●●○Still the majority</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●●●Mouth / jaw / nose tension</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b="1" dirty="0">
                          <a:solidFill>
                            <a:srgbClr val="0F1F3D"/>
                          </a:solidFill>
                          <a:latin typeface="Carlito" pitchFamily="34" charset="0"/>
                          <a:ea typeface="Carlito" pitchFamily="34" charset="-122"/>
                          <a:cs typeface="Carlito" pitchFamily="34" charset="-120"/>
                        </a:rPr>
                        <a:t>Head Pose · 6D</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●●○Dynamic — velocity, range</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●○○Minimal</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●●○Mean orientation — yaw</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●●○Dynamic, shared w/ Boredom</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b="1" dirty="0">
                          <a:solidFill>
                            <a:srgbClr val="0F1F3D"/>
                          </a:solidFill>
                          <a:latin typeface="Carlito" pitchFamily="34" charset="0"/>
                          <a:ea typeface="Carlito" pitchFamily="34" charset="-122"/>
                          <a:cs typeface="Carlito" pitchFamily="34" charset="-120"/>
                        </a:rPr>
                        <a:t>Eye Gaze · 6D</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●○○Secondary</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●●●Most prominent of all</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●●○Gaze-shifting behavior</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●●○More than Confusion</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b="1" dirty="0">
                          <a:solidFill>
                            <a:srgbClr val="0F1F3D"/>
                          </a:solidFill>
                          <a:latin typeface="Carlito" pitchFamily="34" charset="0"/>
                          <a:ea typeface="Carlito" pitchFamily="34" charset="-122"/>
                          <a:cs typeface="Carlito" pitchFamily="34" charset="-120"/>
                        </a:rPr>
                        <a:t>Composite · 10D</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●○○Sporadic</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●●●Top ranks with Dynamics</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●●●Top single feature</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●●○Cross-emotion utility</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b="1" dirty="0">
                          <a:solidFill>
                            <a:srgbClr val="0F1F3D"/>
                          </a:solidFill>
                          <a:latin typeface="Carlito" pitchFamily="34" charset="0"/>
                          <a:ea typeface="Carlito" pitchFamily="34" charset="-122"/>
                          <a:cs typeface="Carlito" pitchFamily="34" charset="-120"/>
                        </a:rPr>
                        <a:t>Dynamics · 4D</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●○○Sporadic</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●●○Temporal expressiveness</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●○○Sporadic</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arlito" pitchFamily="34" charset="0"/>
                          <a:ea typeface="Carlito" pitchFamily="34" charset="-122"/>
                          <a:cs typeface="Carlito" pitchFamily="34" charset="-120"/>
                        </a:rPr>
                        <a:t>●●○Bursting patterns</a:t>
                      </a:r>
                      <a:endParaRPr lang="en-US" sz="800" dirty="0">
                        <a:latin typeface="Carlito" charset="0"/>
                        <a:ea typeface="Carlito" charset="0"/>
                        <a:cs typeface="Carlito" charset="0"/>
                      </a:endParaRPr>
                    </a:p>
                  </a:txBody>
                  <a:tcPr marL="78581" marR="71438" marT="71438"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7" name="Text 4"/>
          <p:cNvSpPr/>
          <p:nvPr/>
        </p:nvSpPr>
        <p:spPr>
          <a:xfrm>
            <a:off x="457200" y="3975608"/>
            <a:ext cx="8229600" cy="637580"/>
          </a:xfrm>
          <a:prstGeom prst="roundRect">
            <a:avLst>
              <a:gd name="adj" fmla="val 11951"/>
            </a:avLst>
          </a:prstGeom>
          <a:solidFill>
            <a:srgbClr val="F6F8FB"/>
          </a:solidFill>
          <a:ln/>
        </p:spPr>
        <p:txBody>
          <a:bodyPr wrap="square" rtlCol="0" anchor="ctr"/>
          <a:lstStyle/>
          <a:p>
            <a:pPr indent="0" marL="0">
              <a:buNone/>
            </a:pPr>
            <a:endParaRPr lang="en-US" dirty="0"/>
          </a:p>
        </p:txBody>
      </p:sp>
      <p:sp>
        <p:nvSpPr>
          <p:cNvPr id="8" name="Shape 5"/>
          <p:cNvSpPr/>
          <p:nvPr/>
        </p:nvSpPr>
        <p:spPr>
          <a:xfrm>
            <a:off x="467916" y="3975608"/>
            <a:ext cx="0" cy="637580"/>
          </a:xfrm>
          <a:prstGeom prst="line">
            <a:avLst/>
          </a:prstGeom>
          <a:noFill/>
          <a:ln w="21431">
            <a:solidFill>
              <a:srgbClr val="14B8A6"/>
            </a:solidFill>
            <a:prstDash val="solid"/>
          </a:ln>
        </p:spPr>
      </p:sp>
      <p:sp>
        <p:nvSpPr>
          <p:cNvPr id="9" name="Text 6"/>
          <p:cNvSpPr/>
          <p:nvPr/>
        </p:nvSpPr>
        <p:spPr>
          <a:xfrm>
            <a:off x="607219" y="4075621"/>
            <a:ext cx="8060722" cy="133302"/>
          </a:xfrm>
          <a:prstGeom prst="rect">
            <a:avLst/>
          </a:prstGeom>
          <a:noFill/>
          <a:ln/>
        </p:spPr>
        <p:txBody>
          <a:bodyPr wrap="square" lIns="0" tIns="0" rIns="0" bIns="0" rtlCol="0" anchor="t">
            <a:normAutofit/>
          </a:bodyPr>
          <a:lstStyle/>
          <a:p>
            <a:pPr algn="l" indent="0" marL="0">
              <a:lnSpc>
                <a:spcPts val="928"/>
              </a:lnSpc>
              <a:buNone/>
            </a:pPr>
            <a:r>
              <a:rPr lang="en-US" sz="800" b="1" spc="87" kern="0" dirty="0">
                <a:solidFill>
                  <a:srgbClr val="0F766E"/>
                </a:solidFill>
                <a:latin typeface="Carlito" pitchFamily="34" charset="0"/>
                <a:ea typeface="Carlito" pitchFamily="34" charset="-122"/>
                <a:cs typeface="Carlito" pitchFamily="34" charset="-120"/>
              </a:rPr>
              <a:t>THE SINGLE MOST IMPORTANT TAKEAWAY FROM RQ2</a:t>
            </a:r>
            <a:endParaRPr lang="en-US" sz="800" dirty="0"/>
          </a:p>
        </p:txBody>
      </p:sp>
      <p:sp>
        <p:nvSpPr>
          <p:cNvPr id="10" name="Text 7"/>
          <p:cNvSpPr/>
          <p:nvPr/>
        </p:nvSpPr>
        <p:spPr>
          <a:xfrm>
            <a:off x="607219" y="4236355"/>
            <a:ext cx="7950994" cy="276820"/>
          </a:xfrm>
          <a:prstGeom prst="rect">
            <a:avLst/>
          </a:prstGeom>
          <a:noFill/>
          <a:ln/>
        </p:spPr>
        <p:txBody>
          <a:bodyPr wrap="square" lIns="0" tIns="0" rIns="0" bIns="0" rtlCol="0" anchor="t"/>
          <a:lstStyle/>
          <a:p>
            <a:pPr algn="l" indent="0" marL="0">
              <a:lnSpc>
                <a:spcPts val="1090"/>
              </a:lnSpc>
              <a:buNone/>
            </a:pPr>
            <a:r>
              <a:rPr lang="en-US" sz="800" dirty="0">
                <a:solidFill>
                  <a:srgbClr val="0F1F3D"/>
                </a:solidFill>
                <a:latin typeface="Carlito" pitchFamily="34" charset="0"/>
                <a:ea typeface="Carlito" pitchFamily="34" charset="-122"/>
                <a:cs typeface="Carlito" pitchFamily="34" charset="-120"/>
              </a:rPr>
              <a:t>No single feature group carries all four emotions. Each affective state has its own fingerprint — </a:t>
            </a:r>
            <a:pPr algn="l" indent="0" marL="0">
              <a:lnSpc>
                <a:spcPts val="1090"/>
              </a:lnSpc>
              <a:buNone/>
            </a:pPr>
            <a:r>
              <a:rPr lang="en-US" sz="800" b="1" dirty="0">
                <a:solidFill>
                  <a:srgbClr val="0F1F3D"/>
                </a:solidFill>
                <a:latin typeface="Carlito" pitchFamily="34" charset="0"/>
                <a:ea typeface="Carlito" pitchFamily="34" charset="-122"/>
                <a:cs typeface="Carlito" pitchFamily="34" charset="-120"/>
              </a:rPr>
              <a:t>Boredom</a:t>
            </a:r>
            <a:pPr algn="l" indent="0" marL="0">
              <a:lnSpc>
                <a:spcPts val="1090"/>
              </a:lnSpc>
              <a:buNone/>
            </a:pPr>
            <a:r>
              <a:rPr lang="en-US" sz="800" dirty="0">
                <a:solidFill>
                  <a:srgbClr val="0F1F3D"/>
                </a:solidFill>
                <a:latin typeface="Carlito" pitchFamily="34" charset="0"/>
                <a:ea typeface="Carlito" pitchFamily="34" charset="-122"/>
                <a:cs typeface="Carlito" pitchFamily="34" charset="-120"/>
              </a:rPr>
              <a:t> is blendshapes, </a:t>
            </a:r>
            <a:pPr algn="l" indent="0" marL="0">
              <a:lnSpc>
                <a:spcPts val="1090"/>
              </a:lnSpc>
              <a:buNone/>
            </a:pPr>
            <a:r>
              <a:rPr lang="en-US" sz="800" b="1" dirty="0">
                <a:solidFill>
                  <a:srgbClr val="0F1F3D"/>
                </a:solidFill>
                <a:latin typeface="Carlito" pitchFamily="34" charset="0"/>
                <a:ea typeface="Carlito" pitchFamily="34" charset="-122"/>
                <a:cs typeface="Carlito" pitchFamily="34" charset="-120"/>
              </a:rPr>
              <a:t>Engagement</a:t>
            </a:r>
            <a:pPr algn="l" indent="0" marL="0">
              <a:lnSpc>
                <a:spcPts val="1090"/>
              </a:lnSpc>
              <a:buNone/>
            </a:pPr>
            <a:r>
              <a:rPr lang="en-US" sz="800" dirty="0">
                <a:solidFill>
                  <a:srgbClr val="0F1F3D"/>
                </a:solidFill>
                <a:latin typeface="Carlito" pitchFamily="34" charset="0"/>
                <a:ea typeface="Carlito" pitchFamily="34" charset="-122"/>
                <a:cs typeface="Carlito" pitchFamily="34" charset="-120"/>
              </a:rPr>
              <a:t> is composite + gaze, </a:t>
            </a:r>
            <a:pPr algn="l" indent="0" marL="0">
              <a:lnSpc>
                <a:spcPts val="1090"/>
              </a:lnSpc>
              <a:buNone/>
            </a:pPr>
            <a:r>
              <a:rPr lang="en-US" sz="800" b="1" dirty="0">
                <a:solidFill>
                  <a:srgbClr val="0F1F3D"/>
                </a:solidFill>
                <a:latin typeface="Carlito" pitchFamily="34" charset="0"/>
                <a:ea typeface="Carlito" pitchFamily="34" charset="-122"/>
                <a:cs typeface="Carlito" pitchFamily="34" charset="-120"/>
              </a:rPr>
              <a:t>Confusion</a:t>
            </a:r>
            <a:pPr algn="l" indent="0" marL="0">
              <a:lnSpc>
                <a:spcPts val="1090"/>
              </a:lnSpc>
              <a:buNone/>
            </a:pPr>
            <a:r>
              <a:rPr lang="en-US" sz="800" dirty="0">
                <a:solidFill>
                  <a:srgbClr val="0F1F3D"/>
                </a:solidFill>
                <a:latin typeface="Carlito" pitchFamily="34" charset="0"/>
                <a:ea typeface="Carlito" pitchFamily="34" charset="-122"/>
                <a:cs typeface="Carlito" pitchFamily="34" charset="-120"/>
              </a:rPr>
              <a:t> is composite + head orientation, </a:t>
            </a:r>
            <a:pPr algn="l" indent="0" marL="0">
              <a:lnSpc>
                <a:spcPts val="1090"/>
              </a:lnSpc>
              <a:buNone/>
            </a:pPr>
            <a:r>
              <a:rPr lang="en-US" sz="800" b="1" dirty="0">
                <a:solidFill>
                  <a:srgbClr val="0F1F3D"/>
                </a:solidFill>
                <a:latin typeface="Carlito" pitchFamily="34" charset="0"/>
                <a:ea typeface="Carlito" pitchFamily="34" charset="-122"/>
                <a:cs typeface="Carlito" pitchFamily="34" charset="-120"/>
              </a:rPr>
              <a:t>Frustration</a:t>
            </a:r>
            <a:pPr algn="l" indent="0" marL="0">
              <a:lnSpc>
                <a:spcPts val="1090"/>
              </a:lnSpc>
              <a:buNone/>
            </a:pPr>
            <a:r>
              <a:rPr lang="en-US" sz="800" dirty="0">
                <a:solidFill>
                  <a:srgbClr val="0F1F3D"/>
                </a:solidFill>
                <a:latin typeface="Carlito" pitchFamily="34" charset="0"/>
                <a:ea typeface="Carlito" pitchFamily="34" charset="-122"/>
                <a:cs typeface="Carlito" pitchFamily="34" charset="-120"/>
              </a:rPr>
              <a:t> is mouth/jaw blendshapes + bursting dynamics. This validates the multi-group feature engineering pipeline.</a:t>
            </a:r>
            <a:endParaRPr lang="en-US" sz="800" dirty="0"/>
          </a:p>
        </p:txBody>
      </p:sp>
      <p:sp>
        <p:nvSpPr>
          <p:cNvPr id="11" name="Text 8"/>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THESIS DEFENSE</a:t>
            </a:r>
            <a:endParaRPr lang="en-US" sz="800" dirty="0"/>
          </a:p>
        </p:txBody>
      </p:sp>
      <p:sp>
        <p:nvSpPr>
          <p:cNvPr id="12" name="Text 9"/>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27 / 34</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square" lIns="0" tIns="0" rIns="0" bIns="0" rtlCol="0" anchor="t"/>
          <a:lstStyle/>
          <a:p>
            <a:pPr algn="l" indent="0" marL="0">
              <a:lnSpc>
                <a:spcPts val="928"/>
              </a:lnSpc>
              <a:buNone/>
            </a:pPr>
            <a:r>
              <a:rPr lang="en-US" sz="800" b="1" spc="136" kern="0" dirty="0">
                <a:solidFill>
                  <a:srgbClr val="14B8A6"/>
                </a:solidFill>
                <a:latin typeface="Liberation Sans Narrow" pitchFamily="34" charset="0"/>
                <a:ea typeface="Liberation Sans Narrow" pitchFamily="34" charset="-122"/>
                <a:cs typeface="Liberation Sans Narrow" pitchFamily="34" charset="-120"/>
              </a:rPr>
              <a:t>RQ3 · ABLATION + DEPLOYMENT PROOF</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591395"/>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150 Frames is the Elbow — and the Pipeline Runs in 2.1 ms</a:t>
            </a:r>
            <a:endParaRPr lang="en-US" sz="2025" dirty="0"/>
          </a:p>
        </p:txBody>
      </p:sp>
      <p:sp>
        <p:nvSpPr>
          <p:cNvPr id="5" name="Text 3"/>
          <p:cNvSpPr/>
          <p:nvPr/>
        </p:nvSpPr>
        <p:spPr>
          <a:xfrm>
            <a:off x="457200" y="1301055"/>
            <a:ext cx="6572250" cy="358759"/>
          </a:xfrm>
          <a:prstGeom prst="rect">
            <a:avLst/>
          </a:prstGeom>
          <a:noFill/>
          <a:ln/>
        </p:spPr>
        <p:txBody>
          <a:bodyPr wrap="square" lIns="0" tIns="0" rIns="0" bIns="0" rtlCol="0" anchor="t"/>
          <a:lstStyle/>
          <a:p>
            <a:pPr algn="l" indent="0" marL="0">
              <a:lnSpc>
                <a:spcPts val="1308"/>
              </a:lnSpc>
              <a:buNone/>
            </a:pPr>
            <a:r>
              <a:rPr lang="en-US" sz="844" dirty="0">
                <a:solidFill>
                  <a:srgbClr val="5B6B82"/>
                </a:solidFill>
                <a:latin typeface="Carlito" pitchFamily="34" charset="0"/>
                <a:ea typeface="Carlito" pitchFamily="34" charset="-122"/>
                <a:cs typeface="Carlito" pitchFamily="34" charset="-120"/>
              </a:rPr>
              <a:t>Ablation across temporal window sizes confirms the 150-frame design choice. A real-time deployment proof (FaceAura app) validates the computational efficiency claim.</a:t>
            </a:r>
            <a:endParaRPr lang="en-US" sz="844" dirty="0"/>
          </a:p>
        </p:txBody>
      </p:sp>
      <p:sp>
        <p:nvSpPr>
          <p:cNvPr id="6" name="Text 4"/>
          <p:cNvSpPr/>
          <p:nvPr/>
        </p:nvSpPr>
        <p:spPr>
          <a:xfrm>
            <a:off x="457200" y="1718965"/>
            <a:ext cx="4681019" cy="133302"/>
          </a:xfrm>
          <a:prstGeom prst="rect">
            <a:avLst/>
          </a:prstGeom>
          <a:noFill/>
          <a:ln/>
        </p:spPr>
        <p:txBody>
          <a:bodyPr wrap="square" lIns="0" tIns="0" rIns="0" bIns="0" rtlCol="0" anchor="t">
            <a:normAutofit/>
          </a:bodyPr>
          <a:lstStyle/>
          <a:p>
            <a:pPr algn="l" indent="0" marL="0">
              <a:lnSpc>
                <a:spcPts val="928"/>
              </a:lnSpc>
              <a:buNone/>
            </a:pPr>
            <a:r>
              <a:rPr lang="en-US" sz="800" spc="111" kern="0" dirty="0">
                <a:solidFill>
                  <a:srgbClr val="5B6B82"/>
                </a:solidFill>
                <a:latin typeface="Carlito" pitchFamily="34" charset="0"/>
                <a:ea typeface="Carlito" pitchFamily="34" charset="-122"/>
                <a:cs typeface="Carlito" pitchFamily="34" charset="-120"/>
              </a:rPr>
              <a:t>ABLATION · TEMPORAL WINDOW SIZE</a:t>
            </a:r>
            <a:endParaRPr lang="en-US" sz="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879699"/>
          <a:ext cx="4036219" cy="914400"/>
        </p:xfrm>
        <a:graphic>
          <a:graphicData uri="http://schemas.openxmlformats.org/drawingml/2006/table">
            <a:tbl>
              <a:tblPr/>
              <a:tblGrid>
                <a:gridCol w="1218009"/>
                <a:gridCol w="583778"/>
                <a:gridCol w="767842"/>
                <a:gridCol w="674191"/>
                <a:gridCol w="781683"/>
              </a:tblGrid>
              <a:tr h="0">
                <a:tc>
                  <a:txBody>
                    <a:bodyPr/>
                    <a:lstStyle/>
                    <a:p>
                      <a:pPr algn="l" indent="0" marL="0">
                        <a:buNone/>
                      </a:pPr>
                      <a:r>
                        <a:rPr lang="en-US" sz="800" b="1" dirty="0">
                          <a:solidFill>
                            <a:srgbClr val="5B6B82"/>
                          </a:solidFill>
                          <a:latin typeface="Carlito" pitchFamily="34" charset="0"/>
                          <a:ea typeface="Carlito" pitchFamily="34" charset="-122"/>
                          <a:cs typeface="Carlito" pitchFamily="34" charset="-120"/>
                        </a:rPr>
                        <a:t>Configuration</a:t>
                      </a:r>
                      <a:endParaRPr lang="en-US" sz="800" dirty="0">
                        <a:latin typeface="Carlito" charset="0"/>
                        <a:ea typeface="Carlito" charset="0"/>
                        <a:cs typeface="Carlito" charset="0"/>
                      </a:endParaRPr>
                    </a:p>
                  </a:txBody>
                  <a:tcPr marL="57150" marR="42863"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c>
                  <a:txBody>
                    <a:bodyPr/>
                    <a:lstStyle/>
                    <a:p>
                      <a:pPr algn="ctr" indent="0" marL="0">
                        <a:buNone/>
                      </a:pPr>
                      <a:r>
                        <a:rPr lang="en-US" sz="800" b="1" dirty="0">
                          <a:solidFill>
                            <a:srgbClr val="5B6B82"/>
                          </a:solidFill>
                          <a:latin typeface="Carlito" pitchFamily="34" charset="0"/>
                          <a:ea typeface="Carlito" pitchFamily="34" charset="-122"/>
                          <a:cs typeface="Carlito" pitchFamily="34" charset="-120"/>
                        </a:rPr>
                        <a:t>Boredom</a:t>
                      </a:r>
                      <a:endParaRPr lang="en-US" sz="800" dirty="0">
                        <a:latin typeface="Carlito" charset="0"/>
                        <a:ea typeface="Carlito" charset="0"/>
                        <a:cs typeface="Carlito"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c>
                  <a:txBody>
                    <a:bodyPr/>
                    <a:lstStyle/>
                    <a:p>
                      <a:pPr algn="ctr" indent="0" marL="0">
                        <a:buNone/>
                      </a:pPr>
                      <a:r>
                        <a:rPr lang="en-US" sz="800" b="1" dirty="0">
                          <a:solidFill>
                            <a:srgbClr val="5B6B82"/>
                          </a:solidFill>
                          <a:latin typeface="Carlito" pitchFamily="34" charset="0"/>
                          <a:ea typeface="Carlito" pitchFamily="34" charset="-122"/>
                          <a:cs typeface="Carlito" pitchFamily="34" charset="-120"/>
                        </a:rPr>
                        <a:t>Engagement</a:t>
                      </a:r>
                      <a:endParaRPr lang="en-US" sz="800" dirty="0">
                        <a:latin typeface="Carlito" charset="0"/>
                        <a:ea typeface="Carlito" charset="0"/>
                        <a:cs typeface="Carlito"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c>
                  <a:txBody>
                    <a:bodyPr/>
                    <a:lstStyle/>
                    <a:p>
                      <a:pPr algn="ctr" indent="0" marL="0">
                        <a:buNone/>
                      </a:pPr>
                      <a:r>
                        <a:rPr lang="en-US" sz="800" b="1" dirty="0">
                          <a:solidFill>
                            <a:srgbClr val="5B6B82"/>
                          </a:solidFill>
                          <a:latin typeface="Carlito" pitchFamily="34" charset="0"/>
                          <a:ea typeface="Carlito" pitchFamily="34" charset="-122"/>
                          <a:cs typeface="Carlito" pitchFamily="34" charset="-120"/>
                        </a:rPr>
                        <a:t>Confusion</a:t>
                      </a:r>
                      <a:endParaRPr lang="en-US" sz="800" dirty="0">
                        <a:latin typeface="Carlito" charset="0"/>
                        <a:ea typeface="Carlito" charset="0"/>
                        <a:cs typeface="Carlito"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c>
                  <a:txBody>
                    <a:bodyPr/>
                    <a:lstStyle/>
                    <a:p>
                      <a:pPr algn="ctr" indent="0" marL="0">
                        <a:buNone/>
                      </a:pPr>
                      <a:r>
                        <a:rPr lang="en-US" sz="800" b="1" dirty="0">
                          <a:solidFill>
                            <a:srgbClr val="5B6B82"/>
                          </a:solidFill>
                          <a:latin typeface="Carlito" pitchFamily="34" charset="0"/>
                          <a:ea typeface="Carlito" pitchFamily="34" charset="-122"/>
                          <a:cs typeface="Carlito" pitchFamily="34" charset="-120"/>
                        </a:rPr>
                        <a:t>Frustration</a:t>
                      </a:r>
                      <a:endParaRPr lang="en-US" sz="800" dirty="0">
                        <a:latin typeface="Carlito" charset="0"/>
                        <a:ea typeface="Carlito" charset="0"/>
                        <a:cs typeface="Carlito"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6F8FB"/>
                    </a:solidFill>
                  </a:tcPr>
                </a:tc>
              </a:tr>
              <a:tr h="0">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30 frames</a:t>
                      </a:r>
                      <a:endParaRPr lang="en-US" sz="800" dirty="0">
                        <a:latin typeface="Carlito" charset="0"/>
                        <a:ea typeface="Carlito" charset="0"/>
                        <a:cs typeface="Carlito" charset="0"/>
                      </a:endParaRPr>
                    </a:p>
                  </a:txBody>
                  <a:tcPr marL="57150" marR="42863"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ourier New" pitchFamily="34" charset="0"/>
                          <a:ea typeface="Courier New" pitchFamily="34" charset="-122"/>
                          <a:cs typeface="Courier New" pitchFamily="34" charset="-120"/>
                        </a:rPr>
                        <a:t>0.43</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ourier New" pitchFamily="34" charset="0"/>
                          <a:ea typeface="Courier New" pitchFamily="34" charset="-122"/>
                          <a:cs typeface="Courier New" pitchFamily="34" charset="-120"/>
                        </a:rPr>
                        <a:t>0.50</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ourier New" pitchFamily="34" charset="0"/>
                          <a:ea typeface="Courier New" pitchFamily="34" charset="-122"/>
                          <a:cs typeface="Courier New" pitchFamily="34" charset="-120"/>
                        </a:rPr>
                        <a:t>0.57</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ourier New" pitchFamily="34" charset="0"/>
                          <a:ea typeface="Courier New" pitchFamily="34" charset="-122"/>
                          <a:cs typeface="Courier New" pitchFamily="34" charset="-120"/>
                        </a:rPr>
                        <a:t>0.69</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75 frames</a:t>
                      </a:r>
                      <a:endParaRPr lang="en-US" sz="800" dirty="0">
                        <a:latin typeface="Carlito" charset="0"/>
                        <a:ea typeface="Carlito" charset="0"/>
                        <a:cs typeface="Carlito" charset="0"/>
                      </a:endParaRPr>
                    </a:p>
                  </a:txBody>
                  <a:tcPr marL="57150" marR="42863"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ourier New" pitchFamily="34" charset="0"/>
                          <a:ea typeface="Courier New" pitchFamily="34" charset="-122"/>
                          <a:cs typeface="Courier New" pitchFamily="34" charset="-120"/>
                        </a:rPr>
                        <a:t>0.45</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ourier New" pitchFamily="34" charset="0"/>
                          <a:ea typeface="Courier New" pitchFamily="34" charset="-122"/>
                          <a:cs typeface="Courier New" pitchFamily="34" charset="-120"/>
                        </a:rPr>
                        <a:t>0.52</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ourier New" pitchFamily="34" charset="0"/>
                          <a:ea typeface="Courier New" pitchFamily="34" charset="-122"/>
                          <a:cs typeface="Courier New" pitchFamily="34" charset="-120"/>
                        </a:rPr>
                        <a:t>0.57</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ourier New" pitchFamily="34" charset="0"/>
                          <a:ea typeface="Courier New" pitchFamily="34" charset="-122"/>
                          <a:cs typeface="Courier New" pitchFamily="34" charset="-120"/>
                        </a:rPr>
                        <a:t>0.69</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b="1" dirty="0">
                          <a:solidFill>
                            <a:srgbClr val="0F1F3D"/>
                          </a:solidFill>
                          <a:latin typeface="Carlito" pitchFamily="34" charset="0"/>
                          <a:ea typeface="Carlito" pitchFamily="34" charset="-122"/>
                          <a:cs typeface="Carlito" pitchFamily="34" charset="-120"/>
                        </a:rPr>
                        <a:t>150 frames (selected)</a:t>
                      </a:r>
                      <a:endParaRPr lang="en-US" sz="800" dirty="0">
                        <a:latin typeface="Carlito" charset="0"/>
                        <a:ea typeface="Carlito" charset="0"/>
                        <a:cs typeface="Carlito" charset="0"/>
                      </a:endParaRPr>
                    </a:p>
                  </a:txBody>
                  <a:tcPr marL="57150" marR="42863" marT="50006"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b="1" dirty="0">
                          <a:solidFill>
                            <a:srgbClr val="0F1F3D"/>
                          </a:solidFill>
                          <a:latin typeface="Courier New" pitchFamily="34" charset="0"/>
                          <a:ea typeface="Courier New" pitchFamily="34" charset="-122"/>
                          <a:cs typeface="Courier New" pitchFamily="34" charset="-120"/>
                        </a:rPr>
                        <a:t>0.53</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b="1" dirty="0">
                          <a:solidFill>
                            <a:srgbClr val="0F1F3D"/>
                          </a:solidFill>
                          <a:latin typeface="Courier New" pitchFamily="34" charset="0"/>
                          <a:ea typeface="Courier New" pitchFamily="34" charset="-122"/>
                          <a:cs typeface="Courier New" pitchFamily="34" charset="-120"/>
                        </a:rPr>
                        <a:t>0.58</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b="1" dirty="0">
                          <a:solidFill>
                            <a:srgbClr val="0F1F3D"/>
                          </a:solidFill>
                          <a:latin typeface="Courier New" pitchFamily="34" charset="0"/>
                          <a:ea typeface="Courier New" pitchFamily="34" charset="-122"/>
                          <a:cs typeface="Courier New" pitchFamily="34" charset="-120"/>
                        </a:rPr>
                        <a:t>0.56</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b="1" dirty="0">
                          <a:solidFill>
                            <a:srgbClr val="0F1F3D"/>
                          </a:solidFill>
                          <a:latin typeface="Courier New" pitchFamily="34" charset="0"/>
                          <a:ea typeface="Courier New" pitchFamily="34" charset="-122"/>
                          <a:cs typeface="Courier New" pitchFamily="34" charset="-120"/>
                        </a:rPr>
                        <a:t>0.69</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200 frames</a:t>
                      </a:r>
                      <a:endParaRPr lang="en-US" sz="800" dirty="0">
                        <a:latin typeface="Carlito" charset="0"/>
                        <a:ea typeface="Carlito" charset="0"/>
                        <a:cs typeface="Carlito" charset="0"/>
                      </a:endParaRPr>
                    </a:p>
                  </a:txBody>
                  <a:tcPr marL="57150" marR="42863"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ourier New" pitchFamily="34" charset="0"/>
                          <a:ea typeface="Courier New" pitchFamily="34" charset="-122"/>
                          <a:cs typeface="Courier New" pitchFamily="34" charset="-120"/>
                        </a:rPr>
                        <a:t>0.44</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ourier New" pitchFamily="34" charset="0"/>
                          <a:ea typeface="Courier New" pitchFamily="34" charset="-122"/>
                          <a:cs typeface="Courier New" pitchFamily="34" charset="-120"/>
                        </a:rPr>
                        <a:t>0.53</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ourier New" pitchFamily="34" charset="0"/>
                          <a:ea typeface="Courier New" pitchFamily="34" charset="-122"/>
                          <a:cs typeface="Courier New" pitchFamily="34" charset="-120"/>
                        </a:rPr>
                        <a:t>0.58</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ourier New" pitchFamily="34" charset="0"/>
                          <a:ea typeface="Courier New" pitchFamily="34" charset="-122"/>
                          <a:cs typeface="Courier New" pitchFamily="34" charset="-120"/>
                        </a:rPr>
                        <a:t>0.68</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0F1F3D"/>
                          </a:solidFill>
                          <a:latin typeface="Carlito" pitchFamily="34" charset="0"/>
                          <a:ea typeface="Carlito" pitchFamily="34" charset="-122"/>
                          <a:cs typeface="Carlito" pitchFamily="34" charset="-120"/>
                        </a:rPr>
                        <a:t>300 frames</a:t>
                      </a:r>
                      <a:endParaRPr lang="en-US" sz="800" dirty="0">
                        <a:latin typeface="Carlito" charset="0"/>
                        <a:ea typeface="Carlito" charset="0"/>
                        <a:cs typeface="Carlito" charset="0"/>
                      </a:endParaRPr>
                    </a:p>
                  </a:txBody>
                  <a:tcPr marL="57150" marR="42863"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ourier New" pitchFamily="34" charset="0"/>
                          <a:ea typeface="Courier New" pitchFamily="34" charset="-122"/>
                          <a:cs typeface="Courier New" pitchFamily="34" charset="-120"/>
                        </a:rPr>
                        <a:t>0.45</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ourier New" pitchFamily="34" charset="0"/>
                          <a:ea typeface="Courier New" pitchFamily="34" charset="-122"/>
                          <a:cs typeface="Courier New" pitchFamily="34" charset="-120"/>
                        </a:rPr>
                        <a:t>0.52</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ourier New" pitchFamily="34" charset="0"/>
                          <a:ea typeface="Courier New" pitchFamily="34" charset="-122"/>
                          <a:cs typeface="Courier New" pitchFamily="34" charset="-120"/>
                        </a:rPr>
                        <a:t>0.58</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800" dirty="0">
                          <a:solidFill>
                            <a:srgbClr val="0F1F3D"/>
                          </a:solidFill>
                          <a:latin typeface="Courier New" pitchFamily="34" charset="0"/>
                          <a:ea typeface="Courier New" pitchFamily="34" charset="-122"/>
                          <a:cs typeface="Courier New" pitchFamily="34" charset="-120"/>
                        </a:rPr>
                        <a:t>0.69</a:t>
                      </a:r>
                      <a:endParaRPr lang="en-US" sz="800" dirty="0">
                        <a:latin typeface="Courier New" charset="0"/>
                        <a:ea typeface="Courier New" charset="0"/>
                        <a:cs typeface="Courier New" charset="0"/>
                      </a:endParaRPr>
                    </a:p>
                  </a:txBody>
                  <a:tcPr marL="57150" marR="42863" marT="42863"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8" name="Text 5"/>
          <p:cNvSpPr/>
          <p:nvPr/>
        </p:nvSpPr>
        <p:spPr>
          <a:xfrm>
            <a:off x="457200" y="3469184"/>
            <a:ext cx="4036219" cy="703659"/>
          </a:xfrm>
          <a:prstGeom prst="roundRect">
            <a:avLst>
              <a:gd name="adj" fmla="val 5415"/>
            </a:avLst>
          </a:prstGeom>
          <a:solidFill>
            <a:srgbClr val="FFFFFF"/>
          </a:solidFill>
          <a:ln/>
        </p:spPr>
        <p:txBody>
          <a:bodyPr wrap="square" rtlCol="0" anchor="ctr"/>
          <a:lstStyle/>
          <a:p>
            <a:pPr indent="0" marL="0">
              <a:buNone/>
            </a:pPr>
            <a:endParaRPr lang="en-US" dirty="0"/>
          </a:p>
        </p:txBody>
      </p:sp>
      <p:sp>
        <p:nvSpPr>
          <p:cNvPr id="9" name="Shape 6"/>
          <p:cNvSpPr/>
          <p:nvPr/>
        </p:nvSpPr>
        <p:spPr>
          <a:xfrm>
            <a:off x="457200" y="3472755"/>
            <a:ext cx="4036219" cy="0"/>
          </a:xfrm>
          <a:prstGeom prst="line">
            <a:avLst/>
          </a:prstGeom>
          <a:noFill/>
          <a:ln w="7144">
            <a:solidFill>
              <a:srgbClr val="D9E1EC"/>
            </a:solidFill>
            <a:prstDash val="solid"/>
          </a:ln>
        </p:spPr>
      </p:sp>
      <p:sp>
        <p:nvSpPr>
          <p:cNvPr id="10" name="Shape 7"/>
          <p:cNvSpPr/>
          <p:nvPr/>
        </p:nvSpPr>
        <p:spPr>
          <a:xfrm>
            <a:off x="4489847" y="3469184"/>
            <a:ext cx="0" cy="703659"/>
          </a:xfrm>
          <a:prstGeom prst="line">
            <a:avLst/>
          </a:prstGeom>
          <a:noFill/>
          <a:ln w="7144">
            <a:solidFill>
              <a:srgbClr val="D9E1EC"/>
            </a:solidFill>
            <a:prstDash val="solid"/>
          </a:ln>
        </p:spPr>
      </p:sp>
      <p:sp>
        <p:nvSpPr>
          <p:cNvPr id="11" name="Shape 8"/>
          <p:cNvSpPr/>
          <p:nvPr/>
        </p:nvSpPr>
        <p:spPr>
          <a:xfrm>
            <a:off x="457200" y="4169271"/>
            <a:ext cx="4036219" cy="0"/>
          </a:xfrm>
          <a:prstGeom prst="line">
            <a:avLst/>
          </a:prstGeom>
          <a:noFill/>
          <a:ln w="7144">
            <a:solidFill>
              <a:srgbClr val="D9E1EC"/>
            </a:solidFill>
            <a:prstDash val="solid"/>
          </a:ln>
        </p:spPr>
      </p:sp>
      <p:sp>
        <p:nvSpPr>
          <p:cNvPr id="12" name="Shape 9"/>
          <p:cNvSpPr/>
          <p:nvPr/>
        </p:nvSpPr>
        <p:spPr>
          <a:xfrm>
            <a:off x="467916" y="3469184"/>
            <a:ext cx="0" cy="703659"/>
          </a:xfrm>
          <a:prstGeom prst="line">
            <a:avLst/>
          </a:prstGeom>
          <a:noFill/>
          <a:ln w="21431">
            <a:solidFill>
              <a:srgbClr val="14B8A6"/>
            </a:solidFill>
            <a:prstDash val="solid"/>
          </a:ln>
        </p:spPr>
      </p:sp>
      <p:sp>
        <p:nvSpPr>
          <p:cNvPr id="13" name="Text 10"/>
          <p:cNvSpPr/>
          <p:nvPr/>
        </p:nvSpPr>
        <p:spPr>
          <a:xfrm>
            <a:off x="578644" y="3554909"/>
            <a:ext cx="3807619" cy="119015"/>
          </a:xfrm>
          <a:prstGeom prst="rect">
            <a:avLst/>
          </a:prstGeom>
          <a:noFill/>
          <a:ln/>
        </p:spPr>
        <p:txBody>
          <a:bodyPr wrap="none" lIns="0" tIns="0" rIns="0" bIns="0" rtlCol="0" anchor="t">
            <a:normAutofit/>
          </a:bodyPr>
          <a:lstStyle/>
          <a:p>
            <a:pPr algn="l" indent="0" marL="0">
              <a:lnSpc>
                <a:spcPts val="928"/>
              </a:lnSpc>
              <a:buNone/>
            </a:pPr>
            <a:r>
              <a:rPr lang="en-US" sz="800" b="1" spc="87" kern="0" dirty="0">
                <a:solidFill>
                  <a:srgbClr val="0F766E"/>
                </a:solidFill>
                <a:latin typeface="Carlito" pitchFamily="34" charset="0"/>
                <a:ea typeface="Carlito" pitchFamily="34" charset="-122"/>
                <a:cs typeface="Carlito" pitchFamily="34" charset="-120"/>
              </a:rPr>
              <a:t>ELBOW PATTERN</a:t>
            </a:r>
            <a:endParaRPr lang="en-US" sz="800" dirty="0"/>
          </a:p>
        </p:txBody>
      </p:sp>
      <p:sp>
        <p:nvSpPr>
          <p:cNvPr id="14" name="Text 11"/>
          <p:cNvSpPr/>
          <p:nvPr/>
        </p:nvSpPr>
        <p:spPr>
          <a:xfrm>
            <a:off x="578644" y="3701355"/>
            <a:ext cx="3807619" cy="385763"/>
          </a:xfrm>
          <a:prstGeom prst="rect">
            <a:avLst/>
          </a:prstGeom>
          <a:noFill/>
          <a:ln/>
        </p:spPr>
        <p:txBody>
          <a:bodyPr wrap="square" lIns="0" tIns="0" rIns="0" bIns="0" rtlCol="0" anchor="t"/>
          <a:lstStyle/>
          <a:p>
            <a:pPr algn="l" indent="0" marL="0">
              <a:lnSpc>
                <a:spcPts val="1013"/>
              </a:lnSpc>
              <a:buNone/>
            </a:pPr>
            <a:r>
              <a:rPr lang="en-US" sz="800" dirty="0">
                <a:solidFill>
                  <a:srgbClr val="0F1F3D"/>
                </a:solidFill>
                <a:latin typeface="Carlito" pitchFamily="34" charset="0"/>
                <a:ea typeface="Carlito" pitchFamily="34" charset="-122"/>
                <a:cs typeface="Carlito" pitchFamily="34" charset="-120"/>
              </a:rPr>
              <a:t>Performance rises sharply from </a:t>
            </a:r>
            <a:pPr algn="l" indent="0" marL="0">
              <a:lnSpc>
                <a:spcPts val="1013"/>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30→75</a:t>
            </a:r>
            <a:pPr algn="l" indent="0" marL="0">
              <a:lnSpc>
                <a:spcPts val="1013"/>
              </a:lnSpc>
              <a:buNone/>
            </a:pPr>
            <a:r>
              <a:rPr lang="en-US" sz="800" dirty="0">
                <a:solidFill>
                  <a:srgbClr val="0F1F3D"/>
                </a:solidFill>
                <a:latin typeface="Carlito" pitchFamily="34" charset="0"/>
                <a:ea typeface="Carlito" pitchFamily="34" charset="-122"/>
                <a:cs typeface="Carlito" pitchFamily="34" charset="-120"/>
              </a:rPr>
              <a:t> frames, continues to improve modestly to </a:t>
            </a:r>
            <a:pPr algn="l" indent="0" marL="0">
              <a:lnSpc>
                <a:spcPts val="1013"/>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150</a:t>
            </a:r>
            <a:pPr algn="l" indent="0" marL="0">
              <a:lnSpc>
                <a:spcPts val="1013"/>
              </a:lnSpc>
              <a:buNone/>
            </a:pPr>
            <a:r>
              <a:rPr lang="en-US" sz="800" dirty="0">
                <a:solidFill>
                  <a:srgbClr val="0F1F3D"/>
                </a:solidFill>
                <a:latin typeface="Carlito" pitchFamily="34" charset="0"/>
                <a:ea typeface="Carlito" pitchFamily="34" charset="-122"/>
                <a:cs typeface="Carlito" pitchFamily="34" charset="-120"/>
              </a:rPr>
              <a:t>, then plateaus or slightly decreases. 150 frames (10 s) is the elbow — additional context adds transition noise.</a:t>
            </a:r>
            <a:endParaRPr lang="en-US" sz="800" dirty="0"/>
          </a:p>
        </p:txBody>
      </p:sp>
      <p:sp>
        <p:nvSpPr>
          <p:cNvPr id="15" name="Text 12"/>
          <p:cNvSpPr/>
          <p:nvPr/>
        </p:nvSpPr>
        <p:spPr>
          <a:xfrm>
            <a:off x="4650581" y="1718965"/>
            <a:ext cx="4036219" cy="1162645"/>
          </a:xfrm>
          <a:prstGeom prst="roundRect">
            <a:avLst>
              <a:gd name="adj" fmla="val 6554"/>
            </a:avLst>
          </a:prstGeom>
          <a:solidFill>
            <a:srgbClr val="EEF3F8"/>
          </a:solidFill>
          <a:ln/>
        </p:spPr>
        <p:txBody>
          <a:bodyPr wrap="square" rtlCol="0" anchor="ctr"/>
          <a:lstStyle/>
          <a:p>
            <a:pPr indent="0" marL="0">
              <a:buNone/>
            </a:pPr>
            <a:endParaRPr lang="en-US" dirty="0"/>
          </a:p>
        </p:txBody>
      </p:sp>
      <p:sp>
        <p:nvSpPr>
          <p:cNvPr id="16" name="Shape 13"/>
          <p:cNvSpPr/>
          <p:nvPr/>
        </p:nvSpPr>
        <p:spPr>
          <a:xfrm>
            <a:off x="4650581" y="1722537"/>
            <a:ext cx="4036219" cy="0"/>
          </a:xfrm>
          <a:prstGeom prst="line">
            <a:avLst/>
          </a:prstGeom>
          <a:noFill/>
          <a:ln w="7144">
            <a:solidFill>
              <a:srgbClr val="D9E1EC"/>
            </a:solidFill>
            <a:prstDash val="solid"/>
          </a:ln>
        </p:spPr>
      </p:sp>
      <p:sp>
        <p:nvSpPr>
          <p:cNvPr id="17" name="Shape 14"/>
          <p:cNvSpPr/>
          <p:nvPr/>
        </p:nvSpPr>
        <p:spPr>
          <a:xfrm>
            <a:off x="8683228" y="1718965"/>
            <a:ext cx="0" cy="1162645"/>
          </a:xfrm>
          <a:prstGeom prst="line">
            <a:avLst/>
          </a:prstGeom>
          <a:noFill/>
          <a:ln w="7144">
            <a:solidFill>
              <a:srgbClr val="D9E1EC"/>
            </a:solidFill>
            <a:prstDash val="solid"/>
          </a:ln>
        </p:spPr>
      </p:sp>
      <p:sp>
        <p:nvSpPr>
          <p:cNvPr id="18" name="Shape 15"/>
          <p:cNvSpPr/>
          <p:nvPr/>
        </p:nvSpPr>
        <p:spPr>
          <a:xfrm>
            <a:off x="4650581" y="2878038"/>
            <a:ext cx="4036219" cy="0"/>
          </a:xfrm>
          <a:prstGeom prst="line">
            <a:avLst/>
          </a:prstGeom>
          <a:noFill/>
          <a:ln w="7144">
            <a:solidFill>
              <a:srgbClr val="D9E1EC"/>
            </a:solidFill>
            <a:prstDash val="solid"/>
          </a:ln>
        </p:spPr>
      </p:sp>
      <p:sp>
        <p:nvSpPr>
          <p:cNvPr id="19" name="Shape 16"/>
          <p:cNvSpPr/>
          <p:nvPr/>
        </p:nvSpPr>
        <p:spPr>
          <a:xfrm>
            <a:off x="4661297" y="1718965"/>
            <a:ext cx="0" cy="1162645"/>
          </a:xfrm>
          <a:prstGeom prst="line">
            <a:avLst/>
          </a:prstGeom>
          <a:noFill/>
          <a:ln w="21431">
            <a:solidFill>
              <a:srgbClr val="14B8A6"/>
            </a:solidFill>
            <a:prstDash val="solid"/>
          </a:ln>
        </p:spPr>
      </p:sp>
      <p:sp>
        <p:nvSpPr>
          <p:cNvPr id="20" name="Text 17"/>
          <p:cNvSpPr/>
          <p:nvPr/>
        </p:nvSpPr>
        <p:spPr>
          <a:xfrm>
            <a:off x="4800600" y="1840409"/>
            <a:ext cx="3750469" cy="147590"/>
          </a:xfrm>
          <a:prstGeom prst="rect">
            <a:avLst/>
          </a:prstGeom>
          <a:noFill/>
          <a:ln/>
        </p:spPr>
        <p:txBody>
          <a:bodyPr wrap="none" lIns="0" tIns="0" rIns="0" bIns="0" rtlCol="0" anchor="t">
            <a:normAutofit/>
          </a:bodyPr>
          <a:lstStyle/>
          <a:p>
            <a:pPr algn="l" indent="0" marL="0">
              <a:lnSpc>
                <a:spcPts val="928"/>
              </a:lnSpc>
              <a:buNone/>
            </a:pPr>
            <a:r>
              <a:rPr lang="en-US" sz="800" b="1" spc="87" kern="0" dirty="0">
                <a:solidFill>
                  <a:srgbClr val="0F766E"/>
                </a:solidFill>
                <a:latin typeface="Carlito" pitchFamily="34" charset="0"/>
                <a:ea typeface="Carlito" pitchFamily="34" charset="-122"/>
                <a:cs typeface="Carlito" pitchFamily="34" charset="-120"/>
              </a:rPr>
              <a:t>DEPLOYMENT METRICS</a:t>
            </a:r>
            <a:endParaRPr lang="en-US" sz="800" dirty="0"/>
          </a:p>
        </p:txBody>
      </p:sp>
      <p:sp>
        <p:nvSpPr>
          <p:cNvPr id="21" name="Text 18"/>
          <p:cNvSpPr/>
          <p:nvPr/>
        </p:nvSpPr>
        <p:spPr>
          <a:xfrm>
            <a:off x="4800600" y="2015430"/>
            <a:ext cx="2345436" cy="286893"/>
          </a:xfrm>
          <a:prstGeom prst="rect">
            <a:avLst/>
          </a:prstGeom>
          <a:noFill/>
          <a:ln/>
        </p:spPr>
        <p:txBody>
          <a:bodyPr wrap="none" lIns="0" tIns="0" rIns="0" bIns="0" rtlCol="0" anchor="t">
            <a:normAutofit/>
          </a:bodyPr>
          <a:lstStyle/>
          <a:p>
            <a:pPr algn="l" indent="0" marL="0">
              <a:lnSpc>
                <a:spcPts val="2138"/>
              </a:lnSpc>
              <a:buNone/>
            </a:pPr>
            <a:r>
              <a:rPr lang="en-US" sz="2138" b="1" spc="-43" kern="0" dirty="0">
                <a:solidFill>
                  <a:srgbClr val="0F1F3D"/>
                </a:solidFill>
                <a:latin typeface="Liberation Sans Narrow" pitchFamily="34" charset="0"/>
                <a:ea typeface="Liberation Sans Narrow" pitchFamily="34" charset="-122"/>
                <a:cs typeface="Liberation Sans Narrow" pitchFamily="34" charset="-120"/>
              </a:rPr>
              <a:t>2.1 ms</a:t>
            </a:r>
            <a:endParaRPr lang="en-US" sz="2138" dirty="0"/>
          </a:p>
        </p:txBody>
      </p:sp>
      <p:sp>
        <p:nvSpPr>
          <p:cNvPr id="22" name="Text 19"/>
          <p:cNvSpPr/>
          <p:nvPr/>
        </p:nvSpPr>
        <p:spPr>
          <a:xfrm>
            <a:off x="4800600" y="2329755"/>
            <a:ext cx="2255764" cy="164592"/>
          </a:xfrm>
          <a:prstGeom prst="rect">
            <a:avLst/>
          </a:prstGeom>
          <a:noFill/>
          <a:ln/>
        </p:spPr>
        <p:txBody>
          <a:bodyPr wrap="none" lIns="0" tIns="0" rIns="0" bIns="0" rtlCol="0" anchor="t"/>
          <a:lstStyle/>
          <a:p>
            <a:pPr algn="l" indent="0" marL="0">
              <a:lnSpc>
                <a:spcPts val="886"/>
              </a:lnSpc>
              <a:buNone/>
            </a:pPr>
            <a:r>
              <a:rPr lang="en-US" sz="800" spc="47" kern="0" dirty="0">
                <a:solidFill>
                  <a:srgbClr val="5B6B82"/>
                </a:solidFill>
                <a:latin typeface="Carlito" pitchFamily="34" charset="0"/>
                <a:ea typeface="Carlito" pitchFamily="34" charset="-122"/>
                <a:cs typeface="Carlito" pitchFamily="34" charset="-120"/>
              </a:rPr>
              <a:t>PER-SAMPLE INFERENCE</a:t>
            </a:r>
            <a:endParaRPr lang="en-US" sz="800" dirty="0"/>
          </a:p>
        </p:txBody>
      </p:sp>
      <p:sp>
        <p:nvSpPr>
          <p:cNvPr id="23" name="Text 20"/>
          <p:cNvSpPr/>
          <p:nvPr/>
        </p:nvSpPr>
        <p:spPr>
          <a:xfrm>
            <a:off x="6718697" y="2015430"/>
            <a:ext cx="1832372" cy="286893"/>
          </a:xfrm>
          <a:prstGeom prst="rect">
            <a:avLst/>
          </a:prstGeom>
          <a:noFill/>
          <a:ln/>
        </p:spPr>
        <p:txBody>
          <a:bodyPr wrap="none" lIns="0" tIns="0" rIns="0" bIns="0" rtlCol="0" anchor="t">
            <a:normAutofit/>
          </a:bodyPr>
          <a:lstStyle/>
          <a:p>
            <a:pPr algn="l" indent="0" marL="0">
              <a:lnSpc>
                <a:spcPts val="2138"/>
              </a:lnSpc>
              <a:buNone/>
            </a:pPr>
            <a:r>
              <a:rPr lang="en-US" sz="2138" b="1" spc="-43" kern="0" dirty="0">
                <a:solidFill>
                  <a:srgbClr val="0F1F3D"/>
                </a:solidFill>
                <a:latin typeface="Liberation Sans Narrow" pitchFamily="34" charset="0"/>
                <a:ea typeface="Liberation Sans Narrow" pitchFamily="34" charset="-122"/>
                <a:cs typeface="Liberation Sans Narrow" pitchFamily="34" charset="-120"/>
              </a:rPr>
              <a:t>15 MB</a:t>
            </a:r>
            <a:endParaRPr lang="en-US" sz="2138" dirty="0"/>
          </a:p>
        </p:txBody>
      </p:sp>
      <p:sp>
        <p:nvSpPr>
          <p:cNvPr id="24" name="Text 21"/>
          <p:cNvSpPr/>
          <p:nvPr/>
        </p:nvSpPr>
        <p:spPr>
          <a:xfrm>
            <a:off x="6718697" y="2329755"/>
            <a:ext cx="1832372" cy="164592"/>
          </a:xfrm>
          <a:prstGeom prst="rect">
            <a:avLst/>
          </a:prstGeom>
          <a:noFill/>
          <a:ln/>
        </p:spPr>
        <p:txBody>
          <a:bodyPr wrap="none" lIns="0" tIns="0" rIns="0" bIns="0" rtlCol="0" anchor="t"/>
          <a:lstStyle/>
          <a:p>
            <a:pPr algn="l" indent="0" marL="0">
              <a:lnSpc>
                <a:spcPts val="886"/>
              </a:lnSpc>
              <a:buNone/>
            </a:pPr>
            <a:r>
              <a:rPr lang="en-US" sz="800" spc="47" kern="0" dirty="0">
                <a:solidFill>
                  <a:srgbClr val="5B6B82"/>
                </a:solidFill>
                <a:latin typeface="Carlito" pitchFamily="34" charset="0"/>
                <a:ea typeface="Carlito" pitchFamily="34" charset="-122"/>
                <a:cs typeface="Carlito" pitchFamily="34" charset="-120"/>
              </a:rPr>
              <a:t>COMBINED MODEL SIZE</a:t>
            </a:r>
            <a:endParaRPr lang="en-US" sz="800" dirty="0"/>
          </a:p>
        </p:txBody>
      </p:sp>
      <p:sp>
        <p:nvSpPr>
          <p:cNvPr id="25" name="Text 22"/>
          <p:cNvSpPr/>
          <p:nvPr/>
        </p:nvSpPr>
        <p:spPr>
          <a:xfrm>
            <a:off x="4800600" y="2513707"/>
            <a:ext cx="3750469" cy="246459"/>
          </a:xfrm>
          <a:prstGeom prst="rect">
            <a:avLst/>
          </a:prstGeom>
          <a:noFill/>
          <a:ln/>
        </p:spPr>
        <p:txBody>
          <a:bodyPr wrap="square" lIns="0" tIns="0" rIns="0" bIns="0" rtlCol="0" anchor="t"/>
          <a:lstStyle/>
          <a:p>
            <a:pPr algn="l" indent="0" marL="0">
              <a:lnSpc>
                <a:spcPts val="970"/>
              </a:lnSpc>
              <a:buNone/>
            </a:pPr>
            <a:r>
              <a:rPr lang="en-US" sz="800" dirty="0">
                <a:solidFill>
                  <a:srgbClr val="0F1F3D"/>
                </a:solidFill>
                <a:latin typeface="Carlito" pitchFamily="34" charset="0"/>
                <a:ea typeface="Carlito" pitchFamily="34" charset="-122"/>
                <a:cs typeface="Carlito" pitchFamily="34" charset="-120"/>
              </a:rPr>
              <a:t>Real-time at </a:t>
            </a:r>
            <a:pPr algn="l" indent="0" marL="0">
              <a:lnSpc>
                <a:spcPts val="970"/>
              </a:lnSpc>
              <a:buNone/>
            </a:pPr>
            <a:r>
              <a:rPr lang="en-US" sz="800" dirty="0">
                <a:solidFill>
                  <a:srgbClr val="0F766E"/>
                </a:solidFill>
                <a:latin typeface="Liberation Sans Narrow" pitchFamily="34" charset="0"/>
                <a:ea typeface="Liberation Sans Narrow" pitchFamily="34" charset="-122"/>
                <a:cs typeface="Liberation Sans Narrow" pitchFamily="34" charset="-120"/>
              </a:rPr>
              <a:t>15 FPS</a:t>
            </a:r>
            <a:pPr algn="l" indent="0" marL="0">
              <a:lnSpc>
                <a:spcPts val="970"/>
              </a:lnSpc>
              <a:buNone/>
            </a:pPr>
            <a:r>
              <a:rPr lang="en-US" sz="800" dirty="0">
                <a:solidFill>
                  <a:srgbClr val="0F1F3D"/>
                </a:solidFill>
                <a:latin typeface="Carlito" pitchFamily="34" charset="0"/>
                <a:ea typeface="Carlito" pitchFamily="34" charset="-122"/>
                <a:cs typeface="Carlito" pitchFamily="34" charset="-120"/>
              </a:rPr>
              <a:t> on commodity CPU. No GPU required. Negligible vs hundreds of MB for deep learning models.</a:t>
            </a:r>
            <a:endParaRPr lang="en-US" sz="800" dirty="0"/>
          </a:p>
        </p:txBody>
      </p:sp>
      <p:sp>
        <p:nvSpPr>
          <p:cNvPr id="26" name="Text 23"/>
          <p:cNvSpPr/>
          <p:nvPr/>
        </p:nvSpPr>
        <p:spPr>
          <a:xfrm>
            <a:off x="4650581" y="2953048"/>
            <a:ext cx="4036219" cy="919758"/>
          </a:xfrm>
          <a:prstGeom prst="roundRect">
            <a:avLst>
              <a:gd name="adj" fmla="val 8285"/>
            </a:avLst>
          </a:prstGeom>
          <a:solidFill>
            <a:srgbClr val="F6F8FB"/>
          </a:solidFill>
          <a:ln/>
        </p:spPr>
        <p:txBody>
          <a:bodyPr wrap="square" rtlCol="0" anchor="ctr"/>
          <a:lstStyle/>
          <a:p>
            <a:pPr indent="0" marL="0">
              <a:buNone/>
            </a:pPr>
            <a:endParaRPr lang="en-US" dirty="0"/>
          </a:p>
        </p:txBody>
      </p:sp>
      <p:sp>
        <p:nvSpPr>
          <p:cNvPr id="27" name="Text 24"/>
          <p:cNvSpPr/>
          <p:nvPr/>
        </p:nvSpPr>
        <p:spPr>
          <a:xfrm>
            <a:off x="4750594" y="3031629"/>
            <a:ext cx="3945922" cy="119015"/>
          </a:xfrm>
          <a:prstGeom prst="rect">
            <a:avLst/>
          </a:prstGeom>
          <a:noFill/>
          <a:ln/>
        </p:spPr>
        <p:txBody>
          <a:bodyPr wrap="square" lIns="0" tIns="0" rIns="0" bIns="0" rtlCol="0" anchor="t">
            <a:normAutofit/>
          </a:bodyPr>
          <a:lstStyle/>
          <a:p>
            <a:pPr algn="l" indent="0" marL="0">
              <a:lnSpc>
                <a:spcPts val="928"/>
              </a:lnSpc>
              <a:buNone/>
            </a:pPr>
            <a:r>
              <a:rPr lang="en-US" sz="800" b="1" spc="87" kern="0" dirty="0">
                <a:solidFill>
                  <a:srgbClr val="0F1F3D"/>
                </a:solidFill>
                <a:latin typeface="Carlito" pitchFamily="34" charset="0"/>
                <a:ea typeface="Carlito" pitchFamily="34" charset="-122"/>
                <a:cs typeface="Carlito" pitchFamily="34" charset="-120"/>
              </a:rPr>
              <a:t>FACEAURA — REAL-TIME APP PROOF</a:t>
            </a:r>
            <a:endParaRPr lang="en-US" sz="800" dirty="0"/>
          </a:p>
        </p:txBody>
      </p:sp>
      <p:sp>
        <p:nvSpPr>
          <p:cNvPr id="28" name="Text 25"/>
          <p:cNvSpPr/>
          <p:nvPr/>
        </p:nvSpPr>
        <p:spPr>
          <a:xfrm>
            <a:off x="4750594" y="3178076"/>
            <a:ext cx="3836194" cy="399407"/>
          </a:xfrm>
          <a:prstGeom prst="rect">
            <a:avLst/>
          </a:prstGeom>
          <a:noFill/>
          <a:ln/>
        </p:spPr>
        <p:txBody>
          <a:bodyPr wrap="square" lIns="0" tIns="0" rIns="0" bIns="0" rtlCol="0" anchor="t">
            <a:normAutofit/>
          </a:bodyPr>
          <a:lstStyle/>
          <a:p>
            <a:pPr algn="l" indent="0" marL="0">
              <a:lnSpc>
                <a:spcPts val="970"/>
              </a:lnSpc>
              <a:buNone/>
            </a:pPr>
            <a:r>
              <a:rPr lang="en-US" sz="800" dirty="0">
                <a:solidFill>
                  <a:srgbClr val="0F1F3D"/>
                </a:solidFill>
                <a:latin typeface="Carlito" pitchFamily="34" charset="0"/>
                <a:ea typeface="Carlito" pitchFamily="34" charset="-122"/>
                <a:cs typeface="Carlito" pitchFamily="34" charset="-120"/>
              </a:rPr>
              <a:t>A real-time facial affect recognition app was built as a deployment proof-of-concept. Webcam → MediaPipe → 150-frame sliding window → 4 XGBoost classifiers → live probability panel + temporal trend chart. Confirms </a:t>
            </a:r>
            <a:pPr algn="l" indent="0" marL="0">
              <a:lnSpc>
                <a:spcPts val="970"/>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15 FPS</a:t>
            </a:r>
            <a:pPr algn="l" indent="0" marL="0">
              <a:lnSpc>
                <a:spcPts val="970"/>
              </a:lnSpc>
              <a:buNone/>
            </a:pPr>
            <a:r>
              <a:rPr lang="en-US" sz="800" dirty="0">
                <a:solidFill>
                  <a:srgbClr val="0F1F3D"/>
                </a:solidFill>
                <a:latin typeface="Carlito" pitchFamily="34" charset="0"/>
                <a:ea typeface="Carlito" pitchFamily="34" charset="-122"/>
                <a:cs typeface="Carlito" pitchFamily="34" charset="-120"/>
              </a:rPr>
              <a:t> on commodity hardware without GPU.</a:t>
            </a:r>
            <a:endParaRPr lang="en-US" sz="800" dirty="0"/>
          </a:p>
        </p:txBody>
      </p:sp>
      <p:sp>
        <p:nvSpPr>
          <p:cNvPr id="29" name="Text 26"/>
          <p:cNvSpPr/>
          <p:nvPr/>
        </p:nvSpPr>
        <p:spPr>
          <a:xfrm>
            <a:off x="4750594" y="3593556"/>
            <a:ext cx="678210" cy="212027"/>
          </a:xfrm>
          <a:prstGeom prst="roundRect">
            <a:avLst>
              <a:gd name="adj" fmla="val 4487860"/>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30" name="Text 27"/>
          <p:cNvSpPr/>
          <p:nvPr/>
        </p:nvSpPr>
        <p:spPr>
          <a:xfrm>
            <a:off x="4750594" y="3604915"/>
            <a:ext cx="678210" cy="189309"/>
          </a:xfrm>
          <a:prstGeom prst="rect">
            <a:avLst/>
          </a:prstGeom>
          <a:noFill/>
          <a:ln/>
        </p:spPr>
        <p:txBody>
          <a:bodyPr wrap="none" lIns="0" tIns="0" rIns="0" bIns="0" rtlCol="0" anchor="ctr"/>
          <a:lstStyle/>
          <a:p>
            <a:pPr algn="ctr" indent="0" marL="0">
              <a:lnSpc>
                <a:spcPts val="928"/>
              </a:lnSpc>
              <a:buNone/>
            </a:pPr>
            <a:r>
              <a:rPr lang="en-US" sz="800" spc="37" kern="0" dirty="0">
                <a:solidFill>
                  <a:srgbClr val="0F1F3D"/>
                </a:solidFill>
                <a:latin typeface="Carlito" pitchFamily="34" charset="0"/>
                <a:ea typeface="Carlito" pitchFamily="34" charset="-122"/>
                <a:cs typeface="Carlito" pitchFamily="34" charset="-120"/>
              </a:rPr>
              <a:t>Web-ready</a:t>
            </a:r>
            <a:endParaRPr lang="en-US" sz="800" dirty="0"/>
          </a:p>
        </p:txBody>
      </p:sp>
      <p:sp>
        <p:nvSpPr>
          <p:cNvPr id="31" name="Text 28"/>
          <p:cNvSpPr/>
          <p:nvPr/>
        </p:nvSpPr>
        <p:spPr>
          <a:xfrm>
            <a:off x="5471666" y="3593556"/>
            <a:ext cx="1135298" cy="212027"/>
          </a:xfrm>
          <a:prstGeom prst="roundRect">
            <a:avLst>
              <a:gd name="adj" fmla="val 4487860"/>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32" name="Text 29"/>
          <p:cNvSpPr/>
          <p:nvPr/>
        </p:nvSpPr>
        <p:spPr>
          <a:xfrm>
            <a:off x="5471666" y="3604915"/>
            <a:ext cx="1135298" cy="189309"/>
          </a:xfrm>
          <a:prstGeom prst="rect">
            <a:avLst/>
          </a:prstGeom>
          <a:noFill/>
          <a:ln/>
        </p:spPr>
        <p:txBody>
          <a:bodyPr wrap="none" lIns="0" tIns="0" rIns="0" bIns="0" rtlCol="0" anchor="ctr"/>
          <a:lstStyle/>
          <a:p>
            <a:pPr algn="ctr" indent="0" marL="0">
              <a:lnSpc>
                <a:spcPts val="928"/>
              </a:lnSpc>
              <a:buNone/>
            </a:pPr>
            <a:r>
              <a:rPr lang="en-US" sz="800" spc="37" kern="0" dirty="0">
                <a:solidFill>
                  <a:srgbClr val="0F1F3D"/>
                </a:solidFill>
                <a:latin typeface="Carlito" pitchFamily="34" charset="0"/>
                <a:ea typeface="Carlito" pitchFamily="34" charset="-122"/>
                <a:cs typeface="Carlito" pitchFamily="34" charset="-120"/>
              </a:rPr>
              <a:t>On-device inference</a:t>
            </a:r>
            <a:endParaRPr lang="en-US" sz="800" dirty="0"/>
          </a:p>
        </p:txBody>
      </p:sp>
      <p:sp>
        <p:nvSpPr>
          <p:cNvPr id="33" name="Text 30"/>
          <p:cNvSpPr/>
          <p:nvPr/>
        </p:nvSpPr>
        <p:spPr>
          <a:xfrm>
            <a:off x="6649827" y="3593556"/>
            <a:ext cx="1199257" cy="212027"/>
          </a:xfrm>
          <a:prstGeom prst="roundRect">
            <a:avLst>
              <a:gd name="adj" fmla="val 4487860"/>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34" name="Text 31"/>
          <p:cNvSpPr/>
          <p:nvPr/>
        </p:nvSpPr>
        <p:spPr>
          <a:xfrm>
            <a:off x="6649827" y="3604915"/>
            <a:ext cx="1199257" cy="189309"/>
          </a:xfrm>
          <a:prstGeom prst="rect">
            <a:avLst/>
          </a:prstGeom>
          <a:noFill/>
          <a:ln/>
        </p:spPr>
        <p:txBody>
          <a:bodyPr wrap="none" lIns="0" tIns="0" rIns="0" bIns="0" rtlCol="0" anchor="ctr"/>
          <a:lstStyle/>
          <a:p>
            <a:pPr algn="ctr" indent="0" marL="0">
              <a:lnSpc>
                <a:spcPts val="928"/>
              </a:lnSpc>
              <a:buNone/>
            </a:pPr>
            <a:r>
              <a:rPr lang="en-US" sz="800" spc="37" kern="0" dirty="0">
                <a:solidFill>
                  <a:srgbClr val="0F1F3D"/>
                </a:solidFill>
                <a:latin typeface="Carlito" pitchFamily="34" charset="0"/>
                <a:ea typeface="Carlito" pitchFamily="34" charset="-122"/>
                <a:cs typeface="Carlito" pitchFamily="34" charset="-120"/>
              </a:rPr>
              <a:t>No cloud dependency</a:t>
            </a:r>
            <a:endParaRPr lang="en-US" sz="800" dirty="0"/>
          </a:p>
        </p:txBody>
      </p:sp>
      <p:sp>
        <p:nvSpPr>
          <p:cNvPr id="35" name="Text 32"/>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THESIS DEFENSE</a:t>
            </a:r>
            <a:endParaRPr lang="en-US" sz="800" dirty="0"/>
          </a:p>
        </p:txBody>
      </p:sp>
      <p:sp>
        <p:nvSpPr>
          <p:cNvPr id="36" name="Text 33"/>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28 / 34</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571500" y="457200"/>
            <a:ext cx="6467103" cy="164592"/>
          </a:xfrm>
          <a:prstGeom prst="rect">
            <a:avLst/>
          </a:prstGeom>
          <a:noFill/>
          <a:ln/>
        </p:spPr>
        <p:txBody>
          <a:bodyPr wrap="none" lIns="0" tIns="0" rIns="0" bIns="0" rtlCol="0" anchor="t"/>
          <a:lstStyle/>
          <a:p>
            <a:pPr algn="l" indent="0" marL="0">
              <a:lnSpc>
                <a:spcPts val="1181"/>
              </a:lnSpc>
              <a:buNone/>
            </a:pPr>
            <a:r>
              <a:rPr lang="en-US" sz="800" spc="236" kern="0" dirty="0">
                <a:solidFill>
                  <a:srgbClr val="14B8A6"/>
                </a:solidFill>
                <a:latin typeface="Liberation Sans Narrow" pitchFamily="34" charset="0"/>
                <a:ea typeface="Liberation Sans Narrow" pitchFamily="34" charset="-122"/>
                <a:cs typeface="Liberation Sans Narrow" pitchFamily="34" charset="-120"/>
              </a:rPr>
              <a:t>04 / 04</a:t>
            </a:r>
            <a:endParaRPr lang="en-US" sz="800" dirty="0"/>
          </a:p>
        </p:txBody>
      </p:sp>
      <p:sp>
        <p:nvSpPr>
          <p:cNvPr id="3" name="Text 1"/>
          <p:cNvSpPr/>
          <p:nvPr/>
        </p:nvSpPr>
        <p:spPr>
          <a:xfrm>
            <a:off x="7052890" y="467916"/>
            <a:ext cx="1902361" cy="164592"/>
          </a:xfrm>
          <a:prstGeom prst="rect">
            <a:avLst/>
          </a:prstGeom>
          <a:noFill/>
          <a:ln/>
        </p:spPr>
        <p:txBody>
          <a:bodyPr wrap="none" lIns="0" tIns="0" rIns="0" bIns="0" rtlCol="0" anchor="t"/>
          <a:lstStyle/>
          <a:p>
            <a:pPr algn="l" indent="0" marL="0">
              <a:lnSpc>
                <a:spcPts val="1013"/>
              </a:lnSpc>
              <a:buNone/>
            </a:pPr>
            <a:r>
              <a:rPr lang="en-US" sz="800" spc="122" kern="0" dirty="0">
                <a:solidFill>
                  <a:srgbClr val="FFFFFF">
                    <a:alpha val="55000"/>
                  </a:srgbClr>
                </a:solidFill>
                <a:latin typeface="Liberation Sans Narrow" pitchFamily="34" charset="0"/>
                <a:ea typeface="Liberation Sans Narrow" pitchFamily="34" charset="-122"/>
                <a:cs typeface="Liberation Sans Narrow" pitchFamily="34" charset="-120"/>
              </a:rPr>
              <a:t>SECTION 04 · CONCLUSION</a:t>
            </a:r>
            <a:endParaRPr lang="en-US" sz="800" dirty="0"/>
          </a:p>
        </p:txBody>
      </p:sp>
      <p:sp>
        <p:nvSpPr>
          <p:cNvPr id="4" name="Text 2"/>
          <p:cNvSpPr/>
          <p:nvPr/>
        </p:nvSpPr>
        <p:spPr>
          <a:xfrm>
            <a:off x="571500" y="2279079"/>
            <a:ext cx="7984837" cy="164592"/>
          </a:xfrm>
          <a:prstGeom prst="rect">
            <a:avLst/>
          </a:prstGeom>
          <a:noFill/>
          <a:ln/>
        </p:spPr>
        <p:txBody>
          <a:bodyPr wrap="none" lIns="0" tIns="0" rIns="0" bIns="0" rtlCol="0" anchor="t"/>
          <a:lstStyle/>
          <a:p>
            <a:pPr algn="l" indent="0" marL="0">
              <a:lnSpc>
                <a:spcPts val="928"/>
              </a:lnSpc>
              <a:buNone/>
            </a:pPr>
            <a:r>
              <a:rPr lang="en-US" sz="800" b="1" spc="136" kern="0" dirty="0">
                <a:solidFill>
                  <a:srgbClr val="14B8A6"/>
                </a:solidFill>
                <a:latin typeface="Carlito" pitchFamily="34" charset="0"/>
                <a:ea typeface="Carlito" pitchFamily="34" charset="-122"/>
                <a:cs typeface="Carlito" pitchFamily="34" charset="-120"/>
              </a:rPr>
              <a:t>CONCLUSION &amp; FUTURE WORK</a:t>
            </a:r>
            <a:endParaRPr lang="en-US" sz="800" dirty="0"/>
          </a:p>
        </p:txBody>
      </p:sp>
      <p:sp>
        <p:nvSpPr>
          <p:cNvPr id="5" name="Text 3"/>
          <p:cNvSpPr/>
          <p:nvPr/>
        </p:nvSpPr>
        <p:spPr>
          <a:xfrm>
            <a:off x="571500" y="2511251"/>
            <a:ext cx="6915150" cy="1166449"/>
          </a:xfrm>
          <a:prstGeom prst="rect">
            <a:avLst/>
          </a:prstGeom>
          <a:noFill/>
          <a:ln/>
        </p:spPr>
        <p:txBody>
          <a:bodyPr wrap="none" lIns="0" tIns="0" rIns="0" bIns="0" rtlCol="0" anchor="t"/>
          <a:lstStyle/>
          <a:p>
            <a:pPr algn="l" indent="0" marL="0">
              <a:lnSpc>
                <a:spcPts val="4253"/>
              </a:lnSpc>
              <a:buNone/>
            </a:pPr>
            <a:r>
              <a:rPr lang="en-US" sz="4050" b="1" spc="-81" kern="0" dirty="0">
                <a:solidFill>
                  <a:srgbClr val="FFFFFF"/>
                </a:solidFill>
                <a:latin typeface="Carlito" pitchFamily="34" charset="0"/>
                <a:ea typeface="Carlito" pitchFamily="34" charset="-122"/>
                <a:cs typeface="Carlito" pitchFamily="34" charset="-120"/>
              </a:rPr>
              <a:t>Conclusion &amp;</a:t>
            </a:r>
            <a:endParaRPr lang="en-US" sz="4050" dirty="0"/>
          </a:p>
          <a:p>
            <a:pPr algn="l" indent="0" marL="0">
              <a:lnSpc>
                <a:spcPts val="4253"/>
              </a:lnSpc>
              <a:buNone/>
            </a:pPr>
            <a:r>
              <a:rPr lang="en-US" sz="4050" b="1" spc="-81" kern="0" dirty="0">
                <a:solidFill>
                  <a:srgbClr val="FFFFFF"/>
                </a:solidFill>
                <a:latin typeface="Carlito" pitchFamily="34" charset="0"/>
                <a:ea typeface="Carlito" pitchFamily="34" charset="-122"/>
                <a:cs typeface="Carlito" pitchFamily="34" charset="-120"/>
              </a:rPr>
              <a:t>Future Work</a:t>
            </a:r>
            <a:endParaRPr lang="en-US" sz="4050" dirty="0"/>
          </a:p>
        </p:txBody>
      </p:sp>
      <p:sp>
        <p:nvSpPr>
          <p:cNvPr id="6" name="Text 4"/>
          <p:cNvSpPr/>
          <p:nvPr/>
        </p:nvSpPr>
        <p:spPr>
          <a:xfrm>
            <a:off x="571500" y="3791322"/>
            <a:ext cx="428625" cy="21431"/>
          </a:xfrm>
          <a:prstGeom prst="rect">
            <a:avLst/>
          </a:prstGeom>
          <a:solidFill>
            <a:srgbClr val="14B8A6"/>
          </a:solidFill>
          <a:ln/>
        </p:spPr>
        <p:txBody>
          <a:bodyPr wrap="square" rtlCol="0" anchor="ctr"/>
          <a:lstStyle/>
          <a:p>
            <a:pPr indent="0" marL="0">
              <a:buNone/>
            </a:pPr>
            <a:endParaRPr lang="en-US" dirty="0"/>
          </a:p>
        </p:txBody>
      </p:sp>
      <p:sp>
        <p:nvSpPr>
          <p:cNvPr id="7" name="Text 5"/>
          <p:cNvSpPr/>
          <p:nvPr/>
        </p:nvSpPr>
        <p:spPr>
          <a:xfrm>
            <a:off x="571500" y="3969916"/>
            <a:ext cx="5143500" cy="430366"/>
          </a:xfrm>
          <a:prstGeom prst="rect">
            <a:avLst/>
          </a:prstGeom>
          <a:noFill/>
          <a:ln/>
        </p:spPr>
        <p:txBody>
          <a:bodyPr wrap="square" lIns="0" tIns="0" rIns="0" bIns="0" rtlCol="0" anchor="t"/>
          <a:lstStyle/>
          <a:p>
            <a:pPr algn="l" indent="0" marL="0">
              <a:lnSpc>
                <a:spcPts val="1569"/>
              </a:lnSpc>
              <a:buNone/>
            </a:pPr>
            <a:r>
              <a:rPr lang="en-US" sz="1013" dirty="0">
                <a:solidFill>
                  <a:srgbClr val="FFFFFF">
                    <a:alpha val="70000"/>
                  </a:srgbClr>
                </a:solidFill>
                <a:latin typeface="Carlito" pitchFamily="34" charset="0"/>
                <a:ea typeface="Carlito" pitchFamily="34" charset="-122"/>
                <a:cs typeface="Carlito" pitchFamily="34" charset="-120"/>
              </a:rPr>
              <a:t>What we proved, what we couldn't, and where this goes next — limitations, contributions, and three concrete future directions.</a:t>
            </a:r>
            <a:endParaRPr lang="en-US" sz="1013" dirty="0"/>
          </a:p>
        </p:txBody>
      </p:sp>
      <p:sp>
        <p:nvSpPr>
          <p:cNvPr id="8" name="Text 6"/>
          <p:cNvSpPr/>
          <p:nvPr/>
        </p:nvSpPr>
        <p:spPr>
          <a:xfrm>
            <a:off x="571500" y="4568428"/>
            <a:ext cx="7424258" cy="164592"/>
          </a:xfrm>
          <a:prstGeom prst="rect">
            <a:avLst/>
          </a:prstGeom>
          <a:noFill/>
          <a:ln/>
        </p:spPr>
        <p:txBody>
          <a:bodyPr wrap="square" lIns="0" tIns="0" rIns="0" bIns="0" rtlCol="0" anchor="t"/>
          <a:lstStyle/>
          <a:p>
            <a:pPr algn="l" indent="0" marL="0">
              <a:lnSpc>
                <a:spcPts val="928"/>
              </a:lnSpc>
              <a:buNone/>
            </a:pPr>
            <a:r>
              <a:rPr lang="en-US" sz="800" spc="124" kern="0" dirty="0">
                <a:solidFill>
                  <a:srgbClr val="FFFFFF">
                    <a:alpha val="40000"/>
                  </a:srgbClr>
                </a:solidFill>
                <a:latin typeface="Liberation Sans Narrow" pitchFamily="34" charset="0"/>
                <a:ea typeface="Liberation Sans Narrow" pitchFamily="34" charset="-122"/>
                <a:cs typeface="Liberation Sans Narrow" pitchFamily="34" charset="-120"/>
              </a:rPr>
              <a:t>MOUL HENGBORANN · M-DAS · ITC 2026</a:t>
            </a:r>
            <a:endParaRPr lang="en-US" sz="800" dirty="0"/>
          </a:p>
        </p:txBody>
      </p:sp>
      <p:sp>
        <p:nvSpPr>
          <p:cNvPr id="9" name="Text 7"/>
          <p:cNvSpPr/>
          <p:nvPr/>
        </p:nvSpPr>
        <p:spPr>
          <a:xfrm>
            <a:off x="6553391" y="3429000"/>
            <a:ext cx="2590610" cy="1388745"/>
          </a:xfrm>
          <a:prstGeom prst="rect">
            <a:avLst/>
          </a:prstGeom>
          <a:noFill/>
          <a:ln/>
        </p:spPr>
        <p:txBody>
          <a:bodyPr wrap="square" lIns="0" tIns="0" rIns="0" bIns="0" rtlCol="0" anchor="t"/>
          <a:lstStyle/>
          <a:p>
            <a:pPr algn="l" indent="0" marL="0">
              <a:lnSpc>
                <a:spcPts val="10125"/>
              </a:lnSpc>
              <a:buNone/>
            </a:pPr>
            <a:r>
              <a:rPr lang="en-US" sz="11250" b="1" dirty="0">
                <a:solidFill>
                  <a:srgbClr val="FFFFFF">
                    <a:alpha val="8000"/>
                  </a:srgbClr>
                </a:solidFill>
                <a:latin typeface="Liberation Sans Narrow" pitchFamily="34" charset="0"/>
                <a:ea typeface="Liberation Sans Narrow" pitchFamily="34" charset="-122"/>
                <a:cs typeface="Liberation Sans Narrow" pitchFamily="34" charset="-120"/>
              </a:rPr>
              <a:t>04</a:t>
            </a:r>
            <a:endParaRPr lang="en-US" sz="1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square" lIns="0" tIns="0" rIns="0" bIns="0" rtlCol="0" anchor="t"/>
          <a:lstStyle/>
          <a:p>
            <a:pPr algn="l" indent="0" marL="0">
              <a:lnSpc>
                <a:spcPts val="928"/>
              </a:lnSpc>
              <a:buNone/>
            </a:pPr>
            <a:r>
              <a:rPr lang="en-US" sz="800" b="1" spc="136" kern="0" dirty="0">
                <a:solidFill>
                  <a:srgbClr val="14B8A6"/>
                </a:solidFill>
                <a:latin typeface="Carlito" pitchFamily="34" charset="0"/>
                <a:ea typeface="Carlito" pitchFamily="34" charset="-122"/>
                <a:cs typeface="Carlito" pitchFamily="34" charset="-120"/>
              </a:rPr>
              <a:t>LIMITATIONS · HONEST ASSESSMENT</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303413"/>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Four Open Challenges We Acknowledge</a:t>
            </a:r>
            <a:endParaRPr lang="en-US" sz="2025" dirty="0"/>
          </a:p>
        </p:txBody>
      </p:sp>
      <p:sp>
        <p:nvSpPr>
          <p:cNvPr id="5" name="Text 3"/>
          <p:cNvSpPr/>
          <p:nvPr/>
        </p:nvSpPr>
        <p:spPr>
          <a:xfrm>
            <a:off x="457200" y="1013073"/>
            <a:ext cx="6572250" cy="358759"/>
          </a:xfrm>
          <a:prstGeom prst="rect">
            <a:avLst/>
          </a:prstGeom>
          <a:noFill/>
          <a:ln/>
        </p:spPr>
        <p:txBody>
          <a:bodyPr wrap="square" lIns="0" tIns="0" rIns="0" bIns="0" rtlCol="0" anchor="t"/>
          <a:lstStyle/>
          <a:p>
            <a:pPr algn="l" indent="0" marL="0">
              <a:lnSpc>
                <a:spcPts val="1308"/>
              </a:lnSpc>
              <a:buNone/>
            </a:pPr>
            <a:r>
              <a:rPr lang="en-US" sz="844" dirty="0">
                <a:solidFill>
                  <a:srgbClr val="5B6B82"/>
                </a:solidFill>
                <a:latin typeface="Carlito" pitchFamily="34" charset="0"/>
                <a:ea typeface="Carlito" pitchFamily="34" charset="-122"/>
                <a:cs typeface="Carlito" pitchFamily="34" charset="-120"/>
              </a:rPr>
              <a:t>Each limitation points directly to a follow-up direction on the next slide — an honest assessment grounded in the empirical results.</a:t>
            </a:r>
            <a:endParaRPr lang="en-US" sz="844" dirty="0"/>
          </a:p>
        </p:txBody>
      </p:sp>
      <p:sp>
        <p:nvSpPr>
          <p:cNvPr id="6" name="Text 4"/>
          <p:cNvSpPr/>
          <p:nvPr/>
        </p:nvSpPr>
        <p:spPr>
          <a:xfrm>
            <a:off x="460772" y="1448842"/>
            <a:ext cx="4050506" cy="1421606"/>
          </a:xfrm>
          <a:prstGeom prst="roundRect">
            <a:avLst>
              <a:gd name="adj" fmla="val 536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7" name="Text 5"/>
          <p:cNvSpPr/>
          <p:nvPr/>
        </p:nvSpPr>
        <p:spPr>
          <a:xfrm>
            <a:off x="592931" y="1566714"/>
            <a:ext cx="257175" cy="257175"/>
          </a:xfrm>
          <a:prstGeom prst="roundRect">
            <a:avLst>
              <a:gd name="adj" fmla="val 29630"/>
            </a:avLst>
          </a:prstGeom>
          <a:solidFill>
            <a:srgbClr val="14B8A6">
              <a:alpha val="12000"/>
            </a:srgbClr>
          </a:solidFill>
          <a:ln/>
        </p:spPr>
        <p:txBody>
          <a:bodyPr wrap="square" rtlCol="0" anchor="ctr"/>
          <a:lstStyle/>
          <a:p>
            <a:pPr indent="0" marL="0">
              <a:buNone/>
            </a:pPr>
            <a:endParaRPr lang="en-US" dirty="0"/>
          </a:p>
        </p:txBody>
      </p:sp>
      <p:sp>
        <p:nvSpPr>
          <p:cNvPr id="8" name="Text 6"/>
          <p:cNvSpPr/>
          <p:nvPr/>
        </p:nvSpPr>
        <p:spPr>
          <a:xfrm>
            <a:off x="617934" y="1591717"/>
            <a:ext cx="207169" cy="207169"/>
          </a:xfrm>
          <a:prstGeom prst="rect">
            <a:avLst/>
          </a:prstGeom>
          <a:noFill/>
          <a:ln/>
        </p:spPr>
        <p:txBody>
          <a:bodyPr wrap="none" lIns="0" tIns="0" rIns="0" bIns="0" rtlCol="0" anchor="ctr"/>
          <a:lstStyle/>
          <a:p>
            <a:pPr algn="ctr" indent="0" marL="0">
              <a:buNone/>
            </a:pPr>
            <a:r>
              <a:rPr lang="en-US" sz="1406" dirty="0">
                <a:solidFill>
                  <a:srgbClr val="0F766E"/>
                </a:solidFill>
                <a:latin typeface="Segoe UI Symbol" pitchFamily="34" charset="0"/>
                <a:ea typeface="Segoe UI Symbol" pitchFamily="34" charset="-122"/>
                <a:cs typeface="Segoe UI Symbol" pitchFamily="34" charset="-120"/>
              </a:rPr>
              <a:t>✦</a:t>
            </a:r>
            <a:endParaRPr lang="en-US" sz="1406" dirty="0"/>
          </a:p>
        </p:txBody>
      </p:sp>
      <p:sp>
        <p:nvSpPr>
          <p:cNvPr id="9" name="Text 7"/>
          <p:cNvSpPr/>
          <p:nvPr/>
        </p:nvSpPr>
        <p:spPr>
          <a:xfrm>
            <a:off x="921544" y="1567160"/>
            <a:ext cx="2069379" cy="91440"/>
          </a:xfrm>
          <a:prstGeom prst="rect">
            <a:avLst/>
          </a:prstGeom>
          <a:noFill/>
          <a:ln/>
        </p:spPr>
        <p:txBody>
          <a:bodyPr wrap="none" lIns="0" tIns="0" rIns="0" bIns="0" rtlCol="0" anchor="t">
            <a:normAutofit/>
          </a:bodyPr>
          <a:lstStyle/>
          <a:p>
            <a:pPr algn="l" indent="0" marL="0">
              <a:lnSpc>
                <a:spcPts val="928"/>
              </a:lnSpc>
              <a:buNone/>
            </a:pPr>
            <a:r>
              <a:rPr lang="en-US" sz="800" b="1" spc="111" kern="0" dirty="0">
                <a:solidFill>
                  <a:srgbClr val="0F766E"/>
                </a:solidFill>
                <a:latin typeface="Liberation Sans Narrow" pitchFamily="34" charset="0"/>
                <a:ea typeface="Liberation Sans Narrow" pitchFamily="34" charset="-122"/>
                <a:cs typeface="Liberation Sans Narrow" pitchFamily="34" charset="-120"/>
              </a:rPr>
              <a:t>LIMITATION 01</a:t>
            </a:r>
            <a:endParaRPr lang="en-US" sz="800" dirty="0"/>
          </a:p>
        </p:txBody>
      </p:sp>
      <p:sp>
        <p:nvSpPr>
          <p:cNvPr id="10" name="Text 8"/>
          <p:cNvSpPr/>
          <p:nvPr/>
        </p:nvSpPr>
        <p:spPr>
          <a:xfrm>
            <a:off x="921544" y="1685032"/>
            <a:ext cx="1657121" cy="149483"/>
          </a:xfrm>
          <a:prstGeom prst="rect">
            <a:avLst/>
          </a:prstGeom>
          <a:noFill/>
          <a:ln/>
        </p:spPr>
        <p:txBody>
          <a:bodyPr wrap="none" lIns="0" tIns="0" rIns="0" bIns="0" rtlCol="0" anchor="t"/>
          <a:lstStyle/>
          <a:p>
            <a:pPr algn="l" indent="0" marL="0">
              <a:lnSpc>
                <a:spcPts val="1090"/>
              </a:lnSpc>
              <a:buNone/>
            </a:pPr>
            <a:r>
              <a:rPr lang="en-US" sz="872" b="1" dirty="0">
                <a:solidFill>
                  <a:srgbClr val="0F1F3D"/>
                </a:solidFill>
                <a:latin typeface="Carlito" pitchFamily="34" charset="0"/>
                <a:ea typeface="Carlito" pitchFamily="34" charset="-122"/>
                <a:cs typeface="Carlito" pitchFamily="34" charset="-120"/>
              </a:rPr>
              <a:t>DATA — DAiSEE is narrow</a:t>
            </a:r>
            <a:endParaRPr lang="en-US" sz="872" dirty="0"/>
          </a:p>
        </p:txBody>
      </p:sp>
      <p:sp>
        <p:nvSpPr>
          <p:cNvPr id="11" name="Text 9"/>
          <p:cNvSpPr/>
          <p:nvPr/>
        </p:nvSpPr>
        <p:spPr>
          <a:xfrm>
            <a:off x="592931" y="1923901"/>
            <a:ext cx="3786188" cy="822960"/>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DAiSEE is the de-facto benchmark, but it has only </a:t>
            </a:r>
            <a:pPr algn="l" indent="0" marL="0">
              <a:lnSpc>
                <a:spcPts val="1055"/>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112</a:t>
            </a:r>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 subjects — all Indian university students in a single cultural context. Generalization to secondary-school learners, non-Western classrooms, or non-native-English instruction is unproven. Inter-annotator agreement is only </a:t>
            </a:r>
            <a:pPr algn="l" indent="0" marL="0">
              <a:lnSpc>
                <a:spcPts val="1055"/>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0.581</a:t>
            </a:r>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 (weighted kappa), capping achievable performance regardless of model.</a:t>
            </a:r>
            <a:endParaRPr lang="en-US" sz="800" dirty="0"/>
          </a:p>
        </p:txBody>
      </p:sp>
      <p:sp>
        <p:nvSpPr>
          <p:cNvPr id="12" name="Text 10"/>
          <p:cNvSpPr/>
          <p:nvPr/>
        </p:nvSpPr>
        <p:spPr>
          <a:xfrm>
            <a:off x="4632722" y="1448842"/>
            <a:ext cx="4050506" cy="1421606"/>
          </a:xfrm>
          <a:prstGeom prst="roundRect">
            <a:avLst>
              <a:gd name="adj" fmla="val 536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13" name="Text 11"/>
          <p:cNvSpPr/>
          <p:nvPr/>
        </p:nvSpPr>
        <p:spPr>
          <a:xfrm>
            <a:off x="4764881" y="1566714"/>
            <a:ext cx="257175" cy="257175"/>
          </a:xfrm>
          <a:prstGeom prst="roundRect">
            <a:avLst>
              <a:gd name="adj" fmla="val 29630"/>
            </a:avLst>
          </a:prstGeom>
          <a:solidFill>
            <a:srgbClr val="14B8A6">
              <a:alpha val="12000"/>
            </a:srgbClr>
          </a:solidFill>
          <a:ln/>
        </p:spPr>
        <p:txBody>
          <a:bodyPr wrap="square" rtlCol="0" anchor="ctr"/>
          <a:lstStyle/>
          <a:p>
            <a:pPr indent="0" marL="0">
              <a:buNone/>
            </a:pPr>
            <a:endParaRPr lang="en-US" dirty="0"/>
          </a:p>
        </p:txBody>
      </p:sp>
      <p:sp>
        <p:nvSpPr>
          <p:cNvPr id="14" name="Text 12"/>
          <p:cNvSpPr/>
          <p:nvPr/>
        </p:nvSpPr>
        <p:spPr>
          <a:xfrm>
            <a:off x="4789884" y="1591717"/>
            <a:ext cx="207169" cy="207169"/>
          </a:xfrm>
          <a:prstGeom prst="rect">
            <a:avLst/>
          </a:prstGeom>
          <a:noFill/>
          <a:ln/>
        </p:spPr>
        <p:txBody>
          <a:bodyPr wrap="none" lIns="0" tIns="0" rIns="0" bIns="0" rtlCol="0" anchor="ctr"/>
          <a:lstStyle/>
          <a:p>
            <a:pPr algn="ctr" indent="0" marL="0">
              <a:buNone/>
            </a:pPr>
            <a:r>
              <a:rPr lang="en-US" sz="1406" dirty="0">
                <a:solidFill>
                  <a:srgbClr val="0F766E"/>
                </a:solidFill>
                <a:latin typeface="Segoe UI Symbol" pitchFamily="34" charset="0"/>
                <a:ea typeface="Segoe UI Symbol" pitchFamily="34" charset="-122"/>
                <a:cs typeface="Segoe UI Symbol" pitchFamily="34" charset="-120"/>
              </a:rPr>
              <a:t>◉</a:t>
            </a:r>
            <a:endParaRPr lang="en-US" sz="1406" dirty="0"/>
          </a:p>
        </p:txBody>
      </p:sp>
      <p:sp>
        <p:nvSpPr>
          <p:cNvPr id="15" name="Text 13"/>
          <p:cNvSpPr/>
          <p:nvPr/>
        </p:nvSpPr>
        <p:spPr>
          <a:xfrm>
            <a:off x="5093494" y="1567160"/>
            <a:ext cx="1869159" cy="91440"/>
          </a:xfrm>
          <a:prstGeom prst="rect">
            <a:avLst/>
          </a:prstGeom>
          <a:noFill/>
          <a:ln/>
        </p:spPr>
        <p:txBody>
          <a:bodyPr wrap="none" lIns="0" tIns="0" rIns="0" bIns="0" rtlCol="0" anchor="t">
            <a:normAutofit/>
          </a:bodyPr>
          <a:lstStyle/>
          <a:p>
            <a:pPr algn="l" indent="0" marL="0">
              <a:lnSpc>
                <a:spcPts val="928"/>
              </a:lnSpc>
              <a:buNone/>
            </a:pPr>
            <a:r>
              <a:rPr lang="en-US" sz="800" b="1" spc="111" kern="0" dirty="0">
                <a:solidFill>
                  <a:srgbClr val="0F766E"/>
                </a:solidFill>
                <a:latin typeface="Liberation Sans Narrow" pitchFamily="34" charset="0"/>
                <a:ea typeface="Liberation Sans Narrow" pitchFamily="34" charset="-122"/>
                <a:cs typeface="Liberation Sans Narrow" pitchFamily="34" charset="-120"/>
              </a:rPr>
              <a:t>LIMITATION 02</a:t>
            </a:r>
            <a:endParaRPr lang="en-US" sz="800" dirty="0"/>
          </a:p>
        </p:txBody>
      </p:sp>
      <p:sp>
        <p:nvSpPr>
          <p:cNvPr id="16" name="Text 14"/>
          <p:cNvSpPr/>
          <p:nvPr/>
        </p:nvSpPr>
        <p:spPr>
          <a:xfrm>
            <a:off x="5093494" y="1685032"/>
            <a:ext cx="1496789" cy="149483"/>
          </a:xfrm>
          <a:prstGeom prst="rect">
            <a:avLst/>
          </a:prstGeom>
          <a:noFill/>
          <a:ln/>
        </p:spPr>
        <p:txBody>
          <a:bodyPr wrap="none" lIns="0" tIns="0" rIns="0" bIns="0" rtlCol="0" anchor="t"/>
          <a:lstStyle/>
          <a:p>
            <a:pPr algn="l" indent="0" marL="0">
              <a:lnSpc>
                <a:spcPts val="1090"/>
              </a:lnSpc>
              <a:buNone/>
            </a:pPr>
            <a:r>
              <a:rPr lang="en-US" sz="872" b="1" dirty="0">
                <a:solidFill>
                  <a:srgbClr val="0F1F3D"/>
                </a:solidFill>
                <a:latin typeface="Carlito" pitchFamily="34" charset="0"/>
                <a:ea typeface="Carlito" pitchFamily="34" charset="-122"/>
                <a:cs typeface="Carlito" pitchFamily="34" charset="-120"/>
              </a:rPr>
              <a:t>MODALITY — Face only</a:t>
            </a:r>
            <a:endParaRPr lang="en-US" sz="872" dirty="0"/>
          </a:p>
        </p:txBody>
      </p:sp>
      <p:sp>
        <p:nvSpPr>
          <p:cNvPr id="17" name="Text 15"/>
          <p:cNvSpPr/>
          <p:nvPr/>
        </p:nvSpPr>
        <p:spPr>
          <a:xfrm>
            <a:off x="4764881" y="1923901"/>
            <a:ext cx="3786188" cy="822960"/>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The framework explicitly excludes body posture, hand gestures, screen interaction, and physiological signals. The Confusion dimension (lowest F1 = </a:t>
            </a:r>
            <a:pPr algn="l" indent="0" marL="0">
              <a:lnSpc>
                <a:spcPts val="1055"/>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0.566</a:t>
            </a:r>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 may benefit most from interaction-based features like mouse movement and response time — readily available in e-learning platforms but invisible to webcam-only monitoring.</a:t>
            </a:r>
            <a:endParaRPr lang="en-US" sz="800" dirty="0"/>
          </a:p>
        </p:txBody>
      </p:sp>
      <p:sp>
        <p:nvSpPr>
          <p:cNvPr id="18" name="Text 16"/>
          <p:cNvSpPr/>
          <p:nvPr/>
        </p:nvSpPr>
        <p:spPr>
          <a:xfrm>
            <a:off x="460772" y="2991892"/>
            <a:ext cx="4050506" cy="1421606"/>
          </a:xfrm>
          <a:prstGeom prst="roundRect">
            <a:avLst>
              <a:gd name="adj" fmla="val 536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19" name="Text 17"/>
          <p:cNvSpPr/>
          <p:nvPr/>
        </p:nvSpPr>
        <p:spPr>
          <a:xfrm>
            <a:off x="592931" y="3109764"/>
            <a:ext cx="257175" cy="257175"/>
          </a:xfrm>
          <a:prstGeom prst="roundRect">
            <a:avLst>
              <a:gd name="adj" fmla="val 29630"/>
            </a:avLst>
          </a:prstGeom>
          <a:solidFill>
            <a:srgbClr val="14B8A6">
              <a:alpha val="12000"/>
            </a:srgbClr>
          </a:solidFill>
          <a:ln/>
        </p:spPr>
        <p:txBody>
          <a:bodyPr wrap="square" rtlCol="0" anchor="ctr"/>
          <a:lstStyle/>
          <a:p>
            <a:pPr indent="0" marL="0">
              <a:buNone/>
            </a:pPr>
            <a:endParaRPr lang="en-US" dirty="0"/>
          </a:p>
        </p:txBody>
      </p:sp>
      <p:sp>
        <p:nvSpPr>
          <p:cNvPr id="20" name="Text 18"/>
          <p:cNvSpPr/>
          <p:nvPr/>
        </p:nvSpPr>
        <p:spPr>
          <a:xfrm>
            <a:off x="617934" y="3134767"/>
            <a:ext cx="207169" cy="207169"/>
          </a:xfrm>
          <a:prstGeom prst="rect">
            <a:avLst/>
          </a:prstGeom>
          <a:noFill/>
          <a:ln/>
        </p:spPr>
        <p:txBody>
          <a:bodyPr wrap="none" lIns="0" tIns="0" rIns="0" bIns="0" rtlCol="0" anchor="ctr"/>
          <a:lstStyle/>
          <a:p>
            <a:pPr algn="ctr" indent="0" marL="0">
              <a:buNone/>
            </a:pPr>
            <a:r>
              <a:rPr lang="en-US" sz="1406" dirty="0">
                <a:solidFill>
                  <a:srgbClr val="0F766E"/>
                </a:solidFill>
                <a:latin typeface="Segoe UI Symbol" pitchFamily="34" charset="0"/>
                <a:ea typeface="Segoe UI Symbol" pitchFamily="34" charset="-122"/>
                <a:cs typeface="Segoe UI Symbol" pitchFamily="34" charset="-120"/>
              </a:rPr>
              <a:t>✦</a:t>
            </a:r>
            <a:endParaRPr lang="en-US" sz="1406" dirty="0"/>
          </a:p>
        </p:txBody>
      </p:sp>
      <p:sp>
        <p:nvSpPr>
          <p:cNvPr id="21" name="Text 19"/>
          <p:cNvSpPr/>
          <p:nvPr/>
        </p:nvSpPr>
        <p:spPr>
          <a:xfrm>
            <a:off x="921544" y="3110210"/>
            <a:ext cx="3398325" cy="91440"/>
          </a:xfrm>
          <a:prstGeom prst="rect">
            <a:avLst/>
          </a:prstGeom>
          <a:noFill/>
          <a:ln/>
        </p:spPr>
        <p:txBody>
          <a:bodyPr wrap="none" lIns="0" tIns="0" rIns="0" bIns="0" rtlCol="0" anchor="t">
            <a:normAutofit/>
          </a:bodyPr>
          <a:lstStyle/>
          <a:p>
            <a:pPr algn="l" indent="0" marL="0">
              <a:lnSpc>
                <a:spcPts val="928"/>
              </a:lnSpc>
              <a:buNone/>
            </a:pPr>
            <a:r>
              <a:rPr lang="en-US" sz="800" b="1" spc="111" kern="0" dirty="0">
                <a:solidFill>
                  <a:srgbClr val="0F766E"/>
                </a:solidFill>
                <a:latin typeface="Liberation Sans Narrow" pitchFamily="34" charset="0"/>
                <a:ea typeface="Liberation Sans Narrow" pitchFamily="34" charset="-122"/>
                <a:cs typeface="Liberation Sans Narrow" pitchFamily="34" charset="-120"/>
              </a:rPr>
              <a:t>LIMITATION 03</a:t>
            </a:r>
            <a:endParaRPr lang="en-US" sz="800" dirty="0"/>
          </a:p>
        </p:txBody>
      </p:sp>
      <p:sp>
        <p:nvSpPr>
          <p:cNvPr id="22" name="Text 20"/>
          <p:cNvSpPr/>
          <p:nvPr/>
        </p:nvSpPr>
        <p:spPr>
          <a:xfrm>
            <a:off x="921544" y="3228082"/>
            <a:ext cx="2799069" cy="149483"/>
          </a:xfrm>
          <a:prstGeom prst="rect">
            <a:avLst/>
          </a:prstGeom>
          <a:noFill/>
          <a:ln/>
        </p:spPr>
        <p:txBody>
          <a:bodyPr wrap="square" lIns="0" tIns="0" rIns="0" bIns="0" rtlCol="0" anchor="t"/>
          <a:lstStyle/>
          <a:p>
            <a:pPr algn="l" indent="0" marL="0">
              <a:lnSpc>
                <a:spcPts val="1090"/>
              </a:lnSpc>
              <a:buNone/>
            </a:pPr>
            <a:r>
              <a:rPr lang="en-US" sz="872" b="1" dirty="0">
                <a:solidFill>
                  <a:srgbClr val="0F1F3D"/>
                </a:solidFill>
                <a:latin typeface="Liberation Sans Narrow" pitchFamily="34" charset="0"/>
                <a:ea typeface="Liberation Sans Narrow" pitchFamily="34" charset="-122"/>
                <a:cs typeface="Liberation Sans Narrow" pitchFamily="34" charset="-120"/>
              </a:rPr>
              <a:t>LABEL TRANSFORMATION — 4 → 3 classes</a:t>
            </a:r>
            <a:endParaRPr lang="en-US" sz="872" dirty="0"/>
          </a:p>
        </p:txBody>
      </p:sp>
      <p:sp>
        <p:nvSpPr>
          <p:cNvPr id="23" name="Text 21"/>
          <p:cNvSpPr/>
          <p:nvPr/>
        </p:nvSpPr>
        <p:spPr>
          <a:xfrm>
            <a:off x="592931" y="3466951"/>
            <a:ext cx="3786188" cy="822960"/>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Collapsing 4 intensity levels to 3 was necessary due to severe imbalance, but it loses granularity. Educators may need finer distinctions (e.g., slightly vs. moderately confused) that the 3-class scheme cannot provide. The mapping rules are also somewhat subjective — alternative strategies could yield different performance.</a:t>
            </a:r>
            <a:endParaRPr lang="en-US" sz="800" dirty="0"/>
          </a:p>
        </p:txBody>
      </p:sp>
      <p:sp>
        <p:nvSpPr>
          <p:cNvPr id="24" name="Text 22"/>
          <p:cNvSpPr/>
          <p:nvPr/>
        </p:nvSpPr>
        <p:spPr>
          <a:xfrm>
            <a:off x="4632722" y="2991892"/>
            <a:ext cx="4050506" cy="1421606"/>
          </a:xfrm>
          <a:prstGeom prst="roundRect">
            <a:avLst>
              <a:gd name="adj" fmla="val 5360"/>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25" name="Text 23"/>
          <p:cNvSpPr/>
          <p:nvPr/>
        </p:nvSpPr>
        <p:spPr>
          <a:xfrm>
            <a:off x="4764881" y="3109764"/>
            <a:ext cx="257175" cy="257175"/>
          </a:xfrm>
          <a:prstGeom prst="roundRect">
            <a:avLst>
              <a:gd name="adj" fmla="val 29630"/>
            </a:avLst>
          </a:prstGeom>
          <a:solidFill>
            <a:srgbClr val="14B8A6">
              <a:alpha val="12000"/>
            </a:srgbClr>
          </a:solidFill>
          <a:ln/>
        </p:spPr>
        <p:txBody>
          <a:bodyPr wrap="square" rtlCol="0" anchor="ctr"/>
          <a:lstStyle/>
          <a:p>
            <a:pPr indent="0" marL="0">
              <a:buNone/>
            </a:pPr>
            <a:endParaRPr lang="en-US" dirty="0"/>
          </a:p>
        </p:txBody>
      </p:sp>
      <p:sp>
        <p:nvSpPr>
          <p:cNvPr id="26" name="Text 24"/>
          <p:cNvSpPr/>
          <p:nvPr/>
        </p:nvSpPr>
        <p:spPr>
          <a:xfrm>
            <a:off x="4789884" y="3134767"/>
            <a:ext cx="207169" cy="207169"/>
          </a:xfrm>
          <a:prstGeom prst="rect">
            <a:avLst/>
          </a:prstGeom>
          <a:noFill/>
          <a:ln/>
        </p:spPr>
        <p:txBody>
          <a:bodyPr wrap="none" lIns="0" tIns="0" rIns="0" bIns="0" rtlCol="0" anchor="ctr"/>
          <a:lstStyle/>
          <a:p>
            <a:pPr algn="ctr" indent="0" marL="0">
              <a:buNone/>
            </a:pPr>
            <a:r>
              <a:rPr lang="en-US" sz="1406" dirty="0">
                <a:solidFill>
                  <a:srgbClr val="0F766E"/>
                </a:solidFill>
                <a:latin typeface="Segoe UI Symbol" pitchFamily="34" charset="0"/>
                <a:ea typeface="Segoe UI Symbol" pitchFamily="34" charset="-122"/>
                <a:cs typeface="Segoe UI Symbol" pitchFamily="34" charset="-120"/>
              </a:rPr>
              <a:t>▶</a:t>
            </a:r>
            <a:endParaRPr lang="en-US" sz="1406" dirty="0"/>
          </a:p>
        </p:txBody>
      </p:sp>
      <p:sp>
        <p:nvSpPr>
          <p:cNvPr id="27" name="Text 25"/>
          <p:cNvSpPr/>
          <p:nvPr/>
        </p:nvSpPr>
        <p:spPr>
          <a:xfrm>
            <a:off x="5093494" y="3110210"/>
            <a:ext cx="3337293" cy="91440"/>
          </a:xfrm>
          <a:prstGeom prst="rect">
            <a:avLst/>
          </a:prstGeom>
          <a:noFill/>
          <a:ln/>
        </p:spPr>
        <p:txBody>
          <a:bodyPr wrap="none" lIns="0" tIns="0" rIns="0" bIns="0" rtlCol="0" anchor="t">
            <a:normAutofit/>
          </a:bodyPr>
          <a:lstStyle/>
          <a:p>
            <a:pPr algn="l" indent="0" marL="0">
              <a:lnSpc>
                <a:spcPts val="928"/>
              </a:lnSpc>
              <a:buNone/>
            </a:pPr>
            <a:r>
              <a:rPr lang="en-US" sz="800" b="1" spc="111" kern="0" dirty="0">
                <a:solidFill>
                  <a:srgbClr val="0F766E"/>
                </a:solidFill>
                <a:latin typeface="Liberation Sans Narrow" pitchFamily="34" charset="0"/>
                <a:ea typeface="Liberation Sans Narrow" pitchFamily="34" charset="-122"/>
                <a:cs typeface="Liberation Sans Narrow" pitchFamily="34" charset="-120"/>
              </a:rPr>
              <a:t>LIMITATION 04</a:t>
            </a:r>
            <a:endParaRPr lang="en-US" sz="800" dirty="0"/>
          </a:p>
        </p:txBody>
      </p:sp>
      <p:sp>
        <p:nvSpPr>
          <p:cNvPr id="28" name="Text 26"/>
          <p:cNvSpPr/>
          <p:nvPr/>
        </p:nvSpPr>
        <p:spPr>
          <a:xfrm>
            <a:off x="5093494" y="3228082"/>
            <a:ext cx="2748799" cy="149483"/>
          </a:xfrm>
          <a:prstGeom prst="rect">
            <a:avLst/>
          </a:prstGeom>
          <a:noFill/>
          <a:ln/>
        </p:spPr>
        <p:txBody>
          <a:bodyPr wrap="square" lIns="0" tIns="0" rIns="0" bIns="0" rtlCol="0" anchor="t"/>
          <a:lstStyle/>
          <a:p>
            <a:pPr algn="l" indent="0" marL="0">
              <a:lnSpc>
                <a:spcPts val="1090"/>
              </a:lnSpc>
              <a:buNone/>
            </a:pPr>
            <a:r>
              <a:rPr lang="en-US" sz="872" b="1" dirty="0">
                <a:solidFill>
                  <a:srgbClr val="0F1F3D"/>
                </a:solidFill>
                <a:latin typeface="Carlito" pitchFamily="34" charset="0"/>
                <a:ea typeface="Carlito" pitchFamily="34" charset="-122"/>
                <a:cs typeface="Carlito" pitchFamily="34" charset="-120"/>
              </a:rPr>
              <a:t>DEPLOYMENT — Frontal-face assumption</a:t>
            </a:r>
            <a:endParaRPr lang="en-US" sz="872" dirty="0"/>
          </a:p>
        </p:txBody>
      </p:sp>
      <p:sp>
        <p:nvSpPr>
          <p:cNvPr id="29" name="Text 27"/>
          <p:cNvSpPr/>
          <p:nvPr/>
        </p:nvSpPr>
        <p:spPr>
          <a:xfrm>
            <a:off x="4764881" y="3466951"/>
            <a:ext cx="3786188" cy="822960"/>
          </a:xfrm>
          <a:prstGeom prst="rect">
            <a:avLst/>
          </a:prstGeom>
          <a:noFill/>
          <a:ln/>
        </p:spPr>
        <p:txBody>
          <a:bodyPr wrap="square" lIns="0" tIns="0" rIns="0" bIns="0" rtlCol="0" anchor="t"/>
          <a:lstStyle/>
          <a:p>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MediaPipe requires a visible, sufficiently-resolved, frontal face. Real classrooms introduce glare, occlusions, side-profile faces, and varying camera angles — all of which degrade feature quality. The current missing-detection handler assumes brief, isolated failures; extended non-detection would require fundamentally different handling.</a:t>
            </a:r>
            <a:endParaRPr lang="en-US" sz="800" dirty="0"/>
          </a:p>
        </p:txBody>
      </p:sp>
      <p:sp>
        <p:nvSpPr>
          <p:cNvPr id="30" name="Text 28"/>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THESIS DEFENSE</a:t>
            </a:r>
            <a:endParaRPr lang="en-US" sz="800" dirty="0"/>
          </a:p>
        </p:txBody>
      </p:sp>
      <p:sp>
        <p:nvSpPr>
          <p:cNvPr id="31" name="Text 29"/>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30 / 34</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square" lIns="0" tIns="0" rIns="0" bIns="0" rtlCol="0" anchor="t"/>
          <a:lstStyle/>
          <a:p>
            <a:pPr algn="l" indent="0" marL="0">
              <a:lnSpc>
                <a:spcPts val="928"/>
              </a:lnSpc>
              <a:buNone/>
            </a:pPr>
            <a:r>
              <a:rPr lang="en-US" sz="800" b="1" spc="136" kern="0" dirty="0">
                <a:solidFill>
                  <a:srgbClr val="14B8A6"/>
                </a:solidFill>
                <a:latin typeface="Carlito" pitchFamily="34" charset="0"/>
                <a:ea typeface="Carlito" pitchFamily="34" charset="-122"/>
                <a:cs typeface="Carlito" pitchFamily="34" charset="-120"/>
              </a:rPr>
              <a:t>CONTRIBUTIONS · WHAT THIS THESIS PROVED</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303413"/>
          </a:xfrm>
          <a:prstGeom prst="rect">
            <a:avLst/>
          </a:prstGeom>
          <a:noFill/>
          <a:ln/>
        </p:spPr>
        <p:txBody>
          <a:bodyPr wrap="squar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Three Claims the Empirical Evidence Supports</a:t>
            </a:r>
            <a:endParaRPr lang="en-US" sz="2025" dirty="0"/>
          </a:p>
        </p:txBody>
      </p:sp>
      <p:sp>
        <p:nvSpPr>
          <p:cNvPr id="5" name="Text 3"/>
          <p:cNvSpPr/>
          <p:nvPr/>
        </p:nvSpPr>
        <p:spPr>
          <a:xfrm>
            <a:off x="457200" y="1013073"/>
            <a:ext cx="6572250" cy="358759"/>
          </a:xfrm>
          <a:prstGeom prst="rect">
            <a:avLst/>
          </a:prstGeom>
          <a:noFill/>
          <a:ln/>
        </p:spPr>
        <p:txBody>
          <a:bodyPr wrap="square" lIns="0" tIns="0" rIns="0" bIns="0" rtlCol="0" anchor="t"/>
          <a:lstStyle/>
          <a:p>
            <a:pPr algn="l" indent="0" marL="0">
              <a:lnSpc>
                <a:spcPts val="1308"/>
              </a:lnSpc>
              <a:buNone/>
            </a:pPr>
            <a:r>
              <a:rPr lang="en-US" sz="844" dirty="0">
                <a:solidFill>
                  <a:srgbClr val="5B6B82"/>
                </a:solidFill>
                <a:latin typeface="Carlito" pitchFamily="34" charset="0"/>
                <a:ea typeface="Carlito" pitchFamily="34" charset="-122"/>
                <a:cs typeface="Carlito" pitchFamily="34" charset="-120"/>
              </a:rPr>
              <a:t>A lightweight XGBoost on hand-crafted MediaPipe facial features matches deep-learning baselines on DAiSEE — and SHAP reveals each affective state has its own feature fingerprint.</a:t>
            </a:r>
            <a:endParaRPr lang="en-US" sz="844" dirty="0"/>
          </a:p>
        </p:txBody>
      </p:sp>
      <p:sp>
        <p:nvSpPr>
          <p:cNvPr id="6" name="Text 4"/>
          <p:cNvSpPr/>
          <p:nvPr/>
        </p:nvSpPr>
        <p:spPr>
          <a:xfrm>
            <a:off x="457200" y="1445270"/>
            <a:ext cx="8229600" cy="514350"/>
          </a:xfrm>
          <a:prstGeom prst="roundRect">
            <a:avLst>
              <a:gd name="adj" fmla="val 14815"/>
            </a:avLst>
          </a:prstGeom>
          <a:solidFill>
            <a:srgbClr val="FFFFFF"/>
          </a:solidFill>
          <a:ln/>
        </p:spPr>
        <p:txBody>
          <a:bodyPr wrap="square" rtlCol="0" anchor="ctr"/>
          <a:lstStyle/>
          <a:p>
            <a:pPr indent="0" marL="0">
              <a:buNone/>
            </a:pPr>
            <a:endParaRPr lang="en-US" dirty="0"/>
          </a:p>
        </p:txBody>
      </p:sp>
      <p:sp>
        <p:nvSpPr>
          <p:cNvPr id="7" name="Shape 5"/>
          <p:cNvSpPr/>
          <p:nvPr/>
        </p:nvSpPr>
        <p:spPr>
          <a:xfrm>
            <a:off x="457200" y="1448842"/>
            <a:ext cx="8229600" cy="0"/>
          </a:xfrm>
          <a:prstGeom prst="line">
            <a:avLst/>
          </a:prstGeom>
          <a:noFill/>
          <a:ln w="7144">
            <a:solidFill>
              <a:srgbClr val="D9E1EC"/>
            </a:solidFill>
            <a:prstDash val="solid"/>
          </a:ln>
        </p:spPr>
      </p:sp>
      <p:sp>
        <p:nvSpPr>
          <p:cNvPr id="8" name="Shape 6"/>
          <p:cNvSpPr/>
          <p:nvPr/>
        </p:nvSpPr>
        <p:spPr>
          <a:xfrm>
            <a:off x="8683228" y="1445270"/>
            <a:ext cx="0" cy="514350"/>
          </a:xfrm>
          <a:prstGeom prst="line">
            <a:avLst/>
          </a:prstGeom>
          <a:noFill/>
          <a:ln w="7144">
            <a:solidFill>
              <a:srgbClr val="D9E1EC"/>
            </a:solidFill>
            <a:prstDash val="solid"/>
          </a:ln>
        </p:spPr>
      </p:sp>
      <p:sp>
        <p:nvSpPr>
          <p:cNvPr id="9" name="Shape 7"/>
          <p:cNvSpPr/>
          <p:nvPr/>
        </p:nvSpPr>
        <p:spPr>
          <a:xfrm>
            <a:off x="457200" y="1956048"/>
            <a:ext cx="8229600" cy="0"/>
          </a:xfrm>
          <a:prstGeom prst="line">
            <a:avLst/>
          </a:prstGeom>
          <a:noFill/>
          <a:ln w="7144">
            <a:solidFill>
              <a:srgbClr val="D9E1EC"/>
            </a:solidFill>
            <a:prstDash val="solid"/>
          </a:ln>
        </p:spPr>
      </p:sp>
      <p:sp>
        <p:nvSpPr>
          <p:cNvPr id="10" name="Shape 8"/>
          <p:cNvSpPr/>
          <p:nvPr/>
        </p:nvSpPr>
        <p:spPr>
          <a:xfrm>
            <a:off x="467916" y="1445270"/>
            <a:ext cx="0" cy="514350"/>
          </a:xfrm>
          <a:prstGeom prst="line">
            <a:avLst/>
          </a:prstGeom>
          <a:noFill/>
          <a:ln w="21431">
            <a:solidFill>
              <a:srgbClr val="14B8A6"/>
            </a:solidFill>
            <a:prstDash val="solid"/>
          </a:ln>
        </p:spPr>
      </p:sp>
      <p:sp>
        <p:nvSpPr>
          <p:cNvPr id="11" name="Text 9"/>
          <p:cNvSpPr/>
          <p:nvPr/>
        </p:nvSpPr>
        <p:spPr>
          <a:xfrm>
            <a:off x="607219" y="1602432"/>
            <a:ext cx="902970" cy="216027"/>
          </a:xfrm>
          <a:prstGeom prst="rect">
            <a:avLst/>
          </a:prstGeom>
          <a:noFill/>
          <a:ln/>
        </p:spPr>
        <p:txBody>
          <a:bodyPr wrap="none" lIns="0" tIns="0" rIns="0" bIns="0" rtlCol="0" anchor="t"/>
          <a:lstStyle/>
          <a:p>
            <a:pPr algn="l" indent="0" marL="0">
              <a:lnSpc>
                <a:spcPts val="1575"/>
              </a:lnSpc>
              <a:buNone/>
            </a:pPr>
            <a:r>
              <a:rPr lang="en-US" sz="1238" spc="-32" kern="0" dirty="0">
                <a:solidFill>
                  <a:srgbClr val="14B8A6"/>
                </a:solidFill>
                <a:latin typeface="Segoe UI Symbol" pitchFamily="34" charset="0"/>
                <a:ea typeface="Segoe UI Symbol" pitchFamily="34" charset="-122"/>
                <a:cs typeface="Segoe UI Symbol" pitchFamily="34" charset="-120"/>
              </a:rPr>
              <a:t>✓</a:t>
            </a:r>
            <a:pPr algn="l" indent="0" marL="0">
              <a:lnSpc>
                <a:spcPts val="1575"/>
              </a:lnSpc>
              <a:buNone/>
            </a:pPr>
            <a:r>
              <a:rPr lang="en-US" sz="1575" b="1" spc="-32" kern="0" dirty="0">
                <a:solidFill>
                  <a:srgbClr val="14B8A6"/>
                </a:solidFill>
                <a:latin typeface="Liberation Sans Narrow" pitchFamily="34" charset="0"/>
                <a:ea typeface="Liberation Sans Narrow" pitchFamily="34" charset="-122"/>
                <a:cs typeface="Liberation Sans Narrow" pitchFamily="34" charset="-120"/>
              </a:rPr>
              <a:t> 01</a:t>
            </a:r>
            <a:endParaRPr lang="en-US" sz="1575" dirty="0"/>
          </a:p>
        </p:txBody>
      </p:sp>
      <p:sp>
        <p:nvSpPr>
          <p:cNvPr id="12" name="Text 10"/>
          <p:cNvSpPr/>
          <p:nvPr/>
        </p:nvSpPr>
        <p:spPr>
          <a:xfrm>
            <a:off x="1307306" y="1566714"/>
            <a:ext cx="1480732" cy="125403"/>
          </a:xfrm>
          <a:prstGeom prst="rect">
            <a:avLst/>
          </a:prstGeom>
          <a:noFill/>
          <a:ln/>
        </p:spPr>
        <p:txBody>
          <a:bodyPr wrap="none" lIns="0" tIns="0" rIns="0" bIns="0" rtlCol="0" anchor="t"/>
          <a:lstStyle/>
          <a:p>
            <a:pPr algn="l" indent="0" marL="0">
              <a:lnSpc>
                <a:spcPts val="1181"/>
              </a:lnSpc>
              <a:buNone/>
            </a:pPr>
            <a:r>
              <a:rPr lang="en-US" sz="800" b="1" dirty="0">
                <a:solidFill>
                  <a:srgbClr val="0F1F3D"/>
                </a:solidFill>
                <a:latin typeface="Carlito" pitchFamily="34" charset="0"/>
                <a:ea typeface="Carlito" pitchFamily="34" charset="-122"/>
                <a:cs typeface="Carlito" pitchFamily="34" charset="-120"/>
              </a:rPr>
              <a:t>Small models compete —</a:t>
            </a:r>
            <a:endParaRPr lang="en-US" sz="800" dirty="0"/>
          </a:p>
        </p:txBody>
      </p:sp>
      <p:sp>
        <p:nvSpPr>
          <p:cNvPr id="13" name="Text 11"/>
          <p:cNvSpPr/>
          <p:nvPr/>
        </p:nvSpPr>
        <p:spPr>
          <a:xfrm>
            <a:off x="1307306" y="1566714"/>
            <a:ext cx="6026088" cy="285750"/>
          </a:xfrm>
          <a:prstGeom prst="rect">
            <a:avLst/>
          </a:prstGeom>
          <a:noFill/>
          <a:ln/>
        </p:spPr>
        <p:txBody>
          <a:bodyPr wrap="square" lIns="0" tIns="0" rIns="0" bIns="0" rtlCol="0" anchor="t"/>
          <a:lstStyle/>
          <a:p>
            <a:pPr algn="l" indent="0" marL="0">
              <a:lnSpc>
                <a:spcPts val="1181"/>
              </a:lnSpc>
              <a:buNone/>
            </a:pPr>
            <a:r>
              <a:rPr lang="en-US" sz="788" dirty="0">
                <a:solidFill>
                  <a:srgbClr val="0F1F3D"/>
                </a:solidFill>
                <a:latin typeface="Carlito" pitchFamily="34" charset="0"/>
                <a:ea typeface="Carlito" pitchFamily="34" charset="-122"/>
                <a:cs typeface="Carlito" pitchFamily="34" charset="-120"/>
              </a:rPr>
              <a:t>A lightweight XGBoost (</a:t>
            </a:r>
            <a:pPr algn="l" indent="0" marL="0">
              <a:lnSpc>
                <a:spcPts val="1181"/>
              </a:lnSpc>
              <a:buNone/>
            </a:pPr>
            <a:r>
              <a:rPr lang="en-US" sz="788" dirty="0">
                <a:solidFill>
                  <a:srgbClr val="0F1F3D"/>
                </a:solidFill>
                <a:latin typeface="Liberation Sans Narrow" pitchFamily="34" charset="0"/>
                <a:ea typeface="Liberation Sans Narrow" pitchFamily="34" charset="-122"/>
                <a:cs typeface="Liberation Sans Narrow" pitchFamily="34" charset="-120"/>
              </a:rPr>
              <a:t>65.26%</a:t>
            </a:r>
            <a:pPr algn="l" indent="0" marL="0">
              <a:lnSpc>
                <a:spcPts val="1181"/>
              </a:lnSpc>
              <a:buNone/>
            </a:pPr>
            <a:r>
              <a:rPr lang="en-US" sz="788" dirty="0">
                <a:solidFill>
                  <a:srgbClr val="0F1F3D"/>
                </a:solidFill>
                <a:latin typeface="Carlito" pitchFamily="34" charset="0"/>
                <a:ea typeface="Carlito" pitchFamily="34" charset="-122"/>
                <a:cs typeface="Carlito" pitchFamily="34" charset="-120"/>
              </a:rPr>
              <a:t>) outperforms the median deep-learning baseline (</a:t>
            </a:r>
            <a:pPr algn="l" indent="0" marL="0">
              <a:lnSpc>
                <a:spcPts val="1181"/>
              </a:lnSpc>
              <a:buNone/>
            </a:pPr>
            <a:r>
              <a:rPr lang="en-US" sz="788" dirty="0">
                <a:solidFill>
                  <a:srgbClr val="0F1F3D"/>
                </a:solidFill>
                <a:latin typeface="Liberation Sans Narrow" pitchFamily="34" charset="0"/>
                <a:ea typeface="Liberation Sans Narrow" pitchFamily="34" charset="-122"/>
                <a:cs typeface="Liberation Sans Narrow" pitchFamily="34" charset="-120"/>
              </a:rPr>
              <a:t>63.9%</a:t>
            </a:r>
            <a:pPr algn="l" indent="0" marL="0">
              <a:lnSpc>
                <a:spcPts val="1181"/>
              </a:lnSpc>
              <a:buNone/>
            </a:pPr>
            <a:r>
              <a:rPr lang="en-US" sz="788" dirty="0">
                <a:solidFill>
                  <a:srgbClr val="0F1F3D"/>
                </a:solidFill>
                <a:latin typeface="Carlito" pitchFamily="34" charset="0"/>
                <a:ea typeface="Carlito" pitchFamily="34" charset="-122"/>
                <a:cs typeface="Carlito" pitchFamily="34" charset="-120"/>
              </a:rPr>
              <a:t>) on DAiSEE, at a fraction of the compute cost. The full pipeline runs in </a:t>
            </a:r>
            <a:pPr algn="l" indent="0" marL="0">
              <a:lnSpc>
                <a:spcPts val="1181"/>
              </a:lnSpc>
              <a:buNone/>
            </a:pPr>
            <a:r>
              <a:rPr lang="en-US" sz="788" dirty="0">
                <a:solidFill>
                  <a:srgbClr val="0F1F3D"/>
                </a:solidFill>
                <a:latin typeface="Liberation Sans Narrow" pitchFamily="34" charset="0"/>
                <a:ea typeface="Liberation Sans Narrow" pitchFamily="34" charset="-122"/>
                <a:cs typeface="Liberation Sans Narrow" pitchFamily="34" charset="-120"/>
              </a:rPr>
              <a:t>2.1 ms</a:t>
            </a:r>
            <a:pPr algn="l" indent="0" marL="0">
              <a:lnSpc>
                <a:spcPts val="1181"/>
              </a:lnSpc>
              <a:buNone/>
            </a:pPr>
            <a:r>
              <a:rPr lang="en-US" sz="788" dirty="0">
                <a:solidFill>
                  <a:srgbClr val="0F1F3D"/>
                </a:solidFill>
                <a:latin typeface="Carlito" pitchFamily="34" charset="0"/>
                <a:ea typeface="Carlito" pitchFamily="34" charset="-122"/>
                <a:cs typeface="Carlito" pitchFamily="34" charset="-120"/>
              </a:rPr>
              <a:t> per sample on commodity CPU.</a:t>
            </a:r>
            <a:endParaRPr lang="en-US" sz="788" dirty="0"/>
          </a:p>
        </p:txBody>
      </p:sp>
      <p:sp>
        <p:nvSpPr>
          <p:cNvPr id="14" name="Text 12"/>
          <p:cNvSpPr/>
          <p:nvPr/>
        </p:nvSpPr>
        <p:spPr>
          <a:xfrm>
            <a:off x="7850780" y="1596432"/>
            <a:ext cx="723148" cy="212027"/>
          </a:xfrm>
          <a:prstGeom prst="roundRect">
            <a:avLst>
              <a:gd name="adj" fmla="val 4487860"/>
            </a:avLst>
          </a:prstGeom>
          <a:solidFill>
            <a:srgbClr val="14B8A6">
              <a:alpha val="12000"/>
            </a:srgbClr>
          </a:solidFill>
          <a:ln w="7144">
            <a:solidFill>
              <a:srgbClr val="14B8A6"/>
            </a:solidFill>
            <a:prstDash val="solid"/>
          </a:ln>
        </p:spPr>
        <p:txBody>
          <a:bodyPr wrap="square" rtlCol="0" anchor="ctr"/>
          <a:lstStyle/>
          <a:p>
            <a:pPr indent="0" marL="0">
              <a:buNone/>
            </a:pPr>
            <a:endParaRPr lang="en-US" dirty="0"/>
          </a:p>
        </p:txBody>
      </p:sp>
      <p:sp>
        <p:nvSpPr>
          <p:cNvPr id="15" name="Text 13"/>
          <p:cNvSpPr/>
          <p:nvPr/>
        </p:nvSpPr>
        <p:spPr>
          <a:xfrm>
            <a:off x="7873640" y="1607790"/>
            <a:ext cx="677428" cy="189309"/>
          </a:xfrm>
          <a:prstGeom prst="rect">
            <a:avLst/>
          </a:prstGeom>
          <a:noFill/>
          <a:ln/>
        </p:spPr>
        <p:txBody>
          <a:bodyPr wrap="none" lIns="0" tIns="0" rIns="0" bIns="0" rtlCol="0" anchor="ctr"/>
          <a:lstStyle/>
          <a:p>
            <a:pPr algn="ctr" indent="0" marL="0">
              <a:lnSpc>
                <a:spcPts val="928"/>
              </a:lnSpc>
              <a:buNone/>
            </a:pPr>
            <a:r>
              <a:rPr lang="en-US" sz="800" spc="37" kern="0" dirty="0">
                <a:solidFill>
                  <a:srgbClr val="0F766E"/>
                </a:solidFill>
                <a:latin typeface="Liberation Sans Narrow" pitchFamily="34" charset="0"/>
                <a:ea typeface="Liberation Sans Narrow" pitchFamily="34" charset="-122"/>
                <a:cs typeface="Liberation Sans Narrow" pitchFamily="34" charset="-120"/>
              </a:rPr>
              <a:t>→ Slide 20</a:t>
            </a:r>
            <a:endParaRPr lang="en-US" sz="800" dirty="0"/>
          </a:p>
        </p:txBody>
      </p:sp>
      <p:sp>
        <p:nvSpPr>
          <p:cNvPr id="16" name="Text 14"/>
          <p:cNvSpPr/>
          <p:nvPr/>
        </p:nvSpPr>
        <p:spPr>
          <a:xfrm>
            <a:off x="457200" y="2031057"/>
            <a:ext cx="8229600" cy="664369"/>
          </a:xfrm>
          <a:prstGeom prst="roundRect">
            <a:avLst>
              <a:gd name="adj" fmla="val 11470"/>
            </a:avLst>
          </a:prstGeom>
          <a:solidFill>
            <a:srgbClr val="FFFFFF"/>
          </a:solidFill>
          <a:ln/>
        </p:spPr>
        <p:txBody>
          <a:bodyPr wrap="square" rtlCol="0" anchor="ctr"/>
          <a:lstStyle/>
          <a:p>
            <a:pPr indent="0" marL="0">
              <a:buNone/>
            </a:pPr>
            <a:endParaRPr lang="en-US" dirty="0"/>
          </a:p>
        </p:txBody>
      </p:sp>
      <p:sp>
        <p:nvSpPr>
          <p:cNvPr id="17" name="Shape 15"/>
          <p:cNvSpPr/>
          <p:nvPr/>
        </p:nvSpPr>
        <p:spPr>
          <a:xfrm>
            <a:off x="457200" y="2034629"/>
            <a:ext cx="8229600" cy="0"/>
          </a:xfrm>
          <a:prstGeom prst="line">
            <a:avLst/>
          </a:prstGeom>
          <a:noFill/>
          <a:ln w="7144">
            <a:solidFill>
              <a:srgbClr val="D9E1EC"/>
            </a:solidFill>
            <a:prstDash val="solid"/>
          </a:ln>
        </p:spPr>
      </p:sp>
      <p:sp>
        <p:nvSpPr>
          <p:cNvPr id="18" name="Shape 16"/>
          <p:cNvSpPr/>
          <p:nvPr/>
        </p:nvSpPr>
        <p:spPr>
          <a:xfrm>
            <a:off x="8683228" y="2031057"/>
            <a:ext cx="0" cy="664369"/>
          </a:xfrm>
          <a:prstGeom prst="line">
            <a:avLst/>
          </a:prstGeom>
          <a:noFill/>
          <a:ln w="7144">
            <a:solidFill>
              <a:srgbClr val="D9E1EC"/>
            </a:solidFill>
            <a:prstDash val="solid"/>
          </a:ln>
        </p:spPr>
      </p:sp>
      <p:sp>
        <p:nvSpPr>
          <p:cNvPr id="19" name="Shape 17"/>
          <p:cNvSpPr/>
          <p:nvPr/>
        </p:nvSpPr>
        <p:spPr>
          <a:xfrm>
            <a:off x="457200" y="2691854"/>
            <a:ext cx="8229600" cy="0"/>
          </a:xfrm>
          <a:prstGeom prst="line">
            <a:avLst/>
          </a:prstGeom>
          <a:noFill/>
          <a:ln w="7144">
            <a:solidFill>
              <a:srgbClr val="D9E1EC"/>
            </a:solidFill>
            <a:prstDash val="solid"/>
          </a:ln>
        </p:spPr>
      </p:sp>
      <p:sp>
        <p:nvSpPr>
          <p:cNvPr id="20" name="Shape 18"/>
          <p:cNvSpPr/>
          <p:nvPr/>
        </p:nvSpPr>
        <p:spPr>
          <a:xfrm>
            <a:off x="467916" y="2031057"/>
            <a:ext cx="0" cy="664369"/>
          </a:xfrm>
          <a:prstGeom prst="line">
            <a:avLst/>
          </a:prstGeom>
          <a:noFill/>
          <a:ln w="21431">
            <a:solidFill>
              <a:srgbClr val="14B8A6"/>
            </a:solidFill>
            <a:prstDash val="solid"/>
          </a:ln>
        </p:spPr>
      </p:sp>
      <p:sp>
        <p:nvSpPr>
          <p:cNvPr id="21" name="Text 19"/>
          <p:cNvSpPr/>
          <p:nvPr/>
        </p:nvSpPr>
        <p:spPr>
          <a:xfrm>
            <a:off x="607219" y="2263229"/>
            <a:ext cx="902970" cy="216027"/>
          </a:xfrm>
          <a:prstGeom prst="rect">
            <a:avLst/>
          </a:prstGeom>
          <a:noFill/>
          <a:ln/>
        </p:spPr>
        <p:txBody>
          <a:bodyPr wrap="none" lIns="0" tIns="0" rIns="0" bIns="0" rtlCol="0" anchor="t"/>
          <a:lstStyle/>
          <a:p>
            <a:pPr algn="l" indent="0" marL="0">
              <a:lnSpc>
                <a:spcPts val="1575"/>
              </a:lnSpc>
              <a:buNone/>
            </a:pPr>
            <a:r>
              <a:rPr lang="en-US" sz="1238" spc="-32" kern="0" dirty="0">
                <a:solidFill>
                  <a:srgbClr val="14B8A6"/>
                </a:solidFill>
                <a:latin typeface="Segoe UI Symbol" pitchFamily="34" charset="0"/>
                <a:ea typeface="Segoe UI Symbol" pitchFamily="34" charset="-122"/>
                <a:cs typeface="Segoe UI Symbol" pitchFamily="34" charset="-120"/>
              </a:rPr>
              <a:t>✓</a:t>
            </a:r>
            <a:pPr algn="l" indent="0" marL="0">
              <a:lnSpc>
                <a:spcPts val="1575"/>
              </a:lnSpc>
              <a:buNone/>
            </a:pPr>
            <a:r>
              <a:rPr lang="en-US" sz="1575" b="1" spc="-32" kern="0" dirty="0">
                <a:solidFill>
                  <a:srgbClr val="14B8A6"/>
                </a:solidFill>
                <a:latin typeface="Liberation Sans Narrow" pitchFamily="34" charset="0"/>
                <a:ea typeface="Liberation Sans Narrow" pitchFamily="34" charset="-122"/>
                <a:cs typeface="Liberation Sans Narrow" pitchFamily="34" charset="-120"/>
              </a:rPr>
              <a:t> 02</a:t>
            </a:r>
            <a:endParaRPr lang="en-US" sz="1575" dirty="0"/>
          </a:p>
        </p:txBody>
      </p:sp>
      <p:sp>
        <p:nvSpPr>
          <p:cNvPr id="22" name="Text 20"/>
          <p:cNvSpPr/>
          <p:nvPr/>
        </p:nvSpPr>
        <p:spPr>
          <a:xfrm>
            <a:off x="1307306" y="2152501"/>
            <a:ext cx="3021471" cy="125403"/>
          </a:xfrm>
          <a:prstGeom prst="rect">
            <a:avLst/>
          </a:prstGeom>
          <a:noFill/>
          <a:ln/>
        </p:spPr>
        <p:txBody>
          <a:bodyPr wrap="square" lIns="0" tIns="0" rIns="0" bIns="0" rtlCol="0" anchor="t"/>
          <a:lstStyle/>
          <a:p>
            <a:pPr algn="l" indent="0" marL="0">
              <a:lnSpc>
                <a:spcPts val="1181"/>
              </a:lnSpc>
              <a:buNone/>
            </a:pPr>
            <a:r>
              <a:rPr lang="en-US" sz="800" b="1" dirty="0">
                <a:solidFill>
                  <a:srgbClr val="0F1F3D"/>
                </a:solidFill>
                <a:latin typeface="Carlito" pitchFamily="34" charset="0"/>
                <a:ea typeface="Carlito" pitchFamily="34" charset="-122"/>
                <a:cs typeface="Carlito" pitchFamily="34" charset="-120"/>
              </a:rPr>
              <a:t>Each affective state has its own feature fingerprint —</a:t>
            </a:r>
            <a:endParaRPr lang="en-US" sz="800" dirty="0"/>
          </a:p>
        </p:txBody>
      </p:sp>
      <p:sp>
        <p:nvSpPr>
          <p:cNvPr id="23" name="Text 21"/>
          <p:cNvSpPr/>
          <p:nvPr/>
        </p:nvSpPr>
        <p:spPr>
          <a:xfrm>
            <a:off x="1307306" y="2152501"/>
            <a:ext cx="6070625" cy="435769"/>
          </a:xfrm>
          <a:prstGeom prst="rect">
            <a:avLst/>
          </a:prstGeom>
          <a:noFill/>
          <a:ln/>
        </p:spPr>
        <p:txBody>
          <a:bodyPr wrap="square" lIns="0" tIns="0" rIns="0" bIns="0" rtlCol="0" anchor="t"/>
          <a:lstStyle/>
          <a:p>
            <a:pPr algn="l" indent="0" marL="0">
              <a:lnSpc>
                <a:spcPts val="1181"/>
              </a:lnSpc>
              <a:buNone/>
            </a:pPr>
            <a:r>
              <a:rPr lang="en-US" sz="800" dirty="0">
                <a:solidFill>
                  <a:srgbClr val="0F1F3D"/>
                </a:solidFill>
                <a:latin typeface="Carlito" pitchFamily="34" charset="0"/>
                <a:ea typeface="Carlito" pitchFamily="34" charset="-122"/>
                <a:cs typeface="Carlito" pitchFamily="34" charset="-120"/>
              </a:rPr>
              <a:t>Boredom is blendshapes, Engagement is composite + gaze, Confusion is composite + head orientation, Frustration is mouth/jaw blendshapes + bursting dynamics. No single feature group carries all four states.</a:t>
            </a:r>
            <a:endParaRPr lang="en-US" sz="800" dirty="0"/>
          </a:p>
        </p:txBody>
      </p:sp>
      <p:sp>
        <p:nvSpPr>
          <p:cNvPr id="24" name="Text 22"/>
          <p:cNvSpPr/>
          <p:nvPr/>
        </p:nvSpPr>
        <p:spPr>
          <a:xfrm>
            <a:off x="7642607" y="2257229"/>
            <a:ext cx="931322" cy="212027"/>
          </a:xfrm>
          <a:prstGeom prst="roundRect">
            <a:avLst>
              <a:gd name="adj" fmla="val 4487860"/>
            </a:avLst>
          </a:prstGeom>
          <a:solidFill>
            <a:srgbClr val="14B8A6">
              <a:alpha val="12000"/>
            </a:srgbClr>
          </a:solidFill>
          <a:ln w="7144">
            <a:solidFill>
              <a:srgbClr val="14B8A6"/>
            </a:solidFill>
            <a:prstDash val="solid"/>
          </a:ln>
        </p:spPr>
        <p:txBody>
          <a:bodyPr wrap="square" rtlCol="0" anchor="ctr"/>
          <a:lstStyle/>
          <a:p>
            <a:pPr indent="0" marL="0">
              <a:buNone/>
            </a:pPr>
            <a:endParaRPr lang="en-US" dirty="0"/>
          </a:p>
        </p:txBody>
      </p:sp>
      <p:sp>
        <p:nvSpPr>
          <p:cNvPr id="25" name="Text 23"/>
          <p:cNvSpPr/>
          <p:nvPr/>
        </p:nvSpPr>
        <p:spPr>
          <a:xfrm>
            <a:off x="7661289" y="2268587"/>
            <a:ext cx="893958" cy="189309"/>
          </a:xfrm>
          <a:prstGeom prst="rect">
            <a:avLst/>
          </a:prstGeom>
          <a:noFill/>
          <a:ln/>
        </p:spPr>
        <p:txBody>
          <a:bodyPr wrap="none" lIns="0" tIns="0" rIns="0" bIns="0" rtlCol="0" anchor="ctr"/>
          <a:lstStyle/>
          <a:p>
            <a:pPr algn="ctr" indent="0" marL="0">
              <a:lnSpc>
                <a:spcPts val="928"/>
              </a:lnSpc>
              <a:buNone/>
            </a:pPr>
            <a:r>
              <a:rPr lang="en-US" sz="800" spc="37" kern="0" dirty="0">
                <a:solidFill>
                  <a:srgbClr val="0F766E"/>
                </a:solidFill>
                <a:latin typeface="Liberation Sans Narrow" pitchFamily="34" charset="0"/>
                <a:ea typeface="Liberation Sans Narrow" pitchFamily="34" charset="-122"/>
                <a:cs typeface="Liberation Sans Narrow" pitchFamily="34" charset="-120"/>
              </a:rPr>
              <a:t>→ Slides 22–27</a:t>
            </a:r>
            <a:endParaRPr lang="en-US" sz="800" dirty="0"/>
          </a:p>
        </p:txBody>
      </p:sp>
      <p:sp>
        <p:nvSpPr>
          <p:cNvPr id="26" name="Text 24"/>
          <p:cNvSpPr/>
          <p:nvPr/>
        </p:nvSpPr>
        <p:spPr>
          <a:xfrm>
            <a:off x="457200" y="2766864"/>
            <a:ext cx="8229600" cy="664369"/>
          </a:xfrm>
          <a:prstGeom prst="roundRect">
            <a:avLst>
              <a:gd name="adj" fmla="val 11470"/>
            </a:avLst>
          </a:prstGeom>
          <a:solidFill>
            <a:srgbClr val="FFFFFF"/>
          </a:solidFill>
          <a:ln/>
        </p:spPr>
        <p:txBody>
          <a:bodyPr wrap="square" rtlCol="0" anchor="ctr"/>
          <a:lstStyle/>
          <a:p>
            <a:pPr indent="0" marL="0">
              <a:buNone/>
            </a:pPr>
            <a:endParaRPr lang="en-US" dirty="0"/>
          </a:p>
        </p:txBody>
      </p:sp>
      <p:sp>
        <p:nvSpPr>
          <p:cNvPr id="27" name="Shape 25"/>
          <p:cNvSpPr/>
          <p:nvPr/>
        </p:nvSpPr>
        <p:spPr>
          <a:xfrm>
            <a:off x="457200" y="2770436"/>
            <a:ext cx="8229600" cy="0"/>
          </a:xfrm>
          <a:prstGeom prst="line">
            <a:avLst/>
          </a:prstGeom>
          <a:noFill/>
          <a:ln w="7144">
            <a:solidFill>
              <a:srgbClr val="D9E1EC"/>
            </a:solidFill>
            <a:prstDash val="solid"/>
          </a:ln>
        </p:spPr>
      </p:sp>
      <p:sp>
        <p:nvSpPr>
          <p:cNvPr id="28" name="Shape 26"/>
          <p:cNvSpPr/>
          <p:nvPr/>
        </p:nvSpPr>
        <p:spPr>
          <a:xfrm>
            <a:off x="8683228" y="2766864"/>
            <a:ext cx="0" cy="664369"/>
          </a:xfrm>
          <a:prstGeom prst="line">
            <a:avLst/>
          </a:prstGeom>
          <a:noFill/>
          <a:ln w="7144">
            <a:solidFill>
              <a:srgbClr val="D9E1EC"/>
            </a:solidFill>
            <a:prstDash val="solid"/>
          </a:ln>
        </p:spPr>
      </p:sp>
      <p:sp>
        <p:nvSpPr>
          <p:cNvPr id="29" name="Shape 27"/>
          <p:cNvSpPr/>
          <p:nvPr/>
        </p:nvSpPr>
        <p:spPr>
          <a:xfrm>
            <a:off x="457200" y="3427661"/>
            <a:ext cx="8229600" cy="0"/>
          </a:xfrm>
          <a:prstGeom prst="line">
            <a:avLst/>
          </a:prstGeom>
          <a:noFill/>
          <a:ln w="7144">
            <a:solidFill>
              <a:srgbClr val="D9E1EC"/>
            </a:solidFill>
            <a:prstDash val="solid"/>
          </a:ln>
        </p:spPr>
      </p:sp>
      <p:sp>
        <p:nvSpPr>
          <p:cNvPr id="30" name="Shape 28"/>
          <p:cNvSpPr/>
          <p:nvPr/>
        </p:nvSpPr>
        <p:spPr>
          <a:xfrm>
            <a:off x="467916" y="2766864"/>
            <a:ext cx="0" cy="664369"/>
          </a:xfrm>
          <a:prstGeom prst="line">
            <a:avLst/>
          </a:prstGeom>
          <a:noFill/>
          <a:ln w="21431">
            <a:solidFill>
              <a:srgbClr val="14B8A6"/>
            </a:solidFill>
            <a:prstDash val="solid"/>
          </a:ln>
        </p:spPr>
      </p:sp>
      <p:sp>
        <p:nvSpPr>
          <p:cNvPr id="31" name="Text 29"/>
          <p:cNvSpPr/>
          <p:nvPr/>
        </p:nvSpPr>
        <p:spPr>
          <a:xfrm>
            <a:off x="607219" y="2999036"/>
            <a:ext cx="902970" cy="216027"/>
          </a:xfrm>
          <a:prstGeom prst="rect">
            <a:avLst/>
          </a:prstGeom>
          <a:noFill/>
          <a:ln/>
        </p:spPr>
        <p:txBody>
          <a:bodyPr wrap="none" lIns="0" tIns="0" rIns="0" bIns="0" rtlCol="0" anchor="t"/>
          <a:lstStyle/>
          <a:p>
            <a:pPr algn="l" indent="0" marL="0">
              <a:lnSpc>
                <a:spcPts val="1575"/>
              </a:lnSpc>
              <a:buNone/>
            </a:pPr>
            <a:r>
              <a:rPr lang="en-US" sz="1238" spc="-32" kern="0" dirty="0">
                <a:solidFill>
                  <a:srgbClr val="14B8A6"/>
                </a:solidFill>
                <a:latin typeface="Segoe UI Symbol" pitchFamily="34" charset="0"/>
                <a:ea typeface="Segoe UI Symbol" pitchFamily="34" charset="-122"/>
                <a:cs typeface="Segoe UI Symbol" pitchFamily="34" charset="-120"/>
              </a:rPr>
              <a:t>✓</a:t>
            </a:r>
            <a:pPr algn="l" indent="0" marL="0">
              <a:lnSpc>
                <a:spcPts val="1575"/>
              </a:lnSpc>
              <a:buNone/>
            </a:pPr>
            <a:r>
              <a:rPr lang="en-US" sz="1575" b="1" spc="-32" kern="0" dirty="0">
                <a:solidFill>
                  <a:srgbClr val="14B8A6"/>
                </a:solidFill>
                <a:latin typeface="Liberation Sans Narrow" pitchFamily="34" charset="0"/>
                <a:ea typeface="Liberation Sans Narrow" pitchFamily="34" charset="-122"/>
                <a:cs typeface="Liberation Sans Narrow" pitchFamily="34" charset="-120"/>
              </a:rPr>
              <a:t> 03</a:t>
            </a:r>
            <a:endParaRPr lang="en-US" sz="1575" dirty="0"/>
          </a:p>
        </p:txBody>
      </p:sp>
      <p:sp>
        <p:nvSpPr>
          <p:cNvPr id="32" name="Text 30"/>
          <p:cNvSpPr/>
          <p:nvPr/>
        </p:nvSpPr>
        <p:spPr>
          <a:xfrm>
            <a:off x="1307306" y="2888307"/>
            <a:ext cx="1839725" cy="125403"/>
          </a:xfrm>
          <a:prstGeom prst="rect">
            <a:avLst/>
          </a:prstGeom>
          <a:noFill/>
          <a:ln/>
        </p:spPr>
        <p:txBody>
          <a:bodyPr wrap="square" lIns="0" tIns="0" rIns="0" bIns="0" rtlCol="0" anchor="t"/>
          <a:lstStyle/>
          <a:p>
            <a:pPr algn="l" indent="0" marL="0">
              <a:lnSpc>
                <a:spcPts val="1181"/>
              </a:lnSpc>
              <a:buNone/>
            </a:pPr>
            <a:r>
              <a:rPr lang="en-US" sz="800" b="1" dirty="0">
                <a:solidFill>
                  <a:srgbClr val="0F1F3D"/>
                </a:solidFill>
                <a:latin typeface="Carlito" pitchFamily="34" charset="0"/>
                <a:ea typeface="Carlito" pitchFamily="34" charset="-122"/>
                <a:cs typeface="Carlito" pitchFamily="34" charset="-120"/>
              </a:rPr>
              <a:t>Imbalance is the bottleneck —</a:t>
            </a:r>
            <a:endParaRPr lang="en-US" sz="800" dirty="0"/>
          </a:p>
        </p:txBody>
      </p:sp>
      <p:sp>
        <p:nvSpPr>
          <p:cNvPr id="33" name="Text 31"/>
          <p:cNvSpPr/>
          <p:nvPr/>
        </p:nvSpPr>
        <p:spPr>
          <a:xfrm>
            <a:off x="1307306" y="2888307"/>
            <a:ext cx="6365528" cy="435769"/>
          </a:xfrm>
          <a:prstGeom prst="rect">
            <a:avLst/>
          </a:prstGeom>
          <a:noFill/>
          <a:ln/>
        </p:spPr>
        <p:txBody>
          <a:bodyPr wrap="square" lIns="0" tIns="0" rIns="0" bIns="0" rtlCol="0" anchor="t"/>
          <a:lstStyle/>
          <a:p>
            <a:pPr algn="l" indent="0" marL="0">
              <a:lnSpc>
                <a:spcPts val="1181"/>
              </a:lnSpc>
              <a:buNone/>
            </a:pPr>
            <a:r>
              <a:rPr lang="en-US" sz="800" dirty="0">
                <a:solidFill>
                  <a:srgbClr val="0F1F3D"/>
                </a:solidFill>
                <a:latin typeface="Carlito" pitchFamily="34" charset="0"/>
                <a:ea typeface="Carlito" pitchFamily="34" charset="-122"/>
                <a:cs typeface="Carlito" pitchFamily="34" charset="-120"/>
              </a:rPr>
              <a:t>DAiSEE class imbalance remains the critical challenge; per-class recall on rare high-intensity states (Frustration Medium/High = </a:t>
            </a:r>
            <a:pPr algn="l" indent="0" marL="0">
              <a:lnSpc>
                <a:spcPts val="1181"/>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0.000</a:t>
            </a:r>
            <a:pPr algn="l" indent="0" marL="0">
              <a:lnSpc>
                <a:spcPts val="1181"/>
              </a:lnSpc>
              <a:buNone/>
            </a:pPr>
            <a:r>
              <a:rPr lang="en-US" sz="800" dirty="0">
                <a:solidFill>
                  <a:srgbClr val="0F1F3D"/>
                </a:solidFill>
                <a:latin typeface="Carlito" pitchFamily="34" charset="0"/>
                <a:ea typeface="Carlito" pitchFamily="34" charset="-122"/>
                <a:cs typeface="Carlito" pitchFamily="34" charset="-120"/>
              </a:rPr>
              <a:t>) is where the model breaks. SMOTE + class weighting + Focal Loss is insufficient for the most extreme imbalance.</a:t>
            </a:r>
            <a:endParaRPr lang="en-US" sz="800" dirty="0"/>
          </a:p>
        </p:txBody>
      </p:sp>
      <p:sp>
        <p:nvSpPr>
          <p:cNvPr id="34" name="Text 32"/>
          <p:cNvSpPr/>
          <p:nvPr/>
        </p:nvSpPr>
        <p:spPr>
          <a:xfrm>
            <a:off x="7850780" y="2993035"/>
            <a:ext cx="723148" cy="212027"/>
          </a:xfrm>
          <a:prstGeom prst="roundRect">
            <a:avLst>
              <a:gd name="adj" fmla="val 4487860"/>
            </a:avLst>
          </a:prstGeom>
          <a:solidFill>
            <a:srgbClr val="14B8A6">
              <a:alpha val="12000"/>
            </a:srgbClr>
          </a:solidFill>
          <a:ln w="7144">
            <a:solidFill>
              <a:srgbClr val="14B8A6"/>
            </a:solidFill>
            <a:prstDash val="solid"/>
          </a:ln>
        </p:spPr>
        <p:txBody>
          <a:bodyPr wrap="square" rtlCol="0" anchor="ctr"/>
          <a:lstStyle/>
          <a:p>
            <a:pPr indent="0" marL="0">
              <a:buNone/>
            </a:pPr>
            <a:endParaRPr lang="en-US" dirty="0"/>
          </a:p>
        </p:txBody>
      </p:sp>
      <p:sp>
        <p:nvSpPr>
          <p:cNvPr id="35" name="Text 33"/>
          <p:cNvSpPr/>
          <p:nvPr/>
        </p:nvSpPr>
        <p:spPr>
          <a:xfrm>
            <a:off x="7873640" y="3004393"/>
            <a:ext cx="677428" cy="189309"/>
          </a:xfrm>
          <a:prstGeom prst="rect">
            <a:avLst/>
          </a:prstGeom>
          <a:noFill/>
          <a:ln/>
        </p:spPr>
        <p:txBody>
          <a:bodyPr wrap="none" lIns="0" tIns="0" rIns="0" bIns="0" rtlCol="0" anchor="ctr"/>
          <a:lstStyle/>
          <a:p>
            <a:pPr algn="ctr" indent="0" marL="0">
              <a:lnSpc>
                <a:spcPts val="928"/>
              </a:lnSpc>
              <a:buNone/>
            </a:pPr>
            <a:r>
              <a:rPr lang="en-US" sz="800" spc="37" kern="0" dirty="0">
                <a:solidFill>
                  <a:srgbClr val="0F766E"/>
                </a:solidFill>
                <a:latin typeface="Liberation Sans Narrow" pitchFamily="34" charset="0"/>
                <a:ea typeface="Liberation Sans Narrow" pitchFamily="34" charset="-122"/>
                <a:cs typeface="Liberation Sans Narrow" pitchFamily="34" charset="-120"/>
              </a:rPr>
              <a:t>→ Slide 21</a:t>
            </a:r>
            <a:endParaRPr lang="en-US" sz="800" dirty="0"/>
          </a:p>
        </p:txBody>
      </p:sp>
      <p:sp>
        <p:nvSpPr>
          <p:cNvPr id="36" name="Text 34"/>
          <p:cNvSpPr/>
          <p:nvPr/>
        </p:nvSpPr>
        <p:spPr>
          <a:xfrm>
            <a:off x="457200" y="3531245"/>
            <a:ext cx="8229600" cy="664369"/>
          </a:xfrm>
          <a:prstGeom prst="roundRect">
            <a:avLst>
              <a:gd name="adj" fmla="val 5735"/>
            </a:avLst>
          </a:prstGeom>
          <a:solidFill>
            <a:srgbClr val="FFFFFF"/>
          </a:solidFill>
          <a:ln/>
        </p:spPr>
        <p:txBody>
          <a:bodyPr wrap="square" rtlCol="0" anchor="ctr"/>
          <a:lstStyle/>
          <a:p>
            <a:pPr indent="0" marL="0">
              <a:buNone/>
            </a:pPr>
            <a:endParaRPr lang="en-US" dirty="0"/>
          </a:p>
        </p:txBody>
      </p:sp>
      <p:sp>
        <p:nvSpPr>
          <p:cNvPr id="37" name="Shape 35"/>
          <p:cNvSpPr/>
          <p:nvPr/>
        </p:nvSpPr>
        <p:spPr>
          <a:xfrm>
            <a:off x="457200" y="3534817"/>
            <a:ext cx="8229600" cy="0"/>
          </a:xfrm>
          <a:prstGeom prst="line">
            <a:avLst/>
          </a:prstGeom>
          <a:noFill/>
          <a:ln w="7144">
            <a:solidFill>
              <a:srgbClr val="D9E1EC"/>
            </a:solidFill>
            <a:prstDash val="solid"/>
          </a:ln>
        </p:spPr>
      </p:sp>
      <p:sp>
        <p:nvSpPr>
          <p:cNvPr id="38" name="Shape 36"/>
          <p:cNvSpPr/>
          <p:nvPr/>
        </p:nvSpPr>
        <p:spPr>
          <a:xfrm>
            <a:off x="8683228" y="3531245"/>
            <a:ext cx="0" cy="664369"/>
          </a:xfrm>
          <a:prstGeom prst="line">
            <a:avLst/>
          </a:prstGeom>
          <a:noFill/>
          <a:ln w="7144">
            <a:solidFill>
              <a:srgbClr val="D9E1EC"/>
            </a:solidFill>
            <a:prstDash val="solid"/>
          </a:ln>
        </p:spPr>
      </p:sp>
      <p:sp>
        <p:nvSpPr>
          <p:cNvPr id="39" name="Shape 37"/>
          <p:cNvSpPr/>
          <p:nvPr/>
        </p:nvSpPr>
        <p:spPr>
          <a:xfrm>
            <a:off x="457200" y="4192042"/>
            <a:ext cx="8229600" cy="0"/>
          </a:xfrm>
          <a:prstGeom prst="line">
            <a:avLst/>
          </a:prstGeom>
          <a:noFill/>
          <a:ln w="7144">
            <a:solidFill>
              <a:srgbClr val="D9E1EC"/>
            </a:solidFill>
            <a:prstDash val="solid"/>
          </a:ln>
        </p:spPr>
      </p:sp>
      <p:sp>
        <p:nvSpPr>
          <p:cNvPr id="40" name="Shape 38"/>
          <p:cNvSpPr/>
          <p:nvPr/>
        </p:nvSpPr>
        <p:spPr>
          <a:xfrm>
            <a:off x="467916" y="3531245"/>
            <a:ext cx="0" cy="664369"/>
          </a:xfrm>
          <a:prstGeom prst="line">
            <a:avLst/>
          </a:prstGeom>
          <a:noFill/>
          <a:ln w="21431">
            <a:solidFill>
              <a:srgbClr val="14B8A6"/>
            </a:solidFill>
            <a:prstDash val="solid"/>
          </a:ln>
        </p:spPr>
      </p:sp>
      <p:sp>
        <p:nvSpPr>
          <p:cNvPr id="41" name="Text 39"/>
          <p:cNvSpPr/>
          <p:nvPr/>
        </p:nvSpPr>
        <p:spPr>
          <a:xfrm>
            <a:off x="607219" y="3638401"/>
            <a:ext cx="8053578" cy="133302"/>
          </a:xfrm>
          <a:prstGeom prst="rect">
            <a:avLst/>
          </a:prstGeom>
          <a:noFill/>
          <a:ln/>
        </p:spPr>
        <p:txBody>
          <a:bodyPr wrap="square" lIns="0" tIns="0" rIns="0" bIns="0" rtlCol="0" anchor="t">
            <a:normAutofit/>
          </a:bodyPr>
          <a:lstStyle/>
          <a:p>
            <a:pPr algn="l" indent="0" marL="0">
              <a:lnSpc>
                <a:spcPts val="928"/>
              </a:lnSpc>
              <a:buNone/>
            </a:pPr>
            <a:r>
              <a:rPr lang="en-US" sz="800" b="1" spc="87" kern="0" dirty="0">
                <a:solidFill>
                  <a:srgbClr val="0F766E"/>
                </a:solidFill>
                <a:latin typeface="Carlito" pitchFamily="34" charset="0"/>
                <a:ea typeface="Carlito" pitchFamily="34" charset="-122"/>
                <a:cs typeface="Carlito" pitchFamily="34" charset="-120"/>
              </a:rPr>
              <a:t>ONE-SENTENCE THESIS SUMMARY</a:t>
            </a:r>
            <a:endParaRPr lang="en-US" sz="800" dirty="0"/>
          </a:p>
        </p:txBody>
      </p:sp>
      <p:sp>
        <p:nvSpPr>
          <p:cNvPr id="42" name="Text 40"/>
          <p:cNvSpPr/>
          <p:nvPr/>
        </p:nvSpPr>
        <p:spPr>
          <a:xfrm>
            <a:off x="607219" y="3799136"/>
            <a:ext cx="7943850" cy="289322"/>
          </a:xfrm>
          <a:prstGeom prst="rect">
            <a:avLst/>
          </a:prstGeom>
          <a:noFill/>
          <a:ln/>
        </p:spPr>
        <p:txBody>
          <a:bodyPr wrap="square" lIns="0" tIns="0" rIns="0" bIns="0" rtlCol="0" anchor="t"/>
          <a:lstStyle/>
          <a:p>
            <a:pPr algn="l" indent="0" marL="0">
              <a:lnSpc>
                <a:spcPts val="1139"/>
              </a:lnSpc>
              <a:buNone/>
            </a:pPr>
            <a:r>
              <a:rPr lang="en-US" sz="800" dirty="0">
                <a:solidFill>
                  <a:srgbClr val="0F1F3D"/>
                </a:solidFill>
                <a:latin typeface="Carlito" pitchFamily="34" charset="0"/>
                <a:ea typeface="Carlito" pitchFamily="34" charset="-122"/>
                <a:cs typeface="Carlito" pitchFamily="34" charset="-120"/>
              </a:rPr>
              <a:t>A lightweight XGBoost on hand-crafted MediaPipe facial features matches deep-learning baselines on the DAiSEE attention-classification task — and SHAP reveals each affective state has its own feature fingerprint.</a:t>
            </a:r>
            <a:endParaRPr lang="en-US" sz="800" dirty="0"/>
          </a:p>
        </p:txBody>
      </p:sp>
      <p:sp>
        <p:nvSpPr>
          <p:cNvPr id="43" name="Text 41"/>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THESIS DEFENSE</a:t>
            </a:r>
            <a:endParaRPr lang="en-US" sz="800" dirty="0"/>
          </a:p>
        </p:txBody>
      </p:sp>
      <p:sp>
        <p:nvSpPr>
          <p:cNvPr id="44" name="Text 42"/>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31 / 34</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square" lIns="0" tIns="0" rIns="0" bIns="0" rtlCol="0" anchor="t"/>
          <a:lstStyle/>
          <a:p>
            <a:pPr algn="l" indent="0" marL="0">
              <a:lnSpc>
                <a:spcPts val="928"/>
              </a:lnSpc>
              <a:buNone/>
            </a:pPr>
            <a:r>
              <a:rPr lang="en-US" sz="800" b="1" spc="136" kern="0" dirty="0">
                <a:solidFill>
                  <a:srgbClr val="14B8A6"/>
                </a:solidFill>
                <a:latin typeface="Carlito" pitchFamily="34" charset="0"/>
                <a:ea typeface="Carlito" pitchFamily="34" charset="-122"/>
                <a:cs typeface="Carlito" pitchFamily="34" charset="-120"/>
              </a:rPr>
              <a:t>FUTURE WORK · FIVE DIRECTIONS</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303413"/>
          </a:xfrm>
          <a:prstGeom prst="rect">
            <a:avLst/>
          </a:prstGeom>
          <a:noFill/>
          <a:ln/>
        </p:spPr>
        <p:txBody>
          <a:bodyPr wrap="non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Where This Work Goes Next</a:t>
            </a:r>
            <a:endParaRPr lang="en-US" sz="2025" dirty="0"/>
          </a:p>
        </p:txBody>
      </p:sp>
      <p:sp>
        <p:nvSpPr>
          <p:cNvPr id="5" name="Text 3"/>
          <p:cNvSpPr/>
          <p:nvPr/>
        </p:nvSpPr>
        <p:spPr>
          <a:xfrm>
            <a:off x="457200" y="1013073"/>
            <a:ext cx="6572250" cy="358759"/>
          </a:xfrm>
          <a:prstGeom prst="rect">
            <a:avLst/>
          </a:prstGeom>
          <a:noFill/>
          <a:ln/>
        </p:spPr>
        <p:txBody>
          <a:bodyPr wrap="square" lIns="0" tIns="0" rIns="0" bIns="0" rtlCol="0" anchor="t"/>
          <a:lstStyle/>
          <a:p>
            <a:pPr algn="l" indent="0" marL="0">
              <a:lnSpc>
                <a:spcPts val="1308"/>
              </a:lnSpc>
              <a:buNone/>
            </a:pPr>
            <a:r>
              <a:rPr lang="en-US" sz="844" dirty="0">
                <a:solidFill>
                  <a:srgbClr val="5B6B82"/>
                </a:solidFill>
                <a:latin typeface="Carlito" pitchFamily="34" charset="0"/>
                <a:ea typeface="Carlito" pitchFamily="34" charset="-122"/>
                <a:cs typeface="Carlito" pitchFamily="34" charset="-120"/>
              </a:rPr>
              <a:t>Five concrete directions, each tied to a specific limitation identified in this thesis — multimodal, deployment, dataset, temporal modeling, and personalization.</a:t>
            </a:r>
            <a:endParaRPr lang="en-US" sz="844" dirty="0"/>
          </a:p>
        </p:txBody>
      </p:sp>
      <p:sp>
        <p:nvSpPr>
          <p:cNvPr id="6" name="Text 4"/>
          <p:cNvSpPr/>
          <p:nvPr/>
        </p:nvSpPr>
        <p:spPr>
          <a:xfrm>
            <a:off x="460772" y="1434554"/>
            <a:ext cx="8222456" cy="563687"/>
          </a:xfrm>
          <a:prstGeom prst="roundRect">
            <a:avLst>
              <a:gd name="adj" fmla="val 13518"/>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7" name="Text 5"/>
          <p:cNvSpPr/>
          <p:nvPr/>
        </p:nvSpPr>
        <p:spPr>
          <a:xfrm>
            <a:off x="578644" y="1637816"/>
            <a:ext cx="632079" cy="169736"/>
          </a:xfrm>
          <a:prstGeom prst="rect">
            <a:avLst/>
          </a:prstGeom>
          <a:noFill/>
          <a:ln/>
        </p:spPr>
        <p:txBody>
          <a:bodyPr wrap="none" lIns="0" tIns="0" rIns="0" bIns="0" rtlCol="0" anchor="t"/>
          <a:lstStyle/>
          <a:p>
            <a:pPr algn="l" indent="0" marL="0">
              <a:lnSpc>
                <a:spcPts val="1238"/>
              </a:lnSpc>
              <a:buNone/>
            </a:pPr>
            <a:r>
              <a:rPr lang="en-US" sz="1238" b="1" spc="-25" kern="0" dirty="0">
                <a:solidFill>
                  <a:srgbClr val="14B8A6"/>
                </a:solidFill>
                <a:latin typeface="Liberation Sans Narrow" pitchFamily="34" charset="0"/>
                <a:ea typeface="Liberation Sans Narrow" pitchFamily="34" charset="-122"/>
                <a:cs typeface="Liberation Sans Narrow" pitchFamily="34" charset="-120"/>
              </a:rPr>
              <a:t>→ 01</a:t>
            </a:r>
            <a:endParaRPr lang="en-US" sz="1238" dirty="0"/>
          </a:p>
        </p:txBody>
      </p:sp>
      <p:sp>
        <p:nvSpPr>
          <p:cNvPr id="8" name="Text 6"/>
          <p:cNvSpPr/>
          <p:nvPr/>
        </p:nvSpPr>
        <p:spPr>
          <a:xfrm>
            <a:off x="1092994" y="1516707"/>
            <a:ext cx="6603403" cy="123480"/>
          </a:xfrm>
          <a:prstGeom prst="rect">
            <a:avLst/>
          </a:prstGeom>
          <a:noFill/>
          <a:ln/>
        </p:spPr>
        <p:txBody>
          <a:bodyPr wrap="none" lIns="0" tIns="0" rIns="0" bIns="0" rtlCol="0" anchor="t">
            <a:normAutofit/>
          </a:bodyPr>
          <a:lstStyle/>
          <a:p>
            <a:pPr algn="l" indent="0" marL="0">
              <a:lnSpc>
                <a:spcPts val="1020"/>
              </a:lnSpc>
              <a:buNone/>
            </a:pPr>
            <a:r>
              <a:rPr lang="en-US" sz="816" b="1" dirty="0">
                <a:solidFill>
                  <a:srgbClr val="0F1F3D"/>
                </a:solidFill>
                <a:latin typeface="Carlito" pitchFamily="34" charset="0"/>
                <a:ea typeface="Carlito" pitchFamily="34" charset="-122"/>
                <a:cs typeface="Carlito" pitchFamily="34" charset="-120"/>
              </a:rPr>
              <a:t>Multimodal fusion</a:t>
            </a:r>
            <a:endParaRPr lang="en-US" sz="816" dirty="0"/>
          </a:p>
        </p:txBody>
      </p:sp>
      <p:sp>
        <p:nvSpPr>
          <p:cNvPr id="9" name="Text 7"/>
          <p:cNvSpPr/>
          <p:nvPr/>
        </p:nvSpPr>
        <p:spPr>
          <a:xfrm>
            <a:off x="1092994" y="1667619"/>
            <a:ext cx="6288956" cy="248469"/>
          </a:xfrm>
          <a:prstGeom prst="rect">
            <a:avLst/>
          </a:prstGeom>
          <a:noFill/>
          <a:ln/>
        </p:spPr>
        <p:txBody>
          <a:bodyPr wrap="square" lIns="0" tIns="0" rIns="0" bIns="0" rtlCol="0" anchor="t"/>
          <a:lstStyle/>
          <a:p>
            <a:pPr algn="l" indent="0" marL="0">
              <a:lnSpc>
                <a:spcPts val="979"/>
              </a:lnSpc>
              <a:buNone/>
            </a:pPr>
            <a:r>
              <a:rPr lang="en-US" sz="800" dirty="0">
                <a:solidFill>
                  <a:srgbClr val="5B6B82"/>
                </a:solidFill>
                <a:latin typeface="Carlito" pitchFamily="34" charset="0"/>
                <a:ea typeface="Carlito" pitchFamily="34" charset="-122"/>
                <a:cs typeface="Carlito" pitchFamily="34" charset="-120"/>
              </a:rPr>
              <a:t>Combine facial features with interaction logs (mouse, keystroke), audio prosody, and physiological signals. The XGBoost framework natively supports heterogeneous feature concatenation.</a:t>
            </a:r>
            <a:endParaRPr lang="en-US" sz="800" dirty="0"/>
          </a:p>
        </p:txBody>
      </p:sp>
      <p:sp>
        <p:nvSpPr>
          <p:cNvPr id="10" name="Text 8"/>
          <p:cNvSpPr/>
          <p:nvPr/>
        </p:nvSpPr>
        <p:spPr>
          <a:xfrm>
            <a:off x="7473389" y="1613385"/>
            <a:ext cx="1114827" cy="206026"/>
          </a:xfrm>
          <a:prstGeom prst="roundRect">
            <a:avLst>
              <a:gd name="adj" fmla="val 4618580"/>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11" name="Text 9"/>
          <p:cNvSpPr/>
          <p:nvPr/>
        </p:nvSpPr>
        <p:spPr>
          <a:xfrm>
            <a:off x="7496249" y="1624422"/>
            <a:ext cx="1069107" cy="183952"/>
          </a:xfrm>
          <a:prstGeom prst="rect">
            <a:avLst/>
          </a:prstGeom>
          <a:noFill/>
          <a:ln/>
        </p:spPr>
        <p:txBody>
          <a:bodyPr wrap="none" lIns="0" tIns="0" rIns="0" bIns="0" rtlCol="0" anchor="ctr"/>
          <a:lstStyle/>
          <a:p>
            <a:pPr algn="ctr" indent="0" marL="0">
              <a:lnSpc>
                <a:spcPts val="886"/>
              </a:lnSpc>
              <a:buNone/>
            </a:pPr>
            <a:r>
              <a:rPr lang="en-US" sz="800" spc="35" kern="0" dirty="0">
                <a:solidFill>
                  <a:srgbClr val="0F1F3D"/>
                </a:solidFill>
                <a:latin typeface="Carlito" pitchFamily="34" charset="0"/>
                <a:ea typeface="Carlito" pitchFamily="34" charset="-122"/>
                <a:cs typeface="Carlito" pitchFamily="34" charset="-120"/>
              </a:rPr>
              <a:t>Addresses Modality</a:t>
            </a:r>
            <a:endParaRPr lang="en-US" sz="800" dirty="0"/>
          </a:p>
        </p:txBody>
      </p:sp>
      <p:sp>
        <p:nvSpPr>
          <p:cNvPr id="12" name="Text 10"/>
          <p:cNvSpPr/>
          <p:nvPr/>
        </p:nvSpPr>
        <p:spPr>
          <a:xfrm>
            <a:off x="460772" y="2062535"/>
            <a:ext cx="8222456" cy="563687"/>
          </a:xfrm>
          <a:prstGeom prst="roundRect">
            <a:avLst>
              <a:gd name="adj" fmla="val 13518"/>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13" name="Text 11"/>
          <p:cNvSpPr/>
          <p:nvPr/>
        </p:nvSpPr>
        <p:spPr>
          <a:xfrm>
            <a:off x="578644" y="2265797"/>
            <a:ext cx="632079" cy="169736"/>
          </a:xfrm>
          <a:prstGeom prst="rect">
            <a:avLst/>
          </a:prstGeom>
          <a:noFill/>
          <a:ln/>
        </p:spPr>
        <p:txBody>
          <a:bodyPr wrap="none" lIns="0" tIns="0" rIns="0" bIns="0" rtlCol="0" anchor="t"/>
          <a:lstStyle/>
          <a:p>
            <a:pPr algn="l" indent="0" marL="0">
              <a:lnSpc>
                <a:spcPts val="1238"/>
              </a:lnSpc>
              <a:buNone/>
            </a:pPr>
            <a:r>
              <a:rPr lang="en-US" sz="1238" b="1" spc="-25" kern="0" dirty="0">
                <a:solidFill>
                  <a:srgbClr val="14B8A6"/>
                </a:solidFill>
                <a:latin typeface="Liberation Sans Narrow" pitchFamily="34" charset="0"/>
                <a:ea typeface="Liberation Sans Narrow" pitchFamily="34" charset="-122"/>
                <a:cs typeface="Liberation Sans Narrow" pitchFamily="34" charset="-120"/>
              </a:rPr>
              <a:t>→ 02</a:t>
            </a:r>
            <a:endParaRPr lang="en-US" sz="1238" dirty="0"/>
          </a:p>
        </p:txBody>
      </p:sp>
      <p:sp>
        <p:nvSpPr>
          <p:cNvPr id="14" name="Text 12"/>
          <p:cNvSpPr/>
          <p:nvPr/>
        </p:nvSpPr>
        <p:spPr>
          <a:xfrm>
            <a:off x="1092994" y="2144688"/>
            <a:ext cx="6626194" cy="123480"/>
          </a:xfrm>
          <a:prstGeom prst="rect">
            <a:avLst/>
          </a:prstGeom>
          <a:noFill/>
          <a:ln/>
        </p:spPr>
        <p:txBody>
          <a:bodyPr wrap="square" lIns="0" tIns="0" rIns="0" bIns="0" rtlCol="0" anchor="t">
            <a:normAutofit/>
          </a:bodyPr>
          <a:lstStyle/>
          <a:p>
            <a:pPr algn="l" indent="0" marL="0">
              <a:lnSpc>
                <a:spcPts val="1020"/>
              </a:lnSpc>
              <a:buNone/>
            </a:pPr>
            <a:r>
              <a:rPr lang="en-US" sz="816" b="1" dirty="0">
                <a:solidFill>
                  <a:srgbClr val="0F1F3D"/>
                </a:solidFill>
                <a:latin typeface="Carlito" pitchFamily="34" charset="0"/>
                <a:ea typeface="Carlito" pitchFamily="34" charset="-122"/>
                <a:cs typeface="Carlito" pitchFamily="34" charset="-120"/>
              </a:rPr>
              <a:t>Real-time deployment optimization</a:t>
            </a:r>
            <a:endParaRPr lang="en-US" sz="816" dirty="0"/>
          </a:p>
        </p:txBody>
      </p:sp>
      <p:sp>
        <p:nvSpPr>
          <p:cNvPr id="15" name="Text 13"/>
          <p:cNvSpPr/>
          <p:nvPr/>
        </p:nvSpPr>
        <p:spPr>
          <a:xfrm>
            <a:off x="1092994" y="2295599"/>
            <a:ext cx="6135365" cy="248469"/>
          </a:xfrm>
          <a:prstGeom prst="rect">
            <a:avLst/>
          </a:prstGeom>
          <a:noFill/>
          <a:ln/>
        </p:spPr>
        <p:txBody>
          <a:bodyPr wrap="square" lIns="0" tIns="0" rIns="0" bIns="0" rtlCol="0" anchor="t"/>
          <a:lstStyle/>
          <a:p>
            <a:pPr algn="l" indent="0" marL="0">
              <a:lnSpc>
                <a:spcPts val="979"/>
              </a:lnSpc>
              <a:buNone/>
            </a:pPr>
            <a:r>
              <a:rPr lang="en-US" sz="800" dirty="0">
                <a:solidFill>
                  <a:srgbClr val="5B6B82"/>
                </a:solidFill>
                <a:latin typeface="Carlito" pitchFamily="34" charset="0"/>
                <a:ea typeface="Carlito" pitchFamily="34" charset="-122"/>
                <a:cs typeface="Carlito" pitchFamily="34" charset="-120"/>
              </a:rPr>
              <a:t>Model distillation for lighter MediaPipe, streaming architectures that update state incrementally, browser-based deployment via WebAssembly or TensorFlow.js.</a:t>
            </a:r>
            <a:endParaRPr lang="en-US" sz="800" dirty="0"/>
          </a:p>
        </p:txBody>
      </p:sp>
      <p:sp>
        <p:nvSpPr>
          <p:cNvPr id="16" name="Text 14"/>
          <p:cNvSpPr/>
          <p:nvPr/>
        </p:nvSpPr>
        <p:spPr>
          <a:xfrm>
            <a:off x="7319799" y="2241365"/>
            <a:ext cx="1268417" cy="206026"/>
          </a:xfrm>
          <a:prstGeom prst="roundRect">
            <a:avLst>
              <a:gd name="adj" fmla="val 4618580"/>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17" name="Text 15"/>
          <p:cNvSpPr/>
          <p:nvPr/>
        </p:nvSpPr>
        <p:spPr>
          <a:xfrm>
            <a:off x="7342659" y="2252402"/>
            <a:ext cx="1222697" cy="183952"/>
          </a:xfrm>
          <a:prstGeom prst="rect">
            <a:avLst/>
          </a:prstGeom>
          <a:noFill/>
          <a:ln/>
        </p:spPr>
        <p:txBody>
          <a:bodyPr wrap="none" lIns="0" tIns="0" rIns="0" bIns="0" rtlCol="0" anchor="ctr"/>
          <a:lstStyle/>
          <a:p>
            <a:pPr algn="ctr" indent="0" marL="0">
              <a:lnSpc>
                <a:spcPts val="886"/>
              </a:lnSpc>
              <a:buNone/>
            </a:pPr>
            <a:r>
              <a:rPr lang="en-US" sz="800" spc="35" kern="0" dirty="0">
                <a:solidFill>
                  <a:srgbClr val="0F1F3D"/>
                </a:solidFill>
                <a:latin typeface="Carlito" pitchFamily="34" charset="0"/>
                <a:ea typeface="Carlito" pitchFamily="34" charset="-122"/>
                <a:cs typeface="Carlito" pitchFamily="34" charset="-120"/>
              </a:rPr>
              <a:t>Addresses Deployment</a:t>
            </a:r>
            <a:endParaRPr lang="en-US" sz="800" dirty="0"/>
          </a:p>
        </p:txBody>
      </p:sp>
      <p:sp>
        <p:nvSpPr>
          <p:cNvPr id="18" name="Text 16"/>
          <p:cNvSpPr/>
          <p:nvPr/>
        </p:nvSpPr>
        <p:spPr>
          <a:xfrm>
            <a:off x="460772" y="2690515"/>
            <a:ext cx="8222456" cy="563687"/>
          </a:xfrm>
          <a:prstGeom prst="roundRect">
            <a:avLst>
              <a:gd name="adj" fmla="val 13518"/>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19" name="Text 17"/>
          <p:cNvSpPr/>
          <p:nvPr/>
        </p:nvSpPr>
        <p:spPr>
          <a:xfrm>
            <a:off x="578644" y="2893777"/>
            <a:ext cx="632079" cy="169736"/>
          </a:xfrm>
          <a:prstGeom prst="rect">
            <a:avLst/>
          </a:prstGeom>
          <a:noFill/>
          <a:ln/>
        </p:spPr>
        <p:txBody>
          <a:bodyPr wrap="none" lIns="0" tIns="0" rIns="0" bIns="0" rtlCol="0" anchor="t"/>
          <a:lstStyle/>
          <a:p>
            <a:pPr algn="l" indent="0" marL="0">
              <a:lnSpc>
                <a:spcPts val="1238"/>
              </a:lnSpc>
              <a:buNone/>
            </a:pPr>
            <a:r>
              <a:rPr lang="en-US" sz="1238" b="1" spc="-25" kern="0" dirty="0">
                <a:solidFill>
                  <a:srgbClr val="14B8A6"/>
                </a:solidFill>
                <a:latin typeface="Liberation Sans Narrow" pitchFamily="34" charset="0"/>
                <a:ea typeface="Liberation Sans Narrow" pitchFamily="34" charset="-122"/>
                <a:cs typeface="Liberation Sans Narrow" pitchFamily="34" charset="-120"/>
              </a:rPr>
              <a:t>→ 03</a:t>
            </a:r>
            <a:endParaRPr lang="en-US" sz="1238" dirty="0"/>
          </a:p>
        </p:txBody>
      </p:sp>
      <p:sp>
        <p:nvSpPr>
          <p:cNvPr id="20" name="Text 18"/>
          <p:cNvSpPr/>
          <p:nvPr/>
        </p:nvSpPr>
        <p:spPr>
          <a:xfrm>
            <a:off x="1092994" y="2772668"/>
            <a:ext cx="6992186" cy="123480"/>
          </a:xfrm>
          <a:prstGeom prst="rect">
            <a:avLst/>
          </a:prstGeom>
          <a:noFill/>
          <a:ln/>
        </p:spPr>
        <p:txBody>
          <a:bodyPr wrap="square" lIns="0" tIns="0" rIns="0" bIns="0" rtlCol="0" anchor="t">
            <a:normAutofit/>
          </a:bodyPr>
          <a:lstStyle/>
          <a:p>
            <a:pPr algn="l" indent="0" marL="0">
              <a:lnSpc>
                <a:spcPts val="1020"/>
              </a:lnSpc>
              <a:buNone/>
            </a:pPr>
            <a:r>
              <a:rPr lang="en-US" sz="816" b="1" dirty="0">
                <a:solidFill>
                  <a:srgbClr val="0F1F3D"/>
                </a:solidFill>
                <a:latin typeface="Carlito" pitchFamily="34" charset="0"/>
                <a:ea typeface="Carlito" pitchFamily="34" charset="-122"/>
                <a:cs typeface="Carlito" pitchFamily="34" charset="-120"/>
              </a:rPr>
              <a:t>Cross-dataset evaluation</a:t>
            </a:r>
            <a:endParaRPr lang="en-US" sz="816" dirty="0"/>
          </a:p>
        </p:txBody>
      </p:sp>
      <p:sp>
        <p:nvSpPr>
          <p:cNvPr id="21" name="Text 19"/>
          <p:cNvSpPr/>
          <p:nvPr/>
        </p:nvSpPr>
        <p:spPr>
          <a:xfrm>
            <a:off x="1092994" y="2923580"/>
            <a:ext cx="6474247" cy="248469"/>
          </a:xfrm>
          <a:prstGeom prst="rect">
            <a:avLst/>
          </a:prstGeom>
          <a:noFill/>
          <a:ln/>
        </p:spPr>
        <p:txBody>
          <a:bodyPr wrap="square" lIns="0" tIns="0" rIns="0" bIns="0" rtlCol="0" anchor="t"/>
          <a:lstStyle/>
          <a:p>
            <a:pPr algn="l" indent="0" marL="0">
              <a:lnSpc>
                <a:spcPts val="979"/>
              </a:lnSpc>
              <a:buNone/>
            </a:pPr>
            <a:r>
              <a:rPr lang="en-US" sz="800" dirty="0">
                <a:solidFill>
                  <a:srgbClr val="5B6B82"/>
                </a:solidFill>
                <a:latin typeface="Carlito" pitchFamily="34" charset="0"/>
                <a:ea typeface="Carlito" pitchFamily="34" charset="-122"/>
                <a:cs typeface="Carlito" pitchFamily="34" charset="-120"/>
              </a:rPr>
              <a:t>Validate on EngageWild, EMI-Cap, and other affective datasets. Collect a new demographically balanced engagement dataset covering K-12, adult learners, and varied cultural contexts.</a:t>
            </a:r>
            <a:endParaRPr lang="en-US" sz="800" dirty="0"/>
          </a:p>
        </p:txBody>
      </p:sp>
      <p:sp>
        <p:nvSpPr>
          <p:cNvPr id="22" name="Text 20"/>
          <p:cNvSpPr/>
          <p:nvPr/>
        </p:nvSpPr>
        <p:spPr>
          <a:xfrm>
            <a:off x="7658680" y="2869345"/>
            <a:ext cx="929536" cy="206026"/>
          </a:xfrm>
          <a:prstGeom prst="roundRect">
            <a:avLst>
              <a:gd name="adj" fmla="val 4618580"/>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23" name="Text 21"/>
          <p:cNvSpPr/>
          <p:nvPr/>
        </p:nvSpPr>
        <p:spPr>
          <a:xfrm>
            <a:off x="7681540" y="2880382"/>
            <a:ext cx="883816" cy="183952"/>
          </a:xfrm>
          <a:prstGeom prst="rect">
            <a:avLst/>
          </a:prstGeom>
          <a:noFill/>
          <a:ln/>
        </p:spPr>
        <p:txBody>
          <a:bodyPr wrap="none" lIns="0" tIns="0" rIns="0" bIns="0" rtlCol="0" anchor="ctr"/>
          <a:lstStyle/>
          <a:p>
            <a:pPr algn="ctr" indent="0" marL="0">
              <a:lnSpc>
                <a:spcPts val="886"/>
              </a:lnSpc>
              <a:buNone/>
            </a:pPr>
            <a:r>
              <a:rPr lang="en-US" sz="800" spc="35" kern="0" dirty="0">
                <a:solidFill>
                  <a:srgbClr val="0F1F3D"/>
                </a:solidFill>
                <a:latin typeface="Carlito" pitchFamily="34" charset="0"/>
                <a:ea typeface="Carlito" pitchFamily="34" charset="-122"/>
                <a:cs typeface="Carlito" pitchFamily="34" charset="-120"/>
              </a:rPr>
              <a:t>Addresses Data</a:t>
            </a:r>
            <a:endParaRPr lang="en-US" sz="800" dirty="0"/>
          </a:p>
        </p:txBody>
      </p:sp>
      <p:sp>
        <p:nvSpPr>
          <p:cNvPr id="24" name="Text 22"/>
          <p:cNvSpPr/>
          <p:nvPr/>
        </p:nvSpPr>
        <p:spPr>
          <a:xfrm>
            <a:off x="460772" y="3318495"/>
            <a:ext cx="8222456" cy="563687"/>
          </a:xfrm>
          <a:prstGeom prst="roundRect">
            <a:avLst>
              <a:gd name="adj" fmla="val 13518"/>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25" name="Text 23"/>
          <p:cNvSpPr/>
          <p:nvPr/>
        </p:nvSpPr>
        <p:spPr>
          <a:xfrm>
            <a:off x="578644" y="3521757"/>
            <a:ext cx="632079" cy="169736"/>
          </a:xfrm>
          <a:prstGeom prst="rect">
            <a:avLst/>
          </a:prstGeom>
          <a:noFill/>
          <a:ln/>
        </p:spPr>
        <p:txBody>
          <a:bodyPr wrap="none" lIns="0" tIns="0" rIns="0" bIns="0" rtlCol="0" anchor="t"/>
          <a:lstStyle/>
          <a:p>
            <a:pPr algn="l" indent="0" marL="0">
              <a:lnSpc>
                <a:spcPts val="1238"/>
              </a:lnSpc>
              <a:buNone/>
            </a:pPr>
            <a:r>
              <a:rPr lang="en-US" sz="1238" b="1" spc="-25" kern="0" dirty="0">
                <a:solidFill>
                  <a:srgbClr val="14B8A6"/>
                </a:solidFill>
                <a:latin typeface="Liberation Sans Narrow" pitchFamily="34" charset="0"/>
                <a:ea typeface="Liberation Sans Narrow" pitchFamily="34" charset="-122"/>
                <a:cs typeface="Liberation Sans Narrow" pitchFamily="34" charset="-120"/>
              </a:rPr>
              <a:t>→ 04</a:t>
            </a:r>
            <a:endParaRPr lang="en-US" sz="1238" dirty="0"/>
          </a:p>
        </p:txBody>
      </p:sp>
      <p:sp>
        <p:nvSpPr>
          <p:cNvPr id="26" name="Text 24"/>
          <p:cNvSpPr/>
          <p:nvPr/>
        </p:nvSpPr>
        <p:spPr>
          <a:xfrm>
            <a:off x="1092994" y="3400648"/>
            <a:ext cx="6768203" cy="123480"/>
          </a:xfrm>
          <a:prstGeom prst="rect">
            <a:avLst/>
          </a:prstGeom>
          <a:noFill/>
          <a:ln/>
        </p:spPr>
        <p:txBody>
          <a:bodyPr wrap="square" lIns="0" tIns="0" rIns="0" bIns="0" rtlCol="0" anchor="t">
            <a:normAutofit/>
          </a:bodyPr>
          <a:lstStyle/>
          <a:p>
            <a:pPr algn="l" indent="0" marL="0">
              <a:lnSpc>
                <a:spcPts val="1020"/>
              </a:lnSpc>
              <a:buNone/>
            </a:pPr>
            <a:r>
              <a:rPr lang="en-US" sz="816" b="1" dirty="0">
                <a:solidFill>
                  <a:srgbClr val="0F1F3D"/>
                </a:solidFill>
                <a:latin typeface="Carlito" pitchFamily="34" charset="0"/>
                <a:ea typeface="Carlito" pitchFamily="34" charset="-122"/>
                <a:cs typeface="Carlito" pitchFamily="34" charset="-120"/>
              </a:rPr>
              <a:t>Temporal modeling enhancements</a:t>
            </a:r>
            <a:endParaRPr lang="en-US" sz="816" dirty="0"/>
          </a:p>
        </p:txBody>
      </p:sp>
      <p:sp>
        <p:nvSpPr>
          <p:cNvPr id="27" name="Text 25"/>
          <p:cNvSpPr/>
          <p:nvPr/>
        </p:nvSpPr>
        <p:spPr>
          <a:xfrm>
            <a:off x="1092994" y="3551560"/>
            <a:ext cx="6266855" cy="248469"/>
          </a:xfrm>
          <a:prstGeom prst="rect">
            <a:avLst/>
          </a:prstGeom>
          <a:noFill/>
          <a:ln/>
        </p:spPr>
        <p:txBody>
          <a:bodyPr wrap="square" lIns="0" tIns="0" rIns="0" bIns="0" rtlCol="0" anchor="t"/>
          <a:lstStyle/>
          <a:p>
            <a:pPr algn="l" indent="0" marL="0">
              <a:lnSpc>
                <a:spcPts val="979"/>
              </a:lnSpc>
              <a:buNone/>
            </a:pPr>
            <a:r>
              <a:rPr lang="en-US" sz="800" dirty="0">
                <a:solidFill>
                  <a:srgbClr val="5B6B82"/>
                </a:solidFill>
                <a:latin typeface="Carlito" pitchFamily="34" charset="0"/>
                <a:ea typeface="Carlito" pitchFamily="34" charset="-122"/>
                <a:cs typeface="Carlito" pitchFamily="34" charset="-120"/>
              </a:rPr>
              <a:t>Change-point detection features, HMM-derived sequence features, attention-weighted aggregation — capture sequential patterns lost in statistical aggregation.</a:t>
            </a:r>
            <a:endParaRPr lang="en-US" sz="800" dirty="0"/>
          </a:p>
        </p:txBody>
      </p:sp>
      <p:sp>
        <p:nvSpPr>
          <p:cNvPr id="28" name="Text 26"/>
          <p:cNvSpPr/>
          <p:nvPr/>
        </p:nvSpPr>
        <p:spPr>
          <a:xfrm>
            <a:off x="7451288" y="3497326"/>
            <a:ext cx="1136928" cy="206026"/>
          </a:xfrm>
          <a:prstGeom prst="roundRect">
            <a:avLst>
              <a:gd name="adj" fmla="val 4618580"/>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29" name="Text 27"/>
          <p:cNvSpPr/>
          <p:nvPr/>
        </p:nvSpPr>
        <p:spPr>
          <a:xfrm>
            <a:off x="7474148" y="3508363"/>
            <a:ext cx="1091208" cy="183952"/>
          </a:xfrm>
          <a:prstGeom prst="rect">
            <a:avLst/>
          </a:prstGeom>
          <a:noFill/>
          <a:ln/>
        </p:spPr>
        <p:txBody>
          <a:bodyPr wrap="none" lIns="0" tIns="0" rIns="0" bIns="0" rtlCol="0" anchor="ctr"/>
          <a:lstStyle/>
          <a:p>
            <a:pPr algn="ctr" indent="0" marL="0">
              <a:lnSpc>
                <a:spcPts val="886"/>
              </a:lnSpc>
              <a:buNone/>
            </a:pPr>
            <a:r>
              <a:rPr lang="en-US" sz="800" spc="35" kern="0" dirty="0">
                <a:solidFill>
                  <a:srgbClr val="0F1F3D"/>
                </a:solidFill>
                <a:latin typeface="Carlito" pitchFamily="34" charset="0"/>
                <a:ea typeface="Carlito" pitchFamily="34" charset="-122"/>
                <a:cs typeface="Carlito" pitchFamily="34" charset="-120"/>
              </a:rPr>
              <a:t>Addresses Temporal</a:t>
            </a:r>
            <a:endParaRPr lang="en-US" sz="800" dirty="0"/>
          </a:p>
        </p:txBody>
      </p:sp>
      <p:sp>
        <p:nvSpPr>
          <p:cNvPr id="30" name="Text 28"/>
          <p:cNvSpPr/>
          <p:nvPr/>
        </p:nvSpPr>
        <p:spPr>
          <a:xfrm>
            <a:off x="460772" y="3946475"/>
            <a:ext cx="8222456" cy="563687"/>
          </a:xfrm>
          <a:prstGeom prst="roundRect">
            <a:avLst>
              <a:gd name="adj" fmla="val 13518"/>
            </a:avLst>
          </a:prstGeom>
          <a:solidFill>
            <a:srgbClr val="FFFFFF"/>
          </a:solidFill>
          <a:ln w="7144">
            <a:solidFill>
              <a:srgbClr val="D9E1EC"/>
            </a:solidFill>
            <a:prstDash val="solid"/>
          </a:ln>
        </p:spPr>
        <p:txBody>
          <a:bodyPr wrap="square" rtlCol="0" anchor="ctr"/>
          <a:lstStyle/>
          <a:p>
            <a:pPr indent="0" marL="0">
              <a:buNone/>
            </a:pPr>
            <a:endParaRPr lang="en-US" dirty="0"/>
          </a:p>
        </p:txBody>
      </p:sp>
      <p:sp>
        <p:nvSpPr>
          <p:cNvPr id="31" name="Text 29"/>
          <p:cNvSpPr/>
          <p:nvPr/>
        </p:nvSpPr>
        <p:spPr>
          <a:xfrm>
            <a:off x="578644" y="4149737"/>
            <a:ext cx="632079" cy="169736"/>
          </a:xfrm>
          <a:prstGeom prst="rect">
            <a:avLst/>
          </a:prstGeom>
          <a:noFill/>
          <a:ln/>
        </p:spPr>
        <p:txBody>
          <a:bodyPr wrap="none" lIns="0" tIns="0" rIns="0" bIns="0" rtlCol="0" anchor="t"/>
          <a:lstStyle/>
          <a:p>
            <a:pPr algn="l" indent="0" marL="0">
              <a:lnSpc>
                <a:spcPts val="1238"/>
              </a:lnSpc>
              <a:buNone/>
            </a:pPr>
            <a:r>
              <a:rPr lang="en-US" sz="1238" b="1" spc="-25" kern="0" dirty="0">
                <a:solidFill>
                  <a:srgbClr val="14B8A6"/>
                </a:solidFill>
                <a:latin typeface="Liberation Sans Narrow" pitchFamily="34" charset="0"/>
                <a:ea typeface="Liberation Sans Narrow" pitchFamily="34" charset="-122"/>
                <a:cs typeface="Liberation Sans Narrow" pitchFamily="34" charset="-120"/>
              </a:rPr>
              <a:t>→ 05</a:t>
            </a:r>
            <a:endParaRPr lang="en-US" sz="1238" dirty="0"/>
          </a:p>
        </p:txBody>
      </p:sp>
      <p:sp>
        <p:nvSpPr>
          <p:cNvPr id="32" name="Text 30"/>
          <p:cNvSpPr/>
          <p:nvPr/>
        </p:nvSpPr>
        <p:spPr>
          <a:xfrm>
            <a:off x="1092994" y="4028629"/>
            <a:ext cx="6446332" cy="123480"/>
          </a:xfrm>
          <a:prstGeom prst="rect">
            <a:avLst/>
          </a:prstGeom>
          <a:noFill/>
          <a:ln/>
        </p:spPr>
        <p:txBody>
          <a:bodyPr wrap="square" lIns="0" tIns="0" rIns="0" bIns="0" rtlCol="0" anchor="t">
            <a:normAutofit/>
          </a:bodyPr>
          <a:lstStyle/>
          <a:p>
            <a:pPr algn="l" indent="0" marL="0">
              <a:lnSpc>
                <a:spcPts val="1020"/>
              </a:lnSpc>
              <a:buNone/>
            </a:pPr>
            <a:r>
              <a:rPr lang="en-US" sz="816" b="1" dirty="0">
                <a:solidFill>
                  <a:srgbClr val="0F1F3D"/>
                </a:solidFill>
                <a:latin typeface="Carlito" pitchFamily="34" charset="0"/>
                <a:ea typeface="Carlito" pitchFamily="34" charset="-122"/>
                <a:cs typeface="Carlito" pitchFamily="34" charset="-120"/>
              </a:rPr>
              <a:t>Personalized attention models</a:t>
            </a:r>
            <a:endParaRPr lang="en-US" sz="816" dirty="0"/>
          </a:p>
        </p:txBody>
      </p:sp>
      <p:sp>
        <p:nvSpPr>
          <p:cNvPr id="33" name="Text 31"/>
          <p:cNvSpPr/>
          <p:nvPr/>
        </p:nvSpPr>
        <p:spPr>
          <a:xfrm>
            <a:off x="1092994" y="4179540"/>
            <a:ext cx="5968826" cy="248469"/>
          </a:xfrm>
          <a:prstGeom prst="rect">
            <a:avLst/>
          </a:prstGeom>
          <a:noFill/>
          <a:ln/>
        </p:spPr>
        <p:txBody>
          <a:bodyPr wrap="square" lIns="0" tIns="0" rIns="0" bIns="0" rtlCol="0" anchor="t"/>
          <a:lstStyle/>
          <a:p>
            <a:pPr algn="l" indent="0" marL="0">
              <a:lnSpc>
                <a:spcPts val="979"/>
              </a:lnSpc>
              <a:buNone/>
            </a:pPr>
            <a:r>
              <a:rPr lang="en-US" sz="800" dirty="0">
                <a:solidFill>
                  <a:srgbClr val="5B6B82"/>
                </a:solidFill>
                <a:latin typeface="Carlito" pitchFamily="34" charset="0"/>
                <a:ea typeface="Carlito" pitchFamily="34" charset="-122"/>
                <a:cs typeface="Carlito" pitchFamily="34" charset="-120"/>
              </a:rPr>
              <a:t>Few-shot personalization per learner (calibration samples), domain adaptation across e-learning platforms and recording conditions. Individual differences in facial expressivity matter.</a:t>
            </a:r>
            <a:endParaRPr lang="en-US" sz="800" dirty="0"/>
          </a:p>
        </p:txBody>
      </p:sp>
      <p:sp>
        <p:nvSpPr>
          <p:cNvPr id="34" name="Text 32"/>
          <p:cNvSpPr/>
          <p:nvPr/>
        </p:nvSpPr>
        <p:spPr>
          <a:xfrm>
            <a:off x="7179692" y="4139915"/>
            <a:ext cx="1382092" cy="176808"/>
          </a:xfrm>
          <a:prstGeom prst="roundRect">
            <a:avLst>
              <a:gd name="adj" fmla="val 5381812"/>
            </a:avLst>
          </a:prstGeom>
          <a:solidFill>
            <a:srgbClr val="EEF3F8"/>
          </a:solidFill>
          <a:ln w="7144">
            <a:solidFill>
              <a:srgbClr val="D9E1EC"/>
            </a:solidFill>
            <a:prstDash val="solid"/>
          </a:ln>
        </p:spPr>
        <p:txBody>
          <a:bodyPr wrap="square" rtlCol="0" anchor="ctr"/>
          <a:lstStyle/>
          <a:p>
            <a:pPr indent="0" marL="0">
              <a:buNone/>
            </a:pPr>
            <a:endParaRPr lang="en-US" dirty="0"/>
          </a:p>
        </p:txBody>
      </p:sp>
      <p:sp>
        <p:nvSpPr>
          <p:cNvPr id="35" name="Text 33"/>
          <p:cNvSpPr/>
          <p:nvPr/>
        </p:nvSpPr>
        <p:spPr>
          <a:xfrm>
            <a:off x="7176120" y="4136343"/>
            <a:ext cx="1389236" cy="269095"/>
          </a:xfrm>
          <a:prstGeom prst="rect">
            <a:avLst/>
          </a:prstGeom>
          <a:noFill/>
          <a:ln/>
        </p:spPr>
        <p:txBody>
          <a:bodyPr wrap="none" lIns="71438" tIns="28575" rIns="71438" bIns="28575" rtlCol="0" anchor="t"/>
          <a:lstStyle/>
          <a:p>
            <a:pPr algn="l" indent="0" marL="0">
              <a:lnSpc>
                <a:spcPts val="886"/>
              </a:lnSpc>
              <a:buNone/>
            </a:pPr>
            <a:r>
              <a:rPr lang="en-US" sz="600" spc="35" kern="0" dirty="0">
                <a:solidFill>
                  <a:srgbClr val="0F1F3D"/>
                </a:solidFill>
                <a:latin typeface="Carlito" pitchFamily="34" charset="0"/>
                <a:ea typeface="Carlito" pitchFamily="34" charset="-122"/>
                <a:cs typeface="Carlito" pitchFamily="34" charset="-120"/>
              </a:rPr>
              <a:t>Addresses Personalization</a:t>
            </a:r>
            <a:endParaRPr lang="en-US" sz="600" dirty="0"/>
          </a:p>
        </p:txBody>
      </p:sp>
      <p:sp>
        <p:nvSpPr>
          <p:cNvPr id="36" name="Text 34"/>
          <p:cNvSpPr/>
          <p:nvPr/>
        </p:nvSpPr>
        <p:spPr>
          <a:xfrm>
            <a:off x="457200" y="4599459"/>
            <a:ext cx="8229600" cy="291108"/>
          </a:xfrm>
          <a:prstGeom prst="roundRect">
            <a:avLst>
              <a:gd name="adj" fmla="val 19632"/>
            </a:avLst>
          </a:prstGeom>
          <a:solidFill>
            <a:srgbClr val="F6F8FB"/>
          </a:solidFill>
          <a:ln/>
        </p:spPr>
        <p:txBody>
          <a:bodyPr wrap="square" rtlCol="0" anchor="ctr"/>
          <a:lstStyle/>
          <a:p>
            <a:pPr indent="0" marL="0">
              <a:buNone/>
            </a:pPr>
            <a:endParaRPr lang="en-US" dirty="0"/>
          </a:p>
        </p:txBody>
      </p:sp>
      <p:sp>
        <p:nvSpPr>
          <p:cNvPr id="37" name="Shape 35"/>
          <p:cNvSpPr/>
          <p:nvPr/>
        </p:nvSpPr>
        <p:spPr>
          <a:xfrm>
            <a:off x="457200" y="4603031"/>
            <a:ext cx="8229600" cy="0"/>
          </a:xfrm>
          <a:prstGeom prst="line">
            <a:avLst/>
          </a:prstGeom>
          <a:noFill/>
          <a:ln w="7144">
            <a:solidFill>
              <a:srgbClr val="D9E1EC"/>
            </a:solidFill>
            <a:prstDash val="solid"/>
          </a:ln>
        </p:spPr>
      </p:sp>
      <p:sp>
        <p:nvSpPr>
          <p:cNvPr id="38" name="Shape 36"/>
          <p:cNvSpPr/>
          <p:nvPr/>
        </p:nvSpPr>
        <p:spPr>
          <a:xfrm>
            <a:off x="8683228" y="4599459"/>
            <a:ext cx="0" cy="291108"/>
          </a:xfrm>
          <a:prstGeom prst="line">
            <a:avLst/>
          </a:prstGeom>
          <a:noFill/>
          <a:ln w="7144">
            <a:solidFill>
              <a:srgbClr val="D9E1EC"/>
            </a:solidFill>
            <a:prstDash val="solid"/>
          </a:ln>
        </p:spPr>
      </p:sp>
      <p:sp>
        <p:nvSpPr>
          <p:cNvPr id="39" name="Shape 37"/>
          <p:cNvSpPr/>
          <p:nvPr/>
        </p:nvSpPr>
        <p:spPr>
          <a:xfrm>
            <a:off x="457200" y="4886995"/>
            <a:ext cx="8229600" cy="0"/>
          </a:xfrm>
          <a:prstGeom prst="line">
            <a:avLst/>
          </a:prstGeom>
          <a:noFill/>
          <a:ln w="7144">
            <a:solidFill>
              <a:srgbClr val="D9E1EC"/>
            </a:solidFill>
            <a:prstDash val="solid"/>
          </a:ln>
        </p:spPr>
      </p:sp>
      <p:sp>
        <p:nvSpPr>
          <p:cNvPr id="40" name="Shape 38"/>
          <p:cNvSpPr/>
          <p:nvPr/>
        </p:nvSpPr>
        <p:spPr>
          <a:xfrm>
            <a:off x="467916" y="4599459"/>
            <a:ext cx="0" cy="291108"/>
          </a:xfrm>
          <a:prstGeom prst="line">
            <a:avLst/>
          </a:prstGeom>
          <a:noFill/>
          <a:ln w="21431">
            <a:solidFill>
              <a:srgbClr val="14B8A6"/>
            </a:solidFill>
            <a:prstDash val="solid"/>
          </a:ln>
        </p:spPr>
      </p:sp>
      <p:sp>
        <p:nvSpPr>
          <p:cNvPr id="41" name="Text 39"/>
          <p:cNvSpPr/>
          <p:nvPr/>
        </p:nvSpPr>
        <p:spPr>
          <a:xfrm>
            <a:off x="592931" y="4680719"/>
            <a:ext cx="128588" cy="128588"/>
          </a:xfrm>
          <a:prstGeom prst="rect">
            <a:avLst/>
          </a:prstGeom>
          <a:noFill/>
          <a:ln/>
        </p:spPr>
        <p:txBody>
          <a:bodyPr wrap="none" lIns="0" tIns="0" rIns="0" bIns="0" rtlCol="0" anchor="ctr"/>
          <a:lstStyle/>
          <a:p>
            <a:pPr algn="ctr" indent="0" marL="0">
              <a:buNone/>
            </a:pPr>
            <a:r>
              <a:rPr lang="en-US" sz="1266" dirty="0">
                <a:solidFill>
                  <a:srgbClr val="0F766E"/>
                </a:solidFill>
                <a:latin typeface="Segoe UI Symbol" pitchFamily="34" charset="0"/>
                <a:ea typeface="Segoe UI Symbol" pitchFamily="34" charset="-122"/>
                <a:cs typeface="Segoe UI Symbol" pitchFamily="34" charset="-120"/>
              </a:rPr>
              <a:t>◯</a:t>
            </a:r>
            <a:endParaRPr lang="en-US" sz="1266" dirty="0"/>
          </a:p>
        </p:txBody>
      </p:sp>
      <p:sp>
        <p:nvSpPr>
          <p:cNvPr id="42" name="Text 40"/>
          <p:cNvSpPr/>
          <p:nvPr/>
        </p:nvSpPr>
        <p:spPr>
          <a:xfrm>
            <a:off x="792956" y="4678040"/>
            <a:ext cx="7772400" cy="133945"/>
          </a:xfrm>
          <a:prstGeom prst="rect">
            <a:avLst/>
          </a:prstGeom>
          <a:noFill/>
          <a:ln/>
        </p:spPr>
        <p:txBody>
          <a:bodyPr wrap="square" lIns="0" tIns="0" rIns="0" bIns="0" rtlCol="0" anchor="t"/>
          <a:lstStyle/>
          <a:p>
            <a:pPr algn="l" indent="0" marL="0">
              <a:lnSpc>
                <a:spcPts val="1055"/>
              </a:lnSpc>
              <a:buNone/>
            </a:pPr>
            <a:r>
              <a:rPr lang="en-US" sz="800" b="1" spc="62" kern="0" dirty="0">
                <a:solidFill>
                  <a:srgbClr val="0F766E"/>
                </a:solidFill>
                <a:latin typeface="Courier New" pitchFamily="34" charset="0"/>
                <a:ea typeface="Courier New" pitchFamily="34" charset="-122"/>
                <a:cs typeface="Courier New" pitchFamily="34" charset="-120"/>
              </a:rPr>
              <a:t>SDG</a:t>
            </a:r>
            <a:pPr algn="l" indent="0" marL="0">
              <a:lnSpc>
                <a:spcPts val="1055"/>
              </a:lnSpc>
              <a:buNone/>
            </a:pPr>
            <a:r>
              <a:rPr lang="en-US" sz="800" dirty="0">
                <a:solidFill>
                  <a:srgbClr val="0F1F3D"/>
                </a:solidFill>
                <a:latin typeface="Carlito" pitchFamily="34" charset="0"/>
                <a:ea typeface="Carlito" pitchFamily="34" charset="-122"/>
                <a:cs typeface="Carlito" pitchFamily="34" charset="-120"/>
              </a:rPr>
              <a:t>Aligned with UN SDG 4 (Quality Education), SDG 9 (Industry, Innovation and Infrastructure), and SDG 10 (Reduced Inequalities).</a:t>
            </a:r>
            <a:endParaRPr lang="en-US" sz="800" dirty="0"/>
          </a:p>
        </p:txBody>
      </p:sp>
      <p:sp>
        <p:nvSpPr>
          <p:cNvPr id="43" name="Text 41"/>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THESIS DEFENSE</a:t>
            </a:r>
            <a:endParaRPr lang="en-US" sz="800" dirty="0"/>
          </a:p>
        </p:txBody>
      </p:sp>
      <p:sp>
        <p:nvSpPr>
          <p:cNvPr id="44" name="Text 42"/>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32 / 34</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164592"/>
          </a:xfrm>
          <a:prstGeom prst="rect">
            <a:avLst/>
          </a:prstGeom>
          <a:noFill/>
          <a:ln/>
        </p:spPr>
        <p:txBody>
          <a:bodyPr wrap="none" lIns="0" tIns="0" rIns="0" bIns="0" rtlCol="0" anchor="t"/>
          <a:lstStyle/>
          <a:p>
            <a:pPr algn="l" indent="0" marL="0">
              <a:lnSpc>
                <a:spcPts val="928"/>
              </a:lnSpc>
              <a:buNone/>
            </a:pPr>
            <a:r>
              <a:rPr lang="en-US" sz="800" b="1" spc="136" kern="0" dirty="0">
                <a:solidFill>
                  <a:srgbClr val="14B8A6"/>
                </a:solidFill>
                <a:latin typeface="Carlito" pitchFamily="34" charset="0"/>
                <a:ea typeface="Carlito" pitchFamily="34" charset="-122"/>
                <a:cs typeface="Carlito" pitchFamily="34" charset="-120"/>
              </a:rPr>
              <a:t>REFERENCES</a:t>
            </a:r>
            <a:endParaRPr lang="en-US" sz="800" dirty="0"/>
          </a:p>
        </p:txBody>
      </p:sp>
      <p:sp>
        <p:nvSpPr>
          <p:cNvPr id="3" name="Text 1"/>
          <p:cNvSpPr/>
          <p:nvPr/>
        </p:nvSpPr>
        <p:spPr>
          <a:xfrm>
            <a:off x="457200" y="575072"/>
            <a:ext cx="257175" cy="21431"/>
          </a:xfrm>
          <a:prstGeom prst="rect">
            <a:avLst/>
          </a:prstGeom>
          <a:solidFill>
            <a:srgbClr val="14B8A6"/>
          </a:solidFill>
          <a:ln/>
        </p:spPr>
        <p:txBody>
          <a:bodyPr wrap="square" rtlCol="0" anchor="ctr"/>
          <a:lstStyle/>
          <a:p>
            <a:pPr indent="0" marL="0">
              <a:buNone/>
            </a:pPr>
            <a:endParaRPr lang="en-US" dirty="0"/>
          </a:p>
        </p:txBody>
      </p:sp>
      <p:sp>
        <p:nvSpPr>
          <p:cNvPr id="4" name="Text 2"/>
          <p:cNvSpPr/>
          <p:nvPr/>
        </p:nvSpPr>
        <p:spPr>
          <a:xfrm>
            <a:off x="457200" y="682228"/>
            <a:ext cx="8636000" cy="303413"/>
          </a:xfrm>
          <a:prstGeom prst="rect">
            <a:avLst/>
          </a:prstGeom>
          <a:noFill/>
          <a:ln/>
        </p:spPr>
        <p:txBody>
          <a:bodyPr wrap="none" lIns="0" tIns="0" rIns="0" bIns="0" rtlCol="0" anchor="t">
            <a:normAutofit/>
          </a:bodyPr>
          <a:lstStyle/>
          <a:p>
            <a:pPr algn="l" indent="0" marL="0">
              <a:lnSpc>
                <a:spcPts val="2268"/>
              </a:lnSpc>
              <a:buNone/>
            </a:pPr>
            <a:r>
              <a:rPr lang="en-US" sz="2025" b="1" spc="-30" kern="0" dirty="0">
                <a:solidFill>
                  <a:srgbClr val="0F1F3D"/>
                </a:solidFill>
                <a:latin typeface="Carlito" pitchFamily="34" charset="0"/>
                <a:ea typeface="Carlito" pitchFamily="34" charset="-122"/>
                <a:cs typeface="Carlito" pitchFamily="34" charset="-120"/>
              </a:rPr>
              <a:t>Selected References</a:t>
            </a:r>
            <a:endParaRPr lang="en-US" sz="2025" dirty="0"/>
          </a:p>
        </p:txBody>
      </p:sp>
      <p:sp>
        <p:nvSpPr>
          <p:cNvPr id="5" name="Text 3"/>
          <p:cNvSpPr/>
          <p:nvPr/>
        </p:nvSpPr>
        <p:spPr>
          <a:xfrm>
            <a:off x="457200" y="1013073"/>
            <a:ext cx="6572250" cy="179380"/>
          </a:xfrm>
          <a:prstGeom prst="rect">
            <a:avLst/>
          </a:prstGeom>
          <a:noFill/>
          <a:ln/>
        </p:spPr>
        <p:txBody>
          <a:bodyPr wrap="square" lIns="0" tIns="0" rIns="0" bIns="0" rtlCol="0" anchor="t"/>
          <a:lstStyle/>
          <a:p>
            <a:pPr algn="l" indent="0" marL="0">
              <a:lnSpc>
                <a:spcPts val="1308"/>
              </a:lnSpc>
              <a:buNone/>
            </a:pPr>
            <a:r>
              <a:rPr lang="en-US" sz="844" dirty="0">
                <a:solidFill>
                  <a:srgbClr val="5B6B82"/>
                </a:solidFill>
                <a:latin typeface="Carlito" pitchFamily="34" charset="0"/>
                <a:ea typeface="Carlito" pitchFamily="34" charset="-122"/>
                <a:cs typeface="Carlito" pitchFamily="34" charset="-120"/>
              </a:rPr>
              <a:t>Eight key works that anchor the thesis — full bibliography in the thesis document.</a:t>
            </a:r>
            <a:endParaRPr lang="en-US" sz="844" dirty="0"/>
          </a:p>
        </p:txBody>
      </p:sp>
      <p:sp>
        <p:nvSpPr>
          <p:cNvPr id="6" name="Shape 4"/>
          <p:cNvSpPr/>
          <p:nvPr/>
        </p:nvSpPr>
        <p:spPr>
          <a:xfrm>
            <a:off x="457200" y="1846325"/>
            <a:ext cx="4036219" cy="0"/>
          </a:xfrm>
          <a:prstGeom prst="line">
            <a:avLst/>
          </a:prstGeom>
          <a:noFill/>
          <a:ln w="7144">
            <a:solidFill>
              <a:srgbClr val="E8EDF4"/>
            </a:solidFill>
            <a:prstDash val="solid"/>
          </a:ln>
        </p:spPr>
      </p:sp>
      <p:sp>
        <p:nvSpPr>
          <p:cNvPr id="7" name="Text 5"/>
          <p:cNvSpPr/>
          <p:nvPr/>
        </p:nvSpPr>
        <p:spPr>
          <a:xfrm>
            <a:off x="542925" y="1343471"/>
            <a:ext cx="365760" cy="434987"/>
          </a:xfrm>
          <a:prstGeom prst="rect">
            <a:avLst/>
          </a:prstGeom>
          <a:noFill/>
          <a:ln/>
        </p:spPr>
        <p:txBody>
          <a:bodyPr wrap="none" lIns="0" tIns="0" rIns="0" bIns="0" rtlCol="0" anchor="t"/>
          <a:lstStyle/>
          <a:p>
            <a:pPr algn="l" indent="0" marL="0">
              <a:lnSpc>
                <a:spcPts val="1024"/>
              </a:lnSpc>
              <a:buNone/>
            </a:pPr>
            <a:r>
              <a:rPr lang="en-US" sz="800" b="1" dirty="0">
                <a:solidFill>
                  <a:srgbClr val="0F766E"/>
                </a:solidFill>
                <a:latin typeface="Liberation Sans Narrow" pitchFamily="34" charset="0"/>
                <a:ea typeface="Liberation Sans Narrow" pitchFamily="34" charset="-122"/>
                <a:cs typeface="Liberation Sans Narrow" pitchFamily="34" charset="-120"/>
              </a:rPr>
              <a:t>[1]</a:t>
            </a:r>
            <a:endParaRPr lang="en-US" sz="800" dirty="0"/>
          </a:p>
        </p:txBody>
      </p:sp>
      <p:sp>
        <p:nvSpPr>
          <p:cNvPr id="8" name="Text 6"/>
          <p:cNvSpPr/>
          <p:nvPr/>
        </p:nvSpPr>
        <p:spPr>
          <a:xfrm>
            <a:off x="842963" y="1343471"/>
            <a:ext cx="3564731" cy="434987"/>
          </a:xfrm>
          <a:prstGeom prst="rect">
            <a:avLst/>
          </a:prstGeom>
          <a:noFill/>
          <a:ln/>
        </p:spPr>
        <p:txBody>
          <a:bodyPr wrap="square" lIns="0" tIns="0" rIns="0" bIns="0" rtlCol="0" anchor="t"/>
          <a:lstStyle/>
          <a:p>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Arif, M.T.; Shafiullah, G.</a:t>
            </a:r>
            <a:pPr algn="l" indent="0" marL="0">
              <a:lnSpc>
                <a:spcPts val="1142"/>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 (2022). </a:t>
            </a:r>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Exploring Teaching and Learning Experience during COVID-19 Pandemic in Engineering Education. </a:t>
            </a:r>
            <a:pPr algn="l" indent="0" marL="0">
              <a:lnSpc>
                <a:spcPts val="1142"/>
              </a:lnSpc>
              <a:buNone/>
            </a:pPr>
            <a:r>
              <a:rPr lang="en-US" sz="800" i="1" dirty="0">
                <a:solidFill>
                  <a:srgbClr val="5B6B82"/>
                </a:solidFill>
                <a:latin typeface="Liberation Sans Narrow" pitchFamily="34" charset="0"/>
                <a:ea typeface="Liberation Sans Narrow" pitchFamily="34" charset="-122"/>
                <a:cs typeface="Liberation Sans Narrow" pitchFamily="34" charset="-120"/>
              </a:rPr>
              <a:t>Sustainability, 14, 7501.</a:t>
            </a:r>
            <a:endParaRPr lang="en-US" sz="800" dirty="0"/>
          </a:p>
        </p:txBody>
      </p:sp>
      <p:sp>
        <p:nvSpPr>
          <p:cNvPr id="9" name="Shape 7"/>
          <p:cNvSpPr/>
          <p:nvPr/>
        </p:nvSpPr>
        <p:spPr>
          <a:xfrm>
            <a:off x="4650581" y="1846325"/>
            <a:ext cx="4036219" cy="0"/>
          </a:xfrm>
          <a:prstGeom prst="line">
            <a:avLst/>
          </a:prstGeom>
          <a:noFill/>
          <a:ln w="7144">
            <a:solidFill>
              <a:srgbClr val="E8EDF4"/>
            </a:solidFill>
            <a:prstDash val="solid"/>
          </a:ln>
        </p:spPr>
      </p:sp>
      <p:sp>
        <p:nvSpPr>
          <p:cNvPr id="10" name="Text 8"/>
          <p:cNvSpPr/>
          <p:nvPr/>
        </p:nvSpPr>
        <p:spPr>
          <a:xfrm>
            <a:off x="4736306" y="1343471"/>
            <a:ext cx="365760" cy="434987"/>
          </a:xfrm>
          <a:prstGeom prst="rect">
            <a:avLst/>
          </a:prstGeom>
          <a:noFill/>
          <a:ln/>
        </p:spPr>
        <p:txBody>
          <a:bodyPr wrap="none" lIns="0" tIns="0" rIns="0" bIns="0" rtlCol="0" anchor="t"/>
          <a:lstStyle/>
          <a:p>
            <a:pPr algn="l" indent="0" marL="0">
              <a:lnSpc>
                <a:spcPts val="1024"/>
              </a:lnSpc>
              <a:buNone/>
            </a:pPr>
            <a:r>
              <a:rPr lang="en-US" sz="800" b="1" dirty="0">
                <a:solidFill>
                  <a:srgbClr val="0F766E"/>
                </a:solidFill>
                <a:latin typeface="Liberation Sans Narrow" pitchFamily="34" charset="0"/>
                <a:ea typeface="Liberation Sans Narrow" pitchFamily="34" charset="-122"/>
                <a:cs typeface="Liberation Sans Narrow" pitchFamily="34" charset="-120"/>
              </a:rPr>
              <a:t>[2]</a:t>
            </a:r>
            <a:endParaRPr lang="en-US" sz="800" dirty="0"/>
          </a:p>
        </p:txBody>
      </p:sp>
      <p:sp>
        <p:nvSpPr>
          <p:cNvPr id="11" name="Text 9"/>
          <p:cNvSpPr/>
          <p:nvPr/>
        </p:nvSpPr>
        <p:spPr>
          <a:xfrm>
            <a:off x="5036344" y="1343471"/>
            <a:ext cx="3564731" cy="434987"/>
          </a:xfrm>
          <a:prstGeom prst="rect">
            <a:avLst/>
          </a:prstGeom>
          <a:noFill/>
          <a:ln/>
        </p:spPr>
        <p:txBody>
          <a:bodyPr wrap="square" lIns="0" tIns="0" rIns="0" bIns="0" rtlCol="0" anchor="t"/>
          <a:lstStyle/>
          <a:p>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Gupta, A., D'Cunha, A., Awasthi, K.N., &amp; Balasubramanian, V.N.</a:t>
            </a:r>
            <a:pPr algn="l" indent="0" marL="0">
              <a:lnSpc>
                <a:spcPts val="1142"/>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 (2016). </a:t>
            </a:r>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DAiSEE: Towards User Engagement Recognition in the Wild. </a:t>
            </a:r>
            <a:pPr algn="l" indent="0" marL="0">
              <a:lnSpc>
                <a:spcPts val="1142"/>
              </a:lnSpc>
              <a:buNone/>
            </a:pPr>
            <a:r>
              <a:rPr lang="en-US" sz="800" i="1" dirty="0">
                <a:solidFill>
                  <a:srgbClr val="5B6B82"/>
                </a:solidFill>
                <a:latin typeface="Liberation Sans Narrow" pitchFamily="34" charset="0"/>
                <a:ea typeface="Liberation Sans Narrow" pitchFamily="34" charset="-122"/>
                <a:cs typeface="Liberation Sans Narrow" pitchFamily="34" charset="-120"/>
              </a:rPr>
              <a:t>arXiv:1609.01885.</a:t>
            </a:r>
            <a:endParaRPr lang="en-US" sz="800" dirty="0"/>
          </a:p>
        </p:txBody>
      </p:sp>
      <p:sp>
        <p:nvSpPr>
          <p:cNvPr id="12" name="Shape 10"/>
          <p:cNvSpPr/>
          <p:nvPr/>
        </p:nvSpPr>
        <p:spPr>
          <a:xfrm>
            <a:off x="457200" y="2647764"/>
            <a:ext cx="4036219" cy="0"/>
          </a:xfrm>
          <a:prstGeom prst="line">
            <a:avLst/>
          </a:prstGeom>
          <a:noFill/>
          <a:ln w="7144">
            <a:solidFill>
              <a:srgbClr val="E8EDF4"/>
            </a:solidFill>
            <a:prstDash val="solid"/>
          </a:ln>
        </p:spPr>
      </p:sp>
      <p:sp>
        <p:nvSpPr>
          <p:cNvPr id="13" name="Text 11"/>
          <p:cNvSpPr/>
          <p:nvPr/>
        </p:nvSpPr>
        <p:spPr>
          <a:xfrm>
            <a:off x="542925" y="1999915"/>
            <a:ext cx="365760" cy="579983"/>
          </a:xfrm>
          <a:prstGeom prst="rect">
            <a:avLst/>
          </a:prstGeom>
          <a:noFill/>
          <a:ln/>
        </p:spPr>
        <p:txBody>
          <a:bodyPr wrap="none" lIns="0" tIns="0" rIns="0" bIns="0" rtlCol="0" anchor="t"/>
          <a:lstStyle/>
          <a:p>
            <a:pPr algn="l" indent="0" marL="0">
              <a:lnSpc>
                <a:spcPts val="1024"/>
              </a:lnSpc>
              <a:buNone/>
            </a:pPr>
            <a:r>
              <a:rPr lang="en-US" sz="800" b="1" dirty="0">
                <a:solidFill>
                  <a:srgbClr val="0F766E"/>
                </a:solidFill>
                <a:latin typeface="Liberation Sans Narrow" pitchFamily="34" charset="0"/>
                <a:ea typeface="Liberation Sans Narrow" pitchFamily="34" charset="-122"/>
                <a:cs typeface="Liberation Sans Narrow" pitchFamily="34" charset="-120"/>
              </a:rPr>
              <a:t>[3]</a:t>
            </a:r>
            <a:endParaRPr lang="en-US" sz="800" dirty="0"/>
          </a:p>
        </p:txBody>
      </p:sp>
      <p:sp>
        <p:nvSpPr>
          <p:cNvPr id="14" name="Text 12"/>
          <p:cNvSpPr/>
          <p:nvPr/>
        </p:nvSpPr>
        <p:spPr>
          <a:xfrm>
            <a:off x="842963" y="1999915"/>
            <a:ext cx="3564731" cy="579983"/>
          </a:xfrm>
          <a:prstGeom prst="rect">
            <a:avLst/>
          </a:prstGeom>
          <a:noFill/>
          <a:ln/>
        </p:spPr>
        <p:txBody>
          <a:bodyPr wrap="square" lIns="0" tIns="0" rIns="0" bIns="0" rtlCol="0" anchor="t"/>
          <a:lstStyle/>
          <a:p>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Whitehill, J., Serpell, Z.N., Lin, Y.-C., Foster, A., &amp; Movellan, J.R.</a:t>
            </a:r>
            <a:pPr algn="l" indent="0" marL="0">
              <a:lnSpc>
                <a:spcPts val="1142"/>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 (2014). </a:t>
            </a:r>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The Faces of Engagement: Automatic Recognition of Student Engagement from Facial Expressions. </a:t>
            </a:r>
            <a:pPr algn="l" indent="0" marL="0">
              <a:lnSpc>
                <a:spcPts val="1142"/>
              </a:lnSpc>
              <a:buNone/>
            </a:pPr>
            <a:r>
              <a:rPr lang="en-US" sz="800" i="1" dirty="0">
                <a:solidFill>
                  <a:srgbClr val="5B6B82"/>
                </a:solidFill>
                <a:latin typeface="Carlito" pitchFamily="34" charset="0"/>
                <a:ea typeface="Carlito" pitchFamily="34" charset="-122"/>
                <a:cs typeface="Carlito" pitchFamily="34" charset="-120"/>
              </a:rPr>
              <a:t>IEEE Trans. Affective Computing, 5, 86–98.</a:t>
            </a:r>
            <a:endParaRPr lang="en-US" sz="800" dirty="0"/>
          </a:p>
        </p:txBody>
      </p:sp>
      <p:sp>
        <p:nvSpPr>
          <p:cNvPr id="15" name="Shape 13"/>
          <p:cNvSpPr/>
          <p:nvPr/>
        </p:nvSpPr>
        <p:spPr>
          <a:xfrm>
            <a:off x="4650581" y="2647764"/>
            <a:ext cx="4036219" cy="0"/>
          </a:xfrm>
          <a:prstGeom prst="line">
            <a:avLst/>
          </a:prstGeom>
          <a:noFill/>
          <a:ln w="7144">
            <a:solidFill>
              <a:srgbClr val="E8EDF4"/>
            </a:solidFill>
            <a:prstDash val="solid"/>
          </a:ln>
        </p:spPr>
      </p:sp>
      <p:sp>
        <p:nvSpPr>
          <p:cNvPr id="16" name="Text 14"/>
          <p:cNvSpPr/>
          <p:nvPr/>
        </p:nvSpPr>
        <p:spPr>
          <a:xfrm>
            <a:off x="4736306" y="1999915"/>
            <a:ext cx="365760" cy="579983"/>
          </a:xfrm>
          <a:prstGeom prst="rect">
            <a:avLst/>
          </a:prstGeom>
          <a:noFill/>
          <a:ln/>
        </p:spPr>
        <p:txBody>
          <a:bodyPr wrap="none" lIns="0" tIns="0" rIns="0" bIns="0" rtlCol="0" anchor="t"/>
          <a:lstStyle/>
          <a:p>
            <a:pPr algn="l" indent="0" marL="0">
              <a:lnSpc>
                <a:spcPts val="1024"/>
              </a:lnSpc>
              <a:buNone/>
            </a:pPr>
            <a:r>
              <a:rPr lang="en-US" sz="800" b="1" dirty="0">
                <a:solidFill>
                  <a:srgbClr val="0F766E"/>
                </a:solidFill>
                <a:latin typeface="Liberation Sans Narrow" pitchFamily="34" charset="0"/>
                <a:ea typeface="Liberation Sans Narrow" pitchFamily="34" charset="-122"/>
                <a:cs typeface="Liberation Sans Narrow" pitchFamily="34" charset="-120"/>
              </a:rPr>
              <a:t>[4]</a:t>
            </a:r>
            <a:endParaRPr lang="en-US" sz="800" dirty="0"/>
          </a:p>
        </p:txBody>
      </p:sp>
      <p:sp>
        <p:nvSpPr>
          <p:cNvPr id="17" name="Text 15"/>
          <p:cNvSpPr/>
          <p:nvPr/>
        </p:nvSpPr>
        <p:spPr>
          <a:xfrm>
            <a:off x="5036344" y="1999915"/>
            <a:ext cx="3564731" cy="579983"/>
          </a:xfrm>
          <a:prstGeom prst="rect">
            <a:avLst/>
          </a:prstGeom>
          <a:noFill/>
          <a:ln/>
        </p:spPr>
        <p:txBody>
          <a:bodyPr wrap="square" lIns="0" tIns="0" rIns="0" bIns="0" rtlCol="0" anchor="t"/>
          <a:lstStyle/>
          <a:p>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D'Mello, S., &amp; Graesser, A.</a:t>
            </a:r>
            <a:pPr algn="l" indent="0" marL="0">
              <a:lnSpc>
                <a:spcPts val="1142"/>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 (2012). </a:t>
            </a:r>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Dynamics of affective states during complex learning. </a:t>
            </a:r>
            <a:pPr algn="l" indent="0" marL="0">
              <a:lnSpc>
                <a:spcPts val="1142"/>
              </a:lnSpc>
              <a:buNone/>
            </a:pPr>
            <a:r>
              <a:rPr lang="en-US" sz="800" i="1" dirty="0">
                <a:solidFill>
                  <a:srgbClr val="5B6B82"/>
                </a:solidFill>
                <a:latin typeface="Carlito" pitchFamily="34" charset="0"/>
                <a:ea typeface="Carlito" pitchFamily="34" charset="-122"/>
                <a:cs typeface="Carlito" pitchFamily="34" charset="-120"/>
              </a:rPr>
              <a:t>Learning and Instruction, 22(2), 145–157.</a:t>
            </a:r>
            <a:endParaRPr lang="en-US" sz="800" dirty="0"/>
          </a:p>
        </p:txBody>
      </p:sp>
      <p:sp>
        <p:nvSpPr>
          <p:cNvPr id="18" name="Shape 16"/>
          <p:cNvSpPr/>
          <p:nvPr/>
        </p:nvSpPr>
        <p:spPr>
          <a:xfrm>
            <a:off x="457200" y="3159212"/>
            <a:ext cx="4036219" cy="0"/>
          </a:xfrm>
          <a:prstGeom prst="line">
            <a:avLst/>
          </a:prstGeom>
          <a:noFill/>
          <a:ln w="7144">
            <a:solidFill>
              <a:srgbClr val="E8EDF4"/>
            </a:solidFill>
            <a:prstDash val="solid"/>
          </a:ln>
        </p:spPr>
      </p:sp>
      <p:sp>
        <p:nvSpPr>
          <p:cNvPr id="19" name="Text 17"/>
          <p:cNvSpPr/>
          <p:nvPr/>
        </p:nvSpPr>
        <p:spPr>
          <a:xfrm>
            <a:off x="542925" y="2801355"/>
            <a:ext cx="365760" cy="289992"/>
          </a:xfrm>
          <a:prstGeom prst="rect">
            <a:avLst/>
          </a:prstGeom>
          <a:noFill/>
          <a:ln/>
        </p:spPr>
        <p:txBody>
          <a:bodyPr wrap="none" lIns="0" tIns="0" rIns="0" bIns="0" rtlCol="0" anchor="t"/>
          <a:lstStyle/>
          <a:p>
            <a:pPr algn="l" indent="0" marL="0">
              <a:lnSpc>
                <a:spcPts val="1024"/>
              </a:lnSpc>
              <a:buNone/>
            </a:pPr>
            <a:r>
              <a:rPr lang="en-US" sz="800" b="1" dirty="0">
                <a:solidFill>
                  <a:srgbClr val="0F766E"/>
                </a:solidFill>
                <a:latin typeface="Liberation Sans Narrow" pitchFamily="34" charset="0"/>
                <a:ea typeface="Liberation Sans Narrow" pitchFamily="34" charset="-122"/>
                <a:cs typeface="Liberation Sans Narrow" pitchFamily="34" charset="-120"/>
              </a:rPr>
              <a:t>[5]</a:t>
            </a:r>
            <a:endParaRPr lang="en-US" sz="800" dirty="0"/>
          </a:p>
        </p:txBody>
      </p:sp>
      <p:sp>
        <p:nvSpPr>
          <p:cNvPr id="20" name="Text 18"/>
          <p:cNvSpPr/>
          <p:nvPr/>
        </p:nvSpPr>
        <p:spPr>
          <a:xfrm>
            <a:off x="842963" y="2801355"/>
            <a:ext cx="3564731" cy="289992"/>
          </a:xfrm>
          <a:prstGeom prst="rect">
            <a:avLst/>
          </a:prstGeom>
          <a:noFill/>
          <a:ln/>
        </p:spPr>
        <p:txBody>
          <a:bodyPr wrap="square" lIns="0" tIns="0" rIns="0" bIns="0" rtlCol="0" anchor="t"/>
          <a:lstStyle/>
          <a:p>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Chen, T., &amp; Guestrin, C.</a:t>
            </a:r>
            <a:pPr algn="l" indent="0" marL="0">
              <a:lnSpc>
                <a:spcPts val="1142"/>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 (2016). </a:t>
            </a:r>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XGBoost: A Scalable Tree Boosting System. </a:t>
            </a:r>
            <a:pPr algn="l" indent="0" marL="0">
              <a:lnSpc>
                <a:spcPts val="1142"/>
              </a:lnSpc>
              <a:buNone/>
            </a:pPr>
            <a:r>
              <a:rPr lang="en-US" sz="800" i="1" dirty="0">
                <a:solidFill>
                  <a:srgbClr val="5B6B82"/>
                </a:solidFill>
                <a:latin typeface="Liberation Sans Narrow" pitchFamily="34" charset="0"/>
                <a:ea typeface="Liberation Sans Narrow" pitchFamily="34" charset="-122"/>
                <a:cs typeface="Liberation Sans Narrow" pitchFamily="34" charset="-120"/>
              </a:rPr>
              <a:t>KDD '16.</a:t>
            </a:r>
            <a:endParaRPr lang="en-US" sz="800" dirty="0"/>
          </a:p>
        </p:txBody>
      </p:sp>
      <p:sp>
        <p:nvSpPr>
          <p:cNvPr id="21" name="Shape 19"/>
          <p:cNvSpPr/>
          <p:nvPr/>
        </p:nvSpPr>
        <p:spPr>
          <a:xfrm>
            <a:off x="4650581" y="3159212"/>
            <a:ext cx="4036219" cy="0"/>
          </a:xfrm>
          <a:prstGeom prst="line">
            <a:avLst/>
          </a:prstGeom>
          <a:noFill/>
          <a:ln w="7144">
            <a:solidFill>
              <a:srgbClr val="E8EDF4"/>
            </a:solidFill>
            <a:prstDash val="solid"/>
          </a:ln>
        </p:spPr>
      </p:sp>
      <p:sp>
        <p:nvSpPr>
          <p:cNvPr id="22" name="Text 20"/>
          <p:cNvSpPr/>
          <p:nvPr/>
        </p:nvSpPr>
        <p:spPr>
          <a:xfrm>
            <a:off x="4736306" y="2801355"/>
            <a:ext cx="365760" cy="289992"/>
          </a:xfrm>
          <a:prstGeom prst="rect">
            <a:avLst/>
          </a:prstGeom>
          <a:noFill/>
          <a:ln/>
        </p:spPr>
        <p:txBody>
          <a:bodyPr wrap="none" lIns="0" tIns="0" rIns="0" bIns="0" rtlCol="0" anchor="t"/>
          <a:lstStyle/>
          <a:p>
            <a:pPr algn="l" indent="0" marL="0">
              <a:lnSpc>
                <a:spcPts val="1024"/>
              </a:lnSpc>
              <a:buNone/>
            </a:pPr>
            <a:r>
              <a:rPr lang="en-US" sz="800" b="1" dirty="0">
                <a:solidFill>
                  <a:srgbClr val="0F766E"/>
                </a:solidFill>
                <a:latin typeface="Liberation Sans Narrow" pitchFamily="34" charset="0"/>
                <a:ea typeface="Liberation Sans Narrow" pitchFamily="34" charset="-122"/>
                <a:cs typeface="Liberation Sans Narrow" pitchFamily="34" charset="-120"/>
              </a:rPr>
              <a:t>[6]</a:t>
            </a:r>
            <a:endParaRPr lang="en-US" sz="800" dirty="0"/>
          </a:p>
        </p:txBody>
      </p:sp>
      <p:sp>
        <p:nvSpPr>
          <p:cNvPr id="23" name="Text 21"/>
          <p:cNvSpPr/>
          <p:nvPr/>
        </p:nvSpPr>
        <p:spPr>
          <a:xfrm>
            <a:off x="5036344" y="2801355"/>
            <a:ext cx="3564731" cy="289992"/>
          </a:xfrm>
          <a:prstGeom prst="rect">
            <a:avLst/>
          </a:prstGeom>
          <a:noFill/>
          <a:ln/>
        </p:spPr>
        <p:txBody>
          <a:bodyPr wrap="square" lIns="0" tIns="0" rIns="0" bIns="0" rtlCol="0" anchor="t"/>
          <a:lstStyle/>
          <a:p>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Lundberg, S.M., &amp; Lee, S.-I.</a:t>
            </a:r>
            <a:pPr algn="l" indent="0" marL="0">
              <a:lnSpc>
                <a:spcPts val="1142"/>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 (2017). </a:t>
            </a:r>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A Unified Approach to Interpreting Model Predictions. </a:t>
            </a:r>
            <a:pPr algn="l" indent="0" marL="0">
              <a:lnSpc>
                <a:spcPts val="1142"/>
              </a:lnSpc>
              <a:buNone/>
            </a:pPr>
            <a:r>
              <a:rPr lang="en-US" sz="800" i="1" dirty="0">
                <a:solidFill>
                  <a:srgbClr val="5B6B82"/>
                </a:solidFill>
                <a:latin typeface="Liberation Sans Narrow" pitchFamily="34" charset="0"/>
                <a:ea typeface="Liberation Sans Narrow" pitchFamily="34" charset="-122"/>
                <a:cs typeface="Liberation Sans Narrow" pitchFamily="34" charset="-120"/>
              </a:rPr>
              <a:t>NeurIPS 2017 (SHAP / TreeSHAP).</a:t>
            </a:r>
            <a:endParaRPr lang="en-US" sz="800" dirty="0"/>
          </a:p>
        </p:txBody>
      </p:sp>
      <p:sp>
        <p:nvSpPr>
          <p:cNvPr id="24" name="Shape 22"/>
          <p:cNvSpPr/>
          <p:nvPr/>
        </p:nvSpPr>
        <p:spPr>
          <a:xfrm>
            <a:off x="457200" y="3815655"/>
            <a:ext cx="4036219" cy="0"/>
          </a:xfrm>
          <a:prstGeom prst="line">
            <a:avLst/>
          </a:prstGeom>
          <a:noFill/>
          <a:ln w="7144">
            <a:solidFill>
              <a:srgbClr val="E8EDF4"/>
            </a:solidFill>
            <a:prstDash val="solid"/>
          </a:ln>
        </p:spPr>
      </p:sp>
      <p:sp>
        <p:nvSpPr>
          <p:cNvPr id="25" name="Text 23"/>
          <p:cNvSpPr/>
          <p:nvPr/>
        </p:nvSpPr>
        <p:spPr>
          <a:xfrm>
            <a:off x="542925" y="3312802"/>
            <a:ext cx="365760" cy="434987"/>
          </a:xfrm>
          <a:prstGeom prst="rect">
            <a:avLst/>
          </a:prstGeom>
          <a:noFill/>
          <a:ln/>
        </p:spPr>
        <p:txBody>
          <a:bodyPr wrap="none" lIns="0" tIns="0" rIns="0" bIns="0" rtlCol="0" anchor="t"/>
          <a:lstStyle/>
          <a:p>
            <a:pPr algn="l" indent="0" marL="0">
              <a:lnSpc>
                <a:spcPts val="1024"/>
              </a:lnSpc>
              <a:buNone/>
            </a:pPr>
            <a:r>
              <a:rPr lang="en-US" sz="800" b="1" dirty="0">
                <a:solidFill>
                  <a:srgbClr val="0F766E"/>
                </a:solidFill>
                <a:latin typeface="Liberation Sans Narrow" pitchFamily="34" charset="0"/>
                <a:ea typeface="Liberation Sans Narrow" pitchFamily="34" charset="-122"/>
                <a:cs typeface="Liberation Sans Narrow" pitchFamily="34" charset="-120"/>
              </a:rPr>
              <a:t>[7]</a:t>
            </a:r>
            <a:endParaRPr lang="en-US" sz="800" dirty="0"/>
          </a:p>
        </p:txBody>
      </p:sp>
      <p:sp>
        <p:nvSpPr>
          <p:cNvPr id="26" name="Text 24"/>
          <p:cNvSpPr/>
          <p:nvPr/>
        </p:nvSpPr>
        <p:spPr>
          <a:xfrm>
            <a:off x="842963" y="3312802"/>
            <a:ext cx="3564731" cy="434987"/>
          </a:xfrm>
          <a:prstGeom prst="rect">
            <a:avLst/>
          </a:prstGeom>
          <a:noFill/>
          <a:ln/>
        </p:spPr>
        <p:txBody>
          <a:bodyPr wrap="square" lIns="0" tIns="0" rIns="0" bIns="0" rtlCol="0" anchor="t"/>
          <a:lstStyle/>
          <a:p>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Abdou, M.</a:t>
            </a:r>
            <a:pPr algn="l" indent="0" marL="0">
              <a:lnSpc>
                <a:spcPts val="1142"/>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 (2022). </a:t>
            </a:r>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Students Engagement Level Detection in Online e-Learning Using Hybrid EfficientNetB7 Together With TCN, LSTM, and Bi-LSTM. </a:t>
            </a:r>
            <a:pPr algn="l" indent="0" marL="0">
              <a:lnSpc>
                <a:spcPts val="1142"/>
              </a:lnSpc>
              <a:buNone/>
            </a:pPr>
            <a:r>
              <a:rPr lang="en-US" sz="800" i="1" dirty="0">
                <a:solidFill>
                  <a:srgbClr val="5B6B82"/>
                </a:solidFill>
                <a:latin typeface="Carlito" pitchFamily="34" charset="0"/>
                <a:ea typeface="Carlito" pitchFamily="34" charset="-122"/>
                <a:cs typeface="Carlito" pitchFamily="34" charset="-120"/>
              </a:rPr>
              <a:t>IEEE Access.</a:t>
            </a:r>
            <a:endParaRPr lang="en-US" sz="800" dirty="0"/>
          </a:p>
        </p:txBody>
      </p:sp>
      <p:sp>
        <p:nvSpPr>
          <p:cNvPr id="27" name="Shape 25"/>
          <p:cNvSpPr/>
          <p:nvPr/>
        </p:nvSpPr>
        <p:spPr>
          <a:xfrm>
            <a:off x="4650581" y="3815655"/>
            <a:ext cx="4036219" cy="0"/>
          </a:xfrm>
          <a:prstGeom prst="line">
            <a:avLst/>
          </a:prstGeom>
          <a:noFill/>
          <a:ln w="7144">
            <a:solidFill>
              <a:srgbClr val="E8EDF4"/>
            </a:solidFill>
            <a:prstDash val="solid"/>
          </a:ln>
        </p:spPr>
      </p:sp>
      <p:sp>
        <p:nvSpPr>
          <p:cNvPr id="28" name="Text 26"/>
          <p:cNvSpPr/>
          <p:nvPr/>
        </p:nvSpPr>
        <p:spPr>
          <a:xfrm>
            <a:off x="4736306" y="3312802"/>
            <a:ext cx="365760" cy="434987"/>
          </a:xfrm>
          <a:prstGeom prst="rect">
            <a:avLst/>
          </a:prstGeom>
          <a:noFill/>
          <a:ln/>
        </p:spPr>
        <p:txBody>
          <a:bodyPr wrap="none" lIns="0" tIns="0" rIns="0" bIns="0" rtlCol="0" anchor="t"/>
          <a:lstStyle/>
          <a:p>
            <a:pPr algn="l" indent="0" marL="0">
              <a:lnSpc>
                <a:spcPts val="1024"/>
              </a:lnSpc>
              <a:buNone/>
            </a:pPr>
            <a:r>
              <a:rPr lang="en-US" sz="800" b="1" dirty="0">
                <a:solidFill>
                  <a:srgbClr val="0F766E"/>
                </a:solidFill>
                <a:latin typeface="Liberation Sans Narrow" pitchFamily="34" charset="0"/>
                <a:ea typeface="Liberation Sans Narrow" pitchFamily="34" charset="-122"/>
                <a:cs typeface="Liberation Sans Narrow" pitchFamily="34" charset="-120"/>
              </a:rPr>
              <a:t>[8]</a:t>
            </a:r>
            <a:endParaRPr lang="en-US" sz="800" dirty="0"/>
          </a:p>
        </p:txBody>
      </p:sp>
      <p:sp>
        <p:nvSpPr>
          <p:cNvPr id="29" name="Text 27"/>
          <p:cNvSpPr/>
          <p:nvPr/>
        </p:nvSpPr>
        <p:spPr>
          <a:xfrm>
            <a:off x="5036344" y="3312802"/>
            <a:ext cx="3564731" cy="434987"/>
          </a:xfrm>
          <a:prstGeom prst="rect">
            <a:avLst/>
          </a:prstGeom>
          <a:noFill/>
          <a:ln/>
        </p:spPr>
        <p:txBody>
          <a:bodyPr wrap="square" lIns="0" tIns="0" rIns="0" bIns="0" rtlCol="0" anchor="t"/>
          <a:lstStyle/>
          <a:p>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Takefuji, Y.</a:t>
            </a:r>
            <a:pPr algn="l" indent="0" marL="0">
              <a:lnSpc>
                <a:spcPts val="1142"/>
              </a:lnSpc>
              <a:buNone/>
            </a:pPr>
            <a:r>
              <a:rPr lang="en-US" sz="800" dirty="0">
                <a:solidFill>
                  <a:srgbClr val="0F1F3D"/>
                </a:solidFill>
                <a:latin typeface="Liberation Sans Narrow" pitchFamily="34" charset="0"/>
                <a:ea typeface="Liberation Sans Narrow" pitchFamily="34" charset="-122"/>
                <a:cs typeface="Liberation Sans Narrow" pitchFamily="34" charset="-120"/>
              </a:rPr>
              <a:t> (2025). </a:t>
            </a:r>
            <a:pPr algn="l" indent="0" marL="0">
              <a:lnSpc>
                <a:spcPts val="1142"/>
              </a:lnSpc>
              <a:buNone/>
            </a:pPr>
            <a:r>
              <a:rPr lang="en-US" sz="800" dirty="0">
                <a:solidFill>
                  <a:srgbClr val="0F1F3D"/>
                </a:solidFill>
                <a:latin typeface="Carlito" pitchFamily="34" charset="0"/>
                <a:ea typeface="Carlito" pitchFamily="34" charset="-122"/>
                <a:cs typeface="Carlito" pitchFamily="34" charset="-120"/>
              </a:rPr>
              <a:t>Beyond XGBoost and SHAP: Unveiling true feature importance. </a:t>
            </a:r>
            <a:pPr algn="l" indent="0" marL="0">
              <a:lnSpc>
                <a:spcPts val="1142"/>
              </a:lnSpc>
              <a:buNone/>
            </a:pPr>
            <a:r>
              <a:rPr lang="en-US" sz="800" i="1" dirty="0">
                <a:solidFill>
                  <a:srgbClr val="5B6B82"/>
                </a:solidFill>
                <a:latin typeface="Liberation Sans Narrow" pitchFamily="34" charset="0"/>
                <a:ea typeface="Liberation Sans Narrow" pitchFamily="34" charset="-122"/>
                <a:cs typeface="Liberation Sans Narrow" pitchFamily="34" charset="-120"/>
              </a:rPr>
              <a:t>J. Hazardous Materials, 488, 137382.</a:t>
            </a:r>
            <a:endParaRPr lang="en-US" sz="800" dirty="0"/>
          </a:p>
        </p:txBody>
      </p:sp>
      <p:sp>
        <p:nvSpPr>
          <p:cNvPr id="30" name="Text 28"/>
          <p:cNvSpPr/>
          <p:nvPr/>
        </p:nvSpPr>
        <p:spPr>
          <a:xfrm>
            <a:off x="457200" y="4868466"/>
            <a:ext cx="7840042" cy="164592"/>
          </a:xfrm>
          <a:prstGeom prst="rect">
            <a:avLst/>
          </a:prstGeom>
          <a:noFill/>
          <a:ln/>
        </p:spPr>
        <p:txBody>
          <a:bodyPr wrap="square" lIns="0" tIns="0" rIns="0" bIns="0" rtlCol="0" anchor="t"/>
          <a:lstStyle/>
          <a:p>
            <a:pPr algn="l" indent="0" marL="0">
              <a:lnSpc>
                <a:spcPts val="928"/>
              </a:lnSpc>
              <a:buNone/>
            </a:pPr>
            <a:r>
              <a:rPr lang="en-US" sz="800" spc="50" kern="0" dirty="0">
                <a:solidFill>
                  <a:srgbClr val="8A97AB"/>
                </a:solidFill>
                <a:latin typeface="Carlito" pitchFamily="34" charset="0"/>
                <a:ea typeface="Carlito" pitchFamily="34" charset="-122"/>
                <a:cs typeface="Carlito" pitchFamily="34" charset="-120"/>
              </a:rPr>
              <a:t>EFFICIENT ATTENTION CLASSIFICATION · THESIS DEFENSE</a:t>
            </a:r>
            <a:endParaRPr lang="en-US" sz="800" dirty="0"/>
          </a:p>
        </p:txBody>
      </p:sp>
      <p:sp>
        <p:nvSpPr>
          <p:cNvPr id="31" name="Text 29"/>
          <p:cNvSpPr/>
          <p:nvPr/>
        </p:nvSpPr>
        <p:spPr>
          <a:xfrm>
            <a:off x="8311530" y="4868466"/>
            <a:ext cx="533587"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0F1F3D"/>
                </a:solidFill>
                <a:latin typeface="Liberation Sans Narrow" pitchFamily="34" charset="0"/>
                <a:ea typeface="Liberation Sans Narrow" pitchFamily="34" charset="-122"/>
                <a:cs typeface="Liberation Sans Narrow" pitchFamily="34" charset="-120"/>
              </a:rPr>
              <a:t>33 / 34</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0F1F3D"/>
          </a:solidFill>
          <a:ln/>
        </p:spPr>
        <p:txBody>
          <a:bodyPr wrap="square" rtlCol="0" anchor="ctr"/>
          <a:lstStyle/>
          <a:p>
            <a:pPr indent="0" marL="0">
              <a:buNone/>
            </a:pPr>
            <a:endParaRPr lang="en-US" dirty="0"/>
          </a:p>
        </p:txBody>
      </p:sp>
      <p:pic>
        <p:nvPicPr>
          <p:cNvPr id="3" name="Image 0" descr="preencoded.png">    </p:cNvPr>
          <p:cNvPicPr>
            <a:picLocks noChangeAspect="1"/>
          </p:cNvPicPr>
          <p:nvPr/>
        </p:nvPicPr>
        <p:blipFill>
          <a:blip r:embed="rId1"/>
          <a:stretch>
            <a:fillRect/>
          </a:stretch>
        </p:blipFill>
        <p:spPr>
          <a:xfrm>
            <a:off x="-1285875" y="-1285875"/>
            <a:ext cx="3714750" cy="3714750"/>
          </a:xfrm>
          <a:prstGeom prst="rect">
            <a:avLst/>
          </a:prstGeom>
        </p:spPr>
      </p:pic>
      <p:sp>
        <p:nvSpPr>
          <p:cNvPr id="4" name="Text 1"/>
          <p:cNvSpPr/>
          <p:nvPr/>
        </p:nvSpPr>
        <p:spPr>
          <a:xfrm>
            <a:off x="-1285875" y="-1285875"/>
            <a:ext cx="3714750" cy="3714750"/>
          </a:xfrm>
          <a:prstGeom prst="ellipse">
            <a:avLst/>
          </a:prstGeom>
          <a:solidFill>
            <a:srgbClr val="14B8A6">
              <a:alpha val="0"/>
            </a:srgbClr>
          </a:solidFill>
          <a:ln/>
        </p:spPr>
        <p:txBody>
          <a:bodyPr wrap="square" rtlCol="0" anchor="ctr"/>
          <a:lstStyle/>
          <a:p>
            <a:pPr indent="0" marL="0">
              <a:buNone/>
            </a:pPr>
            <a:endParaRPr lang="en-US" dirty="0"/>
          </a:p>
        </p:txBody>
      </p:sp>
      <p:pic>
        <p:nvPicPr>
          <p:cNvPr id="5" name="Image 1" descr="preencoded.png">    </p:cNvPr>
          <p:cNvPicPr>
            <a:picLocks noChangeAspect="1"/>
          </p:cNvPicPr>
          <p:nvPr/>
        </p:nvPicPr>
        <p:blipFill>
          <a:blip r:embed="rId2"/>
          <a:stretch>
            <a:fillRect/>
          </a:stretch>
        </p:blipFill>
        <p:spPr>
          <a:xfrm>
            <a:off x="6858000" y="2857500"/>
            <a:ext cx="3714750" cy="3714750"/>
          </a:xfrm>
          <a:prstGeom prst="rect">
            <a:avLst/>
          </a:prstGeom>
        </p:spPr>
      </p:pic>
      <p:sp>
        <p:nvSpPr>
          <p:cNvPr id="6" name="Text 2"/>
          <p:cNvSpPr/>
          <p:nvPr/>
        </p:nvSpPr>
        <p:spPr>
          <a:xfrm>
            <a:off x="6858000" y="2857500"/>
            <a:ext cx="3714750" cy="3714750"/>
          </a:xfrm>
          <a:prstGeom prst="ellipse">
            <a:avLst/>
          </a:prstGeom>
          <a:solidFill>
            <a:srgbClr val="14B8A6">
              <a:alpha val="0"/>
            </a:srgbClr>
          </a:solidFill>
          <a:ln/>
        </p:spPr>
        <p:txBody>
          <a:bodyPr wrap="square" rtlCol="0" anchor="ctr"/>
          <a:lstStyle/>
          <a:p>
            <a:pPr indent="0" marL="0">
              <a:buNone/>
            </a:pPr>
            <a:endParaRPr lang="en-US" dirty="0"/>
          </a:p>
        </p:txBody>
      </p:sp>
      <p:sp>
        <p:nvSpPr>
          <p:cNvPr id="7" name="Text 3"/>
          <p:cNvSpPr/>
          <p:nvPr/>
        </p:nvSpPr>
        <p:spPr>
          <a:xfrm>
            <a:off x="571500" y="571500"/>
            <a:ext cx="428625" cy="21431"/>
          </a:xfrm>
          <a:prstGeom prst="rect">
            <a:avLst/>
          </a:prstGeom>
          <a:solidFill>
            <a:srgbClr val="14B8A6"/>
          </a:solidFill>
          <a:ln/>
        </p:spPr>
        <p:txBody>
          <a:bodyPr wrap="square" rtlCol="0" anchor="ctr"/>
          <a:lstStyle/>
          <a:p>
            <a:pPr indent="0" marL="0">
              <a:buNone/>
            </a:pPr>
            <a:endParaRPr lang="en-US" dirty="0"/>
          </a:p>
        </p:txBody>
      </p:sp>
      <p:sp>
        <p:nvSpPr>
          <p:cNvPr id="8" name="Text 4"/>
          <p:cNvSpPr/>
          <p:nvPr/>
        </p:nvSpPr>
        <p:spPr>
          <a:xfrm>
            <a:off x="571500" y="714375"/>
            <a:ext cx="1381453" cy="164592"/>
          </a:xfrm>
          <a:prstGeom prst="rect">
            <a:avLst/>
          </a:prstGeom>
          <a:noFill/>
          <a:ln/>
        </p:spPr>
        <p:txBody>
          <a:bodyPr wrap="none" lIns="0" tIns="0" rIns="0" bIns="0" rtlCol="0" anchor="t"/>
          <a:lstStyle/>
          <a:p>
            <a:pPr algn="l" indent="0" marL="0">
              <a:lnSpc>
                <a:spcPts val="928"/>
              </a:lnSpc>
              <a:buNone/>
            </a:pPr>
            <a:r>
              <a:rPr lang="en-US" sz="800" spc="186" kern="0" dirty="0">
                <a:solidFill>
                  <a:srgbClr val="FFFFFF">
                    <a:alpha val="50000"/>
                  </a:srgbClr>
                </a:solidFill>
                <a:latin typeface="Courier New" pitchFamily="34" charset="0"/>
                <a:ea typeface="Courier New" pitchFamily="34" charset="-122"/>
                <a:cs typeface="Courier New" pitchFamily="34" charset="-120"/>
              </a:rPr>
              <a:t>END OF DEFENSE</a:t>
            </a:r>
            <a:endParaRPr lang="en-US" sz="800" dirty="0"/>
          </a:p>
        </p:txBody>
      </p:sp>
      <p:sp>
        <p:nvSpPr>
          <p:cNvPr id="9" name="Text 5"/>
          <p:cNvSpPr/>
          <p:nvPr/>
        </p:nvSpPr>
        <p:spPr>
          <a:xfrm>
            <a:off x="8131262" y="571500"/>
            <a:ext cx="668338" cy="164592"/>
          </a:xfrm>
          <a:prstGeom prst="rect">
            <a:avLst/>
          </a:prstGeom>
          <a:noFill/>
          <a:ln/>
        </p:spPr>
        <p:txBody>
          <a:bodyPr wrap="none" lIns="0" tIns="0" rIns="0" bIns="0" rtlCol="0" anchor="t"/>
          <a:lstStyle/>
          <a:p>
            <a:pPr algn="l" indent="0" marL="0">
              <a:lnSpc>
                <a:spcPts val="928"/>
              </a:lnSpc>
              <a:buNone/>
            </a:pPr>
            <a:r>
              <a:rPr lang="en-US" sz="800" spc="124" kern="0" dirty="0">
                <a:solidFill>
                  <a:srgbClr val="FFFFFF">
                    <a:alpha val="50000"/>
                  </a:srgbClr>
                </a:solidFill>
                <a:latin typeface="Liberation Sans Narrow" pitchFamily="34" charset="0"/>
                <a:ea typeface="Liberation Sans Narrow" pitchFamily="34" charset="-122"/>
                <a:cs typeface="Liberation Sans Narrow" pitchFamily="34" charset="-120"/>
              </a:rPr>
              <a:t>34 / 34</a:t>
            </a:r>
            <a:endParaRPr lang="en-US" sz="800" dirty="0"/>
          </a:p>
        </p:txBody>
      </p:sp>
      <p:sp>
        <p:nvSpPr>
          <p:cNvPr id="10" name="Text 6"/>
          <p:cNvSpPr/>
          <p:nvPr/>
        </p:nvSpPr>
        <p:spPr>
          <a:xfrm>
            <a:off x="4030638" y="890178"/>
            <a:ext cx="1506997" cy="164592"/>
          </a:xfrm>
          <a:prstGeom prst="rect">
            <a:avLst/>
          </a:prstGeom>
          <a:noFill/>
          <a:ln/>
        </p:spPr>
        <p:txBody>
          <a:bodyPr wrap="none" lIns="0" tIns="0" rIns="0" bIns="0" rtlCol="0" anchor="t"/>
          <a:lstStyle/>
          <a:p>
            <a:pPr algn="l" indent="0" marL="0">
              <a:lnSpc>
                <a:spcPts val="1013"/>
              </a:lnSpc>
              <a:buNone/>
            </a:pPr>
            <a:r>
              <a:rPr lang="en-US" sz="800" b="1" spc="203" kern="0" dirty="0">
                <a:solidFill>
                  <a:srgbClr val="14B8A6"/>
                </a:solidFill>
                <a:latin typeface="Courier New" pitchFamily="34" charset="0"/>
                <a:ea typeface="Courier New" pitchFamily="34" charset="-122"/>
                <a:cs typeface="Courier New" pitchFamily="34" charset="-120"/>
              </a:rPr>
              <a:t>END OF DEFENSE</a:t>
            </a:r>
            <a:endParaRPr lang="en-US" sz="800" dirty="0"/>
          </a:p>
        </p:txBody>
      </p:sp>
      <p:sp>
        <p:nvSpPr>
          <p:cNvPr id="11" name="Text 7"/>
          <p:cNvSpPr/>
          <p:nvPr/>
        </p:nvSpPr>
        <p:spPr>
          <a:xfrm>
            <a:off x="274320" y="1204503"/>
            <a:ext cx="8595360" cy="1425634"/>
          </a:xfrm>
          <a:prstGeom prst="rect">
            <a:avLst/>
          </a:prstGeom>
          <a:noFill/>
          <a:ln/>
        </p:spPr>
        <p:txBody>
          <a:bodyPr wrap="none" lIns="0" tIns="0" rIns="0" bIns="0" rtlCol="0" anchor="t"/>
          <a:lstStyle/>
          <a:p>
            <a:pPr algn="ctr" indent="0" marL="0">
              <a:lnSpc>
                <a:spcPts val="5198"/>
              </a:lnSpc>
              <a:buNone/>
            </a:pPr>
            <a:r>
              <a:rPr lang="en-US" sz="4950" b="1" spc="-99" kern="0" dirty="0">
                <a:solidFill>
                  <a:srgbClr val="FFFFFF"/>
                </a:solidFill>
                <a:latin typeface="Tinos" pitchFamily="34" charset="0"/>
                <a:ea typeface="Tinos" pitchFamily="34" charset="-122"/>
                <a:cs typeface="Tinos" pitchFamily="34" charset="-120"/>
              </a:rPr>
              <a:t>Thank You for Your</a:t>
            </a:r>
            <a:endParaRPr lang="en-US" sz="4950" dirty="0"/>
          </a:p>
          <a:p>
            <a:pPr algn="ctr" indent="0" marL="0">
              <a:lnSpc>
                <a:spcPts val="5198"/>
              </a:lnSpc>
              <a:buNone/>
            </a:pPr>
            <a:r>
              <a:rPr lang="en-US" sz="4950" b="1" spc="-99" kern="0" dirty="0">
                <a:solidFill>
                  <a:srgbClr val="FFFFFF"/>
                </a:solidFill>
                <a:latin typeface="Tinos" pitchFamily="34" charset="0"/>
                <a:ea typeface="Tinos" pitchFamily="34" charset="-122"/>
                <a:cs typeface="Tinos" pitchFamily="34" charset="-120"/>
              </a:rPr>
              <a:t>Attention.</a:t>
            </a:r>
            <a:endParaRPr lang="en-US" sz="4950" dirty="0"/>
          </a:p>
        </p:txBody>
      </p:sp>
      <p:sp>
        <p:nvSpPr>
          <p:cNvPr id="12" name="Text 8"/>
          <p:cNvSpPr/>
          <p:nvPr/>
        </p:nvSpPr>
        <p:spPr>
          <a:xfrm>
            <a:off x="4357688" y="2724559"/>
            <a:ext cx="428625" cy="21431"/>
          </a:xfrm>
          <a:prstGeom prst="rect">
            <a:avLst/>
          </a:prstGeom>
          <a:solidFill>
            <a:srgbClr val="14B8A6"/>
          </a:solidFill>
          <a:ln/>
        </p:spPr>
        <p:txBody>
          <a:bodyPr wrap="square" rtlCol="0" anchor="ctr"/>
          <a:lstStyle/>
          <a:p>
            <a:pPr indent="0" marL="0">
              <a:buNone/>
            </a:pPr>
            <a:endParaRPr lang="en-US" dirty="0"/>
          </a:p>
        </p:txBody>
      </p:sp>
      <p:sp>
        <p:nvSpPr>
          <p:cNvPr id="13" name="Text 9"/>
          <p:cNvSpPr/>
          <p:nvPr/>
        </p:nvSpPr>
        <p:spPr>
          <a:xfrm>
            <a:off x="2855120" y="3074603"/>
            <a:ext cx="3433648" cy="254603"/>
          </a:xfrm>
          <a:prstGeom prst="rect">
            <a:avLst/>
          </a:prstGeom>
          <a:noFill/>
          <a:ln/>
        </p:spPr>
        <p:txBody>
          <a:bodyPr wrap="square" lIns="0" tIns="0" rIns="0" bIns="0" rtlCol="0" anchor="t"/>
          <a:lstStyle/>
          <a:p>
            <a:pPr algn="ctr" indent="0" marL="0">
              <a:lnSpc>
                <a:spcPts val="1856"/>
              </a:lnSpc>
              <a:buNone/>
            </a:pPr>
            <a:r>
              <a:rPr lang="en-US" sz="1238" dirty="0">
                <a:solidFill>
                  <a:srgbClr val="FFFFFF">
                    <a:alpha val="70000"/>
                  </a:srgbClr>
                </a:solidFill>
                <a:latin typeface="Carlito" pitchFamily="34" charset="0"/>
                <a:ea typeface="Carlito" pitchFamily="34" charset="-122"/>
                <a:cs typeface="Carlito" pitchFamily="34" charset="-120"/>
              </a:rPr>
              <a:t>I welcome your questions and feedback.</a:t>
            </a:r>
            <a:endParaRPr lang="en-US" sz="1238" dirty="0"/>
          </a:p>
        </p:txBody>
      </p:sp>
      <p:sp>
        <p:nvSpPr>
          <p:cNvPr id="14" name="Text 10"/>
          <p:cNvSpPr/>
          <p:nvPr/>
        </p:nvSpPr>
        <p:spPr>
          <a:xfrm>
            <a:off x="700088" y="3410359"/>
            <a:ext cx="3484677" cy="161877"/>
          </a:xfrm>
          <a:prstGeom prst="rect">
            <a:avLst/>
          </a:prstGeom>
          <a:noFill/>
          <a:ln/>
        </p:spPr>
        <p:txBody>
          <a:bodyPr wrap="none" lIns="0" tIns="0" rIns="0" bIns="0" rtlCol="0" anchor="t">
            <a:normAutofit/>
          </a:bodyPr>
          <a:lstStyle/>
          <a:p>
            <a:pPr algn="l" indent="0" marL="0">
              <a:lnSpc>
                <a:spcPts val="928"/>
              </a:lnSpc>
              <a:buNone/>
            </a:pPr>
            <a:r>
              <a:rPr lang="en-US" sz="800" b="1" spc="124" kern="0" dirty="0">
                <a:solidFill>
                  <a:srgbClr val="14B8A6"/>
                </a:solidFill>
                <a:latin typeface="Carlito" pitchFamily="34" charset="0"/>
                <a:ea typeface="Carlito" pitchFamily="34" charset="-122"/>
                <a:cs typeface="Carlito" pitchFamily="34" charset="-120"/>
              </a:rPr>
              <a:t>PRESENTER</a:t>
            </a:r>
            <a:endParaRPr lang="en-US" sz="800" dirty="0"/>
          </a:p>
        </p:txBody>
      </p:sp>
      <p:sp>
        <p:nvSpPr>
          <p:cNvPr id="15" name="Text 11"/>
          <p:cNvSpPr/>
          <p:nvPr/>
        </p:nvSpPr>
        <p:spPr>
          <a:xfrm>
            <a:off x="700088" y="3599669"/>
            <a:ext cx="2550319" cy="151162"/>
          </a:xfrm>
          <a:prstGeom prst="rect">
            <a:avLst/>
          </a:prstGeom>
          <a:noFill/>
          <a:ln/>
        </p:spPr>
        <p:txBody>
          <a:bodyPr wrap="none" lIns="0" tIns="0" rIns="0" bIns="0" rtlCol="0" anchor="t">
            <a:normAutofit/>
          </a:bodyPr>
          <a:lstStyle/>
          <a:p>
            <a:pPr algn="l" indent="0" marL="0">
              <a:lnSpc>
                <a:spcPts val="1181"/>
              </a:lnSpc>
              <a:buNone/>
            </a:pPr>
            <a:r>
              <a:rPr lang="en-US" sz="844" b="1" dirty="0">
                <a:solidFill>
                  <a:srgbClr val="FFFFFF"/>
                </a:solidFill>
                <a:latin typeface="Carlito" pitchFamily="34" charset="0"/>
                <a:ea typeface="Carlito" pitchFamily="34" charset="-122"/>
                <a:cs typeface="Carlito" pitchFamily="34" charset="-120"/>
              </a:rPr>
              <a:t>Moul Hengborann</a:t>
            </a:r>
            <a:endParaRPr lang="en-US" sz="844" dirty="0"/>
          </a:p>
        </p:txBody>
      </p:sp>
      <p:sp>
        <p:nvSpPr>
          <p:cNvPr id="16" name="Text 12"/>
          <p:cNvSpPr/>
          <p:nvPr/>
        </p:nvSpPr>
        <p:spPr>
          <a:xfrm>
            <a:off x="700088" y="3778262"/>
            <a:ext cx="2550319" cy="129731"/>
          </a:xfrm>
          <a:prstGeom prst="rect">
            <a:avLst/>
          </a:prstGeom>
          <a:noFill/>
          <a:ln/>
        </p:spPr>
        <p:txBody>
          <a:bodyPr wrap="none" lIns="0" tIns="0" rIns="0" bIns="0" rtlCol="0" anchor="t">
            <a:normAutofit/>
          </a:bodyPr>
          <a:lstStyle/>
          <a:p>
            <a:pPr algn="l" indent="0" marL="0">
              <a:lnSpc>
                <a:spcPts val="1013"/>
              </a:lnSpc>
              <a:buNone/>
            </a:pPr>
            <a:r>
              <a:rPr lang="en-US" sz="800" dirty="0">
                <a:solidFill>
                  <a:srgbClr val="FFFFFF">
                    <a:alpha val="70000"/>
                  </a:srgbClr>
                </a:solidFill>
                <a:latin typeface="Liberation Sans Narrow" pitchFamily="34" charset="0"/>
                <a:ea typeface="Liberation Sans Narrow" pitchFamily="34" charset="-122"/>
                <a:cs typeface="Liberation Sans Narrow" pitchFamily="34" charset="-120"/>
              </a:rPr>
              <a:t>M080309 · M-DAS Program</a:t>
            </a:r>
            <a:endParaRPr lang="en-US" sz="800" dirty="0"/>
          </a:p>
        </p:txBody>
      </p:sp>
      <p:sp>
        <p:nvSpPr>
          <p:cNvPr id="17" name="Text 13"/>
          <p:cNvSpPr/>
          <p:nvPr/>
        </p:nvSpPr>
        <p:spPr>
          <a:xfrm>
            <a:off x="700088" y="3935425"/>
            <a:ext cx="2623185" cy="164592"/>
          </a:xfrm>
          <a:prstGeom prst="rect">
            <a:avLst/>
          </a:prstGeom>
          <a:noFill/>
          <a:ln/>
        </p:spPr>
        <p:txBody>
          <a:bodyPr wrap="square" lIns="0" tIns="0" rIns="0" bIns="0" rtlCol="0" anchor="t"/>
          <a:lstStyle/>
          <a:p>
            <a:pPr algn="l" indent="0" marL="0">
              <a:lnSpc>
                <a:spcPts val="1013"/>
              </a:lnSpc>
              <a:buNone/>
            </a:pPr>
            <a:r>
              <a:rPr lang="en-US" sz="800" dirty="0">
                <a:solidFill>
                  <a:srgbClr val="FFFFFF">
                    <a:alpha val="70000"/>
                  </a:srgbClr>
                </a:solidFill>
                <a:latin typeface="Courier New" pitchFamily="34" charset="0"/>
                <a:ea typeface="Courier New" pitchFamily="34" charset="-122"/>
                <a:cs typeface="Courier New" pitchFamily="34" charset="-120"/>
              </a:rPr>
              <a:t>hengborann_moul@gsc.itc.edu.kh</a:t>
            </a:r>
            <a:endParaRPr lang="en-US" sz="800" dirty="0"/>
          </a:p>
        </p:txBody>
      </p:sp>
      <p:sp>
        <p:nvSpPr>
          <p:cNvPr id="18" name="Text 14"/>
          <p:cNvSpPr/>
          <p:nvPr/>
        </p:nvSpPr>
        <p:spPr>
          <a:xfrm>
            <a:off x="3357563" y="3410359"/>
            <a:ext cx="3222358" cy="161877"/>
          </a:xfrm>
          <a:prstGeom prst="rect">
            <a:avLst/>
          </a:prstGeom>
          <a:noFill/>
          <a:ln/>
        </p:spPr>
        <p:txBody>
          <a:bodyPr wrap="none" lIns="0" tIns="0" rIns="0" bIns="0" rtlCol="0" anchor="t">
            <a:normAutofit/>
          </a:bodyPr>
          <a:lstStyle/>
          <a:p>
            <a:pPr algn="l" indent="0" marL="0">
              <a:lnSpc>
                <a:spcPts val="928"/>
              </a:lnSpc>
              <a:buNone/>
            </a:pPr>
            <a:r>
              <a:rPr lang="en-US" sz="800" b="1" spc="124" kern="0" dirty="0">
                <a:solidFill>
                  <a:srgbClr val="14B8A6"/>
                </a:solidFill>
                <a:latin typeface="Carlito" pitchFamily="34" charset="0"/>
                <a:ea typeface="Carlito" pitchFamily="34" charset="-122"/>
                <a:cs typeface="Carlito" pitchFamily="34" charset="-120"/>
              </a:rPr>
              <a:t>INSTITUTION</a:t>
            </a:r>
            <a:endParaRPr lang="en-US" sz="800" dirty="0"/>
          </a:p>
        </p:txBody>
      </p:sp>
      <p:sp>
        <p:nvSpPr>
          <p:cNvPr id="19" name="Text 15"/>
          <p:cNvSpPr/>
          <p:nvPr/>
        </p:nvSpPr>
        <p:spPr>
          <a:xfrm>
            <a:off x="3357563" y="3599669"/>
            <a:ext cx="2623185" cy="151162"/>
          </a:xfrm>
          <a:prstGeom prst="rect">
            <a:avLst/>
          </a:prstGeom>
          <a:noFill/>
          <a:ln/>
        </p:spPr>
        <p:txBody>
          <a:bodyPr wrap="square" lIns="0" tIns="0" rIns="0" bIns="0" rtlCol="0" anchor="t">
            <a:normAutofit/>
          </a:bodyPr>
          <a:lstStyle/>
          <a:p>
            <a:pPr algn="l" indent="0" marL="0">
              <a:lnSpc>
                <a:spcPts val="1181"/>
              </a:lnSpc>
              <a:buNone/>
            </a:pPr>
            <a:r>
              <a:rPr lang="en-US" sz="844" b="1" dirty="0">
                <a:solidFill>
                  <a:srgbClr val="FFFFFF"/>
                </a:solidFill>
                <a:latin typeface="Carlito" pitchFamily="34" charset="0"/>
                <a:ea typeface="Carlito" pitchFamily="34" charset="-122"/>
                <a:cs typeface="Carlito" pitchFamily="34" charset="-120"/>
              </a:rPr>
              <a:t>Institute of Technology of Cambodia</a:t>
            </a:r>
            <a:endParaRPr lang="en-US" sz="844" dirty="0"/>
          </a:p>
        </p:txBody>
      </p:sp>
      <p:sp>
        <p:nvSpPr>
          <p:cNvPr id="20" name="Text 16"/>
          <p:cNvSpPr/>
          <p:nvPr/>
        </p:nvSpPr>
        <p:spPr>
          <a:xfrm>
            <a:off x="3357563" y="3778262"/>
            <a:ext cx="2550319" cy="135088"/>
          </a:xfrm>
          <a:prstGeom prst="rect">
            <a:avLst/>
          </a:prstGeom>
          <a:noFill/>
          <a:ln/>
        </p:spPr>
        <p:txBody>
          <a:bodyPr wrap="none" lIns="0" tIns="0" rIns="0" bIns="0" rtlCol="0" anchor="t">
            <a:normAutofit/>
          </a:bodyPr>
          <a:lstStyle/>
          <a:p>
            <a:pPr algn="l" indent="0" marL="0">
              <a:lnSpc>
                <a:spcPts val="1055"/>
              </a:lnSpc>
              <a:buNone/>
            </a:pPr>
            <a:r>
              <a:rPr lang="en-US" sz="800" dirty="0">
                <a:solidFill>
                  <a:srgbClr val="FFFFFF">
                    <a:alpha val="80000"/>
                  </a:srgbClr>
                </a:solidFill>
                <a:latin typeface="Carlito" pitchFamily="34" charset="0"/>
                <a:ea typeface="Carlito" pitchFamily="34" charset="-122"/>
                <a:cs typeface="Carlito" pitchFamily="34" charset="-120"/>
              </a:rPr>
              <a:t>Graduate School</a:t>
            </a:r>
            <a:endParaRPr lang="en-US" sz="800" dirty="0"/>
          </a:p>
        </p:txBody>
      </p:sp>
      <p:sp>
        <p:nvSpPr>
          <p:cNvPr id="21" name="Text 17"/>
          <p:cNvSpPr/>
          <p:nvPr/>
        </p:nvSpPr>
        <p:spPr>
          <a:xfrm>
            <a:off x="3357563" y="3940783"/>
            <a:ext cx="2428875" cy="164592"/>
          </a:xfrm>
          <a:prstGeom prst="rect">
            <a:avLst/>
          </a:prstGeom>
          <a:noFill/>
          <a:ln/>
        </p:spPr>
        <p:txBody>
          <a:bodyPr wrap="square" lIns="0" tIns="0" rIns="0" bIns="0" rtlCol="0" anchor="t"/>
          <a:lstStyle/>
          <a:p>
            <a:pPr algn="l" indent="0" marL="0">
              <a:lnSpc>
                <a:spcPts val="1055"/>
              </a:lnSpc>
              <a:buNone/>
            </a:pPr>
            <a:r>
              <a:rPr lang="en-US" sz="703" dirty="0">
                <a:solidFill>
                  <a:srgbClr val="FFFFFF">
                    <a:alpha val="80000"/>
                  </a:srgbClr>
                </a:solidFill>
                <a:latin typeface="Carlito" pitchFamily="34" charset="0"/>
                <a:ea typeface="Carlito" pitchFamily="34" charset="-122"/>
                <a:cs typeface="Carlito" pitchFamily="34" charset="-120"/>
              </a:rPr>
              <a:t>Department of Applied Mathematics and Statistics</a:t>
            </a:r>
            <a:endParaRPr lang="en-US" sz="703" dirty="0"/>
          </a:p>
        </p:txBody>
      </p:sp>
      <p:sp>
        <p:nvSpPr>
          <p:cNvPr id="22" name="Text 18"/>
          <p:cNvSpPr/>
          <p:nvPr/>
        </p:nvSpPr>
        <p:spPr>
          <a:xfrm>
            <a:off x="6015038" y="3410359"/>
            <a:ext cx="3128962" cy="161877"/>
          </a:xfrm>
          <a:prstGeom prst="rect">
            <a:avLst/>
          </a:prstGeom>
          <a:noFill/>
          <a:ln/>
        </p:spPr>
        <p:txBody>
          <a:bodyPr wrap="none" lIns="0" tIns="0" rIns="0" bIns="0" rtlCol="0" anchor="t">
            <a:normAutofit/>
          </a:bodyPr>
          <a:lstStyle/>
          <a:p>
            <a:pPr algn="l" indent="0" marL="0">
              <a:lnSpc>
                <a:spcPts val="928"/>
              </a:lnSpc>
              <a:buNone/>
            </a:pPr>
            <a:r>
              <a:rPr lang="en-US" sz="800" b="1" spc="124" kern="0" dirty="0">
                <a:solidFill>
                  <a:srgbClr val="14B8A6"/>
                </a:solidFill>
                <a:latin typeface="Carlito" pitchFamily="34" charset="0"/>
                <a:ea typeface="Carlito" pitchFamily="34" charset="-122"/>
                <a:cs typeface="Carlito" pitchFamily="34" charset="-120"/>
              </a:rPr>
              <a:t>ADVISORS</a:t>
            </a:r>
            <a:endParaRPr lang="en-US" sz="800" dirty="0"/>
          </a:p>
        </p:txBody>
      </p:sp>
      <p:sp>
        <p:nvSpPr>
          <p:cNvPr id="23" name="Text 19"/>
          <p:cNvSpPr/>
          <p:nvPr/>
        </p:nvSpPr>
        <p:spPr>
          <a:xfrm>
            <a:off x="6015038" y="3599669"/>
            <a:ext cx="2550319" cy="136874"/>
          </a:xfrm>
          <a:prstGeom prst="rect">
            <a:avLst/>
          </a:prstGeom>
          <a:noFill/>
          <a:ln/>
        </p:spPr>
        <p:txBody>
          <a:bodyPr wrap="none" lIns="0" tIns="0" rIns="0" bIns="0" rtlCol="0" anchor="t">
            <a:normAutofit/>
          </a:bodyPr>
          <a:lstStyle/>
          <a:p>
            <a:pPr algn="l" indent="0" marL="0">
              <a:lnSpc>
                <a:spcPts val="1181"/>
              </a:lnSpc>
              <a:buNone/>
            </a:pPr>
            <a:r>
              <a:rPr lang="en-US" sz="844" b="1" dirty="0">
                <a:solidFill>
                  <a:srgbClr val="FFFFFF"/>
                </a:solidFill>
                <a:latin typeface="Carlito" pitchFamily="34" charset="0"/>
                <a:ea typeface="Carlito" pitchFamily="34" charset="-122"/>
                <a:cs typeface="Carlito" pitchFamily="34" charset="-120"/>
              </a:rPr>
              <a:t>Dr. HAS Sothea</a:t>
            </a:r>
            <a:endParaRPr lang="en-US" sz="844" dirty="0"/>
          </a:p>
        </p:txBody>
      </p:sp>
      <p:sp>
        <p:nvSpPr>
          <p:cNvPr id="24" name="Text 20"/>
          <p:cNvSpPr/>
          <p:nvPr/>
        </p:nvSpPr>
        <p:spPr>
          <a:xfrm>
            <a:off x="6015038" y="3763975"/>
            <a:ext cx="3108960" cy="163663"/>
          </a:xfrm>
          <a:prstGeom prst="rect">
            <a:avLst/>
          </a:prstGeom>
          <a:noFill/>
          <a:ln/>
        </p:spPr>
        <p:txBody>
          <a:bodyPr wrap="none" lIns="0" tIns="0" rIns="0" bIns="0" rtlCol="0" anchor="t">
            <a:normAutofit/>
          </a:bodyPr>
          <a:lstStyle/>
          <a:p>
            <a:pPr algn="l" indent="0" marL="0">
              <a:lnSpc>
                <a:spcPts val="1055"/>
              </a:lnSpc>
              <a:buNone/>
            </a:pPr>
            <a:r>
              <a:rPr lang="en-US" sz="800" dirty="0">
                <a:solidFill>
                  <a:srgbClr val="FFFFFF">
                    <a:alpha val="80000"/>
                  </a:srgbClr>
                </a:solidFill>
                <a:latin typeface="Carlito" pitchFamily="34" charset="0"/>
                <a:ea typeface="Carlito" pitchFamily="34" charset="-122"/>
                <a:cs typeface="Carlito" pitchFamily="34" charset="-120"/>
              </a:rPr>
              <a:t>Advisor</a:t>
            </a:r>
            <a:endParaRPr lang="en-US" sz="800" dirty="0"/>
          </a:p>
        </p:txBody>
      </p:sp>
      <p:sp>
        <p:nvSpPr>
          <p:cNvPr id="25" name="Text 21"/>
          <p:cNvSpPr/>
          <p:nvPr/>
        </p:nvSpPr>
        <p:spPr>
          <a:xfrm>
            <a:off x="6015038" y="3955070"/>
            <a:ext cx="2623185" cy="136874"/>
          </a:xfrm>
          <a:prstGeom prst="rect">
            <a:avLst/>
          </a:prstGeom>
          <a:noFill/>
          <a:ln/>
        </p:spPr>
        <p:txBody>
          <a:bodyPr wrap="square" lIns="0" tIns="0" rIns="0" bIns="0" rtlCol="0" anchor="t">
            <a:normAutofit/>
          </a:bodyPr>
          <a:lstStyle/>
          <a:p>
            <a:pPr algn="l" indent="0" marL="0">
              <a:lnSpc>
                <a:spcPts val="1181"/>
              </a:lnSpc>
              <a:buNone/>
            </a:pPr>
            <a:r>
              <a:rPr lang="en-US" sz="844" b="1" dirty="0">
                <a:solidFill>
                  <a:srgbClr val="FFFFFF"/>
                </a:solidFill>
                <a:latin typeface="Carlito" pitchFamily="34" charset="0"/>
                <a:ea typeface="Carlito" pitchFamily="34" charset="-122"/>
                <a:cs typeface="Carlito" pitchFamily="34" charset="-120"/>
              </a:rPr>
              <a:t>Asst. Prof. Dr. PHAUK Sokkhey</a:t>
            </a:r>
            <a:endParaRPr lang="en-US" sz="844" dirty="0"/>
          </a:p>
        </p:txBody>
      </p:sp>
      <p:sp>
        <p:nvSpPr>
          <p:cNvPr id="26" name="Text 22"/>
          <p:cNvSpPr/>
          <p:nvPr/>
        </p:nvSpPr>
        <p:spPr>
          <a:xfrm>
            <a:off x="6015038" y="4119376"/>
            <a:ext cx="2846642" cy="164592"/>
          </a:xfrm>
          <a:prstGeom prst="rect">
            <a:avLst/>
          </a:prstGeom>
          <a:noFill/>
          <a:ln/>
        </p:spPr>
        <p:txBody>
          <a:bodyPr wrap="none" lIns="0" tIns="0" rIns="0" bIns="0" rtlCol="0" anchor="t"/>
          <a:lstStyle/>
          <a:p>
            <a:pPr algn="l" indent="0" marL="0">
              <a:lnSpc>
                <a:spcPts val="1055"/>
              </a:lnSpc>
              <a:buNone/>
            </a:pPr>
            <a:r>
              <a:rPr lang="en-US" sz="800" dirty="0">
                <a:solidFill>
                  <a:srgbClr val="FFFFFF">
                    <a:alpha val="80000"/>
                  </a:srgbClr>
                </a:solidFill>
                <a:latin typeface="Carlito" pitchFamily="34" charset="0"/>
                <a:ea typeface="Carlito" pitchFamily="34" charset="-122"/>
                <a:cs typeface="Carlito" pitchFamily="34" charset="-120"/>
              </a:rPr>
              <a:t>Co-Advisor</a:t>
            </a:r>
            <a:endParaRPr lang="en-US" sz="800" dirty="0"/>
          </a:p>
        </p:txBody>
      </p:sp>
      <p:sp>
        <p:nvSpPr>
          <p:cNvPr id="27" name="Text 23"/>
          <p:cNvSpPr/>
          <p:nvPr/>
        </p:nvSpPr>
        <p:spPr>
          <a:xfrm>
            <a:off x="571500" y="4797028"/>
            <a:ext cx="3986316" cy="164592"/>
          </a:xfrm>
          <a:prstGeom prst="rect">
            <a:avLst/>
          </a:prstGeom>
          <a:noFill/>
          <a:ln/>
        </p:spPr>
        <p:txBody>
          <a:bodyPr wrap="square" lIns="0" tIns="0" rIns="0" bIns="0" rtlCol="0" anchor="t"/>
          <a:lstStyle/>
          <a:p>
            <a:pPr algn="l" indent="0" marL="0">
              <a:lnSpc>
                <a:spcPts val="928"/>
              </a:lnSpc>
              <a:buNone/>
            </a:pPr>
            <a:r>
              <a:rPr lang="en-US" sz="800" spc="111" kern="0" dirty="0">
                <a:solidFill>
                  <a:srgbClr val="FFFFFF">
                    <a:alpha val="45000"/>
                  </a:srgbClr>
                </a:solidFill>
                <a:latin typeface="Carlito" pitchFamily="34" charset="0"/>
                <a:ea typeface="Carlito" pitchFamily="34" charset="-122"/>
                <a:cs typeface="Carlito" pitchFamily="34" charset="-120"/>
              </a:rPr>
              <a:t>EFFICIENT ATTENTION CLASSIFICATION · M-DAS · ITC 2026</a:t>
            </a:r>
            <a:endParaRPr lang="en-US" sz="800" dirty="0"/>
          </a:p>
        </p:txBody>
      </p:sp>
      <p:sp>
        <p:nvSpPr>
          <p:cNvPr id="28" name="Text 24"/>
          <p:cNvSpPr/>
          <p:nvPr/>
        </p:nvSpPr>
        <p:spPr>
          <a:xfrm>
            <a:off x="7469125" y="4775597"/>
            <a:ext cx="1381425" cy="150447"/>
          </a:xfrm>
          <a:prstGeom prst="rect">
            <a:avLst/>
          </a:prstGeom>
          <a:noFill/>
          <a:ln/>
        </p:spPr>
        <p:txBody>
          <a:bodyPr wrap="none" lIns="0" tIns="0" rIns="0" bIns="0" rtlCol="0" anchor="t"/>
          <a:lstStyle/>
          <a:p>
            <a:pPr algn="l" indent="0" marL="0">
              <a:lnSpc>
                <a:spcPts val="1097"/>
              </a:lnSpc>
              <a:buNone/>
            </a:pPr>
            <a:r>
              <a:rPr lang="en-US" sz="731" spc="59" kern="0" dirty="0">
                <a:solidFill>
                  <a:srgbClr val="FFFFFF">
                    <a:alpha val="60000"/>
                  </a:srgbClr>
                </a:solidFill>
                <a:latin typeface="Microsoft YaHei" pitchFamily="34" charset="0"/>
                <a:ea typeface="Microsoft YaHei" pitchFamily="34" charset="-122"/>
                <a:cs typeface="Microsoft YaHei" pitchFamily="34" charset="-120"/>
              </a:rPr>
              <a:t>ありがとうございます。</a:t>
            </a:r>
            <a:endParaRPr lang="en-US" sz="73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2026-07-12T04:05:43Z</dcterms:created>
  <dcterms:modified xsi:type="dcterms:W3CDTF">2026-07-12T04:05:43Z</dcterms:modified>
</cp:coreProperties>
</file>